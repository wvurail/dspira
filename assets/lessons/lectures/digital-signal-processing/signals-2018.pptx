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diagrams/data1.xml" ContentType="application/vnd.openxmlformats-officedocument.drawingml.diagramData+xml"/>
  <Override PartName="/ppt/presentation.xml" ContentType="application/vnd.openxmlformats-officedocument.presentationml.presentation.main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diagrams/drawing1.xml" ContentType="application/vnd.ms-office.drawingml.diagramDrawing+xml"/>
  <Override PartName="/ppt/diagrams/colors1.xml" ContentType="application/vnd.openxmlformats-officedocument.drawingml.diagramColors+xml"/>
  <Override PartName="/ppt/diagrams/quickStyle1.xml" ContentType="application/vnd.openxmlformats-officedocument.drawingml.diagramStyle+xml"/>
  <Override PartName="/ppt/diagrams/layout1.xml" ContentType="application/vnd.openxmlformats-officedocument.drawingml.diagramLayout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5" r:id="rId10"/>
    <p:sldId id="267" r:id="rId11"/>
    <p:sldId id="268" r:id="rId12"/>
    <p:sldId id="269" r:id="rId13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11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customXml" Target="customXml/item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openxmlformats.org/officeDocument/2006/relationships/customXml" Target="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customXml" Target="customXml/item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B45020C5-55C2-4AFA-AF2C-DAAC0E095DF7}"/>
</file>

<file path=ppt/customXml/itemProps2.xml><?xml version="1.0" encoding="utf-8"?>
<ds:datastoreItem xmlns:ds="http://schemas.openxmlformats.org/officeDocument/2006/customXml" ds:itemID="{2A695F96-2F3D-474B-AB42-04C2AB694C3A}"/>
</file>

<file path=ppt/customXml/itemProps3.xml><?xml version="1.0" encoding="utf-8"?>
<ds:datastoreItem xmlns:ds="http://schemas.openxmlformats.org/officeDocument/2006/customXml" ds:itemID="{78EE5182-D919-474D-A3B9-9992CFF23077}"/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0E666F3-1791-4D28-9C22-C53B678CD2B3}" type="doc">
      <dgm:prSet loTypeId="urn:microsoft.com/office/officeart/2008/layout/LinedList" loCatId="list" qsTypeId="urn:microsoft.com/office/officeart/2005/8/quickstyle/simple2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9931B620-7132-4BA8-8052-6409E22801F8}">
      <dgm:prSet/>
      <dgm:spPr/>
      <dgm:t>
        <a:bodyPr/>
        <a:lstStyle/>
        <a:p>
          <a:r>
            <a:rPr lang="en-US"/>
            <a:t>As with any mathematical functions, signals can be manipulated: </a:t>
          </a:r>
        </a:p>
      </dgm:t>
    </dgm:pt>
    <dgm:pt modelId="{D7A39E3A-5278-4CA2-9542-19EA5259D79F}" type="parTrans" cxnId="{3147DAFA-1629-4E07-9A2D-382D1E04919D}">
      <dgm:prSet/>
      <dgm:spPr/>
      <dgm:t>
        <a:bodyPr/>
        <a:lstStyle/>
        <a:p>
          <a:endParaRPr lang="en-US"/>
        </a:p>
      </dgm:t>
    </dgm:pt>
    <dgm:pt modelId="{05F04083-6634-40C1-9A2A-E7B5443E0D9B}" type="sibTrans" cxnId="{3147DAFA-1629-4E07-9A2D-382D1E04919D}">
      <dgm:prSet/>
      <dgm:spPr/>
      <dgm:t>
        <a:bodyPr/>
        <a:lstStyle/>
        <a:p>
          <a:endParaRPr lang="en-US"/>
        </a:p>
      </dgm:t>
    </dgm:pt>
    <dgm:pt modelId="{E7988BE0-4D32-4224-8D3D-CA6E7D8FDF84}">
      <dgm:prSet/>
      <dgm:spPr/>
      <dgm:t>
        <a:bodyPr/>
        <a:lstStyle/>
        <a:p>
          <a:r>
            <a:rPr lang="en-US"/>
            <a:t>Adding and subtracting signals</a:t>
          </a:r>
        </a:p>
      </dgm:t>
    </dgm:pt>
    <dgm:pt modelId="{BEC9FEE3-1619-4335-AC59-9FB4057B5A7D}" type="parTrans" cxnId="{EAA7F7DE-2216-4E15-9F7D-3589C4BEE3E9}">
      <dgm:prSet/>
      <dgm:spPr/>
      <dgm:t>
        <a:bodyPr/>
        <a:lstStyle/>
        <a:p>
          <a:endParaRPr lang="en-US"/>
        </a:p>
      </dgm:t>
    </dgm:pt>
    <dgm:pt modelId="{DD39B69D-9270-429F-B58C-221F0D654188}" type="sibTrans" cxnId="{EAA7F7DE-2216-4E15-9F7D-3589C4BEE3E9}">
      <dgm:prSet/>
      <dgm:spPr/>
      <dgm:t>
        <a:bodyPr/>
        <a:lstStyle/>
        <a:p>
          <a:endParaRPr lang="en-US"/>
        </a:p>
      </dgm:t>
    </dgm:pt>
    <dgm:pt modelId="{7447CE78-B2F8-42B0-9FB9-205C4C1C0957}">
      <dgm:prSet/>
      <dgm:spPr/>
      <dgm:t>
        <a:bodyPr/>
        <a:lstStyle/>
        <a:p>
          <a:r>
            <a:rPr lang="en-US"/>
            <a:t>Multiplying signals</a:t>
          </a:r>
        </a:p>
      </dgm:t>
    </dgm:pt>
    <dgm:pt modelId="{83B6F5A7-9C98-4F73-9A68-35915CA0B0DA}" type="parTrans" cxnId="{1DD86D10-AD06-49CB-9F40-15DAA4E85EF0}">
      <dgm:prSet/>
      <dgm:spPr/>
      <dgm:t>
        <a:bodyPr/>
        <a:lstStyle/>
        <a:p>
          <a:endParaRPr lang="en-US"/>
        </a:p>
      </dgm:t>
    </dgm:pt>
    <dgm:pt modelId="{1802A23E-9BD6-4891-9B94-2648C64BD25C}" type="sibTrans" cxnId="{1DD86D10-AD06-49CB-9F40-15DAA4E85EF0}">
      <dgm:prSet/>
      <dgm:spPr/>
      <dgm:t>
        <a:bodyPr/>
        <a:lstStyle/>
        <a:p>
          <a:endParaRPr lang="en-US"/>
        </a:p>
      </dgm:t>
    </dgm:pt>
    <dgm:pt modelId="{6A0AEFC9-B214-4253-9F62-02DF2CB28B5A}">
      <dgm:prSet/>
      <dgm:spPr/>
      <dgm:t>
        <a:bodyPr/>
        <a:lstStyle/>
        <a:p>
          <a:r>
            <a:rPr lang="en-US"/>
            <a:t>Scaling in time or frequency </a:t>
          </a:r>
        </a:p>
      </dgm:t>
    </dgm:pt>
    <dgm:pt modelId="{8F8A39DF-9CA0-4DD4-8D4A-B5F015C4F773}" type="parTrans" cxnId="{FCAAADF5-0DED-4172-B4E9-FDF4BEA6765A}">
      <dgm:prSet/>
      <dgm:spPr/>
      <dgm:t>
        <a:bodyPr/>
        <a:lstStyle/>
        <a:p>
          <a:endParaRPr lang="en-US"/>
        </a:p>
      </dgm:t>
    </dgm:pt>
    <dgm:pt modelId="{314FD616-6CE9-4ADE-A407-EA3429EE24D4}" type="sibTrans" cxnId="{FCAAADF5-0DED-4172-B4E9-FDF4BEA6765A}">
      <dgm:prSet/>
      <dgm:spPr/>
      <dgm:t>
        <a:bodyPr/>
        <a:lstStyle/>
        <a:p>
          <a:endParaRPr lang="en-US"/>
        </a:p>
      </dgm:t>
    </dgm:pt>
    <dgm:pt modelId="{1A0DC72D-E262-4914-A152-4D299B3D4747}">
      <dgm:prSet/>
      <dgm:spPr/>
      <dgm:t>
        <a:bodyPr/>
        <a:lstStyle/>
        <a:p>
          <a:r>
            <a:rPr lang="en-US"/>
            <a:t>Delaying </a:t>
          </a:r>
        </a:p>
      </dgm:t>
    </dgm:pt>
    <dgm:pt modelId="{7377C8AA-6851-41FD-810D-2D7936E3147C}" type="parTrans" cxnId="{8CF285AC-52D5-4D40-9A59-1B76E9041370}">
      <dgm:prSet/>
      <dgm:spPr/>
      <dgm:t>
        <a:bodyPr/>
        <a:lstStyle/>
        <a:p>
          <a:endParaRPr lang="en-US"/>
        </a:p>
      </dgm:t>
    </dgm:pt>
    <dgm:pt modelId="{9E289C33-BEAC-4829-B103-F0E9B37918E7}" type="sibTrans" cxnId="{8CF285AC-52D5-4D40-9A59-1B76E9041370}">
      <dgm:prSet/>
      <dgm:spPr/>
      <dgm:t>
        <a:bodyPr/>
        <a:lstStyle/>
        <a:p>
          <a:endParaRPr lang="en-US"/>
        </a:p>
      </dgm:t>
    </dgm:pt>
    <dgm:pt modelId="{79B013B1-E1C3-40DC-9E73-E24D2A75AC15}">
      <dgm:prSet/>
      <dgm:spPr/>
      <dgm:t>
        <a:bodyPr/>
        <a:lstStyle/>
        <a:p>
          <a:r>
            <a:rPr lang="en-US"/>
            <a:t>Correlating / convolving</a:t>
          </a:r>
        </a:p>
      </dgm:t>
    </dgm:pt>
    <dgm:pt modelId="{01C527F0-A207-4345-BA80-42695925B7B7}" type="parTrans" cxnId="{CAED05FF-05AF-4EE4-9CA8-070C9FB08BC9}">
      <dgm:prSet/>
      <dgm:spPr/>
      <dgm:t>
        <a:bodyPr/>
        <a:lstStyle/>
        <a:p>
          <a:endParaRPr lang="en-US"/>
        </a:p>
      </dgm:t>
    </dgm:pt>
    <dgm:pt modelId="{692D2F16-E759-4A0E-AFD1-4CD659508529}" type="sibTrans" cxnId="{CAED05FF-05AF-4EE4-9CA8-070C9FB08BC9}">
      <dgm:prSet/>
      <dgm:spPr/>
      <dgm:t>
        <a:bodyPr/>
        <a:lstStyle/>
        <a:p>
          <a:endParaRPr lang="en-US"/>
        </a:p>
      </dgm:t>
    </dgm:pt>
    <dgm:pt modelId="{ACE7BC67-C6B4-4F72-B809-59E7F1C01E6E}" type="pres">
      <dgm:prSet presAssocID="{30E666F3-1791-4D28-9C22-C53B678CD2B3}" presName="vert0" presStyleCnt="0">
        <dgm:presLayoutVars>
          <dgm:dir/>
          <dgm:animOne val="branch"/>
          <dgm:animLvl val="lvl"/>
        </dgm:presLayoutVars>
      </dgm:prSet>
      <dgm:spPr/>
    </dgm:pt>
    <dgm:pt modelId="{917CFE76-DF71-43B7-A6FE-1B18A78245F4}" type="pres">
      <dgm:prSet presAssocID="{9931B620-7132-4BA8-8052-6409E22801F8}" presName="thickLine" presStyleLbl="alignNode1" presStyleIdx="0" presStyleCnt="6"/>
      <dgm:spPr/>
    </dgm:pt>
    <dgm:pt modelId="{89C130F1-4100-4F7D-90CC-CF8B2620CBD7}" type="pres">
      <dgm:prSet presAssocID="{9931B620-7132-4BA8-8052-6409E22801F8}" presName="horz1" presStyleCnt="0"/>
      <dgm:spPr/>
    </dgm:pt>
    <dgm:pt modelId="{FFE7C84C-592A-464D-AC5E-59BDC023B33A}" type="pres">
      <dgm:prSet presAssocID="{9931B620-7132-4BA8-8052-6409E22801F8}" presName="tx1" presStyleLbl="revTx" presStyleIdx="0" presStyleCnt="6"/>
      <dgm:spPr/>
    </dgm:pt>
    <dgm:pt modelId="{2D576ABD-E20A-4D43-9ED6-F1BEFCEF3050}" type="pres">
      <dgm:prSet presAssocID="{9931B620-7132-4BA8-8052-6409E22801F8}" presName="vert1" presStyleCnt="0"/>
      <dgm:spPr/>
    </dgm:pt>
    <dgm:pt modelId="{0A72B4E2-2499-4719-A146-97A3F51E744A}" type="pres">
      <dgm:prSet presAssocID="{E7988BE0-4D32-4224-8D3D-CA6E7D8FDF84}" presName="thickLine" presStyleLbl="alignNode1" presStyleIdx="1" presStyleCnt="6"/>
      <dgm:spPr/>
    </dgm:pt>
    <dgm:pt modelId="{EEAF0762-84E9-4AD2-B17E-E6B95AB5A636}" type="pres">
      <dgm:prSet presAssocID="{E7988BE0-4D32-4224-8D3D-CA6E7D8FDF84}" presName="horz1" presStyleCnt="0"/>
      <dgm:spPr/>
    </dgm:pt>
    <dgm:pt modelId="{98B969CB-A9BA-4586-9E37-CE7BCE849881}" type="pres">
      <dgm:prSet presAssocID="{E7988BE0-4D32-4224-8D3D-CA6E7D8FDF84}" presName="tx1" presStyleLbl="revTx" presStyleIdx="1" presStyleCnt="6"/>
      <dgm:spPr/>
    </dgm:pt>
    <dgm:pt modelId="{A30D98A0-6723-47CA-9903-75C757BC2D0C}" type="pres">
      <dgm:prSet presAssocID="{E7988BE0-4D32-4224-8D3D-CA6E7D8FDF84}" presName="vert1" presStyleCnt="0"/>
      <dgm:spPr/>
    </dgm:pt>
    <dgm:pt modelId="{D6F641D9-2535-4320-A7F6-CD0CAC613B4F}" type="pres">
      <dgm:prSet presAssocID="{7447CE78-B2F8-42B0-9FB9-205C4C1C0957}" presName="thickLine" presStyleLbl="alignNode1" presStyleIdx="2" presStyleCnt="6"/>
      <dgm:spPr/>
    </dgm:pt>
    <dgm:pt modelId="{37970E01-7710-47F1-B5CB-9B100013DC42}" type="pres">
      <dgm:prSet presAssocID="{7447CE78-B2F8-42B0-9FB9-205C4C1C0957}" presName="horz1" presStyleCnt="0"/>
      <dgm:spPr/>
    </dgm:pt>
    <dgm:pt modelId="{AF1A3D52-20BF-4051-B7D9-18CE61308330}" type="pres">
      <dgm:prSet presAssocID="{7447CE78-B2F8-42B0-9FB9-205C4C1C0957}" presName="tx1" presStyleLbl="revTx" presStyleIdx="2" presStyleCnt="6"/>
      <dgm:spPr/>
    </dgm:pt>
    <dgm:pt modelId="{8B7C1484-969C-4A4F-A759-ACDE56980E16}" type="pres">
      <dgm:prSet presAssocID="{7447CE78-B2F8-42B0-9FB9-205C4C1C0957}" presName="vert1" presStyleCnt="0"/>
      <dgm:spPr/>
    </dgm:pt>
    <dgm:pt modelId="{52ADA96A-0848-4458-A88E-1CF7C2CD097A}" type="pres">
      <dgm:prSet presAssocID="{6A0AEFC9-B214-4253-9F62-02DF2CB28B5A}" presName="thickLine" presStyleLbl="alignNode1" presStyleIdx="3" presStyleCnt="6"/>
      <dgm:spPr/>
    </dgm:pt>
    <dgm:pt modelId="{01C0E873-578F-4C01-A404-60D69B682075}" type="pres">
      <dgm:prSet presAssocID="{6A0AEFC9-B214-4253-9F62-02DF2CB28B5A}" presName="horz1" presStyleCnt="0"/>
      <dgm:spPr/>
    </dgm:pt>
    <dgm:pt modelId="{5D3245BF-4936-4579-B547-148995BD331B}" type="pres">
      <dgm:prSet presAssocID="{6A0AEFC9-B214-4253-9F62-02DF2CB28B5A}" presName="tx1" presStyleLbl="revTx" presStyleIdx="3" presStyleCnt="6"/>
      <dgm:spPr/>
    </dgm:pt>
    <dgm:pt modelId="{033349E6-57D5-4AD2-A8F3-39CA91B55B81}" type="pres">
      <dgm:prSet presAssocID="{6A0AEFC9-B214-4253-9F62-02DF2CB28B5A}" presName="vert1" presStyleCnt="0"/>
      <dgm:spPr/>
    </dgm:pt>
    <dgm:pt modelId="{289F54FD-D14B-4480-B5AC-4295AA81D797}" type="pres">
      <dgm:prSet presAssocID="{1A0DC72D-E262-4914-A152-4D299B3D4747}" presName="thickLine" presStyleLbl="alignNode1" presStyleIdx="4" presStyleCnt="6"/>
      <dgm:spPr/>
    </dgm:pt>
    <dgm:pt modelId="{CCFFA9BC-2255-44FE-9346-E46DA216958B}" type="pres">
      <dgm:prSet presAssocID="{1A0DC72D-E262-4914-A152-4D299B3D4747}" presName="horz1" presStyleCnt="0"/>
      <dgm:spPr/>
    </dgm:pt>
    <dgm:pt modelId="{E803EF1F-536B-4E5C-A5B9-DD0BDD950A29}" type="pres">
      <dgm:prSet presAssocID="{1A0DC72D-E262-4914-A152-4D299B3D4747}" presName="tx1" presStyleLbl="revTx" presStyleIdx="4" presStyleCnt="6"/>
      <dgm:spPr/>
    </dgm:pt>
    <dgm:pt modelId="{4805ACD4-82B4-484B-BE32-4EE5A1A78F07}" type="pres">
      <dgm:prSet presAssocID="{1A0DC72D-E262-4914-A152-4D299B3D4747}" presName="vert1" presStyleCnt="0"/>
      <dgm:spPr/>
    </dgm:pt>
    <dgm:pt modelId="{8F923608-FF4D-4021-B4A7-7821705EE23E}" type="pres">
      <dgm:prSet presAssocID="{79B013B1-E1C3-40DC-9E73-E24D2A75AC15}" presName="thickLine" presStyleLbl="alignNode1" presStyleIdx="5" presStyleCnt="6"/>
      <dgm:spPr/>
    </dgm:pt>
    <dgm:pt modelId="{F114113C-F808-47D4-9D23-569505C6B575}" type="pres">
      <dgm:prSet presAssocID="{79B013B1-E1C3-40DC-9E73-E24D2A75AC15}" presName="horz1" presStyleCnt="0"/>
      <dgm:spPr/>
    </dgm:pt>
    <dgm:pt modelId="{A4DD967B-56FC-4B0F-83AF-882D99528039}" type="pres">
      <dgm:prSet presAssocID="{79B013B1-E1C3-40DC-9E73-E24D2A75AC15}" presName="tx1" presStyleLbl="revTx" presStyleIdx="5" presStyleCnt="6"/>
      <dgm:spPr/>
    </dgm:pt>
    <dgm:pt modelId="{50E7005C-2586-4C6F-809D-CAE63D44DCCF}" type="pres">
      <dgm:prSet presAssocID="{79B013B1-E1C3-40DC-9E73-E24D2A75AC15}" presName="vert1" presStyleCnt="0"/>
      <dgm:spPr/>
    </dgm:pt>
  </dgm:ptLst>
  <dgm:cxnLst>
    <dgm:cxn modelId="{57898F0F-F7F2-4436-90EB-000280162C6C}" type="presOf" srcId="{E7988BE0-4D32-4224-8D3D-CA6E7D8FDF84}" destId="{98B969CB-A9BA-4586-9E37-CE7BCE849881}" srcOrd="0" destOrd="0" presId="urn:microsoft.com/office/officeart/2008/layout/LinedList"/>
    <dgm:cxn modelId="{1DD86D10-AD06-49CB-9F40-15DAA4E85EF0}" srcId="{30E666F3-1791-4D28-9C22-C53B678CD2B3}" destId="{7447CE78-B2F8-42B0-9FB9-205C4C1C0957}" srcOrd="2" destOrd="0" parTransId="{83B6F5A7-9C98-4F73-9A68-35915CA0B0DA}" sibTransId="{1802A23E-9BD6-4891-9B94-2648C64BD25C}"/>
    <dgm:cxn modelId="{F4DCD631-ECA4-4D38-B471-D9BC3265810D}" type="presOf" srcId="{30E666F3-1791-4D28-9C22-C53B678CD2B3}" destId="{ACE7BC67-C6B4-4F72-B809-59E7F1C01E6E}" srcOrd="0" destOrd="0" presId="urn:microsoft.com/office/officeart/2008/layout/LinedList"/>
    <dgm:cxn modelId="{93436D75-409C-400E-BD08-2B6FDDF2EFD1}" type="presOf" srcId="{1A0DC72D-E262-4914-A152-4D299B3D4747}" destId="{E803EF1F-536B-4E5C-A5B9-DD0BDD950A29}" srcOrd="0" destOrd="0" presId="urn:microsoft.com/office/officeart/2008/layout/LinedList"/>
    <dgm:cxn modelId="{5FDD2294-8EE6-40B5-BA25-1642D13DA036}" type="presOf" srcId="{79B013B1-E1C3-40DC-9E73-E24D2A75AC15}" destId="{A4DD967B-56FC-4B0F-83AF-882D99528039}" srcOrd="0" destOrd="0" presId="urn:microsoft.com/office/officeart/2008/layout/LinedList"/>
    <dgm:cxn modelId="{8CF285AC-52D5-4D40-9A59-1B76E9041370}" srcId="{30E666F3-1791-4D28-9C22-C53B678CD2B3}" destId="{1A0DC72D-E262-4914-A152-4D299B3D4747}" srcOrd="4" destOrd="0" parTransId="{7377C8AA-6851-41FD-810D-2D7936E3147C}" sibTransId="{9E289C33-BEAC-4829-B103-F0E9B37918E7}"/>
    <dgm:cxn modelId="{F8A0FCBB-DE3B-46A2-8E8C-7632CA31DDDF}" type="presOf" srcId="{6A0AEFC9-B214-4253-9F62-02DF2CB28B5A}" destId="{5D3245BF-4936-4579-B547-148995BD331B}" srcOrd="0" destOrd="0" presId="urn:microsoft.com/office/officeart/2008/layout/LinedList"/>
    <dgm:cxn modelId="{8E5AEFBF-8117-4216-B13C-CA4817908972}" type="presOf" srcId="{9931B620-7132-4BA8-8052-6409E22801F8}" destId="{FFE7C84C-592A-464D-AC5E-59BDC023B33A}" srcOrd="0" destOrd="0" presId="urn:microsoft.com/office/officeart/2008/layout/LinedList"/>
    <dgm:cxn modelId="{8DDF94CD-2B7C-4E02-A8C8-EA7E8C297FF1}" type="presOf" srcId="{7447CE78-B2F8-42B0-9FB9-205C4C1C0957}" destId="{AF1A3D52-20BF-4051-B7D9-18CE61308330}" srcOrd="0" destOrd="0" presId="urn:microsoft.com/office/officeart/2008/layout/LinedList"/>
    <dgm:cxn modelId="{EAA7F7DE-2216-4E15-9F7D-3589C4BEE3E9}" srcId="{30E666F3-1791-4D28-9C22-C53B678CD2B3}" destId="{E7988BE0-4D32-4224-8D3D-CA6E7D8FDF84}" srcOrd="1" destOrd="0" parTransId="{BEC9FEE3-1619-4335-AC59-9FB4057B5A7D}" sibTransId="{DD39B69D-9270-429F-B58C-221F0D654188}"/>
    <dgm:cxn modelId="{FCAAADF5-0DED-4172-B4E9-FDF4BEA6765A}" srcId="{30E666F3-1791-4D28-9C22-C53B678CD2B3}" destId="{6A0AEFC9-B214-4253-9F62-02DF2CB28B5A}" srcOrd="3" destOrd="0" parTransId="{8F8A39DF-9CA0-4DD4-8D4A-B5F015C4F773}" sibTransId="{314FD616-6CE9-4ADE-A407-EA3429EE24D4}"/>
    <dgm:cxn modelId="{3147DAFA-1629-4E07-9A2D-382D1E04919D}" srcId="{30E666F3-1791-4D28-9C22-C53B678CD2B3}" destId="{9931B620-7132-4BA8-8052-6409E22801F8}" srcOrd="0" destOrd="0" parTransId="{D7A39E3A-5278-4CA2-9542-19EA5259D79F}" sibTransId="{05F04083-6634-40C1-9A2A-E7B5443E0D9B}"/>
    <dgm:cxn modelId="{CAED05FF-05AF-4EE4-9CA8-070C9FB08BC9}" srcId="{30E666F3-1791-4D28-9C22-C53B678CD2B3}" destId="{79B013B1-E1C3-40DC-9E73-E24D2A75AC15}" srcOrd="5" destOrd="0" parTransId="{01C527F0-A207-4345-BA80-42695925B7B7}" sibTransId="{692D2F16-E759-4A0E-AFD1-4CD659508529}"/>
    <dgm:cxn modelId="{94ED9124-0642-4E9E-A2F5-843A861E9630}" type="presParOf" srcId="{ACE7BC67-C6B4-4F72-B809-59E7F1C01E6E}" destId="{917CFE76-DF71-43B7-A6FE-1B18A78245F4}" srcOrd="0" destOrd="0" presId="urn:microsoft.com/office/officeart/2008/layout/LinedList"/>
    <dgm:cxn modelId="{99B84A0D-42DC-403A-8216-D2B6C113596C}" type="presParOf" srcId="{ACE7BC67-C6B4-4F72-B809-59E7F1C01E6E}" destId="{89C130F1-4100-4F7D-90CC-CF8B2620CBD7}" srcOrd="1" destOrd="0" presId="urn:microsoft.com/office/officeart/2008/layout/LinedList"/>
    <dgm:cxn modelId="{DB447539-69EE-454D-BA03-D0D63281D0B5}" type="presParOf" srcId="{89C130F1-4100-4F7D-90CC-CF8B2620CBD7}" destId="{FFE7C84C-592A-464D-AC5E-59BDC023B33A}" srcOrd="0" destOrd="0" presId="urn:microsoft.com/office/officeart/2008/layout/LinedList"/>
    <dgm:cxn modelId="{68CADAC0-A4C5-49E3-B2C2-86620D45777A}" type="presParOf" srcId="{89C130F1-4100-4F7D-90CC-CF8B2620CBD7}" destId="{2D576ABD-E20A-4D43-9ED6-F1BEFCEF3050}" srcOrd="1" destOrd="0" presId="urn:microsoft.com/office/officeart/2008/layout/LinedList"/>
    <dgm:cxn modelId="{2A1467F1-8D58-40AE-8BC0-9B1D0993E297}" type="presParOf" srcId="{ACE7BC67-C6B4-4F72-B809-59E7F1C01E6E}" destId="{0A72B4E2-2499-4719-A146-97A3F51E744A}" srcOrd="2" destOrd="0" presId="urn:microsoft.com/office/officeart/2008/layout/LinedList"/>
    <dgm:cxn modelId="{D4102367-8580-4245-8379-81345929B2E1}" type="presParOf" srcId="{ACE7BC67-C6B4-4F72-B809-59E7F1C01E6E}" destId="{EEAF0762-84E9-4AD2-B17E-E6B95AB5A636}" srcOrd="3" destOrd="0" presId="urn:microsoft.com/office/officeart/2008/layout/LinedList"/>
    <dgm:cxn modelId="{C1E6F02F-EFE8-44BB-AC39-5099AD1CAADB}" type="presParOf" srcId="{EEAF0762-84E9-4AD2-B17E-E6B95AB5A636}" destId="{98B969CB-A9BA-4586-9E37-CE7BCE849881}" srcOrd="0" destOrd="0" presId="urn:microsoft.com/office/officeart/2008/layout/LinedList"/>
    <dgm:cxn modelId="{D584A8EF-2459-4395-972E-FF2B437514C5}" type="presParOf" srcId="{EEAF0762-84E9-4AD2-B17E-E6B95AB5A636}" destId="{A30D98A0-6723-47CA-9903-75C757BC2D0C}" srcOrd="1" destOrd="0" presId="urn:microsoft.com/office/officeart/2008/layout/LinedList"/>
    <dgm:cxn modelId="{0B364327-F245-4122-BFC1-521DB381C8CC}" type="presParOf" srcId="{ACE7BC67-C6B4-4F72-B809-59E7F1C01E6E}" destId="{D6F641D9-2535-4320-A7F6-CD0CAC613B4F}" srcOrd="4" destOrd="0" presId="urn:microsoft.com/office/officeart/2008/layout/LinedList"/>
    <dgm:cxn modelId="{9AAD3D25-DD7D-4050-BF75-F784EF0690C9}" type="presParOf" srcId="{ACE7BC67-C6B4-4F72-B809-59E7F1C01E6E}" destId="{37970E01-7710-47F1-B5CB-9B100013DC42}" srcOrd="5" destOrd="0" presId="urn:microsoft.com/office/officeart/2008/layout/LinedList"/>
    <dgm:cxn modelId="{6CACB1F1-25A6-4E73-88D1-19F158FCE944}" type="presParOf" srcId="{37970E01-7710-47F1-B5CB-9B100013DC42}" destId="{AF1A3D52-20BF-4051-B7D9-18CE61308330}" srcOrd="0" destOrd="0" presId="urn:microsoft.com/office/officeart/2008/layout/LinedList"/>
    <dgm:cxn modelId="{1228735C-3D18-4D2A-BB59-2DC5D210C935}" type="presParOf" srcId="{37970E01-7710-47F1-B5CB-9B100013DC42}" destId="{8B7C1484-969C-4A4F-A759-ACDE56980E16}" srcOrd="1" destOrd="0" presId="urn:microsoft.com/office/officeart/2008/layout/LinedList"/>
    <dgm:cxn modelId="{7E3A15C6-9B63-40C7-9C89-B28446C94CBE}" type="presParOf" srcId="{ACE7BC67-C6B4-4F72-B809-59E7F1C01E6E}" destId="{52ADA96A-0848-4458-A88E-1CF7C2CD097A}" srcOrd="6" destOrd="0" presId="urn:microsoft.com/office/officeart/2008/layout/LinedList"/>
    <dgm:cxn modelId="{0A079C7C-1FC1-4D7E-BD60-10E6A6994854}" type="presParOf" srcId="{ACE7BC67-C6B4-4F72-B809-59E7F1C01E6E}" destId="{01C0E873-578F-4C01-A404-60D69B682075}" srcOrd="7" destOrd="0" presId="urn:microsoft.com/office/officeart/2008/layout/LinedList"/>
    <dgm:cxn modelId="{C2B1B615-CC9D-49B5-BA22-F347FE4E7492}" type="presParOf" srcId="{01C0E873-578F-4C01-A404-60D69B682075}" destId="{5D3245BF-4936-4579-B547-148995BD331B}" srcOrd="0" destOrd="0" presId="urn:microsoft.com/office/officeart/2008/layout/LinedList"/>
    <dgm:cxn modelId="{202471A3-6F7B-411C-B97E-18F4852F0F76}" type="presParOf" srcId="{01C0E873-578F-4C01-A404-60D69B682075}" destId="{033349E6-57D5-4AD2-A8F3-39CA91B55B81}" srcOrd="1" destOrd="0" presId="urn:microsoft.com/office/officeart/2008/layout/LinedList"/>
    <dgm:cxn modelId="{4AF31F37-7BA1-4230-85C6-9C41CDD3CF08}" type="presParOf" srcId="{ACE7BC67-C6B4-4F72-B809-59E7F1C01E6E}" destId="{289F54FD-D14B-4480-B5AC-4295AA81D797}" srcOrd="8" destOrd="0" presId="urn:microsoft.com/office/officeart/2008/layout/LinedList"/>
    <dgm:cxn modelId="{10369975-F66D-496C-A56D-EC04259F7FB1}" type="presParOf" srcId="{ACE7BC67-C6B4-4F72-B809-59E7F1C01E6E}" destId="{CCFFA9BC-2255-44FE-9346-E46DA216958B}" srcOrd="9" destOrd="0" presId="urn:microsoft.com/office/officeart/2008/layout/LinedList"/>
    <dgm:cxn modelId="{870B5FF0-B5B8-4DDE-81CC-EF801F08DFEA}" type="presParOf" srcId="{CCFFA9BC-2255-44FE-9346-E46DA216958B}" destId="{E803EF1F-536B-4E5C-A5B9-DD0BDD950A29}" srcOrd="0" destOrd="0" presId="urn:microsoft.com/office/officeart/2008/layout/LinedList"/>
    <dgm:cxn modelId="{A6C26B21-A021-48CA-8403-88361F9DBA81}" type="presParOf" srcId="{CCFFA9BC-2255-44FE-9346-E46DA216958B}" destId="{4805ACD4-82B4-484B-BE32-4EE5A1A78F07}" srcOrd="1" destOrd="0" presId="urn:microsoft.com/office/officeart/2008/layout/LinedList"/>
    <dgm:cxn modelId="{35F55FC0-6C51-488D-9901-468FCAF7B953}" type="presParOf" srcId="{ACE7BC67-C6B4-4F72-B809-59E7F1C01E6E}" destId="{8F923608-FF4D-4021-B4A7-7821705EE23E}" srcOrd="10" destOrd="0" presId="urn:microsoft.com/office/officeart/2008/layout/LinedList"/>
    <dgm:cxn modelId="{6DEDC528-58CA-4CE7-80F2-6BBBA868745B}" type="presParOf" srcId="{ACE7BC67-C6B4-4F72-B809-59E7F1C01E6E}" destId="{F114113C-F808-47D4-9D23-569505C6B575}" srcOrd="11" destOrd="0" presId="urn:microsoft.com/office/officeart/2008/layout/LinedList"/>
    <dgm:cxn modelId="{929797AC-F10D-44B3-941B-35DB74325F3C}" type="presParOf" srcId="{F114113C-F808-47D4-9D23-569505C6B575}" destId="{A4DD967B-56FC-4B0F-83AF-882D99528039}" srcOrd="0" destOrd="0" presId="urn:microsoft.com/office/officeart/2008/layout/LinedList"/>
    <dgm:cxn modelId="{93B1EC41-99DF-4F8B-A6AD-B74643EA92AD}" type="presParOf" srcId="{F114113C-F808-47D4-9D23-569505C6B575}" destId="{50E7005C-2586-4C6F-809D-CAE63D44DCC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7CFE76-DF71-43B7-A6FE-1B18A78245F4}">
      <dsp:nvSpPr>
        <dsp:cNvPr id="0" name=""/>
        <dsp:cNvSpPr/>
      </dsp:nvSpPr>
      <dsp:spPr>
        <a:xfrm>
          <a:off x="0" y="2720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FFE7C84C-592A-464D-AC5E-59BDC023B33A}">
      <dsp:nvSpPr>
        <dsp:cNvPr id="0" name=""/>
        <dsp:cNvSpPr/>
      </dsp:nvSpPr>
      <dsp:spPr>
        <a:xfrm>
          <a:off x="0" y="2720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As with any mathematical functions, signals can be manipulated: </a:t>
          </a:r>
        </a:p>
      </dsp:txBody>
      <dsp:txXfrm>
        <a:off x="0" y="2720"/>
        <a:ext cx="6269038" cy="927780"/>
      </dsp:txXfrm>
    </dsp:sp>
    <dsp:sp modelId="{0A72B4E2-2499-4719-A146-97A3F51E744A}">
      <dsp:nvSpPr>
        <dsp:cNvPr id="0" name=""/>
        <dsp:cNvSpPr/>
      </dsp:nvSpPr>
      <dsp:spPr>
        <a:xfrm>
          <a:off x="0" y="930501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8B969CB-A9BA-4586-9E37-CE7BCE849881}">
      <dsp:nvSpPr>
        <dsp:cNvPr id="0" name=""/>
        <dsp:cNvSpPr/>
      </dsp:nvSpPr>
      <dsp:spPr>
        <a:xfrm>
          <a:off x="0" y="930501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Adding and subtracting signals</a:t>
          </a:r>
        </a:p>
      </dsp:txBody>
      <dsp:txXfrm>
        <a:off x="0" y="930501"/>
        <a:ext cx="6269038" cy="927780"/>
      </dsp:txXfrm>
    </dsp:sp>
    <dsp:sp modelId="{D6F641D9-2535-4320-A7F6-CD0CAC613B4F}">
      <dsp:nvSpPr>
        <dsp:cNvPr id="0" name=""/>
        <dsp:cNvSpPr/>
      </dsp:nvSpPr>
      <dsp:spPr>
        <a:xfrm>
          <a:off x="0" y="1858281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F1A3D52-20BF-4051-B7D9-18CE61308330}">
      <dsp:nvSpPr>
        <dsp:cNvPr id="0" name=""/>
        <dsp:cNvSpPr/>
      </dsp:nvSpPr>
      <dsp:spPr>
        <a:xfrm>
          <a:off x="0" y="1858281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Multiplying signals</a:t>
          </a:r>
        </a:p>
      </dsp:txBody>
      <dsp:txXfrm>
        <a:off x="0" y="1858281"/>
        <a:ext cx="6269038" cy="927780"/>
      </dsp:txXfrm>
    </dsp:sp>
    <dsp:sp modelId="{52ADA96A-0848-4458-A88E-1CF7C2CD097A}">
      <dsp:nvSpPr>
        <dsp:cNvPr id="0" name=""/>
        <dsp:cNvSpPr/>
      </dsp:nvSpPr>
      <dsp:spPr>
        <a:xfrm>
          <a:off x="0" y="2786062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D3245BF-4936-4579-B547-148995BD331B}">
      <dsp:nvSpPr>
        <dsp:cNvPr id="0" name=""/>
        <dsp:cNvSpPr/>
      </dsp:nvSpPr>
      <dsp:spPr>
        <a:xfrm>
          <a:off x="0" y="2786062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Scaling in time or frequency </a:t>
          </a:r>
        </a:p>
      </dsp:txBody>
      <dsp:txXfrm>
        <a:off x="0" y="2786062"/>
        <a:ext cx="6269038" cy="927780"/>
      </dsp:txXfrm>
    </dsp:sp>
    <dsp:sp modelId="{289F54FD-D14B-4480-B5AC-4295AA81D797}">
      <dsp:nvSpPr>
        <dsp:cNvPr id="0" name=""/>
        <dsp:cNvSpPr/>
      </dsp:nvSpPr>
      <dsp:spPr>
        <a:xfrm>
          <a:off x="0" y="3713843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803EF1F-536B-4E5C-A5B9-DD0BDD950A29}">
      <dsp:nvSpPr>
        <dsp:cNvPr id="0" name=""/>
        <dsp:cNvSpPr/>
      </dsp:nvSpPr>
      <dsp:spPr>
        <a:xfrm>
          <a:off x="0" y="3713843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Delaying </a:t>
          </a:r>
        </a:p>
      </dsp:txBody>
      <dsp:txXfrm>
        <a:off x="0" y="3713843"/>
        <a:ext cx="6269038" cy="927780"/>
      </dsp:txXfrm>
    </dsp:sp>
    <dsp:sp modelId="{8F923608-FF4D-4021-B4A7-7821705EE23E}">
      <dsp:nvSpPr>
        <dsp:cNvPr id="0" name=""/>
        <dsp:cNvSpPr/>
      </dsp:nvSpPr>
      <dsp:spPr>
        <a:xfrm>
          <a:off x="0" y="4641623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4DD967B-56FC-4B0F-83AF-882D99528039}">
      <dsp:nvSpPr>
        <dsp:cNvPr id="0" name=""/>
        <dsp:cNvSpPr/>
      </dsp:nvSpPr>
      <dsp:spPr>
        <a:xfrm>
          <a:off x="0" y="4641623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Correlating / convolving</a:t>
          </a:r>
        </a:p>
      </dsp:txBody>
      <dsp:txXfrm>
        <a:off x="0" y="4641623"/>
        <a:ext cx="6269038" cy="9277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B5B76C-82DD-4008-9523-B591152203A1}" type="datetimeFigureOut">
              <a:rPr lang="en-US" smtClean="0"/>
              <a:t>6/26/2018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6C15A3-9E3A-4783-9C9B-4AD0B5C338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5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B949D-DC13-4E97-9081-F0F0638B61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2DE7E3-937F-4269-B881-8D8DD5795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FBDB9-AE16-4CCC-89F0-E07A3B01B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848FD-5C74-4ED0-836F-9ECD02E13D18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0C513-E6A2-4CF6-90F6-76E2CA0CF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606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6AB6F-66D3-4CC7-B936-DA0A84EED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8A151-4DFF-4775-9E1F-AA5DB9DAEB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DD385-1C69-4E97-8CF7-0A94D45F9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8D197-E7F9-4194-BC4D-64A42F62AABF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8C4F7B-B145-41BB-9496-A29F12F85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437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44AA6-98D0-4D70-ADA5-695D615F2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79C48-A847-4354-8912-074BF60D9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D7DDF-A6AD-449A-B74C-519AC2AD4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FCF44-7516-4BD0-9E57-3D03301830CD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23DD9-E9ED-49BB-99B7-1537692F7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36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12965-17D4-4938-8F12-2F9CD156B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26424-21D2-416B-A8CD-DE8FE11FD8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EF28BF-D376-450D-866D-234D89F87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77F77-B550-4F4A-BFE7-8D7AA1396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B8C7-28E3-4007-B93B-4D8679C61E1D}" type="datetime1">
              <a:rPr lang="en-US" smtClean="0"/>
              <a:t>6/26/2018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0DD5BD-0B96-4CE9-BDF8-6BD4343A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793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AE36D-9A74-4A48-BC20-603DC1C8B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6BC6EF-ADAB-4C5B-9C98-311CA9B8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A4F76-E725-47F0-9262-2366C7F33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248AD8-923E-4FA1-B0BD-63099A8D65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DF8716-CEFB-4184-9162-AE74F2BF7B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FCD516-E03E-4D67-A5D0-143AC8268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5B23B-D06F-4671-B094-823E051ED27A}" type="datetime1">
              <a:rPr lang="en-US" smtClean="0"/>
              <a:t>6/26/2018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87E13F-1A31-4C57-A1F5-D9E66F616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448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4BCF9-2F76-46E1-866C-297E44EC6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C02668-444A-473A-897E-234A9A549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9D26A-C351-4EB2-B491-709D687483DC}" type="datetime1">
              <a:rPr lang="en-US" smtClean="0"/>
              <a:t>6/26/2018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38D5B8-4714-4FB7-9402-8A517A3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42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968E84-470D-4BDE-B9B5-4CFF02F0E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1166D-8838-4B55-B726-A0C216F4EB5A}" type="datetime1">
              <a:rPr lang="en-US" smtClean="0"/>
              <a:t>6/26/2018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3A6700-F6C4-4DBE-B0BE-05CECF558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521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1A4E4-37A0-4E20-B17D-CAC4C2E65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1A349-04C1-44ED-8FDC-F051CA1CE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70F3A-E4F1-4EE0-8219-A532CDCA6C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7AE9F4-2BAF-4AAC-8E84-57C088CBF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3DE67-D16B-494C-8882-9A411A71FE69}" type="datetime1">
              <a:rPr lang="en-US" smtClean="0"/>
              <a:t>6/26/2018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FC79D-CCEC-4DFE-8EAC-B94A393BD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70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34FCA-EA36-44B3-80F6-907C144F6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8D8312-96A3-4A09-8ECA-79E6519B0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76DC0E-EA47-4748-8203-05F69A566B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45111B-3CFD-485C-AFC8-3B642F987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C6F0F-E147-469D-90FE-39716CDF0BDA}" type="datetime1">
              <a:rPr lang="en-US" smtClean="0"/>
              <a:t>6/26/2018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E3445E-6DD2-43FD-9FB2-8E2662CDC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22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D3F65-F115-4564-9949-FCA5971A5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9767C-4BBF-4D35-B1DA-3A4DEAFC71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E4688-EDE0-4E42-ABD8-4DAFB7DC6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4475-F084-4E9E-B90A-98DBD9E517B4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D6156-5650-4A37-B039-C7643FE2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838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E00CAB-04F5-49B7-8DB2-949EE98F26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43ADDB-2A17-4247-820C-E2E01CCF10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08B4-BF52-4B4E-B3F6-160CBE940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54D7F2-1265-43F5-AADE-8DE16A2727F8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E9121F-24D3-4AEC-98F3-6FA4ECF62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8527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7182BC-CA2A-4B1E-9C4E-3EB78B4BE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A83AC-F827-47B4-AEC4-FCD21BA5D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C3E04-2CD4-4C38-A022-54084972F3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D0F1BD-D5F8-4DEF-B99F-FE1DBC6EF4FE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BB06E-C2CD-4212-84D7-9D8E66070D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73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emf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5ADB0677-0A99-4F7E-AA1B-D4179B349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1" y="3086101"/>
            <a:ext cx="1371600" cy="13716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3ADA0567-4EEB-4951-93DE-1643D2D3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41431" y="1159237"/>
            <a:ext cx="5225327" cy="52253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5FB7E8-80A7-41C4-A065-BDA5EA9DB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70667" y="2530643"/>
            <a:ext cx="5293449" cy="2482515"/>
          </a:xfrm>
        </p:spPr>
        <p:txBody>
          <a:bodyPr anchor="ctr">
            <a:normAutofit/>
          </a:bodyPr>
          <a:lstStyle/>
          <a:p>
            <a:pPr algn="l"/>
            <a:r>
              <a:rPr lang="en-US" sz="3760"/>
              <a:t>Signal Processing for Radio Astronomy Applications </a:t>
            </a:r>
          </a:p>
        </p:txBody>
      </p:sp>
      <p:sp>
        <p:nvSpPr>
          <p:cNvPr id="10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12</a:t>
            </a:r>
          </a:p>
        </p:txBody>
      </p:sp>
      <p:sp>
        <p:nvSpPr>
          <p:cNvPr id="14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5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055695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F64F6814-96D5-4463-898E-405CC0C401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3" y="664076"/>
            <a:ext cx="7174247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F25109-873C-436E-92A7-F2BEE4E0097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9" b="11823"/>
          <a:stretch/>
        </p:blipFill>
        <p:spPr>
          <a:xfrm>
            <a:off x="7829551" y="649809"/>
            <a:ext cx="404240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494F55-FCB6-47E9-B1C5-FD9BE00C8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983163"/>
            <a:ext cx="6204984" cy="1344975"/>
          </a:xfrm>
        </p:spPr>
        <p:txBody>
          <a:bodyPr>
            <a:normAutofit/>
          </a:bodyPr>
          <a:lstStyle/>
          <a:p>
            <a:r>
              <a:rPr lang="en-US" sz="3200"/>
              <a:t>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97B3F-76DA-493D-BA31-38F26B00F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1515" y="2464662"/>
            <a:ext cx="6204984" cy="3626917"/>
          </a:xfrm>
        </p:spPr>
        <p:txBody>
          <a:bodyPr>
            <a:normAutofit/>
          </a:bodyPr>
          <a:lstStyle/>
          <a:p>
            <a:r>
              <a:rPr lang="en-US" sz="1920" dirty="0"/>
              <a:t>Signals = functions in 1D, 2D, 3D, etc. </a:t>
            </a:r>
          </a:p>
          <a:p>
            <a:r>
              <a:rPr lang="en-US" sz="1920" dirty="0"/>
              <a:t>Examples: audio signal, images, video signal </a:t>
            </a:r>
          </a:p>
          <a:p>
            <a:r>
              <a:rPr lang="en-US" sz="1920" dirty="0"/>
              <a:t>Dependence on time and frequency (or space and spatial frequencies)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1DFCE5-C506-4DEC-95DB-2B6339FB3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0366" y="3468656"/>
            <a:ext cx="4301634" cy="2995127"/>
          </a:xfrm>
          <a:prstGeom prst="rect">
            <a:avLst/>
          </a:prstGeom>
        </p:spPr>
      </p:pic>
      <p:sp>
        <p:nvSpPr>
          <p:cNvPr id="3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12</a:t>
            </a:r>
          </a:p>
        </p:txBody>
      </p:sp>
      <p:sp>
        <p:nvSpPr>
          <p:cNvPr id="40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1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3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263144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B181E26-89C4-4A14-92DE-0F4C4B0E9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2C2F2E-3A06-4746-9614-516EED7B862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6" r="2" b="17937"/>
          <a:stretch/>
        </p:blipFill>
        <p:spPr>
          <a:xfrm>
            <a:off x="6587330" y="2033589"/>
            <a:ext cx="5604670" cy="2501837"/>
          </a:xfrm>
          <a:custGeom>
            <a:avLst/>
            <a:gdLst>
              <a:gd name="connsiteX0" fmla="*/ 1159248 w 5604670"/>
              <a:gd name="connsiteY0" fmla="*/ 0 h 2501837"/>
              <a:gd name="connsiteX1" fmla="*/ 5604670 w 5604670"/>
              <a:gd name="connsiteY1" fmla="*/ 0 h 2501837"/>
              <a:gd name="connsiteX2" fmla="*/ 5604670 w 5604670"/>
              <a:gd name="connsiteY2" fmla="*/ 2501837 h 2501837"/>
              <a:gd name="connsiteX3" fmla="*/ 0 w 5604670"/>
              <a:gd name="connsiteY3" fmla="*/ 2501837 h 2501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04670" h="2501837">
                <a:moveTo>
                  <a:pt x="1159248" y="0"/>
                </a:moveTo>
                <a:lnTo>
                  <a:pt x="5604670" y="0"/>
                </a:lnTo>
                <a:lnTo>
                  <a:pt x="5604670" y="2501837"/>
                </a:lnTo>
                <a:lnTo>
                  <a:pt x="0" y="2501837"/>
                </a:lnTo>
                <a:close/>
              </a:path>
            </a:pathLst>
          </a:cu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39AEF6-5CDF-4513-A647-E5C94AC53E3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543" r="-2" b="12063"/>
          <a:stretch/>
        </p:blipFill>
        <p:spPr>
          <a:xfrm>
            <a:off x="4791075" y="4700017"/>
            <a:ext cx="7400925" cy="2500884"/>
          </a:xfrm>
          <a:custGeom>
            <a:avLst/>
            <a:gdLst>
              <a:gd name="connsiteX0" fmla="*/ 1717230 w 7400925"/>
              <a:gd name="connsiteY0" fmla="*/ 0 h 2500884"/>
              <a:gd name="connsiteX1" fmla="*/ 7400925 w 7400925"/>
              <a:gd name="connsiteY1" fmla="*/ 0 h 2500884"/>
              <a:gd name="connsiteX2" fmla="*/ 7400925 w 7400925"/>
              <a:gd name="connsiteY2" fmla="*/ 2500884 h 2500884"/>
              <a:gd name="connsiteX3" fmla="*/ 0 w 7400925"/>
              <a:gd name="connsiteY3" fmla="*/ 2500884 h 2500884"/>
              <a:gd name="connsiteX4" fmla="*/ 0 w 7400925"/>
              <a:gd name="connsiteY4" fmla="*/ 2500883 h 2500884"/>
              <a:gd name="connsiteX5" fmla="*/ 552186 w 7400925"/>
              <a:gd name="connsiteY5" fmla="*/ 2500883 h 2500884"/>
              <a:gd name="connsiteX6" fmla="*/ 558423 w 7400925"/>
              <a:gd name="connsiteY6" fmla="*/ 2500883 h 2500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00925" h="2500884">
                <a:moveTo>
                  <a:pt x="1717230" y="0"/>
                </a:moveTo>
                <a:lnTo>
                  <a:pt x="7400925" y="0"/>
                </a:lnTo>
                <a:lnTo>
                  <a:pt x="7400925" y="2500884"/>
                </a:lnTo>
                <a:lnTo>
                  <a:pt x="0" y="2500884"/>
                </a:lnTo>
                <a:lnTo>
                  <a:pt x="0" y="2500883"/>
                </a:lnTo>
                <a:lnTo>
                  <a:pt x="552186" y="2500883"/>
                </a:lnTo>
                <a:lnTo>
                  <a:pt x="558423" y="2500883"/>
                </a:lnTo>
                <a:close/>
              </a:path>
            </a:pathLst>
          </a:custGeom>
        </p:spPr>
      </p:pic>
      <p:sp>
        <p:nvSpPr>
          <p:cNvPr id="14" name="Freeform 37">
            <a:extLst>
              <a:ext uri="{FF2B5EF4-FFF2-40B4-BE49-F238E27FC236}">
                <a16:creationId xmlns:a16="http://schemas.microsoft.com/office/drawing/2014/main" id="{13958066-7CBD-4B89-8F46-614C4F28B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2034541"/>
            <a:ext cx="7571262" cy="5166360"/>
          </a:xfrm>
          <a:custGeom>
            <a:avLst/>
            <a:gdLst>
              <a:gd name="connsiteX0" fmla="*/ 0 w 7571262"/>
              <a:gd name="connsiteY0" fmla="*/ 5166360 h 5166360"/>
              <a:gd name="connsiteX1" fmla="*/ 7571262 w 7571262"/>
              <a:gd name="connsiteY1" fmla="*/ 5166360 h 5166360"/>
              <a:gd name="connsiteX2" fmla="*/ 5177382 w 7571262"/>
              <a:gd name="connsiteY2" fmla="*/ 0 h 5166360"/>
              <a:gd name="connsiteX3" fmla="*/ 5171159 w 7571262"/>
              <a:gd name="connsiteY3" fmla="*/ 0 h 5166360"/>
              <a:gd name="connsiteX4" fmla="*/ 3981368 w 7571262"/>
              <a:gd name="connsiteY4" fmla="*/ 0 h 5166360"/>
              <a:gd name="connsiteX5" fmla="*/ 2331323 w 7571262"/>
              <a:gd name="connsiteY5" fmla="*/ 0 h 5166360"/>
              <a:gd name="connsiteX6" fmla="*/ 0 w 7571262"/>
              <a:gd name="connsiteY6" fmla="*/ 0 h 516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71262" h="5166360">
                <a:moveTo>
                  <a:pt x="0" y="5166360"/>
                </a:moveTo>
                <a:lnTo>
                  <a:pt x="7571262" y="5166360"/>
                </a:lnTo>
                <a:lnTo>
                  <a:pt x="5177382" y="0"/>
                </a:lnTo>
                <a:lnTo>
                  <a:pt x="5171159" y="0"/>
                </a:lnTo>
                <a:lnTo>
                  <a:pt x="3981368" y="0"/>
                </a:lnTo>
                <a:lnTo>
                  <a:pt x="233132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7A9E31-A604-4F24-991D-B29BA107A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E76C1-00AF-4CA1-B8B4-023C4FC48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8306"/>
            <a:ext cx="5097779" cy="4065986"/>
          </a:xfrm>
        </p:spPr>
        <p:txBody>
          <a:bodyPr anchor="t">
            <a:normAutofit/>
          </a:bodyPr>
          <a:lstStyle/>
          <a:p>
            <a:r>
              <a:rPr lang="en-US" sz="1920" dirty="0"/>
              <a:t>Cellular antenna </a:t>
            </a:r>
          </a:p>
          <a:p>
            <a:r>
              <a:rPr lang="en-US" sz="1920" dirty="0"/>
              <a:t>Camera </a:t>
            </a:r>
          </a:p>
          <a:p>
            <a:r>
              <a:rPr lang="en-US" sz="1920" dirty="0" err="1"/>
              <a:t>Tomographer</a:t>
            </a:r>
            <a:r>
              <a:rPr lang="en-US" sz="1920" dirty="0"/>
              <a:t> (CT, MRI, etc.) </a:t>
            </a:r>
          </a:p>
          <a:p>
            <a:r>
              <a:rPr lang="en-US" sz="1920" dirty="0"/>
              <a:t>Optical telescope </a:t>
            </a:r>
          </a:p>
          <a:p>
            <a:r>
              <a:rPr lang="en-US" sz="1920" dirty="0"/>
              <a:t>Radio telescope </a:t>
            </a:r>
          </a:p>
          <a:p>
            <a:r>
              <a:rPr lang="en-US" sz="1920" dirty="0"/>
              <a:t>Radar </a:t>
            </a:r>
          </a:p>
          <a:p>
            <a:r>
              <a:rPr lang="en-US" sz="1920" dirty="0"/>
              <a:t>Any other receiver or antenna</a:t>
            </a:r>
          </a:p>
        </p:txBody>
      </p:sp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12</a:t>
            </a:r>
          </a:p>
        </p:txBody>
      </p:sp>
      <p:sp>
        <p:nvSpPr>
          <p:cNvPr id="20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1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1140944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08E89D5E-1885-4160-AC77-CC471DD1D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463600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50D2BD1-98F9-412D-905B-3A843EF40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3314700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F1F5E77-3979-4B81-9349-CB63944E6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3277" y="1055169"/>
            <a:ext cx="3370998" cy="550226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Operations on Signals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C42C95C2-CF08-4EE1-9510-5A27E23E25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5728306"/>
              </p:ext>
            </p:extLst>
          </p:nvPr>
        </p:nvGraphicFramePr>
        <p:xfrm>
          <a:off x="5280025" y="985838"/>
          <a:ext cx="6269038" cy="5572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12</a:t>
            </a:r>
          </a:p>
        </p:txBody>
      </p:sp>
      <p:sp>
        <p:nvSpPr>
          <p:cNvPr id="36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7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9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775663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AE885FA-583E-488C-A3B2-2647B84A8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12192000" cy="4572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6">
            <a:extLst>
              <a:ext uri="{FF2B5EF4-FFF2-40B4-BE49-F238E27FC236}">
                <a16:creationId xmlns:a16="http://schemas.microsoft.com/office/drawing/2014/main" id="{87B1CEC7-C2CE-4440-A0F7-0BE6B3AAD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564" y="663743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984236-1AE8-4D62-BE71-5D9EAF3D6D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295" y="982980"/>
            <a:ext cx="4386105" cy="3291840"/>
          </a:xfrm>
          <a:prstGeom prst="rect">
            <a:avLst/>
          </a:prstGeom>
        </p:spPr>
      </p:pic>
      <p:sp>
        <p:nvSpPr>
          <p:cNvPr id="31" name="Rounded Rectangle 16">
            <a:extLst>
              <a:ext uri="{FF2B5EF4-FFF2-40B4-BE49-F238E27FC236}">
                <a16:creationId xmlns:a16="http://schemas.microsoft.com/office/drawing/2014/main" id="{7B0DBF0B-D7C2-4F15-94AE-315255824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4749" y="663743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C8E29A-2C6C-403F-972C-DE4F6984C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8480" y="982980"/>
            <a:ext cx="4386105" cy="3291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9AEBF-0027-4999-A7B6-91BB2A220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4985483"/>
            <a:ext cx="9144000" cy="10998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80"/>
              <a:t>Adding / Subtracting / Multiplying</a:t>
            </a:r>
          </a:p>
        </p:txBody>
      </p:sp>
      <p:sp>
        <p:nvSpPr>
          <p:cNvPr id="33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6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12</a:t>
            </a:r>
          </a:p>
        </p:txBody>
      </p:sp>
      <p:sp>
        <p:nvSpPr>
          <p:cNvPr id="37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8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0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428861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574FFD99-0B7A-43C3-8627-F7EF1C902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6" y="1043885"/>
            <a:ext cx="6569451" cy="545264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2D44074-0B69-4F0C-A7B3-5645CE40D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342900"/>
            <a:ext cx="4657344" cy="6858000"/>
          </a:xfrm>
          <a:prstGeom prst="rect">
            <a:avLst/>
          </a:prstGeom>
          <a:solidFill>
            <a:srgbClr val="3036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11D3CD-FAF9-41A2-9B3A-4F7A833F5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14996" y="982981"/>
            <a:ext cx="3946849" cy="557445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Adding signals: 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radio astronomy</a:t>
            </a: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Simulated Lorimer burst 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DM = 375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S/N = 25</a:t>
            </a:r>
          </a:p>
        </p:txBody>
      </p:sp>
      <p:sp>
        <p:nvSpPr>
          <p:cNvPr id="11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12</a:t>
            </a:r>
          </a:p>
        </p:txBody>
      </p:sp>
      <p:sp>
        <p:nvSpPr>
          <p:cNvPr id="15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6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23327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9946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B84C90B-A45E-488E-BD15-F173C717D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221" y="1010629"/>
            <a:ext cx="8794511" cy="55385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B496FA-7E2C-4419-AE0E-164D1D932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986367"/>
            <a:ext cx="11210925" cy="744836"/>
          </a:xfrm>
          <a:prstGeom prst="ellipse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2400" kern="1200">
                <a:solidFill>
                  <a:schemeClr val="bg1"/>
                </a:solidFill>
                <a:latin typeface="Arial"/>
                <a:ea typeface="+mj-ea"/>
                <a:cs typeface="+mj-cs"/>
              </a:rPr>
              <a:t>Time delay and scaling</a:t>
            </a:r>
          </a:p>
        </p:txBody>
      </p:sp>
      <p:sp>
        <p:nvSpPr>
          <p:cNvPr id="5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12</a:t>
            </a:r>
          </a:p>
        </p:txBody>
      </p:sp>
      <p:sp>
        <p:nvSpPr>
          <p:cNvPr id="60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1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6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3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563995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5D69E-7791-4749-9D39-3E324E586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of signals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59315-B399-4D13-880D-68E8A6EEE98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two real valued signals</a:t>
                </a:r>
              </a:p>
              <a:p>
                <a:r>
                  <a:rPr lang="en-US" dirty="0"/>
                  <a:t>Correlation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defined as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59315-B399-4D13-880D-68E8A6EEE9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289ED0F-0A09-42D8-9E3A-DBD2D4F54FB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Example: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289ED0F-0A09-42D8-9E3A-DBD2D4F54F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118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9E85FDF-5EC1-40E5-9386-0D7652C47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937" y="3358846"/>
            <a:ext cx="4920863" cy="1509600"/>
          </a:xfrm>
          <a:prstGeom prst="rect">
            <a:avLst/>
          </a:prstGeom>
        </p:spPr>
      </p:pic>
      <p:sp>
        <p:nvSpPr>
          <p:cNvPr id="8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12</a:t>
            </a:r>
          </a:p>
        </p:txBody>
      </p:sp>
      <p:sp>
        <p:nvSpPr>
          <p:cNvPr id="12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3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81008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2D39-EE00-43A0-8D3E-F3334437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correlation?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6D056-8E43-48F9-9F05-5309F4DBF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8525"/>
            <a:ext cx="4100000" cy="4351338"/>
          </a:xfrm>
        </p:spPr>
        <p:txBody>
          <a:bodyPr/>
          <a:lstStyle/>
          <a:p>
            <a:r>
              <a:rPr lang="en-US" dirty="0"/>
              <a:t>It’s like matching patterns</a:t>
            </a:r>
          </a:p>
          <a:p>
            <a:r>
              <a:rPr lang="en-US" dirty="0"/>
              <a:t>Operators: shift, logical comparison</a:t>
            </a:r>
          </a:p>
          <a:p>
            <a:r>
              <a:rPr lang="en-US" dirty="0"/>
              <a:t>Assign one if two objects match (zero, otherwise), add all ones, find the maximum score. This is the best match. </a:t>
            </a:r>
          </a:p>
          <a:p>
            <a:r>
              <a:rPr lang="en-US" dirty="0"/>
              <a:t>The same idea is used to search for signals.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F96B7C-116F-4F2A-8790-F54EFBD5F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993" y="1893887"/>
            <a:ext cx="5658153" cy="4043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26583F-B7C2-4A93-9D2E-BC493AA55F2D}"/>
              </a:ext>
            </a:extLst>
          </p:cNvPr>
          <p:cNvSpPr txBox="1"/>
          <p:nvPr/>
        </p:nvSpPr>
        <p:spPr>
          <a:xfrm>
            <a:off x="11439525" y="251460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005269-301B-492E-84D6-4B043326AF14}"/>
              </a:ext>
            </a:extLst>
          </p:cNvPr>
          <p:cNvSpPr txBox="1"/>
          <p:nvPr/>
        </p:nvSpPr>
        <p:spPr>
          <a:xfrm>
            <a:off x="11449050" y="313372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B5CD2D-74B1-486A-AEF4-F692E96B2EF5}"/>
              </a:ext>
            </a:extLst>
          </p:cNvPr>
          <p:cNvSpPr txBox="1"/>
          <p:nvPr/>
        </p:nvSpPr>
        <p:spPr>
          <a:xfrm>
            <a:off x="11458575" y="370522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1B22F2-6306-486E-8A37-C13C101AB73E}"/>
              </a:ext>
            </a:extLst>
          </p:cNvPr>
          <p:cNvSpPr txBox="1"/>
          <p:nvPr/>
        </p:nvSpPr>
        <p:spPr>
          <a:xfrm>
            <a:off x="11458575" y="433387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40E082-B939-4B81-999E-F15594541DB5}"/>
              </a:ext>
            </a:extLst>
          </p:cNvPr>
          <p:cNvSpPr txBox="1"/>
          <p:nvPr/>
        </p:nvSpPr>
        <p:spPr>
          <a:xfrm>
            <a:off x="11468100" y="492442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35CA4D-F01E-4D9F-8495-8278AE35D2C2}"/>
              </a:ext>
            </a:extLst>
          </p:cNvPr>
          <p:cNvSpPr txBox="1"/>
          <p:nvPr/>
        </p:nvSpPr>
        <p:spPr>
          <a:xfrm>
            <a:off x="11477625" y="553402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(6)</a:t>
            </a:r>
          </a:p>
        </p:txBody>
      </p:sp>
      <p:sp>
        <p:nvSpPr>
          <p:cNvPr id="13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12</a:t>
            </a:r>
          </a:p>
        </p:txBody>
      </p:sp>
      <p:sp>
        <p:nvSpPr>
          <p:cNvPr id="17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8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118051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mans face&#10;&#10;Description generated with very high confidence">
            <a:extLst>
              <a:ext uri="{FF2B5EF4-FFF2-40B4-BE49-F238E27FC236}">
                <a16:creationId xmlns:a16="http://schemas.microsoft.com/office/drawing/2014/main" id="{42671F0A-2186-4912-A647-EB096D815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6" y="1043885"/>
            <a:ext cx="6569451" cy="545264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D44074-0B69-4F0C-A7B3-5645CE40D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342900"/>
            <a:ext cx="465734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E7AB68-71F3-485A-8229-101E0F6DC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399" y="982981"/>
            <a:ext cx="3395133" cy="557445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Illustration</a:t>
            </a:r>
          </a:p>
        </p:txBody>
      </p:sp>
      <p:sp>
        <p:nvSpPr>
          <p:cNvPr id="1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12</a:t>
            </a:r>
          </a:p>
        </p:txBody>
      </p:sp>
      <p:sp>
        <p:nvSpPr>
          <p:cNvPr id="16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7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59567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4024D8F5-654C-4391-8A13-D3DC52842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6" y="1043885"/>
            <a:ext cx="6569451" cy="545264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D44074-0B69-4F0C-A7B3-5645CE40D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342900"/>
            <a:ext cx="465734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4547D5-5F28-476B-AADE-F2BF709BD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399" y="982981"/>
            <a:ext cx="3395133" cy="557445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Noisy signal</a:t>
            </a:r>
          </a:p>
        </p:txBody>
      </p:sp>
      <p:sp>
        <p:nvSpPr>
          <p:cNvPr id="1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12</a:t>
            </a:r>
          </a:p>
        </p:txBody>
      </p:sp>
      <p:sp>
        <p:nvSpPr>
          <p:cNvPr id="16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7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668053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5FC77-79D7-4768-9BB8-DB4A6D499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Matching signals in 2D</a:t>
            </a:r>
          </a:p>
        </p:txBody>
      </p:sp>
      <p:pic>
        <p:nvPicPr>
          <p:cNvPr id="14" name="Picture 13" descr="A picture containing screenshot&#10;&#10;Description generated with very high confidence">
            <a:extLst>
              <a:ext uri="{FF2B5EF4-FFF2-40B4-BE49-F238E27FC236}">
                <a16:creationId xmlns:a16="http://schemas.microsoft.com/office/drawing/2014/main" id="{A9476569-D651-4135-B54C-F38B28C488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445" y="1516652"/>
            <a:ext cx="5574835" cy="4953574"/>
          </a:xfrm>
          <a:prstGeom prst="rect">
            <a:avLst/>
          </a:prstGeom>
        </p:spPr>
      </p:pic>
      <p:pic>
        <p:nvPicPr>
          <p:cNvPr id="16" name="Picture 15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E3FCC31A-B0AB-4A2A-B949-3B85DE8DF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046" y="1632810"/>
            <a:ext cx="5547878" cy="4604206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4D18929-AE4E-4CB3-AAFA-2F1DE9F69D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944884"/>
              </p:ext>
            </p:extLst>
          </p:nvPr>
        </p:nvGraphicFramePr>
        <p:xfrm>
          <a:off x="1990725" y="4986866"/>
          <a:ext cx="29527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0922">
                  <a:extLst>
                    <a:ext uri="{9D8B030D-6E8A-4147-A177-3AD203B41FA5}">
                      <a16:colId xmlns:a16="http://schemas.microsoft.com/office/drawing/2014/main" val="62410236"/>
                    </a:ext>
                  </a:extLst>
                </a:gridCol>
                <a:gridCol w="1291828">
                  <a:extLst>
                    <a:ext uri="{9D8B030D-6E8A-4147-A177-3AD203B41FA5}">
                      <a16:colId xmlns:a16="http://schemas.microsoft.com/office/drawing/2014/main" val="15022541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Signal +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Noise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575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1984.6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726.8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949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740.3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79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896.8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755.8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6008155"/>
                  </a:ext>
                </a:extLst>
              </a:tr>
            </a:tbl>
          </a:graphicData>
        </a:graphic>
      </p:graphicFrame>
      <p:sp>
        <p:nvSpPr>
          <p:cNvPr id="1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12</a:t>
            </a:r>
          </a:p>
        </p:txBody>
      </p:sp>
      <p:sp>
        <p:nvSpPr>
          <p:cNvPr id="2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39727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3130</TotalTime>
  <Words>251</Words>
  <Application>Microsoft Office PowerPoint</Application>
  <PresentationFormat>Widescreen</PresentationFormat>
  <Paragraphs>63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Office Theme</vt:lpstr>
      <vt:lpstr>Signal Processing for Radio Astronomy Applications </vt:lpstr>
      <vt:lpstr>Signals</vt:lpstr>
      <vt:lpstr>Systems</vt:lpstr>
      <vt:lpstr>Operations on Signals</vt:lpstr>
      <vt:lpstr>Adding / Subtracting / Multiplying</vt:lpstr>
      <vt:lpstr>Adding signals:  radio astronomy   Simulated Lorimer burst  DM = 375 S/N = 25</vt:lpstr>
      <vt:lpstr>Time delay and scaling</vt:lpstr>
      <vt:lpstr>Correlation of signals</vt:lpstr>
      <vt:lpstr>Why correlation?</vt:lpstr>
      <vt:lpstr>Illustration</vt:lpstr>
      <vt:lpstr>Noisy signal</vt:lpstr>
      <vt:lpstr>Matching signals in 2D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 processing for radio astronomy (2018 edition)</dc:title>
  <dc:creator>Natalia Schmid</dc:creator>
  <cp:lastModifiedBy>WVU DSPIRA</cp:lastModifiedBy>
  <cp:revision>27</cp:revision>
  <dcterms:created xsi:type="dcterms:W3CDTF">2018-06-11T11:37:29Z</dcterms:created>
  <dcterms:modified xsi:type="dcterms:W3CDTF">2018-06-26T21:12:00Z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