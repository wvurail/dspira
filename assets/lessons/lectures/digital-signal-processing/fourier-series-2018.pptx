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1" r:id="rId5"/>
    <p:sldId id="260" r:id="rId6"/>
    <p:sldId id="262" r:id="rId7"/>
    <p:sldId id="263" r:id="rId8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customXml" Target="customXml/item2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customXml" Target="customXml/item1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5EA7D27E-4B05-4D22-AD97-6C014BF38290}"/>
</file>

<file path=ppt/customXml/itemProps2.xml><?xml version="1.0" encoding="utf-8"?>
<ds:datastoreItem xmlns:ds="http://schemas.openxmlformats.org/officeDocument/2006/customXml" ds:itemID="{A29E571B-A306-45F6-8A51-A4ABCC68D86B}"/>
</file>

<file path=ppt/customXml/itemProps3.xml><?xml version="1.0" encoding="utf-8"?>
<ds:datastoreItem xmlns:ds="http://schemas.openxmlformats.org/officeDocument/2006/customXml" ds:itemID="{BAB7F77E-F07E-4F31-83F1-0CCC6AC9FE43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163E27-DE83-412B-B86B-EFF5993DB636}" type="datetimeFigureOut">
              <a:rPr lang="en-US" smtClean="0"/>
              <a:t>6/25/2018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FDB833-CFD7-4A93-81E5-91047A073A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17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F0942-D544-4137-8460-4D76CDAEF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DF78A0-CCA3-4C02-A07B-9D1FD45B3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89D2AF-B582-4B90-8B4F-C5E9EC9FF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DBB80-900B-4A65-9D18-FE5DF51C1AA6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97770-F4DD-474C-AB46-0F70A25AC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131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A6A14-EA38-487B-86D3-E93D3A0D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ABBEF-37F8-4658-9D54-C78E2F6A0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E1317-1484-4043-877B-75198F7F8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B0C9D-3619-471E-B109-4BE97739F23D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9B922-221D-48DA-9B5E-4209B17A4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8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FE2D-6338-474D-8D4A-E9501821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770A7-9D2A-42C4-ABB5-681211416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D77BB-5E99-447B-A034-DB257EA1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71CA1-BB07-4ECA-AEDA-81D8A05907B1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981EC-78B4-4133-A5C7-AC4A8F18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59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68843-1C22-4AAD-A218-A65965AC6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A663D-BAA4-4C98-925C-EBA539542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812BE-6E21-486F-BA0B-7EFC8B7ED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510D52-832B-4E21-A40A-C5904CCC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775AB-D052-478F-BD4F-38DE74F9CDDD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B8144-D959-468F-8C3E-F18FBAB3A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94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DA6C8-12A3-4118-BB49-E9A78182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3E28B-3E2E-4981-89D7-206E05DD7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F074A-488C-406F-8C04-D4B43A406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D5A4A8-65D5-493B-A2EC-75A948282A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C138A7-298B-4D90-8560-99691FD0D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0BA7E4-053E-4B8F-9460-DD21FDB5D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A61F8-5DE2-4461-B075-A818646FE20F}" type="datetime1">
              <a:rPr lang="en-US" smtClean="0"/>
              <a:t>6/25/2018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CA63CD-31D5-4053-A386-A925A2A90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958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DE5F7-F9F9-428A-BF7A-8EC9D06F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FD79D-DB7C-4397-80FA-EE0C9D66B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9B36A-DFDB-4898-AB43-6C0FBC5AE87D}" type="datetime1">
              <a:rPr lang="en-US" smtClean="0"/>
              <a:t>6/25/2018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71C51B-5BB4-44FD-B3B0-DB71BB83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342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2DF0C6-B9FE-4C6E-9044-87E90A1D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D3FC6-F12C-467C-8D0B-8273D04C1748}" type="datetime1">
              <a:rPr lang="en-US" smtClean="0"/>
              <a:t>6/25/2018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23DEE-05E7-49F7-A7D8-162EE285E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739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3DB3E-C91E-44BA-B73B-E989BCDB9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20F1-B237-4929-8D57-8CDCE3687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535BDE-8775-4561-983A-BB2DEA946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4CF476-9347-4D6F-9035-2E3C288B5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6673D-A262-4011-AABB-AC8E78477948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24691-8597-4E9E-A4F1-A35564E2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694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917CC-B566-4024-84BF-E6F922237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88D541-48E8-4F28-BF57-16E566955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4DE322-5C97-40D5-AAD5-E21938076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E56776-8517-43F9-9EFE-E07EDF982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DBEFD-DCBD-4D7B-AB4E-9748E6A009EA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0C781-1FE3-429F-972E-1BD5479B5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94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775D-2D99-4194-9C83-621A90238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FA4D8-7561-4A57-93D1-0CD37079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25357-C18E-43C2-BFF2-E64234383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B217A-72B2-42C2-A1D6-CE16BB4FDD24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5CD64-7E51-4C50-A8DA-A4005214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36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FED306-6630-44EC-A291-4BFF65842D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32FB49-55FA-421F-BE70-8E98B1330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F6B8D-E6FE-4084-878D-8C156E1F0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7D54-5BA6-4ADC-9FAE-E6941ED10FFE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8A07B-855A-40EA-8724-5641F527F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597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4DBF5-A523-4ACE-880A-EBF1EED2B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4BE60-5791-4B5E-83EF-DA83C1C31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8814D-4516-4B1F-B8D3-851F16A7AB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B280E-1062-4831-AED9-414D79080303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5BF98-2732-40DC-A243-F634D90321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24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://spfirst.gatech.edu/chapters/02sines/demos/phasors/index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72257994-BD97-4691-8B89-198A6D2BA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261409"/>
            <a:ext cx="12192000" cy="1939491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A47599-7F49-4A8E-99EC-C79EAC859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12" y="1467873"/>
            <a:ext cx="2974213" cy="2074513"/>
          </a:xfrm>
          <a:prstGeom prst="rect">
            <a:avLst/>
          </a:prstGeom>
        </p:spPr>
      </p:pic>
      <p:pic>
        <p:nvPicPr>
          <p:cNvPr id="18" name="Picture 1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F328AB-F54D-4C14-BF78-BB4D8EE2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082" y="1003055"/>
            <a:ext cx="3619459" cy="3004150"/>
          </a:xfrm>
          <a:prstGeom prst="rect">
            <a:avLst/>
          </a:prstGeom>
        </p:spPr>
      </p:pic>
      <p:pic>
        <p:nvPicPr>
          <p:cNvPr id="9" name="Picture 8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42846E9-8AE3-4DA2-A2BC-AC8ACB15E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362" y="1238360"/>
            <a:ext cx="5144245" cy="25335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B085477-D04B-487E-AE40-AF257B2D1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612182"/>
            <a:ext cx="8991600" cy="1264762"/>
          </a:xfrm>
          <a:solidFill>
            <a:srgbClr val="FFFFFF"/>
          </a:solidFill>
          <a:ln w="38100">
            <a:solidFill>
              <a:srgbClr val="404040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>
                <a:solidFill>
                  <a:srgbClr val="404040"/>
                </a:solidFill>
              </a:rPr>
              <a:t>Periodic and non-periodic signals</a:t>
            </a:r>
          </a:p>
        </p:txBody>
      </p:sp>
      <p:sp>
        <p:nvSpPr>
          <p:cNvPr id="3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7</a:t>
            </a:r>
          </a:p>
        </p:txBody>
      </p:sp>
      <p:sp>
        <p:nvSpPr>
          <p:cNvPr id="34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5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0911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34290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827532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icture containing cake&#10;&#10;Description generated with very high confidence">
            <a:extLst>
              <a:ext uri="{FF2B5EF4-FFF2-40B4-BE49-F238E27FC236}">
                <a16:creationId xmlns:a16="http://schemas.microsoft.com/office/drawing/2014/main" id="{FA3B0F53-1B2F-47E7-8056-025651C89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999" y="1034043"/>
            <a:ext cx="2297430" cy="1585227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7C9BEA-AE70-4F28-8A19-E59077382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3505495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80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Signal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8931" y="2438400"/>
                <a:ext cx="3505494" cy="3785419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sz="1520"/>
                  <a:t>A signal can be represented as a combination of other signals</a:t>
                </a:r>
              </a:p>
              <a:p>
                <a:r>
                  <a:rPr lang="en-US" sz="1520"/>
                  <a:t>Example (last time) </a:t>
                </a:r>
              </a:p>
              <a:p>
                <a:pPr mar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20" i="1">
                        <a:latin typeface="Cambria Math" panose="02040503050406030204" pitchFamily="18" charset="0"/>
                      </a:rPr>
                      <m:t>Λ</m:t>
                    </m:r>
                    <m:d>
                      <m:d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0.5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520" b="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520" i="1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520"/>
              </a:p>
              <a:p>
                <a:r>
                  <a:rPr lang="en-US" sz="1520"/>
                  <a:t>Depending on a type of signal, it can be decomposed in a series</a:t>
                </a:r>
              </a:p>
              <a:p>
                <a:pPr marL="0"/>
                <a14:m>
                  <m:oMath xmlns:m="http://schemas.openxmlformats.org/officeDocument/2006/math">
                    <m:r>
                      <a:rPr lang="en-US" sz="1520" b="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52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520" b="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1520" b="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=−∞</m:t>
                        </m:r>
                      </m:sub>
                      <m:sup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sSub>
                          <m:sSubPr>
                            <m:ctrlPr>
                              <a:rPr lang="en-US" sz="152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152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1520"/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520"/>
                  <a:t> are weights, </a:t>
                </a: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5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520"/>
                  <a:t> are known functions.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8931" y="2438400"/>
                <a:ext cx="3505494" cy="3785419"/>
              </a:xfrm>
              <a:blipFill>
                <a:blip r:embed="rId3"/>
                <a:stretch>
                  <a:fillRect l="-1215" t="-1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6ACBFC0F-4C9E-4BD1-8835-33B4F566F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671" y="3013562"/>
            <a:ext cx="4396307" cy="33341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A44D3C-80F7-4E2A-A3AD-B3274BFF203E}"/>
              </a:ext>
            </a:extLst>
          </p:cNvPr>
          <p:cNvSpPr txBox="1"/>
          <p:nvPr/>
        </p:nvSpPr>
        <p:spPr>
          <a:xfrm>
            <a:off x="8942115" y="1162050"/>
            <a:ext cx="159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Gate 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4F1CE0-9EC0-4904-8BBD-108409F28035}"/>
              </a:ext>
            </a:extLst>
          </p:cNvPr>
          <p:cNvSpPr txBox="1"/>
          <p:nvPr/>
        </p:nvSpPr>
        <p:spPr>
          <a:xfrm>
            <a:off x="8972550" y="2438295"/>
            <a:ext cx="2058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Zernike polynomials</a:t>
            </a:r>
          </a:p>
        </p:txBody>
      </p:sp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7</a:t>
            </a:r>
          </a:p>
        </p:txBody>
      </p:sp>
      <p:sp>
        <p:nvSpPr>
          <p:cNvPr id="1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97558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C21CE-A6A4-4DBE-9936-0A11355DD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Trigonometric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45432" y="1825625"/>
                <a:ext cx="5474368" cy="435133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periodic signal can be represented as a sum of sine and cosine functions on a single period: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8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func>
                            <m:func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8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08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8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8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208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080" b="0" i="1" smtClean="0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8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8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45432" y="1825625"/>
                <a:ext cx="5474368" cy="4351338"/>
              </a:xfrm>
              <a:blipFill>
                <a:blip r:embed="rId2"/>
                <a:stretch>
                  <a:fillRect l="-1224" t="-2801" r="-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close up of a device&#10;&#10;Description generated with high confidence">
            <a:extLst>
              <a:ext uri="{FF2B5EF4-FFF2-40B4-BE49-F238E27FC236}">
                <a16:creationId xmlns:a16="http://schemas.microsoft.com/office/drawing/2014/main" id="{3057BA43-76D4-426B-93B0-176BCB45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2535" y="2233458"/>
            <a:ext cx="5113428" cy="3395316"/>
          </a:xfrm>
          <a:prstGeom prst="rect">
            <a:avLst/>
          </a:prstGeom>
        </p:spPr>
      </p:pic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7</a:t>
            </a:r>
          </a:p>
        </p:txBody>
      </p:sp>
      <p:sp>
        <p:nvSpPr>
          <p:cNvPr id="13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368047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F9EB9F2-07E2-4D64-BBD8-BB5B217F1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662940"/>
            <a:ext cx="11548872" cy="6217920"/>
          </a:xfrm>
          <a:prstGeom prst="rect">
            <a:avLst/>
          </a:prstGeom>
          <a:solidFill>
            <a:schemeClr val="tx1">
              <a:alpha val="12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57C7C-DFE9-4A1E-B7A9-DF40E633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400299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798E46E-FB3A-42E9-9734-CB940D034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0588" y="1308099"/>
            <a:ext cx="6766078" cy="49276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32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7</a:t>
            </a:r>
          </a:p>
        </p:txBody>
      </p:sp>
      <p:sp>
        <p:nvSpPr>
          <p:cNvPr id="17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8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148966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6629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CA6C0-516D-4874-A574-C85723F05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11277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Complex Exponential Series: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177456"/>
                <a:ext cx="5097780" cy="3795748"/>
              </a:xfrm>
            </p:spPr>
            <p:txBody>
              <a:bodyPr>
                <a:normAutofit/>
              </a:bodyPr>
              <a:lstStyle/>
              <a:p>
                <a:r>
                  <a:rPr lang="en-US" sz="1760"/>
                  <a:t>In place of sine and cosine functions we can use a series of complex exponentials. </a:t>
                </a:r>
              </a:p>
              <a:p>
                <a:r>
                  <a:rPr lang="en-US" sz="1760"/>
                  <a:t>Recall Euler’s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760" b="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6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76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76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760"/>
              </a:p>
              <a:p>
                <a:r>
                  <a:rPr lang="en-US" sz="1760"/>
                  <a:t>From these two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:endParaRPr lang="en-US" sz="176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den>
                      </m:f>
                      <m:d>
                        <m:d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:endParaRPr lang="en-US" sz="176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177456"/>
                <a:ext cx="5097780" cy="3795748"/>
              </a:xfrm>
              <a:blipFill>
                <a:blip r:embed="rId2"/>
                <a:stretch>
                  <a:fillRect l="-1435" t="-2087" r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256020" y="2177456"/>
                <a:ext cx="5097780" cy="3795748"/>
              </a:xfrm>
            </p:spPr>
            <p:txBody>
              <a:bodyPr>
                <a:normAutofit/>
              </a:bodyPr>
              <a:lstStyle/>
              <a:p>
                <a:r>
                  <a:rPr lang="en-US" sz="1920"/>
                  <a:t>Also,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92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2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92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2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92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920"/>
              </a:p>
              <a:p>
                <a:r>
                  <a:rPr lang="en-US" sz="1920"/>
                  <a:t>If displayed in a complex plane,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92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2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92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9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sz="19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1920"/>
                  <a:t> is a rotating phasor</a:t>
                </a:r>
              </a:p>
              <a:p>
                <a:r>
                  <a:rPr lang="en-US" sz="1920"/>
                  <a:t>For illustration, see </a:t>
                </a:r>
              </a:p>
              <a:p>
                <a:pPr marL="0" indent="0">
                  <a:buNone/>
                </a:pPr>
                <a:r>
                  <a:rPr lang="en-US" sz="1920">
                    <a:hlinkClick r:id="rId3"/>
                  </a:rPr>
                  <a:t>http://spfirst.gatech.edu/chapters/02sines/demos/phasors/index.html</a:t>
                </a:r>
                <a:r>
                  <a:rPr lang="en-US" sz="1920"/>
                  <a:t>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256020" y="2177456"/>
                <a:ext cx="5097780" cy="3795748"/>
              </a:xfrm>
              <a:blipFill>
                <a:blip r:embed="rId4"/>
                <a:stretch>
                  <a:fillRect l="-1792" t="-2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7</a:t>
            </a:r>
          </a:p>
        </p:txBody>
      </p:sp>
      <p:sp>
        <p:nvSpPr>
          <p:cNvPr id="1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861803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7553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089389-A1BA-4B80-ABC0-B5C9180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53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Complex Exponential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380855" y="1412489"/>
                <a:ext cx="3585108" cy="4363844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On a single period a real values function can be represented as a series of complex exponential functions</a:t>
                </a:r>
              </a:p>
              <a:p>
                <a:pPr marL="0" indent="0">
                  <a:buNone/>
                </a:pPr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380855" y="1412489"/>
                <a:ext cx="3585108" cy="4363844"/>
              </a:xfrm>
              <a:blipFill>
                <a:blip r:embed="rId2"/>
                <a:stretch>
                  <a:fillRect l="-1531" t="-1536" r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293776" y="1412489"/>
                <a:ext cx="3505192" cy="4363844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tell us how much the k-</a:t>
                </a:r>
                <a:r>
                  <a:rPr lang="en-US" sz="1600" dirty="0" err="1"/>
                  <a:t>th</a:t>
                </a:r>
                <a:r>
                  <a:rPr lang="en-US" sz="1600" dirty="0"/>
                  <a:t> discrete frequency contributes to signal’s representation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are related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Fast Fourier Transform (FFT) is based on complex exponentials</a:t>
                </a:r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293776" y="1412489"/>
                <a:ext cx="3505192" cy="4363844"/>
              </a:xfrm>
              <a:blipFill>
                <a:blip r:embed="rId3"/>
                <a:stretch>
                  <a:fillRect l="-1565" t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7</a:t>
            </a:r>
          </a:p>
        </p:txBody>
      </p:sp>
      <p:sp>
        <p:nvSpPr>
          <p:cNvPr id="18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032701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FB5C702D-5870-49BC-9FCA-465DA5D20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ADB0677-0A99-4F7E-AA1B-D4179B349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90C72-E697-421F-AC8A-2117E6629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7" y="2530643"/>
            <a:ext cx="5293449" cy="248251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80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Illustration: Radio Astronomy </a:t>
            </a:r>
          </a:p>
        </p:txBody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7</a:t>
            </a:r>
          </a:p>
        </p:txBody>
      </p:sp>
      <p:sp>
        <p:nvSpPr>
          <p:cNvPr id="15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88169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290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Periodic and non-periodic signals</vt:lpstr>
      <vt:lpstr>Signal decomposition</vt:lpstr>
      <vt:lpstr>Trigonometric Series</vt:lpstr>
      <vt:lpstr>Illustration</vt:lpstr>
      <vt:lpstr>Complex Exponential Series: Background</vt:lpstr>
      <vt:lpstr>Complex Exponential Series</vt:lpstr>
      <vt:lpstr>Illustration: Radio Astronomy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series (2018 edition)</dc:title>
  <dc:creator>Natalia Schmid</dc:creator>
  <cp:lastModifiedBy>WVU DSPIRA</cp:lastModifiedBy>
  <cp:revision>14</cp:revision>
  <dcterms:created xsi:type="dcterms:W3CDTF">2018-06-25T12:19:06Z</dcterms:created>
  <dcterms:modified xsi:type="dcterms:W3CDTF">2018-06-25T21:08:06Z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