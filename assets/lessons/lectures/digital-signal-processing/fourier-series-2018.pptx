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2"/>
  </p:notesMasterIdLst>
  <p:sldIdLst>
    <p:sldId id="256" r:id="rId5"/>
    <p:sldId id="257" r:id="rId6"/>
    <p:sldId id="259" r:id="rId7"/>
    <p:sldId id="261" r:id="rId8"/>
    <p:sldId id="260" r:id="rId9"/>
    <p:sldId id="262" r:id="rId10"/>
    <p:sldId id="263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23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6" Type="http://schemas.openxmlformats.org/officeDocument/2006/relationships/tableStyles" Target="tableStyles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163E27-DE83-412B-B86B-EFF5993DB636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FDB833-CFD7-4A93-81E5-91047A073A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6174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ss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esson title title 0">
            <a:extLst>
              <a:ext uri="{FF2B5EF4-FFF2-40B4-BE49-F238E27FC236}">
                <a16:creationId xmlns:a16="http://schemas.microsoft.com/office/drawing/2014/main" id="{D0D053A8-BBDF-4114-AC0C-F41E42B0F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95450"/>
            <a:ext cx="109728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[Lesson title]</a:t>
            </a:r>
          </a:p>
        </p:txBody>
      </p:sp>
      <p:sp>
        <p:nvSpPr>
          <p:cNvPr id="2" name="Lesson title subtitle 1">
            <a:extLst>
              <a:ext uri="{FF2B5EF4-FFF2-40B4-BE49-F238E27FC236}">
                <a16:creationId xmlns:a16="http://schemas.microsoft.com/office/drawing/2014/main" id="{ACBDC2AF-F434-4371-8E2A-17CCF7344C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3219450"/>
            <a:ext cx="106680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[A short description of the investigation]</a:t>
            </a:r>
          </a:p>
        </p:txBody>
      </p:sp>
      <p:sp>
        <p:nvSpPr>
          <p:cNvPr id="3" name="Lesson title body 2">
            <a:extLst>
              <a:ext uri="{FF2B5EF4-FFF2-40B4-BE49-F238E27FC236}">
                <a16:creationId xmlns:a16="http://schemas.microsoft.com/office/drawing/2014/main" id="{D8956F49-2416-4C96-921B-614B43DC6BB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4591050"/>
            <a:ext cx="10572750" cy="1028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[Teacher or school]</a:t>
            </a:r>
          </a:p>
          <a:p>
            <a: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[Course / grade level]   [Date]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 and go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Question and goals title 0">
            <a:extLst>
              <a:ext uri="{FF2B5EF4-FFF2-40B4-BE49-F238E27FC236}">
                <a16:creationId xmlns:a16="http://schemas.microsoft.com/office/drawing/2014/main" id="{D08231EE-6C7C-42AD-8215-BCBB995F2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Our investigation</a:t>
            </a:r>
          </a:p>
        </p:txBody>
      </p:sp>
      <p:sp>
        <p:nvSpPr>
          <p:cNvPr id="2" name="Question and goals body 1">
            <a:extLst>
              <a:ext uri="{FF2B5EF4-FFF2-40B4-BE49-F238E27FC236}">
                <a16:creationId xmlns:a16="http://schemas.microsoft.com/office/drawing/2014/main" id="{5A4E4205-F64E-4654-BD6B-D20017501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Essential question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will students investigate?]</a:t>
            </a:r>
          </a:p>
        </p:txBody>
      </p:sp>
      <p:sp>
        <p:nvSpPr>
          <p:cNvPr id="3" name="Question and goals body 2">
            <a:extLst>
              <a:ext uri="{FF2B5EF4-FFF2-40B4-BE49-F238E27FC236}">
                <a16:creationId xmlns:a16="http://schemas.microsoft.com/office/drawing/2014/main" id="{BF9EAF2D-1060-4815-9524-5F06F4856FB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1985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Learning goals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will students be able to explain or do?]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nation and 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lanation and figure title 0">
            <a:extLst>
              <a:ext uri="{FF2B5EF4-FFF2-40B4-BE49-F238E27FC236}">
                <a16:creationId xmlns:a16="http://schemas.microsoft.com/office/drawing/2014/main" id="{C54DEB96-2C44-49CE-960C-EEA88B04E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[Key idea]</a:t>
            </a:r>
          </a:p>
        </p:txBody>
      </p:sp>
      <p:sp>
        <p:nvSpPr>
          <p:cNvPr id="2" name="Explanation and figure body 1">
            <a:extLst>
              <a:ext uri="{FF2B5EF4-FFF2-40B4-BE49-F238E27FC236}">
                <a16:creationId xmlns:a16="http://schemas.microsoft.com/office/drawing/2014/main" id="{74965947-62A8-4AED-A214-D22E1DB50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5025"/>
            <a:ext cx="4524375" cy="3400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[Explain the main idea.]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[Define a new term or connect it to prior learning.]</a:t>
            </a:r>
          </a:p>
        </p:txBody>
      </p:sp>
      <p:sp>
        <p:nvSpPr>
          <p:cNvPr id="3" name="Explanation and figure content 2">
            <a:extLst>
              <a:ext uri="{FF2B5EF4-FFF2-40B4-BE49-F238E27FC236}">
                <a16:creationId xmlns:a16="http://schemas.microsoft.com/office/drawing/2014/main" id="{93F0CF8A-0D56-484D-8008-C069FB2AFB4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591175" y="2114550"/>
            <a:ext cx="5991225" cy="312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[Insert a figure or diagram]</a:t>
            </a:r>
          </a:p>
        </p:txBody>
      </p:sp>
      <p:sp>
        <p:nvSpPr>
          <p:cNvPr id="4" name="Explanation and figure body 3">
            <a:extLst>
              <a:ext uri="{FF2B5EF4-FFF2-40B4-BE49-F238E27FC236}">
                <a16:creationId xmlns:a16="http://schemas.microsoft.com/office/drawing/2014/main" id="{B76FA5E4-B6C8-43B1-871F-4C2029154E8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591175" y="5353050"/>
            <a:ext cx="5991225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[Figure caption and source credit]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 ste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ctivity steps title 0">
            <a:extLst>
              <a:ext uri="{FF2B5EF4-FFF2-40B4-BE49-F238E27FC236}">
                <a16:creationId xmlns:a16="http://schemas.microsoft.com/office/drawing/2014/main" id="{4A75A923-A588-498D-8C3D-05C7B27BD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[Activity title]</a:t>
            </a:r>
          </a:p>
        </p:txBody>
      </p:sp>
      <p:sp>
        <p:nvSpPr>
          <p:cNvPr id="2" name="Activity steps body 1">
            <a:extLst>
              <a:ext uri="{FF2B5EF4-FFF2-40B4-BE49-F238E27FC236}">
                <a16:creationId xmlns:a16="http://schemas.microsoft.com/office/drawing/2014/main" id="{F15A3904-D261-4581-891D-0D974E46F6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333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setup.]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measurement and units.]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[Explain how to record the result.]</a:t>
            </a:r>
          </a:p>
        </p:txBody>
      </p:sp>
      <p:sp>
        <p:nvSpPr>
          <p:cNvPr id="3" name="Activity steps body 2">
            <a:extLst>
              <a:ext uri="{FF2B5EF4-FFF2-40B4-BE49-F238E27FC236}">
                <a16:creationId xmlns:a16="http://schemas.microsoft.com/office/drawing/2014/main" id="{332D626C-8C62-4762-8A19-77DFBBDD378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581650"/>
            <a:ext cx="109728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[Add relevant safety or supervision instructions.]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ta or vis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a or visual title 0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[Observation or result]</a:t>
            </a:r>
          </a:p>
        </p:txBody>
      </p:sp>
      <p:sp>
        <p:nvSpPr>
          <p:cNvPr id="2" name="Data or visual content 1">
            <a:extLst>
              <a:ext uri="{FF2B5EF4-FFF2-40B4-BE49-F238E27FC236}">
                <a16:creationId xmlns:a16="http://schemas.microsoft.com/office/drawing/2014/main" id="{3A617E8B-975F-4DBD-9A97-0A174C276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095500"/>
            <a:ext cx="10972800" cy="3219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[Insert a graph, table, or image]</a:t>
            </a:r>
          </a:p>
        </p:txBody>
      </p:sp>
      <p:sp>
        <p:nvSpPr>
          <p:cNvPr id="3" name="Data or visual body 2">
            <a:extLst>
              <a:ext uri="{FF2B5EF4-FFF2-40B4-BE49-F238E27FC236}">
                <a16:creationId xmlns:a16="http://schemas.microsoft.com/office/drawing/2014/main" id="{DFE3AC5B-7812-46A8-BB38-963FC170FFF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457825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evidence. Include units, a caption, and source credits.]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cussion and ref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iscussion and reflection title 0">
            <a:extLst>
              <a:ext uri="{FF2B5EF4-FFF2-40B4-BE49-F238E27FC236}">
                <a16:creationId xmlns:a16="http://schemas.microsoft.com/office/drawing/2014/main" id="{1A0C5B13-4DC7-4BB2-8032-5A841983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What did we learn?</a:t>
            </a:r>
          </a:p>
        </p:txBody>
      </p:sp>
      <p:sp>
        <p:nvSpPr>
          <p:cNvPr id="2" name="Discussion and reflection body 1">
            <a:extLst>
              <a:ext uri="{FF2B5EF4-FFF2-40B4-BE49-F238E27FC236}">
                <a16:creationId xmlns:a16="http://schemas.microsoft.com/office/drawing/2014/main" id="{73737ED5-7D24-4242-A1DB-9FC8EF99D3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467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pattern do the results show?]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evidence supports your explanation?]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would you investigate next?]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WVU DSPIR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WVU navy banner">
            <a:extLst>
              <a:ext uri="{FF2B5EF4-FFF2-40B4-BE49-F238E27FC236}">
                <a16:creationId xmlns:a16="http://schemas.microsoft.com/office/drawing/2014/main" id="{6D4F5CCA-FF43-4F29-8399-ACE93C08BCE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5524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" name="WVU gold rule">
            <a:extLst>
              <a:ext uri="{FF2B5EF4-FFF2-40B4-BE49-F238E27FC236}">
                <a16:creationId xmlns:a16="http://schemas.microsoft.com/office/drawing/2014/main" id="{B7F9BFBD-7E36-451D-96E5-BC2ED296FC2E}"/>
              </a:ext>
            </a:extLst>
          </p:cNvPr>
          <p:cNvSpPr>
            <a:spLocks noGrp="1"/>
          </p:cNvSpPr>
          <p:nvPr/>
        </p:nvSpPr>
        <p:spPr>
          <a:xfrm>
            <a:off x="0" y="552450"/>
            <a:ext cx="12192000" cy="3810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" name="WVU DSPIRA brand">
            <a:extLst>
              <a:ext uri="{FF2B5EF4-FFF2-40B4-BE49-F238E27FC236}">
                <a16:creationId xmlns:a16="http://schemas.microsoft.com/office/drawing/2014/main" id="{81DC7FEE-6B94-4036-9AF5-8A342A05842A}"/>
              </a:ext>
            </a:extLst>
          </p:cNvPr>
          <p:cNvSpPr>
            <a:spLocks noGrp="1"/>
          </p:cNvSpPr>
          <p:nvPr/>
        </p:nvSpPr>
        <p:spPr>
          <a:xfrm>
            <a:off x="457200" y="76200"/>
            <a:ext cx="3810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University name">
            <a:extLst>
              <a:ext uri="{FF2B5EF4-FFF2-40B4-BE49-F238E27FC236}">
                <a16:creationId xmlns:a16="http://schemas.microsoft.com/office/drawing/2014/main" id="{86DE04A2-939A-456D-B0E1-0BD64EC5EF56}"/>
              </a:ext>
            </a:extLst>
          </p:cNvPr>
          <p:cNvSpPr>
            <a:spLocks noGrp="1"/>
          </p:cNvSpPr>
          <p:nvPr/>
        </p:nvSpPr>
        <p:spPr>
          <a:xfrm>
            <a:off x="7715250" y="161925"/>
            <a:ext cx="40195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r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  <p:sp>
        <p:nvSpPr>
          <p:cNvPr id="5" name="Website">
            <a:extLst>
              <a:ext uri="{FF2B5EF4-FFF2-40B4-BE49-F238E27FC236}">
                <a16:creationId xmlns:a16="http://schemas.microsoft.com/office/drawing/2014/main" id="{1895C86C-2B15-4605-AD65-E205FDC66179}"/>
              </a:ext>
            </a:extLst>
          </p:cNvPr>
          <p:cNvSpPr>
            <a:spLocks noGrp="1"/>
          </p:cNvSpPr>
          <p:nvPr/>
        </p:nvSpPr>
        <p:spPr>
          <a:xfrm>
            <a:off x="457200" y="6372225"/>
            <a:ext cx="4095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1200" b="0">
                <a:solidFill>
                  <a:srgbClr val="45454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>rail.wvu.edu/dspira</a:t>
            </a:r>
          </a:p>
        </p:txBody>
      </p:sp>
      <p:sp>
        <p:nvSpPr>
          <p:cNvPr id="6" name="Automatic slide number">
            <a:extLst>
              <a:ext uri="{FF2B5EF4-FFF2-40B4-BE49-F238E27FC236}">
                <a16:creationId xmlns:a16="http://schemas.microsoft.com/office/drawing/2014/main" id="{4AD0E30E-B026-44BD-ABE4-8BF1D7897EFE}"/>
              </a:ext>
            </a:extLst>
          </p:cNvPr>
          <p:cNvSpPr>
            <a:spLocks noGrp="1"/>
          </p:cNvSpPr>
          <p:nvPr/>
        </p:nvSpPr>
        <p:spPr>
          <a:xfrm>
            <a:off x="10953750" y="6372225"/>
            <a:ext cx="7810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r">
              <a:defRPr sz="1200" b="0">
                <a:solidFill>
                  <a:srgbClr val="454545"/>
                </a:solidFill>
                <a:latin typeface="Arial"/>
                <a:ea typeface="Arial"/>
                <a:cs typeface="Arial"/>
              </a:defRPr>
            </a:pPr>
            <a:fld id="{018D423B-F0A3-4876-8334-4B6CD5BE88A3}" type="slidenum">
              <a:rPr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>‹#›</a:t>
            </a:fld>
            <a:endParaRPr sz="1200" b="0">
              <a:solidFill>
                <a:srgbClr val="454545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spfirst.gatech.edu/chapters/02sines/demos/phasors/index.html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Periodic and non-periodic signals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4A47599-7F49-4A8E-99EC-C79EAC8597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2525086"/>
            <a:ext cx="2748774" cy="1917269"/>
          </a:xfrm>
          <a:prstGeom prst="rect">
            <a:avLst/>
          </a:prstGeom>
        </p:spPr>
      </p:pic>
      <p:pic>
        <p:nvPicPr>
          <p:cNvPr id="18" name="Picture 17" descr="A close up of a logo&#10;&#10;Description generated with very high confidence">
            <a:extLst>
              <a:ext uri="{FF2B5EF4-FFF2-40B4-BE49-F238E27FC236}">
                <a16:creationId xmlns:a16="http://schemas.microsoft.com/office/drawing/2014/main" id="{C7F328AB-F54D-4C14-BF78-BB4D8EE271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7289" y="2095500"/>
            <a:ext cx="3345111" cy="2776441"/>
          </a:xfrm>
          <a:prstGeom prst="rect">
            <a:avLst/>
          </a:prstGeom>
        </p:spPr>
      </p:pic>
      <p:pic>
        <p:nvPicPr>
          <p:cNvPr id="9" name="Picture 8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242846E9-8AE3-4DA2-A2BC-AC8ACB15ED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1770" y="2312969"/>
            <a:ext cx="4754321" cy="2341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1167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Signal decomposition</a:t>
            </a:r>
          </a:p>
        </p:txBody>
      </p:sp>
      <p:pic>
        <p:nvPicPr>
          <p:cNvPr id="6" name="Picture 5" descr="A picture containing cake&#10;&#10;Description generated with very high confidence">
            <a:extLst>
              <a:ext uri="{FF2B5EF4-FFF2-40B4-BE49-F238E27FC236}">
                <a16:creationId xmlns:a16="http://schemas.microsoft.com/office/drawing/2014/main" id="{FA3B0F53-1B2F-47E7-8056-025651C8999C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5400" y="2095500"/>
            <a:ext cx="1757115" cy="1212410"/>
          </a:xfrm>
          <a:prstGeom prst="rect">
            <a:avLst/>
          </a:prstGeom>
          <a:effectLst/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D0D7D1-5CDF-403A-95B6-BDE42AB773B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09600" y="2095500"/>
                <a:ext cx="5334000" cy="4064000"/>
              </a:xfrm>
            </p:spPr>
            <p:txBody>
              <a:bodyPr vert="horz" lIns="0" tIns="0" rIns="0" bIns="0" rtlCol="0" anchor="t">
                <a:normAutofit/>
              </a:bodyPr>
              <a:lstStyle/>
              <a:p>
                <a:r>
                  <a:rPr lang="en-US" sz="2200">
                    <a:solidFill>
                      <a:srgbClr val="000000"/>
                    </a:solidFill>
                  </a:rPr>
                  <a:t>A signal can be represented as a combination of other signals</a:t>
                </a:r>
              </a:p>
              <a:p>
                <a:r>
                  <a:rPr lang="en-US" sz="2200">
                    <a:solidFill>
                      <a:srgbClr val="000000"/>
                    </a:solidFill>
                  </a:rPr>
                  <a:t>Example (last time) </a:t>
                </a:r>
              </a:p>
              <a:p>
                <a:pPr marL="0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Λ</m:t>
                      </m:r>
                      <m:d>
                        <m:dPr>
                          <m:ctrlPr>
                            <a:rPr lang="en-US" sz="22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0.5</m:t>
                          </m:r>
                          <m:r>
                            <a:rPr lang="en-US" sz="22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200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Λ</m:t>
                      </m:r>
                      <m:r>
                        <a:rPr lang="en-US" sz="2200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200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200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200">
                  <a:solidFill>
                    <a:srgbClr val="000000"/>
                  </a:solidFill>
                </a:endParaRPr>
              </a:p>
              <a:p>
                <a:r>
                  <a:rPr lang="en-US" sz="2200">
                    <a:solidFill>
                      <a:srgbClr val="000000"/>
                    </a:solidFill>
                  </a:rPr>
                  <a:t>Depending on a type of signal, it can be decomposed in a series</a:t>
                </a:r>
              </a:p>
              <a:p>
                <a:pPr marL="0"/>
                <a14:m>
                  <m:oMathPara xmlns:m="http://schemas.openxmlformats.org/officeDocument/2006/math">
                    <m:oMath>
                      <m:r>
                        <a:rPr lang="en-US" sz="2200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22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200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2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2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2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=−∞</m:t>
                          </m:r>
                        </m:sub>
                        <m:sup>
                          <m:r>
                            <a:rPr lang="en-US" sz="22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+∞</m:t>
                          </m:r>
                        </m:sup>
                        <m:e>
                          <m:sSub>
                            <m:sSubPr>
                              <m:ctrlPr>
                                <a:rPr lang="en-US" sz="22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22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2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sz="22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22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2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2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200">
                  <a:solidFill>
                    <a:srgbClr val="000000"/>
                  </a:solidFill>
                </a:endParaRPr>
              </a:p>
              <a:p>
                <a:pPr marL="0"/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200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200">
                    <a:solidFill>
                      <a:srgbClr val="000000"/>
                    </a:solidFill>
                  </a:rPr>
                  <a:t> are weights, </a:t>
                </a:r>
              </a:p>
              <a:p>
                <a:pPr marL="0"/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sz="2200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200" b="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200" b="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200" b="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200">
                    <a:solidFill>
                      <a:srgbClr val="000000"/>
                    </a:solidFill>
                  </a:rPr>
                  <a:t> are known functions.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D0D7D1-5CDF-403A-95B6-BDE42AB773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" y="2095500"/>
                <a:ext cx="5334000" cy="4064000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A screenshot of a cell phone&#10;&#10;Description generated with high confidence">
            <a:extLst>
              <a:ext uri="{FF2B5EF4-FFF2-40B4-BE49-F238E27FC236}">
                <a16:creationId xmlns:a16="http://schemas.microsoft.com/office/drawing/2014/main" id="{6ACBFC0F-4C9E-4BD1-8835-33B4F566F559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9681" y="3609471"/>
            <a:ext cx="3362373" cy="255002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A44D3C-80F7-4E2A-A3AD-B3274BFF203E}"/>
              </a:ext>
            </a:extLst>
          </p:cNvPr>
          <p:cNvSpPr txBox="1">
            <a:spLocks/>
          </p:cNvSpPr>
          <p:nvPr/>
        </p:nvSpPr>
        <p:spPr>
          <a:xfrm>
            <a:off x="8404549" y="2193402"/>
            <a:ext cx="1213474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defRPr sz="1377">
                <a:latin typeface="Arial"/>
              </a:defRPr>
            </a:pPr>
            <a:r>
              <a:rPr lang="en-US" sz="1400" dirty="0"/>
              <a:t>Gate Functions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4F1CE0-9EC0-4904-8BBD-108409F28035}"/>
              </a:ext>
            </a:extLst>
          </p:cNvPr>
          <p:cNvSpPr txBox="1">
            <a:spLocks/>
          </p:cNvSpPr>
          <p:nvPr/>
        </p:nvSpPr>
        <p:spPr>
          <a:xfrm>
            <a:off x="8427827" y="3169497"/>
            <a:ext cx="1591782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defRPr sz="1377">
                <a:latin typeface="Arial"/>
              </a:defRPr>
            </a:pPr>
            <a:r>
              <a:rPr lang="en-US" sz="1400" dirty="0"/>
              <a:t>Zernike polynomials</a:t>
            </a:r>
          </a:p>
        </p:txBody>
      </p:sp>
    </p:spTree>
    <p:extLst>
      <p:ext uri="{BB962C8B-B14F-4D97-AF65-F5344CB8AC3E}">
        <p14:creationId xmlns:p14="http://schemas.microsoft.com/office/powerpoint/2010/main" val="39755893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Trigonometric Series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CE8FC5-0ECC-4D9B-9837-9F39766224A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09600" y="2095499"/>
                <a:ext cx="5334000" cy="4064000"/>
              </a:xfrm>
            </p:spPr>
            <p:txBody>
              <a:bodyPr lIns="0" tIns="0" rIns="0" bIns="0" anchor="t">
                <a:noAutofit/>
              </a:bodyPr>
              <a:lstStyle/>
              <a:p>
                <a:r>
                  <a:rPr lang="en-US" dirty="0">
                    <a:solidFill>
                      <a:srgbClr val="000000"/>
                    </a:solidFill>
                  </a:rPr>
                  <a:t>A periodic signal can be represented as a sum of sine and cosine functions on a single period: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⁡(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𝑘𝑡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ctrlP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func>
                            <m:funcPr>
                              <m:ctrlPr>
                                <a:rPr lang="en-US" b="0" i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𝑘𝑡</m:t>
                                  </m:r>
                                </m:e>
                              </m:d>
                            </m:e>
                          </m:func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⁡(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𝑘𝑡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CE8FC5-0ECC-4D9B-9837-9F39766224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" y="2095499"/>
                <a:ext cx="5334000" cy="4064000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 descr="A close up of a device&#10;&#10;Description generated with high confidence">
            <a:extLst>
              <a:ext uri="{FF2B5EF4-FFF2-40B4-BE49-F238E27FC236}">
                <a16:creationId xmlns:a16="http://schemas.microsoft.com/office/drawing/2014/main" id="{3057BA43-76D4-426B-93B0-176BCB4556A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5400" y="2095500"/>
            <a:ext cx="5202247" cy="3454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0471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Illustration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0C57C7C-DFE9-4A1E-B7A9-DF40E633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89650" y="2095500"/>
            <a:ext cx="0" cy="274320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89661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Complex Exponential Series: Background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B07B38-2F45-4E1D-B96F-62C8D8C8A9C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09600" y="2095500"/>
                <a:ext cx="5334000" cy="4064000"/>
              </a:xfrm>
            </p:spPr>
            <p:txBody>
              <a:bodyPr lIns="0" tIns="0" rIns="0" bIns="0" anchor="t">
                <a:noAutofit/>
              </a:bodyPr>
              <a:lstStyle/>
              <a:p>
                <a:r>
                  <a:rPr lang="en-US" sz="2100">
                    <a:solidFill>
                      <a:srgbClr val="000000"/>
                    </a:solidFill>
                  </a:rPr>
                  <a:t>In place of sine and cosine functions we can use a series of complex exponentials. </a:t>
                </a:r>
              </a:p>
              <a:p>
                <a:r>
                  <a:rPr lang="en-US" sz="2100">
                    <a:solidFill>
                      <a:srgbClr val="000000"/>
                    </a:solidFill>
                  </a:rPr>
                  <a:t>Recall Euler’s equations: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1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1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1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1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  <m:r>
                            <a:rPr lang="en-US" sz="21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sz="2100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1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1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1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1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21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r>
                        <a:rPr lang="en-US" sz="2100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100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𝑗</m:t>
                      </m:r>
                      <m:func>
                        <m:funcPr>
                          <m:ctrlPr>
                            <a:rPr lang="en-US" sz="21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1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2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2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sz="210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1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  <m:r>
                            <a:rPr lang="en-US"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1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1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2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r>
                        <a:rPr lang="en-US" sz="2100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𝑗</m:t>
                      </m:r>
                      <m:func>
                        <m:funcPr>
                          <m:ctrlPr>
                            <a:rPr lang="en-US" sz="21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1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2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2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sz="2100">
                  <a:solidFill>
                    <a:srgbClr val="000000"/>
                  </a:solidFill>
                </a:endParaRPr>
              </a:p>
              <a:p>
                <a:r>
                  <a:rPr lang="en-US" sz="2100">
                    <a:solidFill>
                      <a:srgbClr val="000000"/>
                    </a:solidFill>
                  </a:rPr>
                  <a:t>From these two equations: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21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1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1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1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21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r>
                        <a:rPr lang="en-US" sz="2100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1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1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1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2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2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en-US" sz="21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2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2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10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:endParaRPr lang="en-US" sz="210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21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1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2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2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r>
                        <a:rPr lang="en-US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1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den>
                      </m:f>
                      <m:d>
                        <m:dPr>
                          <m:ctrlPr>
                            <a:rPr lang="en-US"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2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2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en-US" sz="21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2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2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10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:endParaRPr lang="en-US" sz="210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B07B38-2F45-4E1D-B96F-62C8D8C8A9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" y="2095500"/>
                <a:ext cx="5334000" cy="4064000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591E0B4-CDD7-498C-BEBC-2B707A2B3DB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375400" y="2095500"/>
                <a:ext cx="5212194" cy="2852683"/>
              </a:xfrm>
            </p:spPr>
            <p:txBody>
              <a:bodyPr>
                <a:normAutofit/>
              </a:bodyPr>
              <a:lstStyle/>
              <a:p>
                <a:r>
                  <a:rPr lang="en-US" sz="2000"/>
                  <a:t>Also,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20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en-US" sz="200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𝑅𝑒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00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2000" b="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b="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  <m:r>
                            <a:rPr lang="en-US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en-US" sz="200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𝐼𝑚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000"/>
              </a:p>
              <a:p>
                <a:r>
                  <a:rPr lang="en-US" sz="2000"/>
                  <a:t>If displayed in a complex plane,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en-US" sz="2000"/>
                  <a:t> is a rotating phasor</a:t>
                </a:r>
              </a:p>
              <a:p>
                <a:r>
                  <a:rPr lang="en-US" sz="2000"/>
                  <a:t>For illustration, see </a:t>
                </a:r>
              </a:p>
              <a:p>
                <a:pPr marL="0" indent="0">
                  <a:buNone/>
                </a:pPr>
                <a:r>
                  <a:rPr lang="en-US" sz="2000">
                    <a:hlinkClick r:id="rId3"/>
                  </a:rPr>
                  <a:t>http://spfirst.gatech.edu/chapters/02sines/demos/phasors/index.html</a:t>
                </a:r>
                <a:r>
                  <a:rPr lang="en-US" sz="2000"/>
                  <a:t> 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591E0B4-CDD7-498C-BEBC-2B707A2B3D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5400" y="2095500"/>
                <a:ext cx="5212194" cy="2852683"/>
              </a:xfr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1803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Complex Exponential Series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F16A8D4-FE87-4604-88B2-394B5D1EB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135960" y="2438399"/>
            <a:ext cx="0" cy="365760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7CA55C-FC97-4926-BC70-44A44BB3537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386944" y="2095500"/>
                <a:ext cx="3585108" cy="3444304"/>
              </a:xfrm>
            </p:spPr>
            <p:txBody>
              <a:bodyPr>
                <a:normAutofit/>
              </a:bodyPr>
              <a:lstStyle/>
              <a:p>
                <a:r>
                  <a:rPr lang="en-US" sz="1600" dirty="0"/>
                  <a:t>On a single period a real values function can be represented as a series of complex exponential functions</a:t>
                </a:r>
              </a:p>
              <a:p>
                <a:pPr marL="0" indent="0">
                  <a:buNone/>
                </a:pPr>
                <a:r>
                  <a:rPr lang="en-US" sz="1600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b="0" i="1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16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b="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160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600" b="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=−∞</m:t>
                          </m:r>
                        </m:sub>
                        <m:sup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sz="16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1600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160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600" b="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sSub>
                                <m:sSubPr>
                                  <m:ctrlPr>
                                    <a:rPr lang="en-US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600" b="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600" b="0" i="1">
                                  <a:latin typeface="Cambria Math" panose="02040503050406030204" pitchFamily="18" charset="0"/>
                                </a:rPr>
                                <m:t>𝑘𝑡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1600" dirty="0"/>
              </a:p>
              <a:p>
                <a:pPr marL="0" indent="0">
                  <a:buNone/>
                </a:pPr>
                <a:endParaRPr lang="en-US" sz="1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6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600" b="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𝑘𝑡</m:t>
                              </m:r>
                            </m:sup>
                          </m:s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sz="1600" dirty="0"/>
              </a:p>
              <a:p>
                <a:endParaRPr lang="en-US" sz="1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7CA55C-FC97-4926-BC70-44A44BB353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6944" y="2095500"/>
                <a:ext cx="3585108" cy="3444304"/>
              </a:xfrm>
              <a:blipFill>
                <a:blip r:embed="rId2"/>
                <a:stretch>
                  <a:fillRect l="-1531" t="-1536" r="-15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8CC7C1A-D69A-4EE5-8FAA-25234EEB16C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299864" y="2095500"/>
                <a:ext cx="3505192" cy="2804160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600" dirty="0"/>
                  <a:t> tell us how much the k-</a:t>
                </a:r>
                <a:r>
                  <a:rPr lang="en-US" sz="1600" dirty="0" err="1"/>
                  <a:t>th</a:t>
                </a:r>
                <a:r>
                  <a:rPr lang="en-US" sz="1600" dirty="0"/>
                  <a:t> discrete frequency contributes to signal’s representation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600" dirty="0"/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600" dirty="0"/>
                  <a:t> are related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6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600" b="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6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600" b="0" i="1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sz="1600" b="0" i="1">
                          <a:latin typeface="Cambria Math" panose="02040503050406030204" pitchFamily="18" charset="0"/>
                        </a:rPr>
                        <m:t>𝑅𝑒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6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1600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6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600" b="0" i="1">
                          <a:latin typeface="Cambria Math" panose="02040503050406030204" pitchFamily="18" charset="0"/>
                        </a:rPr>
                        <m:t>=−2</m:t>
                      </m:r>
                      <m:r>
                        <a:rPr lang="en-US" sz="1600" b="0" i="1">
                          <a:latin typeface="Cambria Math" panose="02040503050406030204" pitchFamily="18" charset="0"/>
                        </a:rPr>
                        <m:t>𝐼𝑚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6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1600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/>
              </a:p>
              <a:p>
                <a:r>
                  <a:rPr lang="en-US" sz="1600" dirty="0"/>
                  <a:t>Fast Fourier Transform (FFT) is based on complex exponentials</a:t>
                </a:r>
              </a:p>
              <a:p>
                <a:pPr marL="0" indent="0">
                  <a:buNone/>
                </a:pPr>
                <a:endParaRPr lang="en-US" sz="1600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8CC7C1A-D69A-4EE5-8FAA-25234EEB16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9864" y="2095500"/>
                <a:ext cx="3505192" cy="2804160"/>
              </a:xfrm>
              <a:blipFill>
                <a:blip r:embed="rId3"/>
                <a:stretch>
                  <a:fillRect l="-1565" t="-15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27018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Illustration: Radio Astronomy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FB5C702D-5870-49BC-9FCA-465DA5D20A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20732" y="2095500"/>
            <a:ext cx="4064000" cy="4064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5ADB0677-0A99-4F7E-AA1B-D4179B3497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07268" y="3594119"/>
            <a:ext cx="1066762" cy="1066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16962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des-ready.pptx" id="{6D5A5D80-B59F-47FE-A006-FBFC2926142F}" vid="{69CEE3E8-36C9-43B0-A0FB-27FA92D72A34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507</TotalTime>
  <Words>283</Words>
  <Application>Microsoft Office PowerPoint</Application>
  <PresentationFormat>Widescreen</PresentationFormat>
  <Paragraphs>46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Cambria Math</vt:lpstr>
      <vt:lpstr>ChatGPT</vt:lpstr>
      <vt:lpstr>Periodic and non-periodic signals</vt:lpstr>
      <vt:lpstr>Signal decomposition</vt:lpstr>
      <vt:lpstr>Trigonometric Series</vt:lpstr>
      <vt:lpstr>Illustration</vt:lpstr>
      <vt:lpstr>Complex Exponential Series: Background</vt:lpstr>
      <vt:lpstr>Complex Exponential Series</vt:lpstr>
      <vt:lpstr>Illustration: Radio Astronomy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Fourier series (2018 edition)</dc:title>
  <dc:creator>Natalia Schmid</dc:creator>
  <cp:lastModifiedBy>Dylan Gormley</cp:lastModifiedBy>
  <cp:revision>15</cp:revision>
  <dcterms:created xsi:type="dcterms:W3CDTF">2018-06-25T12:19:06Z</dcterms:created>
  <dcterms:modified xsi:type="dcterms:W3CDTF">2026-09-27T00:48:20Z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0x01010016C36F108F9F92488C988DDF36346911</vt:lpwstr>
  </property>
</Properties>
</file>