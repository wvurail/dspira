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7" r:id="rId2"/>
    <p:sldId id="258" r:id="rId3"/>
    <p:sldId id="259" r:id="rId4"/>
    <p:sldId id="265" r:id="rId5"/>
    <p:sldId id="260" r:id="rId6"/>
    <p:sldId id="263" r:id="rId7"/>
    <p:sldId id="266" r:id="rId8"/>
    <p:sldId id="264" r:id="rId9"/>
    <p:sldId id="268" r:id="rId10"/>
    <p:sldId id="256" r:id="rId11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2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openxmlformats.org/officeDocument/2006/relationships/customXml" Target="customXml/item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customXml" Target="customXml/item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customXml" Target="customXml/item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B8E7755C-1895-46E5-A40F-F24D3B32E1D8}"/>
</file>

<file path=ppt/customXml/itemProps2.xml><?xml version="1.0" encoding="utf-8"?>
<ds:datastoreItem xmlns:ds="http://schemas.openxmlformats.org/officeDocument/2006/customXml" ds:itemID="{E0F840A3-BDB6-4416-AA30-A85F865FB74D}"/>
</file>

<file path=ppt/customXml/itemProps3.xml><?xml version="1.0" encoding="utf-8"?>
<ds:datastoreItem xmlns:ds="http://schemas.openxmlformats.org/officeDocument/2006/customXml" ds:itemID="{865623FC-D581-47FE-9CAC-3BA026FBA1AF}"/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B95CD-1579-4400-B6B0-A78D9D0FF854}" type="datetimeFigureOut">
              <a:rPr lang="en-US" smtClean="0"/>
              <a:t>7/9/2018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7CBD15-520D-43F9-9A81-F8FDA233C1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64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6C166-F07D-473C-9E74-4498BAAF7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8ED2D4-DE0E-4E9C-9E3D-02EF74A38E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410EF2-221B-4A7E-AA89-7C312B584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1EEA9-F0A4-4015-96F6-5DC9DC666CB6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036CC-EF06-4921-9FC0-DF0DF257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8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D7191-FF1A-4899-98A0-1D2796920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F5812-EA7D-456D-9955-A54E2BBC1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E9BE3-E36D-4206-8290-D214EF320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9BEA4-66E6-479D-BF7B-97883D171FCA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D764C-7FBF-4CF3-A771-A82C66D08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72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5BAC7-44CA-4B5B-839C-529357120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5A094-9742-4DBD-A2FF-6C5CEBB4F9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72C86-CDDE-4318-9DAB-28FFF7C1A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01AFE-FD2A-45F5-A920-3C53022F299E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B22AD-061F-4E07-AAAA-6C8D7299F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931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C2DAF-3443-4AA6-A793-1434FC086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A1DDF-7832-4411-908C-3DC1C974CE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342B36-D01A-401E-9133-4A1E9B964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4825D-1469-4630-BD8F-214C2A020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82E-ED0C-47D9-92A1-1FAF36D75B68}" type="datetime1">
              <a:rPr lang="en-US" smtClean="0"/>
              <a:t>7/9/2018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4381D7-42BA-49E6-BF33-460B70495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477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2D0F5-1751-47C1-AC2B-47D9A2D5E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D98AE-B3C2-4DE6-A20E-9A4F1E8E6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DAE9A2-E472-4D4C-AEE4-03F69D4547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1672D2-210E-4B83-BFF6-1D75821C0D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F8B28-5594-4B96-AD7A-5BED2C888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62168C-9A0F-4E55-A55F-F9286F52A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978F-072D-49C7-8F3A-3EB871FEDCAA}" type="datetime1">
              <a:rPr lang="en-US" smtClean="0"/>
              <a:t>7/9/2018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348706-8E13-4738-A9DE-5E6452A32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45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0FC83-BC42-43CD-9DC6-D6E326D56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CF75F9-48A5-49EA-B52F-89328701F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B991E-316D-437C-A49D-C834BA823E63}" type="datetime1">
              <a:rPr lang="en-US" smtClean="0"/>
              <a:t>7/9/2018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3CEF49-268F-4441-91C5-E0CD43248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0024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5A812E-D22B-44BE-90D1-50C8214BB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0FEDF-269C-48A7-833C-895CA82F5A2B}" type="datetime1">
              <a:rPr lang="en-US" smtClean="0"/>
              <a:t>7/9/2018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300BEC-6498-4200-952A-B7504CA70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18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8744E-1A38-4330-909E-6F0D575D9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D7B9D-5259-4F2C-93E8-A951C92C1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D77A47-24BF-4E1F-862E-4A4FF9E02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85987-0205-496F-A812-5B730C473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25A8F-5B7D-453C-A573-76E917E3B80A}" type="datetime1">
              <a:rPr lang="en-US" smtClean="0"/>
              <a:t>7/9/2018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436EAF-AFDD-421C-A8F9-ACD466AC2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052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2881B-4C76-4560-896C-8A61161D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3B53A1-637C-4B6E-980A-58618901B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822EAB-E606-4760-867C-474632E423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194FB1-DDBC-4383-AF61-B04A9CDBF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FE1A-C54D-433F-92E4-05985F7B30D5}" type="datetime1">
              <a:rPr lang="en-US" smtClean="0"/>
              <a:t>7/9/2018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4CD413-F1F7-4548-8897-13AB824BB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235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C037E-8269-4FE1-9057-8FE0327C1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84CCF2-873E-4C71-94B4-E576F21753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547B1-9196-4798-B6FB-9DD340C31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AF60B-7128-43E4-960F-86D914661F00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61E58-6030-4354-8293-B9CB36927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715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292F89-A78F-4B3A-B66E-5AB849267A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FB0B7C-73FC-47E5-A39B-1B0F6AAF3D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A62BEA-C4F3-4978-AAB0-C3E92A5DE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52551-1544-438E-BAA3-E06D2580E6A6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83B5F-2005-4511-997F-D6E4EC83C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0475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F7E47D-D8D0-48C0-ADFB-99B01E20C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3B7D61-8BDC-45A9-BAA9-067BA1902F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D320D7-FAF2-4A93-9961-79573F74B5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14A063-812E-4245-91BD-2C6CC350501E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8DCA8-C76A-4EA1-A960-8ABA453779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345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35A04CF-97D4-4FF7-B359-C546B1F6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12191999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DE7243B-5109-444B-8FAF-7437C66BC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342900"/>
            <a:ext cx="4421332" cy="6858000"/>
          </a:xfrm>
          <a:custGeom>
            <a:avLst/>
            <a:gdLst>
              <a:gd name="connsiteX0" fmla="*/ 4421332 w 4421332"/>
              <a:gd name="connsiteY0" fmla="*/ 0 h 6858000"/>
              <a:gd name="connsiteX1" fmla="*/ 69075 w 4421332"/>
              <a:gd name="connsiteY1" fmla="*/ 0 h 6858000"/>
              <a:gd name="connsiteX2" fmla="*/ 35131 w 4421332"/>
              <a:gd name="connsiteY2" fmla="*/ 267128 h 6858000"/>
              <a:gd name="connsiteX3" fmla="*/ 0 w 4421332"/>
              <a:gd name="connsiteY3" fmla="*/ 962845 h 6858000"/>
              <a:gd name="connsiteX4" fmla="*/ 3276103 w 4421332"/>
              <a:gd name="connsiteY4" fmla="*/ 6782205 h 6858000"/>
              <a:gd name="connsiteX5" fmla="*/ 3407923 w 4421332"/>
              <a:gd name="connsiteY5" fmla="*/ 6858000 h 6858000"/>
              <a:gd name="connsiteX6" fmla="*/ 4421332 w 442133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21332" h="6858000">
                <a:moveTo>
                  <a:pt x="442133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442133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C5D6221-DA7B-4611-AA26-7D8E349FDE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42900"/>
            <a:ext cx="4232227" cy="6858000"/>
          </a:xfrm>
          <a:custGeom>
            <a:avLst/>
            <a:gdLst>
              <a:gd name="connsiteX0" fmla="*/ 0 w 4232227"/>
              <a:gd name="connsiteY0" fmla="*/ 0 h 6858000"/>
              <a:gd name="connsiteX1" fmla="*/ 4161853 w 4232227"/>
              <a:gd name="connsiteY1" fmla="*/ 0 h 6858000"/>
              <a:gd name="connsiteX2" fmla="*/ 4197953 w 4232227"/>
              <a:gd name="connsiteY2" fmla="*/ 284091 h 6858000"/>
              <a:gd name="connsiteX3" fmla="*/ 4232227 w 4232227"/>
              <a:gd name="connsiteY3" fmla="*/ 962844 h 6858000"/>
              <a:gd name="connsiteX4" fmla="*/ 758007 w 4232227"/>
              <a:gd name="connsiteY4" fmla="*/ 6800152 h 6858000"/>
              <a:gd name="connsiteX5" fmla="*/ 645060 w 4232227"/>
              <a:gd name="connsiteY5" fmla="*/ 6858000 h 6858000"/>
              <a:gd name="connsiteX6" fmla="*/ 0 w 423222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32227" h="6858000">
                <a:moveTo>
                  <a:pt x="0" y="0"/>
                </a:moveTo>
                <a:lnTo>
                  <a:pt x="4161853" y="0"/>
                </a:lnTo>
                <a:lnTo>
                  <a:pt x="4197953" y="284091"/>
                </a:lnTo>
                <a:cubicBezTo>
                  <a:pt x="4220617" y="507260"/>
                  <a:pt x="4232227" y="733696"/>
                  <a:pt x="4232227" y="962844"/>
                </a:cubicBezTo>
                <a:cubicBezTo>
                  <a:pt x="4232227" y="3483472"/>
                  <a:pt x="2827409" y="5675986"/>
                  <a:pt x="758007" y="6800152"/>
                </a:cubicBezTo>
                <a:lnTo>
                  <a:pt x="64506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80735A-9FD1-4367-AE0B-958A85EEC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755389"/>
            <a:ext cx="2871095" cy="2156621"/>
          </a:xfrm>
        </p:spPr>
        <p:txBody>
          <a:bodyPr anchor="t">
            <a:normAutofit/>
          </a:bodyPr>
          <a:lstStyle/>
          <a:p>
            <a:r>
              <a:rPr lang="en-US" sz="2880">
                <a:solidFill>
                  <a:srgbClr val="FFFFFF"/>
                </a:solidFill>
              </a:rPr>
              <a:t>Frequency content of non-periodic signals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259C89-6BE3-45D0-9B25-655AE13550C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421332" y="352926"/>
                <a:ext cx="3841167" cy="6224337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2320" dirty="0"/>
                  <a:t>Fourier Series (sines, cosines or complex exponentials of discrete frequencies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2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2320" b="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320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320" dirty="0"/>
                  <a:t>) are used to analyze the frequency content of periodic signals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Fourier Transform is used to analyze the frequency content of non-periodic signal.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Frequency is a continuous parameter. </a:t>
                </a:r>
              </a:p>
              <a:p>
                <a:endParaRPr lang="en-US" sz="232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20" b="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32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232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232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𝑑𝑓</m:t>
                          </m:r>
                        </m:e>
                      </m:nary>
                      <m:r>
                        <a:rPr lang="en-US" sz="2320" b="0" i="1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sz="232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32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20" b="0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2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232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232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232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320" b="0" i="1" dirty="0">
                  <a:latin typeface="Cambria Math" panose="02040503050406030204" pitchFamily="18" charset="0"/>
                </a:endParaRPr>
              </a:p>
              <a:p>
                <a:pPr marL="914400" lvl="2" indent="0">
                  <a:buNone/>
                </a:pPr>
                <a:r>
                  <a:rPr lang="en-US" sz="2320" dirty="0"/>
                  <a:t>  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endParaRPr lang="en-US" sz="112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259C89-6BE3-45D0-9B25-655AE1355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421332" y="352926"/>
                <a:ext cx="3841167" cy="6224337"/>
              </a:xfrm>
              <a:blipFill>
                <a:blip r:embed="rId2"/>
                <a:stretch>
                  <a:fillRect l="-952" t="-58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20FB9C-F66A-4BA1-9B10-5E15356F19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451603" y="352926"/>
                <a:ext cx="3211661" cy="5423407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2320" dirty="0"/>
                  <a:t>Fourier Transform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Discrete time Fourier Transform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Fast Fourier Transform (for a non-periodic digital signal)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Time is measured in integers (bins)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Frequency is measure in bins too.</a:t>
                </a:r>
              </a:p>
              <a:p>
                <a:endParaRPr lang="en-US" sz="232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20" b="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32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32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32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2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f>
                                <m:fPr>
                                  <m:ctrlP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𝑘𝑛</m:t>
                                  </m:r>
                                </m:num>
                                <m:den>
                                  <m: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sup>
                          </m:sSup>
                        </m:e>
                      </m:nary>
                    </m:oMath>
                  </m:oMathPara>
                </a14:m>
                <a:endParaRPr lang="en-US" sz="2320" dirty="0"/>
              </a:p>
              <a:p>
                <a:pPr marL="0" indent="0">
                  <a:buNone/>
                </a:pPr>
                <a:endParaRPr lang="en-US" sz="232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20" b="0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320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320" b="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]</m:t>
                          </m:r>
                          <m:sSup>
                            <m:sSupPr>
                              <m:ctrlPr>
                                <a:rPr lang="en-US" sz="232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f>
                                <m:fPr>
                                  <m:ctrlP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𝑘𝑛</m:t>
                                  </m:r>
                                </m:num>
                                <m:den>
                                  <m: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sup>
                          </m:sSup>
                        </m:e>
                      </m:nary>
                    </m:oMath>
                  </m:oMathPara>
                </a14:m>
                <a:endParaRPr lang="en-US" sz="2320" dirty="0"/>
              </a:p>
              <a:p>
                <a:endParaRPr lang="en-US" sz="2320" dirty="0"/>
              </a:p>
              <a:p>
                <a:endParaRPr lang="en-US" sz="112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20FB9C-F66A-4BA1-9B10-5E15356F19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451603" y="352926"/>
                <a:ext cx="3211661" cy="5423407"/>
              </a:xfrm>
              <a:blipFill>
                <a:blip r:embed="rId3"/>
                <a:stretch>
                  <a:fillRect l="-1139" t="-6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10</a:t>
            </a:r>
          </a:p>
        </p:txBody>
      </p:sp>
    </p:spTree>
    <p:extLst>
      <p:ext uri="{BB962C8B-B14F-4D97-AF65-F5344CB8AC3E}">
        <p14:creationId xmlns:p14="http://schemas.microsoft.com/office/powerpoint/2010/main" val="315945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4654296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AC0C6B-A1F2-4C4A-8561-BDF1D2829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986367"/>
            <a:ext cx="3363974" cy="1597315"/>
          </a:xfrm>
          <a:noFill/>
          <a:ln w="19050">
            <a:solidFill>
              <a:schemeClr val="bg1"/>
            </a:solidFill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en-US" sz="2240" kern="1200" dirty="0">
                <a:solidFill>
                  <a:schemeClr val="bg1"/>
                </a:solidFill>
                <a:latin typeface="Arial"/>
                <a:ea typeface="+mj-ea"/>
                <a:cs typeface="+mj-cs"/>
              </a:rPr>
              <a:t>Common Fourier Transform Pairs: Rectangular Pulse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8FE18A-B3BF-4D9B-AB2D-DB66E91143B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43468" y="2638044"/>
                <a:ext cx="3499324" cy="3415622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d>
                        <m:d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  −0.5&lt;</m:t>
                                </m:r>
                                <m: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0,           </m:t>
                                </m:r>
                                <m: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/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chemeClr val="bg1"/>
                    </a:solidFill>
                  </a:rPr>
                  <a:t>Fourier transform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𝑠𝑖𝑛𝑐</m:t>
                      </m:r>
                      <m:d>
                        <m:d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600" b="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/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/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/>
                <a:endParaRPr lang="en-US" sz="1600" dirty="0">
                  <a:solidFill>
                    <a:schemeClr val="bg1"/>
                  </a:solidFill>
                </a:endParaRPr>
              </a:p>
              <a:p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8FE18A-B3BF-4D9B-AB2D-DB66E91143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43468" y="2638044"/>
                <a:ext cx="3499324" cy="3415622"/>
              </a:xfrm>
              <a:blipFill>
                <a:blip r:embed="rId3"/>
                <a:stretch>
                  <a:fillRect l="-19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5C5F691-8DC8-4CAB-99D4-5402EFD7F0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908" y="754589"/>
            <a:ext cx="6942857" cy="5761905"/>
          </a:xfrm>
          <a:prstGeom prst="rect">
            <a:avLst/>
          </a:prstGeom>
        </p:spPr>
      </p:pic>
      <p:sp>
        <p:nvSpPr>
          <p:cNvPr id="21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10</a:t>
            </a:r>
          </a:p>
        </p:txBody>
      </p:sp>
    </p:spTree>
    <p:extLst>
      <p:ext uri="{BB962C8B-B14F-4D97-AF65-F5344CB8AC3E}">
        <p14:creationId xmlns:p14="http://schemas.microsoft.com/office/powerpoint/2010/main" val="2126864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B5CD6-EBE9-445B-8D34-F56786F18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AED748-4E89-4715-AC9C-862627ABE4F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Delta function is a mathematical abstraction. </a:t>
                </a:r>
              </a:p>
              <a:p>
                <a:r>
                  <a:rPr lang="en-US" dirty="0"/>
                  <a:t>It is used to sample other functions.  </a:t>
                </a:r>
              </a:p>
              <a:p>
                <a:r>
                  <a:rPr lang="en-US" dirty="0"/>
                  <a:t>Definition: 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AED748-4E89-4715-AC9C-862627ABE4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882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6B9C7D1-ACE2-46C3-B79C-3DAA56C538B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4130842"/>
                <a:ext cx="5181600" cy="2046121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Fourier transform: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𝑡𝑓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6B9C7D1-ACE2-46C3-B79C-3DAA56C538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4130842"/>
                <a:ext cx="5181600" cy="2046121"/>
              </a:xfrm>
              <a:blipFill>
                <a:blip r:embed="rId3"/>
                <a:stretch>
                  <a:fillRect l="-1882" t="-6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49373FD-5F17-4995-82C4-432B81EC1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117" y="932032"/>
            <a:ext cx="2855933" cy="3180762"/>
          </a:xfrm>
          <a:prstGeom prst="rect">
            <a:avLst/>
          </a:prstGeom>
        </p:spPr>
      </p:pic>
      <p:sp>
        <p:nvSpPr>
          <p:cNvPr id="7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10</a:t>
            </a:r>
          </a:p>
        </p:txBody>
      </p:sp>
    </p:spTree>
    <p:extLst>
      <p:ext uri="{BB962C8B-B14F-4D97-AF65-F5344CB8AC3E}">
        <p14:creationId xmlns:p14="http://schemas.microsoft.com/office/powerpoint/2010/main" val="1680876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4654296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DE59F-6DAD-4384-B2F5-3079D7A89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986367"/>
            <a:ext cx="3363974" cy="1597315"/>
          </a:xfrm>
          <a:noFill/>
          <a:ln w="19050">
            <a:solidFill>
              <a:schemeClr val="bg1"/>
            </a:solidFill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en-US" sz="2240" kern="1200">
                <a:solidFill>
                  <a:schemeClr val="bg1"/>
                </a:solidFill>
                <a:latin typeface="Arial"/>
                <a:ea typeface="+mj-ea"/>
                <a:cs typeface="+mj-cs"/>
              </a:rPr>
              <a:t>Time delay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383607-CD03-4188-B10F-7235FB463F0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43468" y="2638044"/>
                <a:ext cx="3363974" cy="3415622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chemeClr val="bg1"/>
                    </a:solidFill>
                  </a:rPr>
                  <a:t>Fourier pairs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𝑠𝑖𝑛𝑐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𝑠𝑖𝑛𝑐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−2)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sSup>
                        <m:sSup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383607-CD03-4188-B10F-7235FB463F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43468" y="2638044"/>
                <a:ext cx="3363974" cy="3415622"/>
              </a:xfrm>
              <a:blipFill>
                <a:blip r:embed="rId2"/>
                <a:stretch>
                  <a:fillRect l="-1996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C7749696-ED97-4FBE-AA58-2788677D18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199" y="788310"/>
            <a:ext cx="6942857" cy="5761905"/>
          </a:xfrm>
          <a:prstGeom prst="rect">
            <a:avLst/>
          </a:prstGeom>
        </p:spPr>
      </p:pic>
      <p:sp>
        <p:nvSpPr>
          <p:cNvPr id="11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10</a:t>
            </a:r>
          </a:p>
        </p:txBody>
      </p:sp>
    </p:spTree>
    <p:extLst>
      <p:ext uri="{BB962C8B-B14F-4D97-AF65-F5344CB8AC3E}">
        <p14:creationId xmlns:p14="http://schemas.microsoft.com/office/powerpoint/2010/main" val="2056917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7553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8FC9C14-1CC0-49EE-904E-25AE38FA4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5388"/>
            <a:ext cx="2899189" cy="4363844"/>
          </a:xfrm>
        </p:spPr>
        <p:txBody>
          <a:bodyPr anchor="t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Linearity of 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57DF4-6C3E-4FC5-8992-7C9ABB8607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755389"/>
            <a:ext cx="3427283" cy="4363844"/>
          </a:xfrm>
        </p:spPr>
        <p:txBody>
          <a:bodyPr>
            <a:normAutofit/>
          </a:bodyPr>
          <a:lstStyle/>
          <a:p>
            <a:r>
              <a:rPr lang="en-US" sz="1920" dirty="0"/>
              <a:t>Fourier transform of a sum of signals = sum of Fourier transforms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311F93-F99A-4EEA-97C3-8D515FF59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755389"/>
            <a:ext cx="3197701" cy="4363844"/>
          </a:xfrm>
        </p:spPr>
        <p:txBody>
          <a:bodyPr>
            <a:normAutofit/>
          </a:bodyPr>
          <a:lstStyle/>
          <a:p>
            <a:r>
              <a:rPr lang="en-US" sz="1920" dirty="0"/>
              <a:t>Example</a:t>
            </a:r>
          </a:p>
        </p:txBody>
      </p:sp>
      <p:sp>
        <p:nvSpPr>
          <p:cNvPr id="19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10</a:t>
            </a:r>
          </a:p>
        </p:txBody>
      </p:sp>
    </p:spTree>
    <p:extLst>
      <p:ext uri="{BB962C8B-B14F-4D97-AF65-F5344CB8AC3E}">
        <p14:creationId xmlns:p14="http://schemas.microsoft.com/office/powerpoint/2010/main" val="3170262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93F0E-A7B3-4211-A741-054382898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6"/>
            <a:ext cx="10515600" cy="6936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Complex Exponential and Cosine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B2D4AE-AB8A-479F-A41B-940B2EE68E4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10126" y="1424575"/>
                <a:ext cx="10042358" cy="29870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Fourier pairs (duality of FT and its inverse)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groupChr>
                        <m:groupChrPr>
                          <m:chr m:val="⇔"/>
                          <m:vertJc m:val="bot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d>
                          <m:groupChr>
                            <m:groupChrPr>
                              <m:chr m:val="⇔"/>
                              <m:vertJc m:val="bot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brk m:alnAt="2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groupCh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B2D4AE-AB8A-479F-A41B-940B2EE68E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10126" y="1424575"/>
                <a:ext cx="10042358" cy="2987002"/>
              </a:xfrm>
              <a:blipFill>
                <a:blip r:embed="rId2"/>
                <a:stretch>
                  <a:fillRect l="-1275" t="-3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10</a:t>
            </a:r>
          </a:p>
        </p:txBody>
      </p:sp>
    </p:spTree>
    <p:extLst>
      <p:ext uri="{BB962C8B-B14F-4D97-AF65-F5344CB8AC3E}">
        <p14:creationId xmlns:p14="http://schemas.microsoft.com/office/powerpoint/2010/main" val="2222677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7">
            <a:extLst>
              <a:ext uri="{FF2B5EF4-FFF2-40B4-BE49-F238E27FC236}">
                <a16:creationId xmlns:a16="http://schemas.microsoft.com/office/drawing/2014/main" id="{3777047D-2DA4-4D7D-BAA6-25EA5EF39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41431" y="1159237"/>
            <a:ext cx="5225327" cy="5225327"/>
          </a:xfrm>
          <a:prstGeom prst="rect">
            <a:avLst/>
          </a:prstGeom>
        </p:spPr>
      </p:pic>
      <p:pic>
        <p:nvPicPr>
          <p:cNvPr id="11" name="Graphic 5">
            <a:extLst>
              <a:ext uri="{FF2B5EF4-FFF2-40B4-BE49-F238E27FC236}">
                <a16:creationId xmlns:a16="http://schemas.microsoft.com/office/drawing/2014/main" id="{165AFF6A-F6C7-4BBF-9CFD-99AF04E26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1" y="3086101"/>
            <a:ext cx="1371600" cy="1371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6AF7D8-422D-418D-A4F7-27586975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66" y="2530643"/>
            <a:ext cx="5650387" cy="385392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kern="1200" dirty="0">
                <a:solidFill>
                  <a:schemeClr val="tx1"/>
                </a:solidFill>
                <a:latin typeface="Arial"/>
                <a:ea typeface="+mj-ea"/>
                <a:cs typeface="+mj-cs"/>
              </a:rPr>
              <a:t>Train of pulses: </a:t>
            </a:r>
            <a:r>
              <a:rPr lang="en-US" dirty="0"/>
              <a:t>FT of a Dirac train and another Dirac train, but in frequency space.</a:t>
            </a:r>
            <a:endParaRPr lang="en-US" kern="1200" dirty="0">
              <a:solidFill>
                <a:schemeClr val="tx1"/>
              </a:solidFill>
              <a:latin typeface="Arial"/>
              <a:ea typeface="+mj-ea"/>
              <a:cs typeface="+mj-cs"/>
            </a:endParaRPr>
          </a:p>
        </p:txBody>
      </p:sp>
      <p:sp>
        <p:nvSpPr>
          <p:cNvPr id="12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10</a:t>
            </a:r>
          </a:p>
        </p:txBody>
      </p:sp>
    </p:spTree>
    <p:extLst>
      <p:ext uri="{BB962C8B-B14F-4D97-AF65-F5344CB8AC3E}">
        <p14:creationId xmlns:p14="http://schemas.microsoft.com/office/powerpoint/2010/main" val="3544111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BD8B9-A8DE-4546-891D-3465A97E3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647"/>
            <a:ext cx="10515600" cy="922499"/>
          </a:xfrm>
        </p:spPr>
        <p:txBody>
          <a:bodyPr/>
          <a:lstStyle/>
          <a:p>
            <a:r>
              <a:rPr lang="en-US" dirty="0"/>
              <a:t>Correlation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3F9E7B-9B2D-4F20-A562-4116DC29382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954505" y="1595041"/>
                <a:ext cx="8678779" cy="277643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groupChr>
                        <m:groupChrPr>
                          <m:chr m:val="⇔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“*” stands for complex conjugate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No shifting, multiplying and integrating at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Only multiplication point-by-point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3F9E7B-9B2D-4F20-A562-4116DC2938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954505" y="1595041"/>
                <a:ext cx="8678779" cy="2776432"/>
              </a:xfrm>
              <a:blipFill>
                <a:blip r:embed="rId2"/>
                <a:stretch>
                  <a:fillRect l="-1476" b="-19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10</a:t>
            </a:r>
          </a:p>
        </p:txBody>
      </p:sp>
    </p:spTree>
    <p:extLst>
      <p:ext uri="{BB962C8B-B14F-4D97-AF65-F5344CB8AC3E}">
        <p14:creationId xmlns:p14="http://schemas.microsoft.com/office/powerpoint/2010/main" val="3933511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743239"/>
          </a:xfrm>
        </p:spPr>
        <p:txBody>
          <a:bodyPr/>
          <a:lstStyle/>
          <a:p>
            <a:r>
              <a:rPr lang="en-US" dirty="0"/>
              <a:t>Matched filtering of filter-bank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86616"/>
            <a:ext cx="6975764" cy="1750450"/>
          </a:xfrm>
        </p:spPr>
        <p:txBody>
          <a:bodyPr>
            <a:normAutofit fontScale="92500" lnSpcReduction="10000"/>
          </a:bodyPr>
          <a:lstStyle/>
          <a:p>
            <a:r>
              <a:rPr lang="en-US" sz="2080" dirty="0"/>
              <a:t>Correlate filter-bank data with a dispersed pulse.</a:t>
            </a:r>
          </a:p>
          <a:p>
            <a:r>
              <a:rPr lang="en-US" sz="2080" dirty="0"/>
              <a:t>Vary pulse width and its shape.  Also vary DM value. </a:t>
            </a:r>
          </a:p>
          <a:p>
            <a:r>
              <a:rPr lang="en-US" sz="2080" dirty="0"/>
              <a:t>Computationally it is very expensive.  </a:t>
            </a:r>
          </a:p>
          <a:p>
            <a:r>
              <a:rPr lang="en-US" sz="2080" dirty="0"/>
              <a:t>PSNR can be used as detection criterion.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895589" y="4443852"/>
            <a:ext cx="6944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0075" y="4263746"/>
            <a:ext cx="4395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7563" y="3501735"/>
            <a:ext cx="19368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2d correlation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460" y="5579910"/>
            <a:ext cx="19720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a spectrogram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3621" y="5566068"/>
            <a:ext cx="34776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response of matched filter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1772" y="2601188"/>
            <a:ext cx="26646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correlation function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64" y="3972065"/>
            <a:ext cx="2234150" cy="1675613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324" y="3975623"/>
            <a:ext cx="2237781" cy="1678335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8606" y="3138381"/>
            <a:ext cx="4967096" cy="2958616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334" y="3975616"/>
            <a:ext cx="2249897" cy="1687423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827" y="3136812"/>
            <a:ext cx="4980640" cy="2966683"/>
          </a:xfrm>
          <a:prstGeom prst="rect">
            <a:avLst/>
          </a:prstGeom>
        </p:spPr>
      </p:pic>
      <p:sp>
        <p:nvSpPr>
          <p:cNvPr id="21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10</a:t>
            </a:r>
          </a:p>
        </p:txBody>
      </p:sp>
    </p:spTree>
    <p:extLst>
      <p:ext uri="{BB962C8B-B14F-4D97-AF65-F5344CB8AC3E}">
        <p14:creationId xmlns:p14="http://schemas.microsoft.com/office/powerpoint/2010/main" val="93289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8200" y="708026"/>
            <a:ext cx="10515600" cy="978766"/>
          </a:xfrm>
        </p:spPr>
        <p:txBody>
          <a:bodyPr/>
          <a:lstStyle/>
          <a:p>
            <a:r>
              <a:rPr lang="en-US" dirty="0"/>
              <a:t>Correlation in 2d FT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844752"/>
            <a:ext cx="10896600" cy="589237"/>
          </a:xfrm>
        </p:spPr>
        <p:txBody>
          <a:bodyPr/>
          <a:lstStyle/>
          <a:p>
            <a:r>
              <a:rPr lang="en-US" dirty="0"/>
              <a:t>2d FT stands for two dimensional Fourier Transform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3538" y="4457716"/>
            <a:ext cx="4395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144976" y="4091391"/>
                <a:ext cx="66717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976" y="4091391"/>
                <a:ext cx="667170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971708" y="6077844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DM = 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8034" y="6084273"/>
            <a:ext cx="2130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DM = 20, 50, 70,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211" y="6408000"/>
            <a:ext cx="2143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Width = 100 (in bins)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3065" y="6435708"/>
            <a:ext cx="2143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Width = 100 (in bins)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522097"/>
            <a:ext cx="2593755" cy="2355273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551" y="3466869"/>
            <a:ext cx="2677436" cy="2472158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765" y="3461605"/>
            <a:ext cx="3194758" cy="2537615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266" y="3471276"/>
            <a:ext cx="2729214" cy="2478277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3526" y="3461605"/>
            <a:ext cx="3308823" cy="2593339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7986" y="3463266"/>
            <a:ext cx="2790494" cy="2494296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684" y="3458352"/>
            <a:ext cx="3280740" cy="2583843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266" y="3491525"/>
            <a:ext cx="2704110" cy="2455481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1017" y="3454426"/>
            <a:ext cx="3227110" cy="258539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027128" y="3186715"/>
            <a:ext cx="14478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true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6245" y="3145150"/>
            <a:ext cx="26491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four matched filters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27816" y="2906972"/>
            <a:ext cx="33868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the result of “correlation”</a:t>
            </a:r>
          </a:p>
        </p:txBody>
      </p:sp>
      <p:sp>
        <p:nvSpPr>
          <p:cNvPr id="35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10</a:t>
            </a:r>
          </a:p>
        </p:txBody>
      </p:sp>
    </p:spTree>
    <p:extLst>
      <p:ext uri="{BB962C8B-B14F-4D97-AF65-F5344CB8AC3E}">
        <p14:creationId xmlns:p14="http://schemas.microsoft.com/office/powerpoint/2010/main" val="2478739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879</TotalTime>
  <Words>383</Words>
  <Application>Microsoft Office PowerPoint</Application>
  <PresentationFormat>Widescreen</PresentationFormat>
  <Paragraphs>90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Frequency content of non-periodic signals</vt:lpstr>
      <vt:lpstr>Common Fourier Transform Pairs: Rectangular Pulse</vt:lpstr>
      <vt:lpstr>Delta function</vt:lpstr>
      <vt:lpstr>Time delay</vt:lpstr>
      <vt:lpstr>Linearity of FT</vt:lpstr>
      <vt:lpstr>Complex Exponential and Cosine</vt:lpstr>
      <vt:lpstr>Train of pulses: FT of a Dirac train and another Dirac train, but in frequency space.</vt:lpstr>
      <vt:lpstr>Correlation</vt:lpstr>
      <vt:lpstr>Matched filtering of filter-bank data</vt:lpstr>
      <vt:lpstr>Correlation in 2d FT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Fourier transform (2018 edition)</dc:title>
  <dc:creator>Natalia Schmid</dc:creator>
  <cp:lastModifiedBy>WVU DSPIRA</cp:lastModifiedBy>
  <cp:revision>19</cp:revision>
  <dcterms:created xsi:type="dcterms:W3CDTF">2018-06-27T22:00:54Z</dcterms:created>
  <dcterms:modified xsi:type="dcterms:W3CDTF">2018-07-09T21:20:21Z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