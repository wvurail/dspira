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59" r:id="rId4"/>
    <p:sldId id="267" r:id="rId5"/>
    <p:sldId id="268" r:id="rId6"/>
    <p:sldId id="269" r:id="rId7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44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customXml" Target="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customXml" Target="customXml/item3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openxmlformats.org/officeDocument/2006/relationships/customXml" Target="customXml/item2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9DCE3C33-DA20-4137-8780-2DFB9D124B5F}"/>
</file>

<file path=ppt/customXml/itemProps2.xml><?xml version="1.0" encoding="utf-8"?>
<ds:datastoreItem xmlns:ds="http://schemas.openxmlformats.org/officeDocument/2006/customXml" ds:itemID="{EF52A612-AF78-47DD-B93F-797A255C919D}"/>
</file>

<file path=ppt/customXml/itemProps3.xml><?xml version="1.0" encoding="utf-8"?>
<ds:datastoreItem xmlns:ds="http://schemas.openxmlformats.org/officeDocument/2006/customXml" ds:itemID="{4DD8559E-0254-4CDB-A1BC-0C5BFDA8332E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FD841-67A3-4220-A93B-4CD11B51FE21}" type="datetimeFigureOut">
              <a:rPr lang="en-US" smtClean="0"/>
              <a:t>7/11/2018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032167-7446-4DC7-8FD3-BA93C2C6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793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9E39-3745-4048-BD21-7F0E3E17FF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118908-F689-4D1F-B713-2BD3AD6F2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64ED12-A86D-41D2-A844-1C613571D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60D8D-075B-4C11-802B-C83E0A3CFA7A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67A4F-2D0E-4BC8-AC35-2BFFA8CB0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444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C3D8F-E7CA-47BF-93B3-05B6E232A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6B734-B1D7-463C-AE7F-B82114087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13D4B-64D5-46B9-B15D-D11A612E7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149DF-550C-4AE5-8E4C-9787E3236087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5D80D2-4245-424B-BCBF-7DE0DFB44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36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9DFC-7BF8-4A4C-BA87-180D0D97F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81FF-325F-4BA5-B65C-3F48E7906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F785C-D26F-4E49-92ED-8D161BAC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4D22-931B-4AC8-85E2-F9DE01595FF3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6D4B2-6E89-4494-AD80-5BF0C4734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099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CAAA-2756-4396-BB96-A79CCE8DC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A4FA7-8839-4CD6-8A76-D4077F01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D20341-715C-4CE7-B5C4-264E92086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89E327-9538-42B8-B2E6-867B4FED1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286AB-4DF9-4212-A7E1-5EA93AA7DD2A}" type="datetime1">
              <a:rPr lang="en-US" smtClean="0"/>
              <a:t>7/11/2018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39E2B-77BF-44C7-ADC3-0DEEDD958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930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81DDC-AA51-45A5-8B93-03C3EBC94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8C797-0D8F-451E-9AE3-27F11BAAC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29C517-A3B0-4771-B7DA-903CBF5BD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85C8FA-9F4F-410C-9226-649DBDB180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44F2B6-11A5-4ACC-91AC-E52ECE13F8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8F7FC9-6214-4344-8D1C-C9C4E672D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EBEE2-7BD1-4DCF-ACA3-F43E88D3F5C8}" type="datetime1">
              <a:rPr lang="en-US" smtClean="0"/>
              <a:t>7/11/2018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FA6458-85F5-4D7F-9009-E6AB91439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24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EB39A-6D20-4B28-9909-26A15836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68DC55-A279-4AE9-AA75-712570150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1A9F5-9A2E-4A0D-A0E4-CDAE472A3387}" type="datetime1">
              <a:rPr lang="en-US" smtClean="0"/>
              <a:t>7/11/2018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08144E-5C57-4567-93F0-99CC45771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855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577A1E-E3DF-467A-AF74-E781C2AD4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CFB5D-EF54-41AD-B904-FAF8AC56F48E}" type="datetime1">
              <a:rPr lang="en-US" smtClean="0"/>
              <a:t>7/11/2018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0B7076-2726-49D6-95FF-84101A747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177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2023E-ED63-44FE-A6BE-043E94CDB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C7CE4-5779-4481-9F53-B3030AB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D4C846-28DF-482C-9979-00B95F6770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1DF86-F948-4353-AE29-FC755297F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8EAB8-8374-4DE9-BAF7-85289176D288}" type="datetime1">
              <a:rPr lang="en-US" smtClean="0"/>
              <a:t>7/11/2018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12643-1C7B-43C2-BBA4-FD5550F9A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412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F26F8-E410-4A03-A060-A7142E18C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A847D7-3B50-41AC-AEE7-C08F4DF906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6B3B23-5CDC-4028-A421-1E0B977E42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1AFB5-E6E0-4BBC-BE89-2F6561DAE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112B1-9D8F-4BFC-A707-35D03684B2CB}" type="datetime1">
              <a:rPr lang="en-US" smtClean="0"/>
              <a:t>7/11/2018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96EB3-EDA8-4597-8A91-B59B9EAB3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58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993E1-9CE8-4C1A-8FA7-A9DDA8EC4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DE52C1-4B3E-4D42-B927-B7E7067544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47E75-70B7-4C54-967B-019F3C12E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C9075-BEA6-41C8-90AF-B6FFE5CA15CC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D1836-2CA2-401C-933A-00E3329EC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6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B12956-3139-480B-928F-CDCFD42C36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4D0A9-9120-44D3-ABA5-FCDA4BCCB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00CED-B339-4112-A478-3C2553279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4AD9F-BBF2-4E56-9D13-7E4AA22117F5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17BD4-16E2-4377-A05D-024EC18B8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65911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E191BB-ED63-4541-97E8-BEE79ECAF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97406A-0C73-4529-8A3D-59D2C44D17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4E65C-07B0-4AFA-AB0D-46F78D3967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D2AA0B-8EBA-449A-A177-8B12438CBDB6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BF106F-8F94-4371-A2D1-AB0404C43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0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64F6814-96D5-4463-898E-405CC0C40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89C09A-327C-4A43-AB84-DBC79B874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/>
              <a:t>Mixing = modulation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3105A-DA44-495B-9354-6A01C688DC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1515" y="2121762"/>
                <a:ext cx="6204984" cy="3626917"/>
              </a:xfrm>
            </p:spPr>
            <p:txBody>
              <a:bodyPr>
                <a:normAutofit/>
              </a:bodyPr>
              <a:lstStyle/>
              <a:p>
                <a:r>
                  <a:rPr lang="en-US" sz="1760"/>
                  <a:t>A low pass signal (described by low frequencies) such as voice and video cannot be sent from New York to Seattle. </a:t>
                </a:r>
              </a:p>
              <a:p>
                <a:r>
                  <a:rPr lang="en-US" sz="1760"/>
                  <a:t>In fact, voice loses power </a:t>
                </a:r>
                <a14:m>
                  <m:oMath xmlns:m="http://schemas.openxmlformats.org/officeDocument/2006/math">
                    <m:r>
                      <a:rPr lang="en-US" sz="176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176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6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76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76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176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760"/>
                  <a:t> (you cannot hear me speaking if you are 30 meters away)</a:t>
                </a:r>
              </a:p>
              <a:p>
                <a:r>
                  <a:rPr lang="en-US" sz="1760"/>
                  <a:t>The fact that voice dissipates indicates that the environment (air) is resistant to low frequencies. </a:t>
                </a:r>
              </a:p>
              <a:p>
                <a:r>
                  <a:rPr lang="en-US" sz="1760"/>
                  <a:t>We can transmit voice as is, but we will need an antenna of size 10-100 km.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3105A-DA44-495B-9354-6A01C688DC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1515" y="2121762"/>
                <a:ext cx="6204984" cy="3626917"/>
              </a:xfrm>
              <a:blipFill>
                <a:blip r:embed="rId2"/>
                <a:stretch>
                  <a:fillRect l="-1179" t="-2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boat on a body of water with a city in the background&#10;&#10;Description generated with very high confidence">
            <a:extLst>
              <a:ext uri="{FF2B5EF4-FFF2-40B4-BE49-F238E27FC236}">
                <a16:creationId xmlns:a16="http://schemas.microsoft.com/office/drawing/2014/main" id="{7C2E1300-7685-4906-99B9-5DDB3AF21D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4"/>
          <a:stretch/>
        </p:blipFill>
        <p:spPr>
          <a:xfrm>
            <a:off x="7829551" y="649809"/>
            <a:ext cx="4042409" cy="2286000"/>
          </a:xfrm>
          <a:prstGeom prst="rect">
            <a:avLst/>
          </a:prstGeom>
        </p:spPr>
      </p:pic>
      <p:pic>
        <p:nvPicPr>
          <p:cNvPr id="7" name="Picture 6" descr="A view of a city with tall buildings in the background&#10;&#10;Description generated with very high confidence">
            <a:extLst>
              <a:ext uri="{FF2B5EF4-FFF2-40B4-BE49-F238E27FC236}">
                <a16:creationId xmlns:a16="http://schemas.microsoft.com/office/drawing/2014/main" id="{51CF666E-8AE4-49F5-BD63-2974CABF89E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7" r="8674" b="1"/>
          <a:stretch/>
        </p:blipFill>
        <p:spPr>
          <a:xfrm>
            <a:off x="7829551" y="3171825"/>
            <a:ext cx="4042410" cy="3388994"/>
          </a:xfrm>
          <a:prstGeom prst="rect">
            <a:avLst/>
          </a:prstGeom>
        </p:spPr>
      </p:pic>
      <p:sp>
        <p:nvSpPr>
          <p:cNvPr id="2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6</a:t>
            </a:r>
          </a:p>
        </p:txBody>
      </p:sp>
      <p:sp>
        <p:nvSpPr>
          <p:cNvPr id="26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7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389739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F1506-3592-4AE7-B278-73AE3A9C2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708025"/>
            <a:ext cx="5120114" cy="1692794"/>
          </a:xfrm>
        </p:spPr>
        <p:txBody>
          <a:bodyPr>
            <a:normAutofit/>
          </a:bodyPr>
          <a:lstStyle/>
          <a:p>
            <a:r>
              <a:rPr lang="en-US" dirty="0"/>
              <a:t>How to overcome the resistance of the air?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4A809D5-3600-46D4-A466-67F2349A5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5320" y="2659380"/>
            <a:ext cx="4572000" cy="0"/>
          </a:xfrm>
          <a:prstGeom prst="straightConnector1">
            <a:avLst/>
          </a:prstGeom>
          <a:ln w="19050" cap="sq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B0AFD-D58A-4575-B951-D1B39143E4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2" y="2917934"/>
            <a:ext cx="4687860" cy="3462228"/>
          </a:xfrm>
        </p:spPr>
        <p:txBody>
          <a:bodyPr>
            <a:normAutofit/>
          </a:bodyPr>
          <a:lstStyle/>
          <a:p>
            <a:r>
              <a:rPr lang="en-US" sz="1920" dirty="0"/>
              <a:t>Air (channel) acts as a band pass filter. </a:t>
            </a:r>
          </a:p>
          <a:p>
            <a:r>
              <a:rPr lang="en-US" sz="1920" dirty="0"/>
              <a:t>Voice, video, etc. are low pass signals.  </a:t>
            </a:r>
          </a:p>
          <a:p>
            <a:r>
              <a:rPr lang="en-US" sz="1920" dirty="0"/>
              <a:t>To pass voice over channel, we need to translate voice to medium frequency. </a:t>
            </a:r>
          </a:p>
          <a:p>
            <a:r>
              <a:rPr lang="en-US" sz="1920" dirty="0"/>
              <a:t>This is done through modulation (mixing).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8406AA-5682-47DE-A9E8-81B288B5C6F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5" r="23417" b="2"/>
          <a:stretch/>
        </p:blipFill>
        <p:spPr>
          <a:xfrm>
            <a:off x="5878849" y="342910"/>
            <a:ext cx="6313150" cy="6857987"/>
          </a:xfrm>
          <a:custGeom>
            <a:avLst/>
            <a:gdLst>
              <a:gd name="connsiteX0" fmla="*/ 65565 w 6313150"/>
              <a:gd name="connsiteY0" fmla="*/ 0 h 6857997"/>
              <a:gd name="connsiteX1" fmla="*/ 6313150 w 6313150"/>
              <a:gd name="connsiteY1" fmla="*/ 0 h 6857997"/>
              <a:gd name="connsiteX2" fmla="*/ 6313150 w 6313150"/>
              <a:gd name="connsiteY2" fmla="*/ 6857997 h 6857997"/>
              <a:gd name="connsiteX3" fmla="*/ 3293946 w 6313150"/>
              <a:gd name="connsiteY3" fmla="*/ 6857997 h 6857997"/>
              <a:gd name="connsiteX4" fmla="*/ 3235857 w 6313150"/>
              <a:gd name="connsiteY4" fmla="*/ 6823061 h 6857997"/>
              <a:gd name="connsiteX5" fmla="*/ 0 w 6313150"/>
              <a:gd name="connsiteY5" fmla="*/ 951803 h 6857997"/>
              <a:gd name="connsiteX6" fmla="*/ 31536 w 6313150"/>
              <a:gd name="connsiteY6" fmla="*/ 285771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</p:spPr>
      </p:pic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6</a:t>
            </a:r>
          </a:p>
        </p:txBody>
      </p:sp>
      <p:sp>
        <p:nvSpPr>
          <p:cNvPr id="2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966176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0F6F7-BC51-4E7B-9463-8FDB7DBAF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do this?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F40A7-C9F5-4568-80AB-D61B8BD5C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8780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want: </a:t>
            </a:r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2A5B734-C4B8-4719-B216-FA9A327DBD8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86968" y="3808983"/>
                <a:ext cx="10204704" cy="268389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Mathematically it is described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By duality property, the FT of the modulated signal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</a:rPr>
                  <a:t>Passes through environment!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2A5B734-C4B8-4719-B216-FA9A327DBD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86968" y="3808983"/>
                <a:ext cx="10204704" cy="2683892"/>
              </a:xfrm>
              <a:blipFill>
                <a:blip r:embed="rId2"/>
                <a:stretch>
                  <a:fillRect l="-1254" t="-3864" b="-34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DFB9F7-F656-4DEF-9EBB-34F6B2281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6363" y="2168525"/>
            <a:ext cx="7341770" cy="1746400"/>
          </a:xfrm>
          <a:prstGeom prst="rect">
            <a:avLst/>
          </a:prstGeom>
        </p:spPr>
      </p:pic>
      <p:sp>
        <p:nvSpPr>
          <p:cNvPr id="7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6</a:t>
            </a:r>
          </a:p>
        </p:txBody>
      </p:sp>
      <p:sp>
        <p:nvSpPr>
          <p:cNvPr id="11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2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673082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0792D4F-247E-46FE-85FC-881DEFA41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5357"/>
            <a:ext cx="12188952" cy="228554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20201040206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E73056-A60E-41AA-999C-43BBE20D0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276" y="5235258"/>
            <a:ext cx="376627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1920" kern="1200">
                <a:solidFill>
                  <a:schemeClr val="bg1"/>
                </a:solidFill>
                <a:latin typeface="Arial"/>
                <a:ea typeface="+mj-ea"/>
                <a:cs typeface="+mj-cs"/>
              </a:rPr>
              <a:t>Demodulation (how to extract voice from modulated signal?)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A4CBE9-CAD0-4F11-9E70-65072DD176F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878784" y="4824249"/>
                <a:ext cx="6673136" cy="1461780"/>
              </a:xfr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r>
                  <a:rPr lang="en-US" sz="1360">
                    <a:solidFill>
                      <a:schemeClr val="bg1"/>
                    </a:solidFill>
                  </a:rPr>
                  <a:t>Multiply the modulated signal by the same cosine function. </a:t>
                </a:r>
              </a:p>
              <a:p>
                <a:pPr marL="0"/>
                <a14:m>
                  <m:oMath xmlns:m="http://schemas.openxmlformats.org/officeDocument/2006/math">
                    <m:sSub>
                      <m:sSubPr>
                        <m:ctrlPr>
                          <a:rPr lang="en-US" sz="136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)×</m:t>
                    </m:r>
                    <m:r>
                      <m:rPr>
                        <m:sty m:val="p"/>
                      </m:rPr>
                      <a:rPr lang="en-US" sz="136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⁡(2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60">
                  <a:solidFill>
                    <a:schemeClr val="bg1"/>
                  </a:solidFill>
                </a:endParaRPr>
              </a:p>
              <a:p>
                <a:r>
                  <a:rPr lang="en-US" sz="1360">
                    <a:solidFill>
                      <a:schemeClr val="bg1"/>
                    </a:solidFill>
                  </a:rPr>
                  <a:t>Pass the result through a low pass filter (set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6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𝑐𝑢𝑡𝑜𝑓𝑓</m:t>
                        </m:r>
                      </m:sub>
                    </m:sSub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360">
                    <a:solidFill>
                      <a:schemeClr val="bg1"/>
                    </a:solidFill>
                  </a:rPr>
                  <a:t>)</a:t>
                </a:r>
              </a:p>
              <a:p>
                <a:r>
                  <a:rPr lang="en-US" sz="1360">
                    <a:solidFill>
                      <a:schemeClr val="bg1"/>
                    </a:solidFill>
                  </a:rPr>
                  <a:t>Amplify the signal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A4CBE9-CAD0-4F11-9E70-65072DD17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878784" y="4824249"/>
                <a:ext cx="6673136" cy="1461780"/>
              </a:xfrm>
              <a:blipFill>
                <a:blip r:embed="rId2"/>
                <a:stretch>
                  <a:fillRect l="-457" t="-1667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80C1C622-0F04-4BE8-9DFB-D7E7EE69D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408" y="1143845"/>
            <a:ext cx="10015378" cy="2987343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72F12-AF86-441A-BC1B-C014BBBF8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639665" y="5440839"/>
            <a:ext cx="0" cy="914400"/>
          </a:xfrm>
          <a:prstGeom prst="line">
            <a:avLst/>
          </a:prstGeom>
          <a:ln w="19050">
            <a:solidFill>
              <a:schemeClr val="bg1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6</a:t>
            </a:r>
          </a:p>
        </p:txBody>
      </p:sp>
      <p:sp>
        <p:nvSpPr>
          <p:cNvPr id="3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83311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4">
            <a:extLst>
              <a:ext uri="{FF2B5EF4-FFF2-40B4-BE49-F238E27FC236}">
                <a16:creationId xmlns:a16="http://schemas.microsoft.com/office/drawing/2014/main" id="{E02F3C71-C981-4614-98EA-D6C494F80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BED19B-D4A8-4B47-93EB-FBF834A82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 dirty="0"/>
              <a:t>A random 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7F0E8-ACD8-4C2D-A775-D4791E8CC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515" y="2464662"/>
            <a:ext cx="6204984" cy="3626917"/>
          </a:xfrm>
        </p:spPr>
        <p:txBody>
          <a:bodyPr>
            <a:normAutofit/>
          </a:bodyPr>
          <a:lstStyle/>
          <a:p>
            <a:r>
              <a:rPr lang="en-US" sz="1920"/>
              <a:t>Random experiment = outcome cannot be predicted</a:t>
            </a:r>
          </a:p>
          <a:p>
            <a:r>
              <a:rPr lang="en-US" sz="1920"/>
              <a:t>Example: Bow and arrows (2d target)</a:t>
            </a:r>
          </a:p>
          <a:p>
            <a:r>
              <a:rPr lang="en-US" sz="1920"/>
              <a:t>Outcomes and their probabilities = weights (how often do we observe an outcome?)</a:t>
            </a:r>
          </a:p>
          <a:p>
            <a:r>
              <a:rPr lang="en-US" sz="1920"/>
              <a:t>Fit a 2D function into the point on the target and look at the slice – it is a Gaussian bell. </a:t>
            </a:r>
          </a:p>
          <a:p>
            <a:endParaRPr lang="en-US" sz="1920"/>
          </a:p>
        </p:txBody>
      </p:sp>
      <p:pic>
        <p:nvPicPr>
          <p:cNvPr id="10" name="Picture 9" descr="A close up of a map&#10;&#10;Description generated with high confidence">
            <a:extLst>
              <a:ext uri="{FF2B5EF4-FFF2-40B4-BE49-F238E27FC236}">
                <a16:creationId xmlns:a16="http://schemas.microsoft.com/office/drawing/2014/main" id="{2C96D434-F6C1-4986-BDD3-4F075CE4D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5927" y="980297"/>
            <a:ext cx="3037873" cy="2286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F48D54-B5B9-4118-A535-367500944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762" y="3465322"/>
            <a:ext cx="4042410" cy="3233928"/>
          </a:xfrm>
          <a:prstGeom prst="rect">
            <a:avLst/>
          </a:prstGeom>
        </p:spPr>
      </p:pic>
      <p:sp>
        <p:nvSpPr>
          <p:cNvPr id="1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6</a:t>
            </a:r>
          </a:p>
        </p:txBody>
      </p:sp>
      <p:sp>
        <p:nvSpPr>
          <p:cNvPr id="2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543622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B0D9-C283-430D-9489-746FEEFED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425"/>
            <a:ext cx="10515600" cy="866107"/>
          </a:xfrm>
        </p:spPr>
        <p:txBody>
          <a:bodyPr>
            <a:normAutofit/>
          </a:bodyPr>
          <a:lstStyle/>
          <a:p>
            <a:r>
              <a:rPr lang="en-US" dirty="0"/>
              <a:t>Gaussian probability density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595A3D-CBD8-49CF-8FB8-26EAF49F2C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5924"/>
                <a:ext cx="10515600" cy="5180426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The bell is mathematically described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are mean and variance of this random variable. </a:t>
                </a:r>
              </a:p>
              <a:p>
                <a:r>
                  <a:rPr lang="en-US" dirty="0"/>
                  <a:t>Noise due to a receiver (telescope or antenna) is Gaussian. </a:t>
                </a:r>
              </a:p>
              <a:p>
                <a:r>
                  <a:rPr lang="en-US" dirty="0"/>
                  <a:t>Its mean is zero.  </a:t>
                </a:r>
              </a:p>
              <a:p>
                <a:r>
                  <a:rPr lang="en-US" dirty="0"/>
                  <a:t>Its variance can be estimated by using multiple measurements of the noise: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595A3D-CBD8-49CF-8FB8-26EAF49F2C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5924"/>
                <a:ext cx="10515600" cy="5180426"/>
              </a:xfrm>
              <a:blipFill>
                <a:blip r:embed="rId2"/>
                <a:stretch>
                  <a:fillRect l="-928" t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6</a:t>
            </a:r>
          </a:p>
        </p:txBody>
      </p:sp>
      <p:sp>
        <p:nvSpPr>
          <p:cNvPr id="9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0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1395743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363</Words>
  <Application>Microsoft Office PowerPoint</Application>
  <PresentationFormat>Widescreen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Tw Cen MT</vt:lpstr>
      <vt:lpstr>Office Theme</vt:lpstr>
      <vt:lpstr>Mixing = modulation</vt:lpstr>
      <vt:lpstr>How to overcome the resistance of the air?</vt:lpstr>
      <vt:lpstr>How do we do this?</vt:lpstr>
      <vt:lpstr>Demodulation (how to extract voice from modulated signal?) </vt:lpstr>
      <vt:lpstr>A random experiment</vt:lpstr>
      <vt:lpstr>Gaussian probability density function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Mixing and modulation (2018 edition)</dc:title>
  <dc:creator>Natalia Schmid</dc:creator>
  <cp:lastModifiedBy>WVU DSPIRA</cp:lastModifiedBy>
  <cp:revision>17</cp:revision>
  <dcterms:created xsi:type="dcterms:W3CDTF">2018-07-11T19:01:07Z</dcterms:created>
  <dcterms:modified xsi:type="dcterms:W3CDTF">2018-07-11T20:34:24Z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