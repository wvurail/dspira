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1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ustomXml/itemProps2.xml" ContentType="application/vnd.openxmlformats-officedocument.customXmlProperties+xml"/>
  <Override PartName="/ppt/customXml/itemProps1.xml" ContentType="application/vnd.openxmlformats-officedocument.customXmlProperties+xml"/>
  <Override PartName="/ppt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7" r:id="rId2"/>
    <p:sldId id="258" r:id="rId3"/>
    <p:sldId id="259" r:id="rId4"/>
    <p:sldId id="267" r:id="rId5"/>
    <p:sldId id="268" r:id="rId6"/>
    <p:sldId id="269" r:id="rId7"/>
  </p:sldIdLst>
  <p:sldSz cx="12192000" cy="75438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144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customXml" Target="customXml/item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customXml" Target="customXml/item3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openxmlformats.org/officeDocument/2006/relationships/customXml" Target="customXml/item2.xml"/></Relationships>
</file>

<file path=ppt/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ppt/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ppt/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ppt/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6C36F108F9F92488C988DDF36346911" ma:contentTypeVersion="5" ma:contentTypeDescription="Create a new document." ma:contentTypeScope="" ma:versionID="c417924321fef32731141cd966ef6f94">
  <xsd:schema xmlns:xsd="http://www.w3.org/2001/XMLSchema" xmlns:xs="http://www.w3.org/2001/XMLSchema" xmlns:p="http://schemas.microsoft.com/office/2006/metadata/properties" xmlns:ns2="1bb24863-89de-455f-aabf-4424925aa312" targetNamespace="http://schemas.microsoft.com/office/2006/metadata/properties" ma:root="true" ma:fieldsID="a7d3b2212d350eb904df17fc79fef4f4" ns2:_="">
    <xsd:import namespace="1bb24863-89de-455f-aabf-4424925aa31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b24863-89de-455f-aabf-4424925aa31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ppt/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ppt/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ppt/customXml/itemProps1.xml><?xml version="1.0" encoding="utf-8"?>
<ds:datastoreItem xmlns:ds="http://schemas.openxmlformats.org/officeDocument/2006/customXml" ds:itemID="{9DCE3C33-DA20-4137-8780-2DFB9D124B5F}"/>
</file>

<file path=ppt/customXml/itemProps2.xml><?xml version="1.0" encoding="utf-8"?>
<ds:datastoreItem xmlns:ds="http://schemas.openxmlformats.org/officeDocument/2006/customXml" ds:itemID="{EF52A612-AF78-47DD-B93F-797A255C919D}"/>
</file>

<file path=ppt/customXml/itemProps3.xml><?xml version="1.0" encoding="utf-8"?>
<ds:datastoreItem xmlns:ds="http://schemas.openxmlformats.org/officeDocument/2006/customXml" ds:itemID="{4DD8559E-0254-4CDB-A1BC-0C5BFDA8332E}"/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2FD841-67A3-4220-A93B-4CD11B51FE21}" type="datetimeFigureOut">
              <a:rPr lang="en-US" smtClean="0"/>
              <a:t>7/11/2018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032167-7446-4DC7-8FD3-BA93C2C62C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793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69E39-3745-4048-BD21-7F0E3E17FF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65263"/>
            <a:ext cx="914400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6118908-F689-4D1F-B713-2BD3AD6F2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44938"/>
            <a:ext cx="9144000" cy="1655762"/>
          </a:xfrm>
        </p:spPr>
        <p:txBody>
          <a:bodyPr/>
          <a:lstStyle>
            <a:lvl1pPr marL="0" indent="0" algn="ctr">
              <a:buNone/>
              <a:defRPr sz="1920"/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440"/>
            </a:lvl3pPr>
            <a:lvl4pPr marL="1371600" indent="0" algn="ctr">
              <a:buNone/>
              <a:defRPr sz="1280"/>
            </a:lvl4pPr>
            <a:lvl5pPr marL="1828800" indent="0" algn="ctr">
              <a:buNone/>
              <a:defRPr sz="1280"/>
            </a:lvl5pPr>
            <a:lvl6pPr marL="2286000" indent="0" algn="ctr">
              <a:buNone/>
              <a:defRPr sz="1280"/>
            </a:lvl6pPr>
            <a:lvl7pPr marL="2743200" indent="0" algn="ctr">
              <a:buNone/>
              <a:defRPr sz="1280"/>
            </a:lvl7pPr>
            <a:lvl8pPr marL="3200400" indent="0" algn="ctr">
              <a:buNone/>
              <a:defRPr sz="1280"/>
            </a:lvl8pPr>
            <a:lvl9pPr marL="3657600" indent="0" algn="ctr">
              <a:buNone/>
              <a:defRPr sz="12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64ED12-A86D-41D2-A844-1C613571D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160D8D-075B-4C11-802B-C83E0A3CFA7A}" type="datetime1">
              <a:rPr lang="en-US" smtClean="0"/>
              <a:t>7/11/2018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D67A4F-2D0E-4BC8-AC35-2BFFA8CB0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0444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C3D8F-E7CA-47BF-93B3-05B6E232A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B6B734-B1D7-463C-AE7F-B821140875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13D4B-64D5-46B9-B15D-D11A612E7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149DF-550C-4AE5-8E4C-9787E3236087}" type="datetime1">
              <a:rPr lang="en-US" smtClean="0"/>
              <a:t>7/11/2018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5D80D2-4245-424B-BCBF-7DE0DFB44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436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D9DFC-7BF8-4A4C-BA87-180D0D97F3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52638"/>
            <a:ext cx="1051560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381FF-325F-4BA5-B65C-3F48E79069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932363"/>
            <a:ext cx="10515600" cy="1500187"/>
          </a:xfrm>
        </p:spPr>
        <p:txBody>
          <a:bodyPr/>
          <a:lstStyle>
            <a:lvl1pPr marL="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44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2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F785C-D26F-4E49-92ED-8D161BACB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824D22-931B-4AC8-85E2-F9DE01595FF3}" type="datetime1">
              <a:rPr lang="en-US" smtClean="0"/>
              <a:t>7/11/2018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46D4B2-6E89-4494-AD80-5BF0C47346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1099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6CAAA-2756-4396-BB96-A79CCE8DC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EA4FA7-8839-4CD6-8A76-D4077F01C9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D20341-715C-4CE7-B5C4-264E920861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685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89E327-9538-42B8-B2E6-867B4FED1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6286AB-4DF9-4212-A7E1-5EA93AA7DD2A}" type="datetime1">
              <a:rPr lang="en-US" smtClean="0"/>
              <a:t>7/11/2018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B39E2B-77BF-44C7-ADC3-0DEEDD958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930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81DDC-AA51-45A5-8B93-03C3EBC948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7080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B8C797-0D8F-451E-9AE3-27F11BAAC2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24063"/>
            <a:ext cx="5157787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29C517-A3B0-4771-B7DA-903CBF5BD2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8479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85C8FA-9F4F-410C-9226-649DBDB180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024063"/>
            <a:ext cx="5183188" cy="823912"/>
          </a:xfrm>
        </p:spPr>
        <p:txBody>
          <a:bodyPr anchor="b"/>
          <a:lstStyle>
            <a:lvl1pPr marL="0" indent="0">
              <a:buNone/>
              <a:defRPr sz="1920" b="1"/>
            </a:lvl1pPr>
            <a:lvl2pPr marL="457200" indent="0">
              <a:buNone/>
              <a:defRPr sz="1600" b="1"/>
            </a:lvl2pPr>
            <a:lvl3pPr marL="914400" indent="0">
              <a:buNone/>
              <a:defRPr sz="1440" b="1"/>
            </a:lvl3pPr>
            <a:lvl4pPr marL="1371600" indent="0">
              <a:buNone/>
              <a:defRPr sz="1280" b="1"/>
            </a:lvl4pPr>
            <a:lvl5pPr marL="1828800" indent="0">
              <a:buNone/>
              <a:defRPr sz="1280" b="1"/>
            </a:lvl5pPr>
            <a:lvl6pPr marL="2286000" indent="0">
              <a:buNone/>
              <a:defRPr sz="1280" b="1"/>
            </a:lvl6pPr>
            <a:lvl7pPr marL="2743200" indent="0">
              <a:buNone/>
              <a:defRPr sz="1280" b="1"/>
            </a:lvl7pPr>
            <a:lvl8pPr marL="3200400" indent="0">
              <a:buNone/>
              <a:defRPr sz="1280" b="1"/>
            </a:lvl8pPr>
            <a:lvl9pPr marL="3657600" indent="0">
              <a:buNone/>
              <a:defRPr sz="12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A44F2B6-11A5-4ACC-91AC-E52ECE13F8E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479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8F7FC9-6214-4344-8D1C-C9C4E672D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EBEE2-7BD1-4DCF-ACA3-F43E88D3F5C8}" type="datetime1">
              <a:rPr lang="en-US" smtClean="0"/>
              <a:t>7/11/2018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1FA6458-85F5-4D7F-9009-E6AB914392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0240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7EB39A-6D20-4B28-9909-26A158366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68DC55-A279-4AE9-AA75-7125701509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21A9F5-9A2E-4A0D-A0E4-CDAE472A3387}" type="datetime1">
              <a:rPr lang="en-US" smtClean="0"/>
              <a:t>7/11/2018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08144E-5C57-4567-93F0-99CC45771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8551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577A1E-E3DF-467A-AF74-E781C2AD4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CFB5D-EF54-41AD-B904-FAF8AC56F48E}" type="datetime1">
              <a:rPr lang="en-US" smtClean="0"/>
              <a:t>7/11/2018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40B7076-2726-49D6-95FF-84101A7478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7177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62023E-ED63-44FE-A6BE-043E94CDB8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9C7CE4-5779-4481-9F53-B3030AB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>
              <a:defRPr sz="2560"/>
            </a:lvl1pPr>
            <a:lvl2pPr>
              <a:defRPr sz="2240"/>
            </a:lvl2pPr>
            <a:lvl3pPr>
              <a:defRPr sz="192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D4C846-28DF-482C-9979-00B95F6770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71DF86-F948-4353-AE29-FC755297F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18EAB8-8374-4DE9-BAF7-85289176D288}" type="datetime1">
              <a:rPr lang="en-US" smtClean="0"/>
              <a:t>7/11/2018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712643-1C7B-43C2-BBA4-FD5550F9A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4125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F26F8-E410-4A03-A060-A7142E18C5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800100"/>
            <a:ext cx="3932237" cy="1600200"/>
          </a:xfrm>
        </p:spPr>
        <p:txBody>
          <a:bodyPr anchor="b"/>
          <a:lstStyle>
            <a:lvl1pPr>
              <a:defRPr sz="25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A847D7-3B50-41AC-AEE7-C08F4DF906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330325"/>
            <a:ext cx="6172200" cy="4873625"/>
          </a:xfrm>
        </p:spPr>
        <p:txBody>
          <a:bodyPr/>
          <a:lstStyle>
            <a:lvl1pPr marL="0" indent="0">
              <a:buNone/>
              <a:defRPr sz="2560"/>
            </a:lvl1pPr>
            <a:lvl2pPr marL="457200" indent="0">
              <a:buNone/>
              <a:defRPr sz="2240"/>
            </a:lvl2pPr>
            <a:lvl3pPr marL="914400" indent="0">
              <a:buNone/>
              <a:defRPr sz="192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6B3B23-5CDC-4028-A421-1E0B977E422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0300"/>
            <a:ext cx="3932237" cy="3811588"/>
          </a:xfrm>
        </p:spPr>
        <p:txBody>
          <a:bodyPr/>
          <a:lstStyle>
            <a:lvl1pPr marL="0" indent="0">
              <a:buNone/>
              <a:defRPr sz="1280"/>
            </a:lvl1pPr>
            <a:lvl2pPr marL="457200" indent="0">
              <a:buNone/>
              <a:defRPr sz="1120"/>
            </a:lvl2pPr>
            <a:lvl3pPr marL="914400" indent="0">
              <a:buNone/>
              <a:defRPr sz="960"/>
            </a:lvl3pPr>
            <a:lvl4pPr marL="1371600" indent="0">
              <a:buNone/>
              <a:defRPr sz="800"/>
            </a:lvl4pPr>
            <a:lvl5pPr marL="1828800" indent="0">
              <a:buNone/>
              <a:defRPr sz="800"/>
            </a:lvl5pPr>
            <a:lvl6pPr marL="2286000" indent="0">
              <a:buNone/>
              <a:defRPr sz="800"/>
            </a:lvl6pPr>
            <a:lvl7pPr marL="2743200" indent="0">
              <a:buNone/>
              <a:defRPr sz="800"/>
            </a:lvl7pPr>
            <a:lvl8pPr marL="3200400" indent="0">
              <a:buNone/>
              <a:defRPr sz="800"/>
            </a:lvl8pPr>
            <a:lvl9pPr marL="3657600" indent="0">
              <a:buNone/>
              <a:defRPr sz="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91AFB5-E6E0-4BBC-BE89-2F6561DAE8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D112B1-9D8F-4BFC-A707-35D03684B2CB}" type="datetime1">
              <a:rPr lang="en-US" smtClean="0"/>
              <a:t>7/11/2018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C96EB3-EDA8-4597-8A91-B59B9EAB3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958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993E1-9CE8-4C1A-8FA7-A9DDA8EC4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5DE52C1-4B3E-4D42-B927-B7E7067544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847E75-70B7-4C54-967B-019F3C12E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CC9075-BEA6-41C8-90AF-B6FFE5CA15CC}" type="datetime1">
              <a:rPr lang="en-US" smtClean="0"/>
              <a:t>7/11/2018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5D1836-2CA2-401C-933A-00E3329EC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1362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B12956-3139-480B-928F-CDCFD42C36A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7080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54D0A9-9120-44D3-ABA5-FCDA4BCCB8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7080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D00CED-B339-4112-A478-3C25532799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04AD9F-BBF2-4E56-9D13-7E4AA22117F5}" type="datetime1">
              <a:rPr lang="en-US" smtClean="0"/>
              <a:t>7/11/2018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17BD4-16E2-4377-A05D-024EC18B8E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65911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E191BB-ED63-4541-97E8-BEE79ECAF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080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97406A-0C73-4529-8A3D-59D2C44D17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1685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4E65C-07B0-4AFA-AB0D-46F78D39673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6992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D2AA0B-8EBA-449A-A177-8B12438CBDB6}" type="datetime1">
              <a:rPr lang="en-US" smtClean="0"/>
              <a:t>7/11/2018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BF106F-8F94-4371-A2D1-AB0404C43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6992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1004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52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40" kern="1200">
          <a:solidFill>
            <a:schemeClr val="tx1"/>
          </a:solidFill>
          <a:latin typeface="Arial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92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1pPr>
      <a:lvl2pPr marL="457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2pPr>
      <a:lvl3pPr marL="914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3pPr>
      <a:lvl4pPr marL="1371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4pPr>
      <a:lvl5pPr marL="18288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5pPr>
      <a:lvl6pPr marL="22860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6pPr>
      <a:lvl7pPr marL="27432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7pPr>
      <a:lvl8pPr marL="32004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8pPr>
      <a:lvl9pPr marL="3657600" algn="l" defTabSz="914400" rtl="0" eaLnBrk="1" latinLnBrk="0" hangingPunct="1">
        <a:defRPr sz="1440" kern="1200">
          <a:solidFill>
            <a:schemeClr val="tx1"/>
          </a:solidFill>
          <a:latin typeface="Arial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64F6814-96D5-4463-898E-405CC0C401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3" y="664076"/>
            <a:ext cx="7174247" cy="5896743"/>
          </a:xfrm>
          <a:prstGeom prst="rect">
            <a:avLst/>
          </a:prstGeom>
          <a:solidFill>
            <a:schemeClr val="tx1">
              <a:alpha val="15000"/>
            </a:schemeClr>
          </a:solidFill>
          <a:ln w="127000" cap="sq" cmpd="thinThick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89C09A-327C-4A43-AB84-DBC79B874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16" y="983163"/>
            <a:ext cx="6204984" cy="1344975"/>
          </a:xfrm>
        </p:spPr>
        <p:txBody>
          <a:bodyPr>
            <a:normAutofit/>
          </a:bodyPr>
          <a:lstStyle/>
          <a:p>
            <a:r>
              <a:rPr lang="en-US" sz="3200"/>
              <a:t>Mixing = modulation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3105A-DA44-495B-9354-6A01C688DC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1515" y="2121762"/>
                <a:ext cx="6204984" cy="3626917"/>
              </a:xfrm>
            </p:spPr>
            <p:txBody>
              <a:bodyPr>
                <a:normAutofit/>
              </a:bodyPr>
              <a:lstStyle/>
              <a:p>
                <a:r>
                  <a:rPr lang="en-US" sz="1760"/>
                  <a:t>A low pass signal (described by low frequencies) such as voice and video cannot be sent from New York to Seattle. </a:t>
                </a:r>
              </a:p>
              <a:p>
                <a:r>
                  <a:rPr lang="en-US" sz="1760"/>
                  <a:t>In fact, voice loses power </a:t>
                </a:r>
                <a14:m>
                  <m:oMath xmlns:m="http://schemas.openxmlformats.org/officeDocument/2006/math">
                    <m:r>
                      <a:rPr lang="en-US" sz="176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f>
                      <m:fPr>
                        <m:ctrlPr>
                          <a:rPr lang="en-US" sz="176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760" b="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176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76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US" sz="1760" b="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1760"/>
                  <a:t> (you cannot hear me speaking if you are 30 meters away)</a:t>
                </a:r>
              </a:p>
              <a:p>
                <a:r>
                  <a:rPr lang="en-US" sz="1760"/>
                  <a:t>The fact that voice dissipates indicates that the environment (air) is resistant to low frequencies. </a:t>
                </a:r>
              </a:p>
              <a:p>
                <a:r>
                  <a:rPr lang="en-US" sz="1760"/>
                  <a:t>We can transmit voice as is, but we will need an antenna of size 10-100 km. 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D63105A-DA44-495B-9354-6A01C688DC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1515" y="2121762"/>
                <a:ext cx="6204984" cy="3626917"/>
              </a:xfrm>
              <a:blipFill>
                <a:blip r:embed="rId2"/>
                <a:stretch>
                  <a:fillRect l="-1179" t="-21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boat on a body of water with a city in the background&#10;&#10;Description generated with very high confidence">
            <a:extLst>
              <a:ext uri="{FF2B5EF4-FFF2-40B4-BE49-F238E27FC236}">
                <a16:creationId xmlns:a16="http://schemas.microsoft.com/office/drawing/2014/main" id="{7C2E1300-7685-4906-99B9-5DDB3AF21D5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44"/>
          <a:stretch/>
        </p:blipFill>
        <p:spPr>
          <a:xfrm>
            <a:off x="7829551" y="649809"/>
            <a:ext cx="4042409" cy="2286000"/>
          </a:xfrm>
          <a:prstGeom prst="rect">
            <a:avLst/>
          </a:prstGeom>
        </p:spPr>
      </p:pic>
      <p:pic>
        <p:nvPicPr>
          <p:cNvPr id="7" name="Picture 6" descr="A view of a city with tall buildings in the background&#10;&#10;Description generated with very high confidence">
            <a:extLst>
              <a:ext uri="{FF2B5EF4-FFF2-40B4-BE49-F238E27FC236}">
                <a16:creationId xmlns:a16="http://schemas.microsoft.com/office/drawing/2014/main" id="{51CF666E-8AE4-49F5-BD63-2974CABF89EE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707" r="8674" b="1"/>
          <a:stretch/>
        </p:blipFill>
        <p:spPr>
          <a:xfrm>
            <a:off x="7829551" y="3171825"/>
            <a:ext cx="4042410" cy="3388994"/>
          </a:xfrm>
          <a:prstGeom prst="rect">
            <a:avLst/>
          </a:prstGeom>
        </p:spPr>
      </p:pic>
      <p:sp>
        <p:nvSpPr>
          <p:cNvPr id="21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2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3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6</a:t>
            </a:r>
          </a:p>
        </p:txBody>
      </p:sp>
    </p:spTree>
    <p:extLst>
      <p:ext uri="{BB962C8B-B14F-4D97-AF65-F5344CB8AC3E}">
        <p14:creationId xmlns:p14="http://schemas.microsoft.com/office/powerpoint/2010/main" val="33897393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F1506-3592-4AE7-B278-73AE3A9C2D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320" y="708025"/>
            <a:ext cx="5120114" cy="1692794"/>
          </a:xfrm>
        </p:spPr>
        <p:txBody>
          <a:bodyPr>
            <a:normAutofit/>
          </a:bodyPr>
          <a:lstStyle/>
          <a:p>
            <a:r>
              <a:rPr lang="en-US" dirty="0"/>
              <a:t>How to overcome the resistance of the air?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4A809D5-3600-46D4-A466-67F2349A5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55320" y="2659380"/>
            <a:ext cx="4572000" cy="0"/>
          </a:xfrm>
          <a:prstGeom prst="straightConnector1">
            <a:avLst/>
          </a:prstGeom>
          <a:ln w="19050" cap="sq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B0AFD-D58A-4575-B951-D1B39143E4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322" y="2917934"/>
            <a:ext cx="4687860" cy="3462228"/>
          </a:xfrm>
        </p:spPr>
        <p:txBody>
          <a:bodyPr>
            <a:normAutofit/>
          </a:bodyPr>
          <a:lstStyle/>
          <a:p>
            <a:r>
              <a:rPr lang="en-US" sz="1920" dirty="0"/>
              <a:t>Air (channel) acts as a band pass filter. </a:t>
            </a:r>
          </a:p>
          <a:p>
            <a:r>
              <a:rPr lang="en-US" sz="1920" dirty="0"/>
              <a:t>Voice, video, etc. are low pass signals.  </a:t>
            </a:r>
          </a:p>
          <a:p>
            <a:r>
              <a:rPr lang="en-US" sz="1920" dirty="0"/>
              <a:t>To pass voice over channel, we need to translate voice to medium frequency. </a:t>
            </a:r>
          </a:p>
          <a:p>
            <a:r>
              <a:rPr lang="en-US" sz="1920" dirty="0"/>
              <a:t>This is done through modulation (mixing).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F8406AA-5682-47DE-A9E8-81B288B5C6F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75" r="23417" b="2"/>
          <a:stretch/>
        </p:blipFill>
        <p:spPr>
          <a:xfrm>
            <a:off x="5878849" y="342910"/>
            <a:ext cx="6313150" cy="6857987"/>
          </a:xfrm>
          <a:custGeom>
            <a:avLst/>
            <a:gdLst>
              <a:gd name="connsiteX0" fmla="*/ 65565 w 6313150"/>
              <a:gd name="connsiteY0" fmla="*/ 0 h 6857997"/>
              <a:gd name="connsiteX1" fmla="*/ 6313150 w 6313150"/>
              <a:gd name="connsiteY1" fmla="*/ 0 h 6857997"/>
              <a:gd name="connsiteX2" fmla="*/ 6313150 w 6313150"/>
              <a:gd name="connsiteY2" fmla="*/ 6857997 h 6857997"/>
              <a:gd name="connsiteX3" fmla="*/ 3293946 w 6313150"/>
              <a:gd name="connsiteY3" fmla="*/ 6857997 h 6857997"/>
              <a:gd name="connsiteX4" fmla="*/ 3235857 w 6313150"/>
              <a:gd name="connsiteY4" fmla="*/ 6823061 h 6857997"/>
              <a:gd name="connsiteX5" fmla="*/ 0 w 6313150"/>
              <a:gd name="connsiteY5" fmla="*/ 951803 h 6857997"/>
              <a:gd name="connsiteX6" fmla="*/ 31536 w 6313150"/>
              <a:gd name="connsiteY6" fmla="*/ 285771 h 685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313150" h="6857997">
                <a:moveTo>
                  <a:pt x="65565" y="0"/>
                </a:moveTo>
                <a:lnTo>
                  <a:pt x="6313150" y="0"/>
                </a:lnTo>
                <a:lnTo>
                  <a:pt x="6313150" y="6857997"/>
                </a:lnTo>
                <a:lnTo>
                  <a:pt x="3293946" y="6857997"/>
                </a:lnTo>
                <a:lnTo>
                  <a:pt x="3235857" y="6823061"/>
                </a:lnTo>
                <a:cubicBezTo>
                  <a:pt x="1291240" y="5592803"/>
                  <a:pt x="0" y="3423096"/>
                  <a:pt x="0" y="951803"/>
                </a:cubicBezTo>
                <a:cubicBezTo>
                  <a:pt x="0" y="727140"/>
                  <a:pt x="10673" y="504970"/>
                  <a:pt x="31536" y="285771"/>
                </a:cubicBezTo>
                <a:close/>
              </a:path>
            </a:pathLst>
          </a:custGeom>
        </p:spPr>
      </p:pic>
      <p:sp>
        <p:nvSpPr>
          <p:cNvPr id="15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6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7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6</a:t>
            </a:r>
          </a:p>
        </p:txBody>
      </p:sp>
    </p:spTree>
    <p:extLst>
      <p:ext uri="{BB962C8B-B14F-4D97-AF65-F5344CB8AC3E}">
        <p14:creationId xmlns:p14="http://schemas.microsoft.com/office/powerpoint/2010/main" val="3966176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0F6F7-BC51-4E7B-9463-8FDB7DBAF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do we do this?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DF40A7-C9F5-4568-80AB-D61B8BD5C9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168525"/>
            <a:ext cx="5181600" cy="48780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want: </a:t>
            </a:r>
          </a:p>
          <a:p>
            <a:endParaRPr lang="en-US" dirty="0"/>
          </a:p>
          <a:p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2A5B734-C4B8-4719-B216-FA9A327DBD8E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886968" y="3808983"/>
                <a:ext cx="10204704" cy="2683892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Mathematically it is described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By duality property, the FT of the modulated signal is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±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C00000"/>
                    </a:solidFill>
                  </a:rPr>
                  <a:t>Passes through environment!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F2A5B734-C4B8-4719-B216-FA9A327DBD8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886968" y="3808983"/>
                <a:ext cx="10204704" cy="2683892"/>
              </a:xfrm>
              <a:blipFill>
                <a:blip r:embed="rId2"/>
                <a:stretch>
                  <a:fillRect l="-1254" t="-3864" b="-34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CDFB9F7-F656-4DEF-9EBB-34F6B22810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66363" y="2168525"/>
            <a:ext cx="7341770" cy="1746400"/>
          </a:xfrm>
          <a:prstGeom prst="rect">
            <a:avLst/>
          </a:prstGeom>
        </p:spPr>
      </p:pic>
      <p:sp>
        <p:nvSpPr>
          <p:cNvPr id="6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8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6</a:t>
            </a:r>
          </a:p>
        </p:txBody>
      </p:sp>
    </p:spTree>
    <p:extLst>
      <p:ext uri="{BB962C8B-B14F-4D97-AF65-F5344CB8AC3E}">
        <p14:creationId xmlns:p14="http://schemas.microsoft.com/office/powerpoint/2010/main" val="3673082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B0792D4F-247E-46FE-85FC-881DEFA41D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15357"/>
            <a:ext cx="12188952" cy="228554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4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20201040206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E73056-A60E-41AA-999C-43BBE20D0C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276" y="5235258"/>
            <a:ext cx="3766272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1920" kern="1200">
                <a:solidFill>
                  <a:schemeClr val="bg1"/>
                </a:solidFill>
                <a:latin typeface="Arial"/>
                <a:ea typeface="+mj-ea"/>
                <a:cs typeface="+mj-cs"/>
              </a:rPr>
              <a:t>Demodulation (how to extract voice from modulated signal?)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A4CBE9-CAD0-4F11-9E70-65072DD176F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4878784" y="4824249"/>
                <a:ext cx="6673136" cy="1461780"/>
              </a:xfrm>
            </p:spPr>
            <p:txBody>
              <a:bodyPr vert="horz" lIns="91440" tIns="45720" rIns="91440" bIns="45720" rtlCol="0" anchor="ctr">
                <a:normAutofit/>
              </a:bodyPr>
              <a:lstStyle/>
              <a:p>
                <a:r>
                  <a:rPr lang="en-US" sz="1360">
                    <a:solidFill>
                      <a:schemeClr val="bg1"/>
                    </a:solidFill>
                  </a:rPr>
                  <a:t>Multiply the modulated signal by the same cosine function. </a:t>
                </a:r>
              </a:p>
              <a:p>
                <a:pPr marL="0"/>
                <a14:m>
                  <m:oMath xmlns:m="http://schemas.openxmlformats.org/officeDocument/2006/math">
                    <m:sSub>
                      <m:sSubPr>
                        <m:ctrlPr>
                          <a:rPr lang="en-US" sz="136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6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36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US" sz="136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36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36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)×</m:t>
                    </m:r>
                    <m:r>
                      <m:rPr>
                        <m:sty m:val="p"/>
                      </m:rPr>
                      <a:rPr lang="en-US" sz="1360" b="0" i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a:rPr lang="en-US" sz="136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⁡(2</m:t>
                    </m:r>
                    <m:r>
                      <a:rPr lang="en-US" sz="136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sSub>
                      <m:sSubPr>
                        <m:ctrlPr>
                          <a:rPr lang="en-US" sz="136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6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36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36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36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360">
                  <a:solidFill>
                    <a:schemeClr val="bg1"/>
                  </a:solidFill>
                </a:endParaRPr>
              </a:p>
              <a:p>
                <a:r>
                  <a:rPr lang="en-US" sz="1360">
                    <a:solidFill>
                      <a:schemeClr val="bg1"/>
                    </a:solidFill>
                  </a:rPr>
                  <a:t>Pass the result through a low pass filter (set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36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36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1360" b="0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𝑐𝑢𝑡𝑜𝑓𝑓</m:t>
                        </m:r>
                      </m:sub>
                    </m:sSub>
                    <m:r>
                      <a:rPr lang="en-US" sz="136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360" b="0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sz="1360">
                    <a:solidFill>
                      <a:schemeClr val="bg1"/>
                    </a:solidFill>
                  </a:rPr>
                  <a:t>)</a:t>
                </a:r>
              </a:p>
              <a:p>
                <a:r>
                  <a:rPr lang="en-US" sz="1360">
                    <a:solidFill>
                      <a:schemeClr val="bg1"/>
                    </a:solidFill>
                  </a:rPr>
                  <a:t>Amplify the signal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BA4CBE9-CAD0-4F11-9E70-65072DD176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4878784" y="4824249"/>
                <a:ext cx="6673136" cy="1461780"/>
              </a:xfrm>
              <a:blipFill>
                <a:blip r:embed="rId2"/>
                <a:stretch>
                  <a:fillRect l="-457" t="-1667" b="-41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" name="Picture 19">
            <a:extLst>
              <a:ext uri="{FF2B5EF4-FFF2-40B4-BE49-F238E27FC236}">
                <a16:creationId xmlns:a16="http://schemas.microsoft.com/office/drawing/2014/main" id="{80C1C622-0F04-4BE8-9DFB-D7E7EE69DE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5408" y="1143845"/>
            <a:ext cx="10015378" cy="2987343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CE272F12-AF86-441A-BC1B-C014BBBF85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4639665" y="5440839"/>
            <a:ext cx="0" cy="914400"/>
          </a:xfrm>
          <a:prstGeom prst="line">
            <a:avLst/>
          </a:prstGeom>
          <a:ln w="19050">
            <a:solidFill>
              <a:schemeClr val="bg1">
                <a:alpha val="7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6</a:t>
            </a:r>
          </a:p>
        </p:txBody>
      </p:sp>
    </p:spTree>
    <p:extLst>
      <p:ext uri="{BB962C8B-B14F-4D97-AF65-F5344CB8AC3E}">
        <p14:creationId xmlns:p14="http://schemas.microsoft.com/office/powerpoint/2010/main" val="28331165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4">
            <a:extLst>
              <a:ext uri="{FF2B5EF4-FFF2-40B4-BE49-F238E27FC236}">
                <a16:creationId xmlns:a16="http://schemas.microsoft.com/office/drawing/2014/main" id="{E02F3C71-C981-4614-98EA-D6C494F80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336883" y="664076"/>
            <a:ext cx="7174247" cy="5896743"/>
          </a:xfrm>
          <a:prstGeom prst="rect">
            <a:avLst/>
          </a:prstGeom>
          <a:solidFill>
            <a:schemeClr val="tx1">
              <a:alpha val="15000"/>
            </a:schemeClr>
          </a:solidFill>
          <a:ln w="127000" cap="sq" cmpd="thinThick">
            <a:solidFill>
              <a:schemeClr val="tx1">
                <a:alpha val="1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BED19B-D4A8-4B47-93EB-FBF834A82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516" y="983163"/>
            <a:ext cx="6204984" cy="1344975"/>
          </a:xfrm>
        </p:spPr>
        <p:txBody>
          <a:bodyPr>
            <a:normAutofit/>
          </a:bodyPr>
          <a:lstStyle/>
          <a:p>
            <a:r>
              <a:rPr lang="en-US" sz="3200" dirty="0"/>
              <a:t>A random experiment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7F0E8-ACD8-4C2D-A775-D4791E8CC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1515" y="2464662"/>
            <a:ext cx="6204984" cy="3626917"/>
          </a:xfrm>
        </p:spPr>
        <p:txBody>
          <a:bodyPr>
            <a:normAutofit/>
          </a:bodyPr>
          <a:lstStyle/>
          <a:p>
            <a:r>
              <a:rPr lang="en-US" sz="1920"/>
              <a:t>Random experiment = outcome cannot be predicted</a:t>
            </a:r>
          </a:p>
          <a:p>
            <a:r>
              <a:rPr lang="en-US" sz="1920"/>
              <a:t>Example: Bow and arrows (2d target)</a:t>
            </a:r>
          </a:p>
          <a:p>
            <a:r>
              <a:rPr lang="en-US" sz="1920"/>
              <a:t>Outcomes and their probabilities = weights (how often do we observe an outcome?)</a:t>
            </a:r>
          </a:p>
          <a:p>
            <a:r>
              <a:rPr lang="en-US" sz="1920"/>
              <a:t>Fit a 2D function into the point on the target and look at the slice – it is a Gaussian bell. </a:t>
            </a:r>
          </a:p>
          <a:p>
            <a:endParaRPr lang="en-US" sz="1920"/>
          </a:p>
        </p:txBody>
      </p:sp>
      <p:pic>
        <p:nvPicPr>
          <p:cNvPr id="10" name="Picture 9" descr="A close up of a map&#10;&#10;Description generated with high confidence">
            <a:extLst>
              <a:ext uri="{FF2B5EF4-FFF2-40B4-BE49-F238E27FC236}">
                <a16:creationId xmlns:a16="http://schemas.microsoft.com/office/drawing/2014/main" id="{2C96D434-F6C1-4986-BDD3-4F075CE4DD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5927" y="980297"/>
            <a:ext cx="3037873" cy="2286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0F48D54-B5B9-4118-A535-367500944A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95762" y="3465322"/>
            <a:ext cx="4042410" cy="3233928"/>
          </a:xfrm>
          <a:prstGeom prst="rect">
            <a:avLst/>
          </a:prstGeom>
        </p:spPr>
      </p:pic>
      <p:sp>
        <p:nvSpPr>
          <p:cNvPr id="18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9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20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6</a:t>
            </a:r>
          </a:p>
        </p:txBody>
      </p:sp>
    </p:spTree>
    <p:extLst>
      <p:ext uri="{BB962C8B-B14F-4D97-AF65-F5344CB8AC3E}">
        <p14:creationId xmlns:p14="http://schemas.microsoft.com/office/powerpoint/2010/main" val="25436221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4B0D9-C283-430D-9489-746FEEFED9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79425"/>
            <a:ext cx="10515600" cy="866107"/>
          </a:xfrm>
        </p:spPr>
        <p:txBody>
          <a:bodyPr>
            <a:normAutofit/>
          </a:bodyPr>
          <a:lstStyle/>
          <a:p>
            <a:r>
              <a:rPr lang="en-US" dirty="0"/>
              <a:t>Gaussian probability density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595A3D-CBD8-49CF-8FB8-26EAF49F2C3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5924"/>
                <a:ext cx="10515600" cy="5180426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The bell is mathematically described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 are mean and variance of this random variable. </a:t>
                </a:r>
              </a:p>
              <a:p>
                <a:r>
                  <a:rPr lang="en-US" dirty="0"/>
                  <a:t>Noise due to a receiver (telescope or antenna) is Gaussian. </a:t>
                </a:r>
              </a:p>
              <a:p>
                <a:r>
                  <a:rPr lang="en-US" dirty="0"/>
                  <a:t>Its mean is zero.  </a:t>
                </a:r>
              </a:p>
              <a:p>
                <a:r>
                  <a:rPr lang="en-US" dirty="0"/>
                  <a:t>Its variance can be estimated by using multiple measurements of the noise: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 </a:t>
                </a: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595A3D-CBD8-49CF-8FB8-26EAF49F2C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5924"/>
                <a:ext cx="10515600" cy="5180426"/>
              </a:xfrm>
              <a:blipFill>
                <a:blip r:embed="rId2"/>
                <a:stretch>
                  <a:fillRect l="-928" t="-22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SPIRA 1"/>
          <p:cNvSpPr>
            <a:spLocks noGrp="1"/>
          </p:cNvSpPr>
          <p:nvPr/>
        </p:nvSpPr>
        <p:spPr>
          <a:xfrm>
            <a:off x="0" y="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5" name="DSPIRA 2"/>
          <p:cNvSpPr>
            <a:spLocks noGrp="1"/>
          </p:cNvSpPr>
          <p:nvPr/>
        </p:nvSpPr>
        <p:spPr>
          <a:xfrm>
            <a:off x="0" y="7200900"/>
            <a:ext cx="12192000" cy="3429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" name="DSPIRA 3"/>
          <p:cNvSpPr>
            <a:spLocks noGrp="1"/>
          </p:cNvSpPr>
          <p:nvPr/>
        </p:nvSpPr>
        <p:spPr>
          <a:xfrm>
            <a:off x="228600" y="7620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 b="1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" name="DSPIRA 4"/>
          <p:cNvSpPr>
            <a:spLocks noGrp="1"/>
          </p:cNvSpPr>
          <p:nvPr/>
        </p:nvSpPr>
        <p:spPr>
          <a:xfrm>
            <a:off x="228600" y="7277100"/>
            <a:ext cx="66675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DSPIRA 5"/>
          <p:cNvSpPr>
            <a:spLocks noGrp="1"/>
          </p:cNvSpPr>
          <p:nvPr/>
        </p:nvSpPr>
        <p:spPr>
          <a:xfrm>
            <a:off x="11191875" y="7277100"/>
            <a:ext cx="762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900" b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6</a:t>
            </a:r>
          </a:p>
        </p:txBody>
      </p:sp>
    </p:spTree>
    <p:extLst>
      <p:ext uri="{BB962C8B-B14F-4D97-AF65-F5344CB8AC3E}">
        <p14:creationId xmlns:p14="http://schemas.microsoft.com/office/powerpoint/2010/main" val="41395743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363</Words>
  <Application>Microsoft Office PowerPoint</Application>
  <PresentationFormat>Widescreen</PresentationFormat>
  <Paragraphs>43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Calibri Light</vt:lpstr>
      <vt:lpstr>Cambria Math</vt:lpstr>
      <vt:lpstr>Tw Cen MT</vt:lpstr>
      <vt:lpstr>Office Theme</vt:lpstr>
      <vt:lpstr>Mixing = modulation</vt:lpstr>
      <vt:lpstr>How to overcome the resistance of the air?</vt:lpstr>
      <vt:lpstr>How do we do this?</vt:lpstr>
      <vt:lpstr>Demodulation (how to extract voice from modulated signal?) </vt:lpstr>
      <vt:lpstr>A random experiment</vt:lpstr>
      <vt:lpstr>Gaussian probability density function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Mixing and modulation (2018 edition)</dc:title>
  <dc:creator>Natalia Schmid</dc:creator>
  <cp:lastModifiedBy>WVU DSPIRA</cp:lastModifiedBy>
  <cp:revision>17</cp:revision>
  <dcterms:created xsi:type="dcterms:W3CDTF">2018-07-11T19:01:07Z</dcterms:created>
  <dcterms:modified xsi:type="dcterms:W3CDTF">2018-07-11T20:34:24Z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0x01010016C36F108F9F92488C988DDF36346911</vt:lpwstr>
  </property>
</Properties>
</file>