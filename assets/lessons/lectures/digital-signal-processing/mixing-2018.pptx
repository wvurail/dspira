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ustomXml/itemProps2.xml" ContentType="application/vnd.openxmlformats-officedocument.customXmlProperties+xml"/>
  <Override PartName="/ppt/customXml/itemProps1.xml" ContentType="application/vnd.openxmlformats-officedocument.customXmlProperties+xml"/>
  <Override PartName="/ppt/customXml/itemProps3.xml" ContentType="application/vnd.openxmlformats-officedocument.customXml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WvuMaster"/>
  </p:sldMasterIdLst>
  <p:notesMasterIdLst>
    <p:notesMasterId r:id="rId8"/>
  </p:notesMasterIdLst>
  <p:sldIdLst>
    <p:sldId id="257" r:id="rId2"/>
    <p:sldId id="258" r:id="rId3"/>
    <p:sldId id="259" r:id="rId4"/>
    <p:sldId id="267" r:id="rId5"/>
    <p:sldId id="268" r:id="rId6"/>
    <p:sldId id="26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44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customXml/item2.xml"/><Relationship Id="rIdWvuMaster" Type="http://schemas.openxmlformats.org/officeDocument/2006/relationships/slideMaster" Target="slideMasters/slideMaster1.xml"/></Relationships>
</file>

<file path=ppt/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ppt/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ppt/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ppt/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C36F108F9F92488C988DDF36346911" ma:contentTypeVersion="5" ma:contentTypeDescription="Create a new document." ma:contentTypeScope="" ma:versionID="c417924321fef32731141cd966ef6f94">
  <xsd:schema xmlns:xsd="http://www.w3.org/2001/XMLSchema" xmlns:xs="http://www.w3.org/2001/XMLSchema" xmlns:p="http://schemas.microsoft.com/office/2006/metadata/properties" xmlns:ns2="1bb24863-89de-455f-aabf-4424925aa312" targetNamespace="http://schemas.microsoft.com/office/2006/metadata/properties" ma:root="true" ma:fieldsID="a7d3b2212d350eb904df17fc79fef4f4" ns2:_="">
    <xsd:import namespace="1bb24863-89de-455f-aabf-4424925aa31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b24863-89de-455f-aabf-4424925aa3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ppt/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ppt/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ppt/customXml/itemProps1.xml><?xml version="1.0" encoding="utf-8"?>
<ds:datastoreItem xmlns:ds="http://schemas.openxmlformats.org/officeDocument/2006/customXml" ds:itemID="{9DCE3C33-DA20-4137-8780-2DFB9D124B5F}"/>
</file>

<file path=ppt/customXml/itemProps2.xml><?xml version="1.0" encoding="utf-8"?>
<ds:datastoreItem xmlns:ds="http://schemas.openxmlformats.org/officeDocument/2006/customXml" ds:itemID="{EF52A612-AF78-47DD-B93F-797A255C919D}"/>
</file>

<file path=ppt/customXml/itemProps3.xml><?xml version="1.0" encoding="utf-8"?>
<ds:datastoreItem xmlns:ds="http://schemas.openxmlformats.org/officeDocument/2006/customXml" ds:itemID="{4DD8559E-0254-4CDB-A1BC-0C5BFDA8332E}"/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FD841-67A3-4220-A93B-4CD11B51FE21}" type="datetimeFigureOut">
              <a:rPr lang="en-US" smtClean="0"/>
              <a:t>7/11/2018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032167-7446-4DC7-8FD3-BA93C2C62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793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ss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esson title title 0">
            <a:extLst>
              <a:ext uri="{FF2B5EF4-FFF2-40B4-BE49-F238E27FC236}">
                <a16:creationId xmlns:a16="http://schemas.microsoft.com/office/drawing/2014/main" id="{D0D053A8-BBDF-4114-AC0C-F41E42B0F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95450"/>
            <a:ext cx="109728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[Lesson title]</a:t>
            </a:r>
          </a:p>
        </p:txBody>
      </p:sp>
      <p:sp>
        <p:nvSpPr>
          <p:cNvPr id="2" name="Lesson title subtitle 1">
            <a:extLst>
              <a:ext uri="{FF2B5EF4-FFF2-40B4-BE49-F238E27FC236}">
                <a16:creationId xmlns:a16="http://schemas.microsoft.com/office/drawing/2014/main" id="{ACBDC2AF-F434-4371-8E2A-17CCF7344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219450"/>
            <a:ext cx="10668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[A short description of the investigation]</a:t>
            </a:r>
          </a:p>
        </p:txBody>
      </p:sp>
      <p:sp>
        <p:nvSpPr>
          <p:cNvPr id="3" name="Lesson title body 2">
            <a:extLst>
              <a:ext uri="{FF2B5EF4-FFF2-40B4-BE49-F238E27FC236}">
                <a16:creationId xmlns:a16="http://schemas.microsoft.com/office/drawing/2014/main" id="{D8956F49-2416-4C96-921B-614B43DC6BB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4591050"/>
            <a:ext cx="105727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[Teacher or school]</a:t>
            </a:r>
          </a:p>
          <a:p>
            <a: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[Course / grade level]   [Date]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 and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 and goals title 0">
            <a:extLst>
              <a:ext uri="{FF2B5EF4-FFF2-40B4-BE49-F238E27FC236}">
                <a16:creationId xmlns:a16="http://schemas.microsoft.com/office/drawing/2014/main" id="{D08231EE-6C7C-42AD-8215-BCBB995F2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Our investigation</a:t>
            </a:r>
          </a:p>
        </p:txBody>
      </p:sp>
      <p:sp>
        <p:nvSpPr>
          <p:cNvPr id="2" name="Question and goals body 1">
            <a:extLst>
              <a:ext uri="{FF2B5EF4-FFF2-40B4-BE49-F238E27FC236}">
                <a16:creationId xmlns:a16="http://schemas.microsoft.com/office/drawing/2014/main" id="{5A4E4205-F64E-4654-BD6B-D20017501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33600"/>
            <a:ext cx="5162550" cy="3448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Essential question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will students investigate?]</a:t>
            </a:r>
          </a:p>
        </p:txBody>
      </p:sp>
      <p:sp>
        <p:nvSpPr>
          <p:cNvPr id="3" name="Question and goals body 2">
            <a:extLst>
              <a:ext uri="{FF2B5EF4-FFF2-40B4-BE49-F238E27FC236}">
                <a16:creationId xmlns:a16="http://schemas.microsoft.com/office/drawing/2014/main" id="{BF9EAF2D-1060-4815-9524-5F06F4856FB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19850" y="2133600"/>
            <a:ext cx="5162550" cy="3448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Learning goals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will students be able to explain or do?]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planation and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xplanation and figure title 0">
            <a:extLst>
              <a:ext uri="{FF2B5EF4-FFF2-40B4-BE49-F238E27FC236}">
                <a16:creationId xmlns:a16="http://schemas.microsoft.com/office/drawing/2014/main" id="{C54DEB96-2C44-49CE-960C-EEA88B04E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[Key idea]</a:t>
            </a:r>
          </a:p>
        </p:txBody>
      </p:sp>
      <p:sp>
        <p:nvSpPr>
          <p:cNvPr id="2" name="Explanation and figure body 1">
            <a:extLst>
              <a:ext uri="{FF2B5EF4-FFF2-40B4-BE49-F238E27FC236}">
                <a16:creationId xmlns:a16="http://schemas.microsoft.com/office/drawing/2014/main" id="{74965947-62A8-4AED-A214-D22E1DB50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5025"/>
            <a:ext cx="4524375" cy="3400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[Explain the main idea.]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[Define a new term or connect it to prior learning.]</a:t>
            </a:r>
          </a:p>
        </p:txBody>
      </p:sp>
      <p:sp>
        <p:nvSpPr>
          <p:cNvPr id="3" name="Explanation and figure content 2">
            <a:extLst>
              <a:ext uri="{FF2B5EF4-FFF2-40B4-BE49-F238E27FC236}">
                <a16:creationId xmlns:a16="http://schemas.microsoft.com/office/drawing/2014/main" id="{93F0CF8A-0D56-484D-8008-C069FB2AFB4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591175" y="2114550"/>
            <a:ext cx="5991225" cy="312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[Insert a figure or diagram]</a:t>
            </a:r>
          </a:p>
        </p:txBody>
      </p:sp>
      <p:sp>
        <p:nvSpPr>
          <p:cNvPr id="4" name="Explanation and figure body 3">
            <a:extLst>
              <a:ext uri="{FF2B5EF4-FFF2-40B4-BE49-F238E27FC236}">
                <a16:creationId xmlns:a16="http://schemas.microsoft.com/office/drawing/2014/main" id="{B76FA5E4-B6C8-43B1-871F-4C2029154E8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591175" y="5353050"/>
            <a:ext cx="59912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[Figure caption and source credit]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tivity steps title 0">
            <a:extLst>
              <a:ext uri="{FF2B5EF4-FFF2-40B4-BE49-F238E27FC236}">
                <a16:creationId xmlns:a16="http://schemas.microsoft.com/office/drawing/2014/main" id="{4A75A923-A588-498D-8C3D-05C7B27BD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[Activity title]</a:t>
            </a:r>
          </a:p>
        </p:txBody>
      </p:sp>
      <p:sp>
        <p:nvSpPr>
          <p:cNvPr id="2" name="Activity steps body 1">
            <a:extLst>
              <a:ext uri="{FF2B5EF4-FFF2-40B4-BE49-F238E27FC236}">
                <a16:creationId xmlns:a16="http://schemas.microsoft.com/office/drawing/2014/main" id="{F15A3904-D261-4581-891D-0D974E46F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24075"/>
            <a:ext cx="10972800" cy="3333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setup.]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measurement and units.]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[Explain how to record the result.]</a:t>
            </a:r>
          </a:p>
        </p:txBody>
      </p:sp>
      <p:sp>
        <p:nvSpPr>
          <p:cNvPr id="3" name="Activity steps body 2">
            <a:extLst>
              <a:ext uri="{FF2B5EF4-FFF2-40B4-BE49-F238E27FC236}">
                <a16:creationId xmlns:a16="http://schemas.microsoft.com/office/drawing/2014/main" id="{332D626C-8C62-4762-8A19-77DFBBDD378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5581650"/>
            <a:ext cx="109728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[Add relevant safety or supervision instructions.]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a or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a or visual title 0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[Observation or result]</a:t>
            </a:r>
          </a:p>
        </p:txBody>
      </p:sp>
      <p:sp>
        <p:nvSpPr>
          <p:cNvPr id="2" name="Data or visual content 1">
            <a:extLst>
              <a:ext uri="{FF2B5EF4-FFF2-40B4-BE49-F238E27FC236}">
                <a16:creationId xmlns:a16="http://schemas.microsoft.com/office/drawing/2014/main" id="{3A617E8B-975F-4DBD-9A97-0A174C276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95500"/>
            <a:ext cx="10972800" cy="3219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[Insert a graph, table, or image]</a:t>
            </a:r>
          </a:p>
        </p:txBody>
      </p:sp>
      <p:sp>
        <p:nvSpPr>
          <p:cNvPr id="3" name="Data or visual body 2">
            <a:extLst>
              <a:ext uri="{FF2B5EF4-FFF2-40B4-BE49-F238E27FC236}">
                <a16:creationId xmlns:a16="http://schemas.microsoft.com/office/drawing/2014/main" id="{DFE3AC5B-7812-46A8-BB38-963FC170FFF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5457825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evidence. Include units, a caption, and source credits.]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cussion and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scussion and reflection title 0">
            <a:extLst>
              <a:ext uri="{FF2B5EF4-FFF2-40B4-BE49-F238E27FC236}">
                <a16:creationId xmlns:a16="http://schemas.microsoft.com/office/drawing/2014/main" id="{1A0C5B13-4DC7-4BB2-8032-5A8419832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What did we learn?</a:t>
            </a:r>
          </a:p>
        </p:txBody>
      </p:sp>
      <p:sp>
        <p:nvSpPr>
          <p:cNvPr id="2" name="Discussion and reflection body 1">
            <a:extLst>
              <a:ext uri="{FF2B5EF4-FFF2-40B4-BE49-F238E27FC236}">
                <a16:creationId xmlns:a16="http://schemas.microsoft.com/office/drawing/2014/main" id="{73737ED5-7D24-4242-A1DB-9FC8EF99D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24075"/>
            <a:ext cx="10972800" cy="3467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pattern do the results show?]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evidence supports your explanation?]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would you investigate next?]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WVU DSPIR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VU navy banner">
            <a:extLst>
              <a:ext uri="{FF2B5EF4-FFF2-40B4-BE49-F238E27FC236}">
                <a16:creationId xmlns:a16="http://schemas.microsoft.com/office/drawing/2014/main" id="{6D4F5CCA-FF43-4F29-8399-ACE93C08BC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02855"/>
          </a:solidFill>
          <a:ln w="0">
            <a:noFill/>
          </a:ln>
        </p:spPr>
      </p:sp>
      <p:sp>
        <p:nvSpPr>
          <p:cNvPr id="2" name="WVU gold rule">
            <a:extLst>
              <a:ext uri="{FF2B5EF4-FFF2-40B4-BE49-F238E27FC236}">
                <a16:creationId xmlns:a16="http://schemas.microsoft.com/office/drawing/2014/main" id="{B7F9BFBD-7E36-451D-96E5-BC2ED296FC2E}"/>
              </a:ext>
            </a:extLst>
          </p:cNvPr>
          <p:cNvSpPr>
            <a:spLocks noGrp="1"/>
          </p:cNvSpPr>
          <p:nvPr/>
        </p:nvSpPr>
        <p:spPr>
          <a:xfrm>
            <a:off x="0" y="552450"/>
            <a:ext cx="12192000" cy="38100"/>
          </a:xfrm>
          <a:prstGeom prst="rect">
            <a:avLst/>
          </a:prstGeom>
          <a:solidFill>
            <a:srgbClr val="EEAA00"/>
          </a:solidFill>
          <a:ln w="0">
            <a:noFill/>
          </a:ln>
        </p:spPr>
      </p:sp>
      <p:sp>
        <p:nvSpPr>
          <p:cNvPr id="3" name="WVU DSPIRA brand">
            <a:extLst>
              <a:ext uri="{FF2B5EF4-FFF2-40B4-BE49-F238E27FC236}">
                <a16:creationId xmlns:a16="http://schemas.microsoft.com/office/drawing/2014/main" id="{81DC7FEE-6B94-4036-9AF5-8A342A05842A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4" name="University name">
            <a:extLst>
              <a:ext uri="{FF2B5EF4-FFF2-40B4-BE49-F238E27FC236}">
                <a16:creationId xmlns:a16="http://schemas.microsoft.com/office/drawing/2014/main" id="{86DE04A2-939A-456D-B0E1-0BD64EC5EF56}"/>
              </a:ext>
            </a:extLst>
          </p:cNvPr>
          <p:cNvSpPr>
            <a:spLocks noGrp="1"/>
          </p:cNvSpPr>
          <p:nvPr/>
        </p:nvSpPr>
        <p:spPr>
          <a:xfrm>
            <a:off x="7715250" y="161925"/>
            <a:ext cx="40195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r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  <p:sp>
        <p:nvSpPr>
          <p:cNvPr id="5" name="Website">
            <a:extLst>
              <a:ext uri="{FF2B5EF4-FFF2-40B4-BE49-F238E27FC236}">
                <a16:creationId xmlns:a16="http://schemas.microsoft.com/office/drawing/2014/main" id="{1895C86C-2B15-4605-AD65-E205FDC66179}"/>
              </a:ext>
            </a:extLst>
          </p:cNvPr>
          <p:cNvSpPr>
            <a:spLocks noGrp="1"/>
          </p:cNvSpPr>
          <p:nvPr/>
        </p:nvSpPr>
        <p:spPr>
          <a:xfrm>
            <a:off x="457200" y="6372225"/>
            <a:ext cx="4095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1200" b="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>rail.wvu.edu/dspira</a:t>
            </a:r>
          </a:p>
        </p:txBody>
      </p:sp>
      <p:sp>
        <p:nvSpPr>
          <p:cNvPr id="6" name="Automatic slide number">
            <a:extLst>
              <a:ext uri="{FF2B5EF4-FFF2-40B4-BE49-F238E27FC236}">
                <a16:creationId xmlns:a16="http://schemas.microsoft.com/office/drawing/2014/main" id="{4AD0E30E-B026-44BD-ABE4-8BF1D7897EFE}"/>
              </a:ext>
            </a:extLst>
          </p:cNvPr>
          <p:cNvSpPr>
            <a:spLocks noGrp="1"/>
          </p:cNvSpPr>
          <p:nvPr/>
        </p:nvSpPr>
        <p:spPr>
          <a:xfrm>
            <a:off x="10953750" y="6372225"/>
            <a:ext cx="78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r">
              <a:defRPr sz="1200" b="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fld id="{018D423B-F0A3-4876-8334-4B6CD5BE88A3}" type="slidenum">
              <a:rPr sz="1200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>‹#›</a:t>
            </a:fld>
            <a:endParaRPr sz="1200" b="0">
              <a:solidFill>
                <a:srgbClr val="454545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/ppt/slideLayouts/slideLayout5.xml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/ppt/slideLayouts/slideLayout5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/ppt/slideLayouts/slideLayout5.xml"/></Relationships>
</file>

<file path=ppt/slides/_rels/slide4.xml.rels><?xml version='1.0' encoding='UTF-8' standalone='yes'?>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/ppt/slideLayouts/slideLayout5.xml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/ppt/slideLayouts/slideLayout5.xml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/ppt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Mixing = modulation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63105A-DA44-495B-9354-6A01C688DCA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09600" y="2095500"/>
                <a:ext cx="6096000" cy="4064000"/>
              </a:xfrm>
            </p:spPr>
            <p:txBody>
              <a:bodyPr anchor="t" lIns="0" rIns="0">
                <a:noAutofit/>
              </a:bodyPr>
              <a:lstStyle/>
              <a:p>
                <a:r>
                  <a:rPr lang="en-US" sz="2200">
                    <a:solidFill>
                      <a:srgbClr val="000000"/>
                    </a:solidFill>
                  </a:rPr>
                  <a:t>A low pass signal (described by low frequencies) such as voice and video cannot be sent from New York to Seattle. </a:t>
                </a:r>
              </a:p>
              <a:p>
                <a:r>
                  <a:rPr lang="en-US" sz="2200">
                    <a:solidFill>
                      <a:srgbClr val="000000"/>
                    </a:solidFill>
                  </a:rPr>
                  <a:t>In fact, voice loses power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f>
                      <m:f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200">
                    <a:solidFill>
                      <a:srgbClr val="000000"/>
                    </a:solidFill>
                  </a:rPr>
                  <a:t> (you cannot hear me speaking if you are 30 meters away)</a:t>
                </a:r>
              </a:p>
              <a:p>
                <a:r>
                  <a:rPr lang="en-US" sz="2200">
                    <a:solidFill>
                      <a:srgbClr val="000000"/>
                    </a:solidFill>
                  </a:rPr>
                  <a:t>The fact that voice dissipates indicates that the environment (air) is resistant to low frequencies. </a:t>
                </a:r>
              </a:p>
              <a:p>
                <a:r>
                  <a:rPr lang="en-US" sz="2200">
                    <a:solidFill>
                      <a:srgbClr val="000000"/>
                    </a:solidFill>
                  </a:rPr>
                  <a:t>We can transmit voice as is, but we will need an antenna of size 10-100 km. 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63105A-DA44-495B-9354-6A01C688DC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240" y="3107513"/>
                <a:ext cx="4266116" cy="1816312"/>
              </a:xfrm>
              <a:blipFill>
                <a:blip r:embed="rId2"/>
                <a:stretch>
                  <a:fillRect l="-1179" t="-2185"/>
                </a:stretch>
              </a:blipFill>
            </p:spPr>
            <p:txBody>
              <a:bodyPr/>
              <a:lstStyle/>
              <a:p>
                <a:r>
                  <a:rPr lang="en-US" sz="2200">
                    <a:solidFill>
                      <a:srgbClr val="000000"/>
                    </a:solidFill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boat on a body of water with a city in the background&#10;&#10;Description generated with very high confidence">
            <a:extLst>
              <a:ext uri="{FF2B5EF4-FFF2-40B4-BE49-F238E27FC236}">
                <a16:creationId xmlns:a16="http://schemas.microsoft.com/office/drawing/2014/main" id="{7C2E1300-7685-4906-99B9-5DDB3AF21D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4"/>
          <a:stretch/>
        </p:blipFill>
        <p:spPr>
          <a:xfrm>
            <a:off x="7115479" y="2095500"/>
            <a:ext cx="2779280" cy="1571695"/>
          </a:xfrm>
          <a:prstGeom prst="rect">
            <a:avLst/>
          </a:prstGeom>
        </p:spPr>
      </p:pic>
      <p:pic>
        <p:nvPicPr>
          <p:cNvPr id="7" name="Picture 6" descr="A view of a city with tall buildings in the background&#10;&#10;Description generated with very high confidence">
            <a:extLst>
              <a:ext uri="{FF2B5EF4-FFF2-40B4-BE49-F238E27FC236}">
                <a16:creationId xmlns:a16="http://schemas.microsoft.com/office/drawing/2014/main" id="{51CF666E-8AE4-49F5-BD63-2974CABF89E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07" r="8674" b="1"/>
          <a:stretch/>
        </p:blipFill>
        <p:spPr>
          <a:xfrm>
            <a:off x="7115479" y="3829463"/>
            <a:ext cx="2779281" cy="233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739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How to overcome the resistance of the air?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B0AFD-D58A-4575-B951-D1B39143E47C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4699000" cy="4064000"/>
          </a:xfrm>
        </p:spPr>
        <p:txBody>
          <a:bodyPr lIns="0" rIns="0" tIns="0" bIns="0" anchor="t">
            <a:noAutofit/>
          </a:bodyPr>
          <a:lstStyle/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2200" dirty="0">
                <a:solidFill>
                  <a:srgbClr val="000000"/>
                </a:solidFill>
              </a:rPr>
              <a:t>Air (channel) acts as a band pass filter. </a:t>
            </a:r>
          </a:p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2200" dirty="0">
                <a:solidFill>
                  <a:srgbClr val="000000"/>
                </a:solidFill>
              </a:rPr>
              <a:t>Voice, video, etc. are low pass signals.  </a:t>
            </a:r>
          </a:p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2200" dirty="0">
                <a:solidFill>
                  <a:srgbClr val="000000"/>
                </a:solidFill>
              </a:rPr>
              <a:t>To pass voice over channel, we need to translate voice to medium frequency. </a:t>
            </a:r>
          </a:p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2200" dirty="0">
                <a:solidFill>
                  <a:srgbClr val="000000"/>
                </a:solidFill>
              </a:rPr>
              <a:t>This is done through modulation (mixing).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8406AA-5682-47DE-A9E8-81B288B5C6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75" r="23417" b="2"/>
          <a:stretch/>
        </p:blipFill>
        <p:spPr>
          <a:xfrm>
            <a:off x="5773149" y="2095500"/>
            <a:ext cx="3741133" cy="4064000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66176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How do we do this?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F40A7-C9F5-4568-80AB-D61B8BD5C9A6}"/>
              </a:ext>
            </a:extLst>
          </p:cNvPr>
          <p:cNvSpPr>
            <a:spLocks noGrp="1"/>
          </p:cNvSpPr>
          <p:nvPr/>
        </p:nvSpPr>
        <p:spPr>
          <a:xfrm>
            <a:off x="969264" y="2095500"/>
            <a:ext cx="5181600" cy="487807"/>
          </a:xfrm>
        </p:spPr>
        <p:txBody>
          <a:bodyPr lIns="0" rIns="0" tIns="0" bIns="0"/>
          <a:lstStyle/>
          <a:p>
            <a:pPr marL="0" indent="0">
              <a:buNone/>
              <a:defRPr sz="2240">
                <a:latin typeface="Arial"/>
              </a:defRPr>
            </a:pPr>
            <a:r>
              <a:rPr lang="en-US" dirty="0"/>
              <a:t>We want: </a:t>
            </a:r>
          </a:p>
          <a:p>
            <a:pPr>
              <a:defRPr sz="2240">
                <a:latin typeface="Arial"/>
              </a:defRPr>
            </a:pPr>
            <a:endParaRPr lang="en-US" dirty="0"/>
          </a:p>
          <a:p>
            <a:pPr>
              <a:defRPr sz="2240">
                <a:latin typeface="Arial"/>
              </a:defRPr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2A5B734-C4B8-4719-B216-FA9A327DBD8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18032" y="3735958"/>
                <a:ext cx="10204704" cy="228669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Mathematically it is described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By duality property, the FT of the modulated signal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Passes through environment!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2A5B734-C4B8-4719-B216-FA9A327DBD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032" y="3735958"/>
                <a:ext cx="10204704" cy="2286699"/>
              </a:xfrm>
              <a:blipFill>
                <a:blip r:embed="rId2"/>
                <a:stretch>
                  <a:fillRect l="-1254" t="-3864" b="-3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CDFB9F7-F656-4DEF-9EBB-34F6B2281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7427" y="2095500"/>
            <a:ext cx="7341770" cy="17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082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Demodulation (how to extract voice from modulated signal?)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A4CBE9-CAD0-4F11-9E70-65072DD176F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973139" y="4965589"/>
                <a:ext cx="5203910" cy="1068971"/>
              </a:xfr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r>
                  <a:rPr lang="en-US" sz="1061">
                    <a:solidFill>
                      <a:srgbClr val="000000"/>
                    </a:solidFill>
                  </a:rPr>
                  <a:t>Multiply the modulated signal by the same cosine function. </a:t>
                </a:r>
              </a:p>
              <a:p>
                <a:pPr marL="0"/>
                <a14:m>
                  <m:oMath xmlns:m="http://schemas.openxmlformats.org/officeDocument/2006/math">
                    <m:sSub>
                      <m:sSubPr>
                        <m:ctrlPr>
                          <a:rPr lang="en-US" sz="106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61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061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061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061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061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)×</m:t>
                    </m:r>
                    <m:r>
                      <m:rPr>
                        <m:sty m:val="p"/>
                      </m:rPr>
                      <a:rPr lang="en-US" sz="1061" b="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1061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⁡(2</m:t>
                    </m:r>
                    <m:r>
                      <a:rPr lang="en-US" sz="1061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sSub>
                      <m:sSubPr>
                        <m:ctrlPr>
                          <a:rPr lang="en-US" sz="1061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61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061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061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061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061">
                  <a:solidFill>
                    <a:srgbClr val="000000"/>
                  </a:solidFill>
                </a:endParaRPr>
              </a:p>
              <a:p>
                <a:r>
                  <a:rPr lang="en-US" sz="1061">
                    <a:solidFill>
                      <a:srgbClr val="000000"/>
                    </a:solidFill>
                  </a:rPr>
                  <a:t>Pass the result through a low pass filter (set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6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61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061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𝑐𝑢𝑡𝑜𝑓𝑓</m:t>
                        </m:r>
                      </m:sub>
                    </m:sSub>
                    <m:r>
                      <a:rPr lang="en-US" sz="1061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61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1061">
                    <a:solidFill>
                      <a:srgbClr val="000000"/>
                    </a:solidFill>
                  </a:rPr>
                  <a:t>)</a:t>
                </a:r>
              </a:p>
              <a:p>
                <a:r>
                  <a:rPr lang="en-US" sz="1061">
                    <a:solidFill>
                      <a:srgbClr val="000000"/>
                    </a:solidFill>
                  </a:rPr>
                  <a:t>Amplify the signal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A4CBE9-CAD0-4F11-9E70-65072DD176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139" y="4965589"/>
                <a:ext cx="5203910" cy="1068971"/>
              </a:xfrm>
              <a:blipFill>
                <a:blip r:embed="rId2"/>
                <a:stretch>
                  <a:fillRect l="-457" t="-1667"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80C1C622-0F04-4BE8-9DFB-D7E7EE69D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951" y="2095500"/>
            <a:ext cx="7810290" cy="2329619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E272F12-AF86-441A-BC1B-C014BBBF85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786666" y="5446424"/>
            <a:ext cx="0" cy="713076"/>
          </a:xfrm>
          <a:prstGeom prst="line">
            <a:avLst/>
          </a:prstGeom>
          <a:ln w="19050">
            <a:solidFill>
              <a:schemeClr val="bg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116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A random experiment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7F0E8-ACD8-4C2D-A775-D4791E8CC6DD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6096000" cy="4064000"/>
          </a:xfrm>
        </p:spPr>
        <p:txBody>
          <a:bodyPr lIns="0" rIns="0" tIns="0" bIns="0" anchor="t">
            <a:noAutofit/>
          </a:bodyPr>
          <a:lstStyle/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2200">
                <a:solidFill>
                  <a:srgbClr val="000000"/>
                </a:solidFill>
              </a:rPr>
              <a:t>Random experiment = outcome cannot be predicted</a:t>
            </a:r>
          </a:p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2200">
                <a:solidFill>
                  <a:srgbClr val="000000"/>
                </a:solidFill>
              </a:rPr>
              <a:t>Example: Bow and arrows (2d target)</a:t>
            </a:r>
          </a:p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2200">
                <a:solidFill>
                  <a:srgbClr val="000000"/>
                </a:solidFill>
              </a:rPr>
              <a:t>Outcomes and their probabilities = weights (how often do we observe an outcome?)</a:t>
            </a:r>
          </a:p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2200">
                <a:solidFill>
                  <a:srgbClr val="000000"/>
                </a:solidFill>
              </a:rPr>
              <a:t>Fit a 2D function into the point on the target and look at the slice – it is a Gaussian bell. </a:t>
            </a:r>
          </a:p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endParaRPr lang="en-US" sz="2200">
              <a:solidFill>
                <a:srgbClr val="000000"/>
              </a:solidFill>
            </a:endParaRPr>
          </a:p>
        </p:txBody>
      </p:sp>
      <p:pic>
        <p:nvPicPr>
          <p:cNvPr id="10" name="Picture 9" descr="A close up of a map&#10;&#10;Description generated with high confidence">
            <a:extLst>
              <a:ext uri="{FF2B5EF4-FFF2-40B4-BE49-F238E27FC236}">
                <a16:creationId xmlns:a16="http://schemas.microsoft.com/office/drawing/2014/main" id="{2C96D434-F6C1-4986-BDD3-4F075CE4DD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6288" y="2095500"/>
            <a:ext cx="2158772" cy="16244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F48D54-B5B9-4118-A535-367500944A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773" y="3861407"/>
            <a:ext cx="2872616" cy="229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622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Gaussian probability density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595A3D-CBD8-49CF-8FB8-26EAF49F2C3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29662" y="2095500"/>
                <a:ext cx="9932676" cy="4064000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The bell is mathematically described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are mean and variance of this random variable. </a:t>
                </a:r>
              </a:p>
              <a:p>
                <a:r>
                  <a:rPr lang="en-US" dirty="0"/>
                  <a:t>Noise due to a receiver (telescope or antenna) is Gaussian. </a:t>
                </a:r>
              </a:p>
              <a:p>
                <a:r>
                  <a:rPr lang="en-US" dirty="0"/>
                  <a:t>Its mean is zero.  </a:t>
                </a:r>
              </a:p>
              <a:p>
                <a:r>
                  <a:rPr lang="en-US" dirty="0"/>
                  <a:t>Its variance can be estimated by using multiple measurements of the noise: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595A3D-CBD8-49CF-8FB8-26EAF49F2C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662" y="2095500"/>
                <a:ext cx="9932676" cy="4064000"/>
              </a:xfrm>
              <a:blipFill>
                <a:blip r:embed="rId2"/>
                <a:stretch>
                  <a:fillRect l="-928" t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95743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-ready.pptx" id="{6D5A5D80-B59F-47FE-A006-FBFC2926142F}" vid="{69CEE3E8-36C9-43B0-A0FB-27FA92D72A34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363</Words>
  <Application>Microsoft Office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Tw Cen MT</vt:lpstr>
      <vt:lpstr>Office Theme</vt:lpstr>
      <vt:lpstr>Mixing = modulation</vt:lpstr>
      <vt:lpstr>How to overcome the resistance of the air?</vt:lpstr>
      <vt:lpstr>How do we do this?</vt:lpstr>
      <vt:lpstr>Demodulation (how to extract voice from modulated signal?) </vt:lpstr>
      <vt:lpstr>A random experiment</vt:lpstr>
      <vt:lpstr>Gaussian probability density function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Mixing and modulation (2018 edition)</dc:title>
  <dc:creator>Natalia Schmid</dc:creator>
  <cp:lastModifiedBy>WVU DSPIRA</cp:lastModifiedBy>
  <cp:revision>17</cp:revision>
  <dcterms:created xsi:type="dcterms:W3CDTF">2018-07-11T19:01:07Z</dcterms:created>
  <dcterms:modified xsi:type="dcterms:W3CDTF">2018-07-11T20:34:24Z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0x01010016C36F108F9F92488C988DDF36346911</vt:lpwstr>
  </property>
</Properties>
</file>