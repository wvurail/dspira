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ustomXml/itemProps2.xml" ContentType="application/vnd.openxmlformats-officedocument.customXmlProperties+xml"/>
  <Override PartName="/ppt/customXml/itemProps1.xml" ContentType="application/vnd.openxmlformats-officedocument.customXmlProperties+xml"/>
  <Override PartName="/ppt/customXml/itemProps3.xml" ContentType="application/vnd.openxmlformats-officedocument.customXml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WvuMaster"/>
  </p:sldMasterIdLst>
  <p:notesMasterIdLst>
    <p:notesMasterId r:id="rId12"/>
  </p:notesMasterIdLst>
  <p:handoutMasterIdLst>
    <p:handoutMasterId r:id="rId13"/>
  </p:handoutMasterIdLst>
  <p:sldIdLst>
    <p:sldId id="261" r:id="rId2"/>
    <p:sldId id="262" r:id="rId3"/>
    <p:sldId id="263" r:id="rId4"/>
    <p:sldId id="264" r:id="rId5"/>
    <p:sldId id="265" r:id="rId6"/>
    <p:sldId id="258" r:id="rId7"/>
    <p:sldId id="259" r:id="rId8"/>
    <p:sldId id="257" r:id="rId9"/>
    <p:sldId id="256" r:id="rId10"/>
    <p:sldId id="260" r:id="rId1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13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customXml" Target="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customXml/item3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WvuMaster" Type="http://schemas.openxmlformats.org/officeDocument/2006/relationships/slideMaster" Target="slideMasters/slideMaster1.xml"/></Relationships>
</file>

<file path=ppt/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C36F108F9F92488C988DDF36346911" ma:contentTypeVersion="5" ma:contentTypeDescription="Create a new document." ma:contentTypeScope="" ma:versionID="c417924321fef32731141cd966ef6f94">
  <xsd:schema xmlns:xsd="http://www.w3.org/2001/XMLSchema" xmlns:xs="http://www.w3.org/2001/XMLSchema" xmlns:p="http://schemas.microsoft.com/office/2006/metadata/properties" xmlns:ns2="1bb24863-89de-455f-aabf-4424925aa312" targetNamespace="http://schemas.microsoft.com/office/2006/metadata/properties" ma:root="true" ma:fieldsID="a7d3b2212d350eb904df17fc79fef4f4" ns2:_="">
    <xsd:import namespace="1bb24863-89de-455f-aabf-4424925aa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24863-89de-455f-aabf-4424925aa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ppt/customXml/itemProps1.xml><?xml version="1.0" encoding="utf-8"?>
<ds:datastoreItem xmlns:ds="http://schemas.openxmlformats.org/officeDocument/2006/customXml" ds:itemID="{05919B30-49AC-47DE-A348-34F7E817606E}"/>
</file>

<file path=ppt/customXml/itemProps2.xml><?xml version="1.0" encoding="utf-8"?>
<ds:datastoreItem xmlns:ds="http://schemas.openxmlformats.org/officeDocument/2006/customXml" ds:itemID="{A217FCB8-3C21-47EA-BD28-F986766CF26D}"/>
</file>

<file path=ppt/customXml/itemProps3.xml><?xml version="1.0" encoding="utf-8"?>
<ds:datastoreItem xmlns:ds="http://schemas.openxmlformats.org/officeDocument/2006/customXml" ds:itemID="{8DCA140A-81BB-40DD-957A-904D2F637921}"/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r">
              <a:defRPr sz="1300"/>
            </a:lvl1pPr>
          </a:lstStyle>
          <a:p>
            <a:fld id="{A762A31C-FAB7-43E4-82F9-29A8258EC388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r">
              <a:defRPr sz="1300"/>
            </a:lvl1pPr>
          </a:lstStyle>
          <a:p>
            <a:fld id="{6B591747-D08B-4660-9B04-ABBB69B2B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19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/>
          <a:lstStyle>
            <a:lvl1pPr algn="r">
              <a:defRPr sz="1300"/>
            </a:lvl1pPr>
          </a:lstStyle>
          <a:p>
            <a:fld id="{FA5B1346-1967-40F5-995E-93A0D52B5323}" type="datetimeFigureOut">
              <a:rPr lang="en-US" smtClean="0"/>
              <a:pPr/>
              <a:t>7/11/2018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2188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9" tIns="48325" rIns="96649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9" tIns="48325" rIns="96649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9" tIns="48325" rIns="96649" bIns="48325" rtlCol="0" anchor="b"/>
          <a:lstStyle>
            <a:lvl1pPr algn="r">
              <a:defRPr sz="1300"/>
            </a:lvl1pPr>
          </a:lstStyle>
          <a:p>
            <a:fld id="{6B020B43-94CA-4726-BE19-C192C628E7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47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20B43-94CA-4726-BE19-C192C628E76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9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20B43-94CA-4726-BE19-C192C628E76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1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/ppt/slideLayouts/slideLayout5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/ppt/slideLayouts/slideLayout5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/ppt/slideLayouts/slideLayout5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/ppt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/ppt/slideLayouts/slideLayout5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/ppt/slideLayouts/slideLayout5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en.wikipedia.org/wiki/Moir%C3%A9_pattern" TargetMode="External"/><Relationship Id="rId1" Type="http://schemas.openxmlformats.org/officeDocument/2006/relationships/slideLayout" Target="/ppt/slideLayouts/slideLayout5.xml"/><Relationship Id="rId4" Type="http://schemas.openxmlformats.org/officeDocument/2006/relationships/image" Target="../media/image6.jpe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/ppt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Ideal Sampling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53185" y="3492186"/>
            <a:ext cx="0" cy="2667314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A945F-0473-4D81-94A8-0FE50937FC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87811" y="2095500"/>
                <a:ext cx="4651003" cy="2612485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indent="-228600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1634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34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34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34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34" dirty="0"/>
                  <a:t> is a low pass signal (a smooth function)</a:t>
                </a:r>
              </a:p>
              <a:p>
                <a:pPr indent="-228600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1634" b="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34" dirty="0"/>
                  <a:t> is its bandwidth (all frequencies describing </a:t>
                </a:r>
                <a14:m>
                  <m:oMath xmlns:m="http://schemas.openxmlformats.org/officeDocument/2006/math">
                    <m:r>
                      <a:rPr lang="en-US" sz="1634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34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34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3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34" dirty="0"/>
                  <a:t>)</a:t>
                </a:r>
              </a:p>
              <a:p>
                <a:pPr indent="-228600">
                  <a:lnSpc>
                    <a:spcPct val="90000"/>
                  </a:lnSpc>
                </a:pPr>
                <a:r>
                  <a:rPr lang="en-US" sz="1634" dirty="0"/>
                  <a:t>Ideal sampling is performed by multiplying </a:t>
                </a:r>
                <a14:m>
                  <m:oMath xmlns:m="http://schemas.openxmlformats.org/officeDocument/2006/math">
                    <m:r>
                      <a:rPr lang="en-US" sz="1634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34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34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3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34" dirty="0"/>
                  <a:t> with a Dirac delta train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3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34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34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634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34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34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34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34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34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34" b="0" i="1">
                          <a:latin typeface="Cambria Math" panose="02040503050406030204" pitchFamily="18" charset="0"/>
                        </a:rPr>
                        <m:t>)×</m:t>
                      </m:r>
                      <m:nary>
                        <m:naryPr>
                          <m:chr m:val="∑"/>
                          <m:ctrlPr>
                            <a:rPr lang="en-US" sz="1634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34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34" b="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634" b="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sz="1634" b="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634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34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34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34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1634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34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634" b="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634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1634" dirty="0"/>
                  <a:t>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3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34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34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34" dirty="0"/>
                  <a:t> is a sampling interval. </a:t>
                </a:r>
              </a:p>
              <a:p>
                <a:pPr marL="0" indent="-228600">
                  <a:lnSpc>
                    <a:spcPct val="90000"/>
                  </a:lnSpc>
                </a:pPr>
                <a:endParaRPr lang="en-US" sz="1634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A945F-0473-4D81-94A8-0FE50937F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811" y="2095500"/>
                <a:ext cx="4651003" cy="261248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17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80BE0-D0AF-4324-8596-70ECFB209E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06604" y="2095500"/>
                <a:ext cx="6778791" cy="2327822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indent="-228600">
                  <a:lnSpc>
                    <a:spcPct val="90000"/>
                  </a:lnSpc>
                </a:pPr>
                <a:r>
                  <a:rPr lang="en-US" sz="1444" b="0" dirty="0"/>
                  <a:t>Signal as a function of time: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44" b="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444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44" b="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44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44" b="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44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44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44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m:rPr>
                                  <m:sty m:val="p"/>
                                </m:rPr>
                                <a:rPr lang="en-US" sz="1444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US" sz="1444" b="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en-US" sz="1444" b="0" i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1444" b="0" i="0">
                          <a:latin typeface="Cambria Math" panose="02040503050406030204" pitchFamily="18" charset="0"/>
                        </a:rPr>
                        <m:t>(6</m:t>
                      </m:r>
                      <m:r>
                        <m:rPr>
                          <m:sty m:val="p"/>
                        </m:rPr>
                        <a:rPr lang="en-US" sz="1444" b="0" i="1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sz="1444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44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44" dirty="0"/>
              </a:p>
              <a:p>
                <a:pPr indent="-228600">
                  <a:lnSpc>
                    <a:spcPct val="90000"/>
                  </a:lnSpc>
                </a:pPr>
                <a:r>
                  <a:rPr lang="en-US" sz="1444" dirty="0"/>
                  <a:t>Its Fourier transform: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44" b="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1444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444" b="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44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44" b="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444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±1</m:t>
                          </m:r>
                        </m:e>
                      </m:d>
                      <m:r>
                        <a:rPr lang="en-US" sz="1444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44" b="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444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44" b="0" i="1">
                              <a:latin typeface="Cambria Math" panose="02040503050406030204" pitchFamily="18" charset="0"/>
                            </a:rPr>
                            <m:t>±3</m:t>
                          </m:r>
                        </m:e>
                      </m:d>
                    </m:oMath>
                  </m:oMathPara>
                </a14:m>
                <a:endParaRPr lang="en-US" sz="1444" dirty="0"/>
              </a:p>
              <a:p>
                <a:pPr indent="-228600">
                  <a:lnSpc>
                    <a:spcPct val="90000"/>
                  </a:lnSpc>
                </a:pPr>
                <a:r>
                  <a:rPr lang="en-US" sz="1444" dirty="0"/>
                  <a:t>If we treat it as a low pass signal (described by low frequencies), then its bandwidth is </a:t>
                </a:r>
                <a:r>
                  <a:rPr lang="en-US" sz="1444" i="1" dirty="0"/>
                  <a:t> </a:t>
                </a:r>
                <a14:m>
                  <m:oMath xmlns:m="http://schemas.openxmlformats.org/officeDocument/2006/math">
                    <m:r>
                      <a:rPr lang="en-US" sz="1444" b="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444" b="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444" dirty="0"/>
                  <a:t>.</a:t>
                </a:r>
              </a:p>
              <a:p>
                <a:pPr indent="-228600">
                  <a:lnSpc>
                    <a:spcPct val="90000"/>
                  </a:lnSpc>
                </a:pPr>
                <a:r>
                  <a:rPr lang="en-US" sz="1444" dirty="0"/>
                  <a:t>Let us sample the signal at the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4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44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444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444" b="0" i="1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1444" dirty="0"/>
                  <a:t> Hz (the sampling period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4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44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44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444" b="0" i="1">
                        <a:latin typeface="Cambria Math" panose="02040503050406030204" pitchFamily="18" charset="0"/>
                      </a:rPr>
                      <m:t>=1/8</m:t>
                    </m:r>
                  </m:oMath>
                </a14:m>
                <a:r>
                  <a:rPr lang="en-US" sz="1444" dirty="0"/>
                  <a:t> s.  </a:t>
                </a:r>
              </a:p>
              <a:p>
                <a:pPr marL="0" indent="-228600">
                  <a:lnSpc>
                    <a:spcPct val="90000"/>
                  </a:lnSpc>
                </a:pPr>
                <a:endParaRPr lang="en-US" sz="1444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80BE0-D0AF-4324-8596-70ECFB209E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604" y="2095500"/>
                <a:ext cx="6778791" cy="2327822"/>
              </a:xfrm>
              <a:blipFill>
                <a:blip r:embed="rId2"/>
                <a:stretch>
                  <a:fillRect t="-1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71658-C03A-4876-8007-BFA909CC7250}"/>
              </a:ext>
            </a:extLst>
          </p:cNvPr>
          <p:cNvSpPr>
            <a:spLocks noGrp="1"/>
          </p:cNvSpPr>
          <p:nvPr/>
        </p:nvSpPr>
        <p:spPr>
          <a:xfrm>
            <a:off x="2706604" y="5845667"/>
            <a:ext cx="1768380" cy="313833"/>
          </a:xfrm>
        </p:spPr>
        <p:txBody>
          <a:bodyPr vert="horz" lIns="78595" tIns="39297" rIns="78595" bIns="39297" rtlCol="0" anchor="ctr">
            <a:normAutofit/>
          </a:bodyPr>
          <a:lstStyle/>
          <a:p>
            <a:pPr>
              <a:spcAft>
                <a:spcPts val="600"/>
              </a:spcAft>
              <a:defRPr sz="825">
                <a:latin typeface="Arial"/>
              </a:defRPr>
            </a:pPr>
            <a:r>
              <a:rPr lang="en-US"/>
              <a:t>4/05/2013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F9749-553E-4ABC-B237-B3F7F362D9B4}"/>
              </a:ext>
            </a:extLst>
          </p:cNvPr>
          <p:cNvSpPr>
            <a:spLocks noGrp="1"/>
          </p:cNvSpPr>
          <p:nvPr/>
        </p:nvSpPr>
        <p:spPr>
          <a:xfrm>
            <a:off x="4769715" y="5845667"/>
            <a:ext cx="2652571" cy="313833"/>
          </a:xfrm>
        </p:spPr>
        <p:txBody>
          <a:bodyPr vert="horz" lIns="78595" tIns="39297" rIns="78595" bIns="39297" rtlCol="0" anchor="ctr">
            <a:normAutofit/>
          </a:bodyPr>
          <a:lstStyle/>
          <a:p>
            <a:pPr>
              <a:spcAft>
                <a:spcPts val="600"/>
              </a:spcAft>
              <a:defRPr sz="825">
                <a:latin typeface="Arial"/>
              </a:defRPr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rPr>
              <a:t>EE 329 </a:t>
            </a:r>
          </a:p>
        </p:txBody>
      </p:sp>
    </p:spTree>
    <p:extLst>
      <p:ext uri="{BB962C8B-B14F-4D97-AF65-F5344CB8AC3E}">
        <p14:creationId xmlns:p14="http://schemas.microsoft.com/office/powerpoint/2010/main" val="18972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Illustration</a:t>
            </a:r>
          </a:p>
        </p:txBody>
      </p:sp>
      <p:pic>
        <p:nvPicPr>
          <p:cNvPr id="9" name="Picture 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D89BFBFC-C100-4FFC-84BE-9DC642BB1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76" y="2095500"/>
            <a:ext cx="4014279" cy="333185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23431-5FB2-4FC2-AED6-061812578D97}"/>
              </a:ext>
            </a:extLst>
          </p:cNvPr>
          <p:cNvSpPr>
            <a:spLocks noGrp="1"/>
          </p:cNvSpPr>
          <p:nvPr/>
        </p:nvSpPr>
        <p:spPr>
          <a:xfrm>
            <a:off x="3168345" y="5893522"/>
            <a:ext cx="3256727" cy="265978"/>
          </a:xfrm>
          <a:noFill/>
        </p:spPr>
        <p:txBody>
          <a:bodyPr vert="horz" lIns="66610" tIns="33305" rIns="66610" bIns="33305" rtlCol="0" anchor="ctr">
            <a:normAutofit/>
          </a:bodyPr>
          <a:lstStyle/>
          <a:p>
            <a:pPr algn="l">
              <a:spcAft>
                <a:spcPts val="600"/>
              </a:spcAft>
              <a:defRPr sz="699">
                <a:latin typeface="Arial"/>
              </a:defRPr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rPr>
              <a:t>EE 329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B0938-D66F-4E27-B3B2-A0784AA10854}"/>
              </a:ext>
            </a:extLst>
          </p:cNvPr>
          <p:cNvSpPr>
            <a:spLocks noGrp="1"/>
          </p:cNvSpPr>
          <p:nvPr/>
        </p:nvSpPr>
        <p:spPr>
          <a:xfrm>
            <a:off x="7106871" y="5893522"/>
            <a:ext cx="1396886" cy="265978"/>
          </a:xfrm>
          <a:noFill/>
        </p:spPr>
        <p:txBody>
          <a:bodyPr vert="horz" lIns="66610" tIns="33305" rIns="66610" bIns="33305" rtlCol="0" anchor="ctr">
            <a:normAutofit/>
          </a:bodyPr>
          <a:lstStyle/>
          <a:p>
            <a:pPr algn="r">
              <a:spcAft>
                <a:spcPts val="600"/>
              </a:spcAft>
              <a:defRPr sz="699">
                <a:latin typeface="Arial"/>
              </a:defRPr>
            </a:pPr>
            <a:r>
              <a:rPr lang="en-US"/>
              <a:t>4/05/2013</a:t>
            </a:r>
          </a:p>
        </p:txBody>
      </p:sp>
    </p:spTree>
    <p:extLst>
      <p:ext uri="{BB962C8B-B14F-4D97-AF65-F5344CB8AC3E}">
        <p14:creationId xmlns:p14="http://schemas.microsoft.com/office/powerpoint/2010/main" val="52291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FT of sampled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A887F-EA03-4DEB-9BD4-7C3061C70C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06604" y="2095500"/>
                <a:ext cx="6778791" cy="2999643"/>
              </a:xfrm>
            </p:spPr>
            <p:txBody>
              <a:bodyPr vert="horz" lIns="91440" tIns="45720" rIns="91440" bIns="45720" rtlCol="0">
                <a:normAutofit lnSpcReduction="10000"/>
              </a:bodyPr>
              <a:lstStyle/>
              <a:p>
                <a:pPr indent="-228600">
                  <a:lnSpc>
                    <a:spcPct val="90000"/>
                  </a:lnSpc>
                </a:pPr>
                <a:r>
                  <a:rPr lang="en-US" dirty="0"/>
                  <a:t>FT of the sampled signal: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“*” stands for correlation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-228600">
                  <a:lnSpc>
                    <a:spcPct val="90000"/>
                  </a:lnSpc>
                </a:pPr>
                <a:r>
                  <a:rPr lang="en-US" dirty="0"/>
                  <a:t>It can also be written as: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Many copies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!</a:t>
                </a:r>
              </a:p>
              <a:p>
                <a:pPr indent="-228600">
                  <a:lnSpc>
                    <a:spcPct val="90000"/>
                  </a:lnSpc>
                </a:pPr>
                <a:endParaRPr lang="en-US" sz="1444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A887F-EA03-4DEB-9BD4-7C3061C70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604" y="2095500"/>
                <a:ext cx="6778791" cy="2999643"/>
              </a:xfrm>
              <a:blipFill>
                <a:blip r:embed="rId2"/>
                <a:stretch>
                  <a:fillRect l="-1546" t="-3622" b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8E82D-FACB-45BB-8812-25B42301A3AE}"/>
              </a:ext>
            </a:extLst>
          </p:cNvPr>
          <p:cNvSpPr>
            <a:spLocks noGrp="1"/>
          </p:cNvSpPr>
          <p:nvPr/>
        </p:nvSpPr>
        <p:spPr>
          <a:xfrm>
            <a:off x="2706604" y="5845667"/>
            <a:ext cx="1768380" cy="313833"/>
          </a:xfrm>
        </p:spPr>
        <p:txBody>
          <a:bodyPr vert="horz" lIns="78595" tIns="39297" rIns="78595" bIns="39297" rtlCol="0" anchor="ctr">
            <a:normAutofit/>
          </a:bodyPr>
          <a:lstStyle/>
          <a:p>
            <a:pPr>
              <a:spcAft>
                <a:spcPts val="600"/>
              </a:spcAft>
              <a:defRPr sz="825">
                <a:latin typeface="Arial"/>
              </a:defRPr>
            </a:pPr>
            <a:r>
              <a:rPr lang="en-US"/>
              <a:t>4/05/2013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265B2-3B06-4DEB-8360-5F89220D24E1}"/>
              </a:ext>
            </a:extLst>
          </p:cNvPr>
          <p:cNvSpPr>
            <a:spLocks noGrp="1"/>
          </p:cNvSpPr>
          <p:nvPr/>
        </p:nvSpPr>
        <p:spPr>
          <a:xfrm>
            <a:off x="4769715" y="5845667"/>
            <a:ext cx="2652571" cy="313833"/>
          </a:xfrm>
        </p:spPr>
        <p:txBody>
          <a:bodyPr vert="horz" lIns="78595" tIns="39297" rIns="78595" bIns="39297" rtlCol="0" anchor="ctr">
            <a:normAutofit/>
          </a:bodyPr>
          <a:lstStyle/>
          <a:p>
            <a:pPr>
              <a:spcAft>
                <a:spcPts val="600"/>
              </a:spcAft>
              <a:defRPr sz="825">
                <a:latin typeface="Arial"/>
              </a:defRPr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rPr>
              <a:t>EE 329 </a:t>
            </a:r>
          </a:p>
        </p:txBody>
      </p:sp>
    </p:spTree>
    <p:extLst>
      <p:ext uri="{BB962C8B-B14F-4D97-AF65-F5344CB8AC3E}">
        <p14:creationId xmlns:p14="http://schemas.microsoft.com/office/powerpoint/2010/main" val="1124874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Back to 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4E474-DABE-442B-816E-D98A462734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60523" y="3820542"/>
                <a:ext cx="3738100" cy="11950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126"/>
                  <a:t>FT of the sampled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26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126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26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26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126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126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126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26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126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m:rPr>
                                  <m:sty m:val="p"/>
                                </m:rPr>
                                <a:rPr lang="en-US" sz="1126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US" sz="1126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en-US" sz="1126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1126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26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 sz="1126" i="1"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sz="1126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126"/>
              </a:p>
              <a:p>
                <a:pPr marL="0" indent="0">
                  <a:buNone/>
                </a:pPr>
                <a:r>
                  <a:rPr lang="en-US" sz="1126"/>
                  <a:t>sampled at the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26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6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126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126" b="0" i="1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1126"/>
                  <a:t> Hz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26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26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126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126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26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126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126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126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126" b="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126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26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1126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26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126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1126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26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1126" i="1">
                                      <a:latin typeface="Cambria Math" panose="02040503050406030204" pitchFamily="18" charset="0"/>
                                    </a:rPr>
                                    <m:t>±1−</m:t>
                                  </m:r>
                                  <m:r>
                                    <a:rPr lang="en-US" sz="1126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126" b="0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  <m:r>
                                <a:rPr lang="en-US" sz="1126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126" b="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126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1126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26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1126" i="1">
                                      <a:latin typeface="Cambria Math" panose="02040503050406030204" pitchFamily="18" charset="0"/>
                                    </a:rPr>
                                    <m:t>±3−</m:t>
                                  </m:r>
                                  <m:r>
                                    <a:rPr lang="en-US" sz="1126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126" b="0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126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4E474-DABE-442B-816E-D98A462734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523" y="3820542"/>
                <a:ext cx="3738100" cy="1195044"/>
              </a:xfrm>
              <a:blipFill>
                <a:blip r:embed="rId2"/>
                <a:stretch>
                  <a:fillRect l="-1087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47D6721-BBE5-45DF-8742-C99E3FA09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523" y="2095500"/>
            <a:ext cx="3732543" cy="14277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52633-A310-4924-A6A7-389A19187286}"/>
              </a:ext>
            </a:extLst>
          </p:cNvPr>
          <p:cNvSpPr>
            <a:spLocks noGrp="1"/>
          </p:cNvSpPr>
          <p:nvPr/>
        </p:nvSpPr>
        <p:spPr>
          <a:xfrm>
            <a:off x="7617842" y="5889107"/>
            <a:ext cx="1208539" cy="270393"/>
          </a:xfrm>
        </p:spPr>
        <p:txBody>
          <a:bodyPr lIns="0" rIns="0" tIns="0" bIns="0">
            <a:normAutofit/>
          </a:bodyPr>
          <a:lstStyle/>
          <a:p>
            <a:pPr>
              <a:spcAft>
                <a:spcPts val="600"/>
              </a:spcAft>
              <a:defRPr sz="592">
                <a:latin typeface="Arial"/>
              </a:defRPr>
            </a:pPr>
            <a:r>
              <a:rPr lang="en-US" sz="592">
                <a:solidFill>
                  <a:prstClr val="black">
                    <a:tint val="75000"/>
                  </a:prstClr>
                </a:solidFill>
              </a:rPr>
              <a:t>4/05/2013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EFA0-F683-4D22-ABBE-7A9583A9DA82}"/>
              </a:ext>
            </a:extLst>
          </p:cNvPr>
          <p:cNvSpPr>
            <a:spLocks noGrp="1"/>
          </p:cNvSpPr>
          <p:nvPr/>
        </p:nvSpPr>
        <p:spPr>
          <a:xfrm>
            <a:off x="3365618" y="5889107"/>
            <a:ext cx="3899537" cy="270393"/>
          </a:xfrm>
        </p:spPr>
        <p:txBody>
          <a:bodyPr lIns="0" rIns="0" tIns="0" bIns="0">
            <a:normAutofit/>
          </a:bodyPr>
          <a:lstStyle/>
          <a:p>
            <a:pPr algn="l">
              <a:spcAft>
                <a:spcPts val="600"/>
              </a:spcAft>
              <a:defRPr sz="592">
                <a:latin typeface="Arial"/>
              </a:defRPr>
            </a:pPr>
            <a:r>
              <a:rPr lang="en-US" sz="592">
                <a:solidFill>
                  <a:prstClr val="black">
                    <a:tint val="75000"/>
                  </a:prstClr>
                </a:solidFill>
              </a:rPr>
              <a:t>EE 329 </a:t>
            </a:r>
          </a:p>
        </p:txBody>
      </p:sp>
    </p:spTree>
    <p:extLst>
      <p:ext uri="{BB962C8B-B14F-4D97-AF65-F5344CB8AC3E}">
        <p14:creationId xmlns:p14="http://schemas.microsoft.com/office/powerpoint/2010/main" val="145445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Nyquist Sampling Theorem</a:t>
            </a:r>
          </a:p>
        </p:txBody>
      </p:sp>
      <p:sp>
        <p:nvSpPr>
          <p:cNvPr id="9" name="Content Placeholder 8"/>
          <p:cNvSpPr>
            <a:spLocks noGrp="1"/>
          </p:cNvSpPr>
          <p:nvPr/>
        </p:nvSpPr>
        <p:spPr>
          <a:xfrm>
            <a:off x="2361767" y="2420216"/>
            <a:ext cx="2337955" cy="1691120"/>
          </a:xfrm>
        </p:spPr>
        <p:txBody>
          <a:bodyPr lIns="0" rIns="0" tIns="0" bIns="0">
            <a:normAutofit/>
          </a:bodyPr>
          <a:lstStyle/>
          <a:p>
            <a:pPr>
              <a:defRPr sz="1364">
                <a:latin typeface="Arial"/>
              </a:defRPr>
            </a:pPr>
            <a:r>
              <a:rPr lang="en-US" sz="1364" dirty="0"/>
              <a:t>W=1000 is the bandwidth of a band pass signal </a:t>
            </a:r>
          </a:p>
          <a:p>
            <a:pPr>
              <a:defRPr sz="1364">
                <a:latin typeface="Arial"/>
              </a:defRPr>
            </a:pPr>
            <a:r>
              <a:rPr lang="en-US" sz="1364" dirty="0"/>
              <a:t>Find the smallest value of sampling rate such that spectral copies do not overlap.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154324" y="2939761"/>
            <a:ext cx="4675909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>
            <a:off x="7037676" y="22253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rot="5400000" flipH="1" flipV="1">
            <a:off x="6811390" y="2517292"/>
            <a:ext cx="1233244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>
            <a:off x="8596312" y="22253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479040" y="22253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235160" y="2949706"/>
            <a:ext cx="257119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6199" y="3004705"/>
            <a:ext cx="556315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4000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9040" y="3004705"/>
            <a:ext cx="66151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- 4000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9494" y="2095500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0861" y="2095500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0452" y="2949706"/>
            <a:ext cx="556315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1000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074" y="2949706"/>
            <a:ext cx="66151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- 1000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9608" y="2478817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6085" y="2485159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7298" y="3000899"/>
            <a:ext cx="237992" cy="39346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636">
                <a:latin typeface="Arial"/>
              </a:defRPr>
            </a:pPr>
            <a:r>
              <a:rPr lang="en-US" sz="1636" dirty="0"/>
              <a:t>f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5154324" y="4302891"/>
            <a:ext cx="4675909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>
            <a:off x="7037676" y="358851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/>
          <p:cNvCxnSpPr/>
          <p:nvPr/>
        </p:nvCxnSpPr>
        <p:spPr>
          <a:xfrm rot="5400000" flipH="1" flipV="1">
            <a:off x="6811390" y="3880422"/>
            <a:ext cx="1233244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>
            <a:off x="8596312" y="358851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/>
          <p:cNvSpPr/>
          <p:nvPr/>
        </p:nvSpPr>
        <p:spPr>
          <a:xfrm>
            <a:off x="5479040" y="358851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235160" y="4312836"/>
            <a:ext cx="257119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10111" y="4313512"/>
            <a:ext cx="556315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2000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1220" y="4313512"/>
            <a:ext cx="66151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- 2000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59494" y="3458630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0861" y="3458630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9608" y="3841947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56085" y="3848289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27298" y="4364029"/>
            <a:ext cx="237992" cy="39346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636">
                <a:latin typeface="Arial"/>
              </a:defRPr>
            </a:pPr>
            <a:r>
              <a:rPr lang="en-US" sz="1636" dirty="0"/>
              <a:t>f</a:t>
            </a:r>
          </a:p>
        </p:txBody>
      </p:sp>
      <p:sp>
        <p:nvSpPr>
          <p:cNvPr id="61" name="Isosceles Triangle 60"/>
          <p:cNvSpPr/>
          <p:nvPr/>
        </p:nvSpPr>
        <p:spPr>
          <a:xfrm>
            <a:off x="6258358" y="3589193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>
            <a:off x="7816994" y="3589193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6498926" y="3848966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57562" y="3848966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5154324" y="5807206"/>
            <a:ext cx="4675909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>
            <a:off x="7037676" y="5092831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/>
          <p:cNvCxnSpPr/>
          <p:nvPr/>
        </p:nvCxnSpPr>
        <p:spPr>
          <a:xfrm rot="5400000" flipH="1" flipV="1">
            <a:off x="6811390" y="5384737"/>
            <a:ext cx="1233244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>
            <a:off x="8596312" y="5092831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/>
          <p:cNvSpPr/>
          <p:nvPr/>
        </p:nvSpPr>
        <p:spPr>
          <a:xfrm>
            <a:off x="5479040" y="5092831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235160" y="5817150"/>
            <a:ext cx="257119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59494" y="4962944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40861" y="4962944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20452" y="5817150"/>
            <a:ext cx="556315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1000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074" y="5817150"/>
            <a:ext cx="66151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- 1000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19608" y="5346261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56085" y="5352603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83" name="Isosceles Triangle 82"/>
          <p:cNvSpPr/>
          <p:nvPr/>
        </p:nvSpPr>
        <p:spPr>
          <a:xfrm>
            <a:off x="7427335" y="50828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Isosceles Triangle 83"/>
          <p:cNvSpPr/>
          <p:nvPr/>
        </p:nvSpPr>
        <p:spPr>
          <a:xfrm>
            <a:off x="7816994" y="50828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Isosceles Triangle 84"/>
          <p:cNvSpPr/>
          <p:nvPr/>
        </p:nvSpPr>
        <p:spPr>
          <a:xfrm>
            <a:off x="8206653" y="50828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Isosceles Triangle 85"/>
          <p:cNvSpPr/>
          <p:nvPr/>
        </p:nvSpPr>
        <p:spPr>
          <a:xfrm>
            <a:off x="6648017" y="50828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Isosceles Triangle 86"/>
          <p:cNvSpPr/>
          <p:nvPr/>
        </p:nvSpPr>
        <p:spPr>
          <a:xfrm>
            <a:off x="6258358" y="50828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Isosceles Triangle 87"/>
          <p:cNvSpPr/>
          <p:nvPr/>
        </p:nvSpPr>
        <p:spPr>
          <a:xfrm>
            <a:off x="5868699" y="508288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/>
          <p:cNvCxnSpPr>
            <a:stCxn id="51" idx="2"/>
            <a:endCxn id="52" idx="2"/>
          </p:cNvCxnSpPr>
          <p:nvPr/>
        </p:nvCxnSpPr>
        <p:spPr>
          <a:xfrm rot="16200000" flipH="1">
            <a:off x="7775656" y="4215671"/>
            <a:ext cx="677" cy="824550"/>
          </a:xfrm>
          <a:prstGeom prst="straightConnector1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92278" y="4628284"/>
            <a:ext cx="585005" cy="445926"/>
          </a:xfrm>
          <a:prstGeom prst="rect">
            <a:avLst/>
          </a:prstGeom>
          <a:noFill/>
          <a:ln>
            <a:noFill/>
          </a:ln>
        </p:spPr>
        <p:txBody>
          <a:bodyPr wrap="none" rtlCol="0" lIns="0" rIns="0" tIns="0" bIns="0">
            <a:spAutoFit/>
          </a:bodyPr>
          <a:lstStyle/>
          <a:p>
            <a:pPr>
              <a:defRPr sz="1909">
                <a:latin typeface="Arial"/>
              </a:defRPr>
            </a:pPr>
            <a:r>
              <a:rPr lang="en-US" sz="1909" b="1" dirty="0">
                <a:solidFill>
                  <a:srgbClr val="FF0000"/>
                </a:solidFill>
              </a:rPr>
              <a:t>2W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Nyquist Sampling Theorem</a:t>
            </a:r>
          </a:p>
        </p:txBody>
      </p:sp>
      <p:sp>
        <p:nvSpPr>
          <p:cNvPr id="9" name="Content Placeholder 8"/>
          <p:cNvSpPr>
            <a:spLocks noGrp="1"/>
          </p:cNvSpPr>
          <p:nvPr/>
        </p:nvSpPr>
        <p:spPr>
          <a:xfrm>
            <a:off x="2459182" y="2095500"/>
            <a:ext cx="2402898" cy="1483302"/>
          </a:xfrm>
        </p:spPr>
        <p:txBody>
          <a:bodyPr lIns="0" rIns="0" tIns="0" bIns="0">
            <a:normAutofit/>
          </a:bodyPr>
          <a:lstStyle/>
          <a:p>
            <a:pPr>
              <a:defRPr sz="1364">
                <a:latin typeface="Arial"/>
              </a:defRPr>
            </a:pPr>
            <a:r>
              <a:rPr lang="en-US" sz="1364" dirty="0"/>
              <a:t>Assume that sampling frequency is high (spectral copies do not overlap)  </a:t>
            </a:r>
          </a:p>
          <a:p>
            <a:pPr>
              <a:defRPr sz="1364">
                <a:latin typeface="Arial"/>
              </a:defRPr>
            </a:pPr>
            <a:r>
              <a:rPr lang="en-US" sz="1364" dirty="0"/>
              <a:t>How to recover the original spectrum? 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056909" y="3134591"/>
            <a:ext cx="4675909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6940261" y="242021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rot="5400000" flipH="1" flipV="1">
            <a:off x="6713975" y="2712122"/>
            <a:ext cx="1233244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>
            <a:off x="8498898" y="242021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5381625" y="2420216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37745" y="3144535"/>
            <a:ext cx="257119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8784" y="3199534"/>
            <a:ext cx="556315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4000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1625" y="3199534"/>
            <a:ext cx="66151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- 4000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2080" y="2290330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3446" y="2290330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3037" y="3144535"/>
            <a:ext cx="556315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1000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5659" y="3144535"/>
            <a:ext cx="66151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- 1000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2193" y="2673647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8670" y="2679989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883" y="3195729"/>
            <a:ext cx="237992" cy="39346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636">
                <a:latin typeface="Arial"/>
              </a:defRPr>
            </a:pPr>
            <a:r>
              <a:rPr lang="en-US" sz="1636" dirty="0"/>
              <a:t>f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056909" y="5277039"/>
            <a:ext cx="4675909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>
            <a:off x="6940261" y="4562664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 rot="5400000" flipH="1" flipV="1">
            <a:off x="6713975" y="4854570"/>
            <a:ext cx="1233244" cy="135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>
            <a:off x="8498898" y="4562664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5381625" y="4562664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137745" y="5286984"/>
            <a:ext cx="257119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2696" y="5287660"/>
            <a:ext cx="556315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2000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3805" y="5287660"/>
            <a:ext cx="66151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dirty="0"/>
              <a:t>- 2000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2080" y="4432778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3446" y="4432778"/>
            <a:ext cx="489372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2193" y="4816095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8670" y="4822437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38" name="Isosceles Triangle 37"/>
          <p:cNvSpPr/>
          <p:nvPr/>
        </p:nvSpPr>
        <p:spPr>
          <a:xfrm>
            <a:off x="6160943" y="4563341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7719580" y="4563341"/>
            <a:ext cx="779318" cy="71437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401511" y="4823114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0147" y="4823114"/>
            <a:ext cx="278978" cy="65577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rPr lang="en-US" sz="3000" dirty="0"/>
              <a:t>.</a:t>
            </a:r>
          </a:p>
        </p:txBody>
      </p:sp>
      <p:cxnSp>
        <p:nvCxnSpPr>
          <p:cNvPr id="49" name="Straight Connector 48"/>
          <p:cNvCxnSpPr/>
          <p:nvPr/>
        </p:nvCxnSpPr>
        <p:spPr>
          <a:xfrm rot="5400000" flipH="1" flipV="1">
            <a:off x="6420716" y="3004705"/>
            <a:ext cx="259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550602" y="2874818"/>
            <a:ext cx="155863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 flipH="1" flipV="1">
            <a:off x="7979352" y="3004705"/>
            <a:ext cx="259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55773" y="2420216"/>
            <a:ext cx="617794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b="1" dirty="0">
                <a:solidFill>
                  <a:srgbClr val="FF0000"/>
                </a:solidFill>
              </a:rPr>
              <a:t>(1/f  )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7405181" y="3469251"/>
            <a:ext cx="2262694" cy="509601"/>
            <a:chOff x="6260506" y="2907268"/>
            <a:chExt cx="2654894" cy="597932"/>
          </a:xfrm>
        </p:grpSpPr>
        <p:sp>
          <p:nvSpPr>
            <p:cNvPr id="55" name="TextBox 54"/>
            <p:cNvSpPr txBox="1"/>
            <p:nvPr/>
          </p:nvSpPr>
          <p:spPr>
            <a:xfrm>
              <a:off x="6260506" y="2907268"/>
              <a:ext cx="26548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40">
                  <a:solidFill>
                    <a:srgbClr val="FF0000"/>
                  </a:solidFill>
                </a:rPr>
                <a:t>W &lt; f        &lt; f - W</a:t>
              </a:r>
              <a:endParaRPr lang="en-US" sz="2240" dirty="0">
                <a:solidFill>
                  <a:srgbClr val="FF0000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031415" y="3135868"/>
              <a:ext cx="753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cutoff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013106" y="31358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s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9473045" y="5338854"/>
            <a:ext cx="237992" cy="393464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636">
                <a:latin typeface="Arial"/>
              </a:defRPr>
            </a:pPr>
            <a:r>
              <a:rPr lang="en-US" sz="1636" dirty="0"/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2401" y="2485159"/>
            <a:ext cx="233893" cy="31477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534">
                <a:latin typeface="Arial"/>
              </a:defRPr>
            </a:pPr>
            <a:r>
              <a:rPr lang="en-US" b="1" dirty="0">
                <a:solidFill>
                  <a:srgbClr val="FF0000"/>
                </a:solidFill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Sampling with Zero-Order Hold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752600" y="3641725"/>
            <a:ext cx="289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771650" y="2095500"/>
            <a:ext cx="2762250" cy="1393825"/>
          </a:xfrm>
          <a:custGeom>
            <a:avLst/>
            <a:gdLst>
              <a:gd name="connsiteX0" fmla="*/ 0 w 2762250"/>
              <a:gd name="connsiteY0" fmla="*/ 1393825 h 1393825"/>
              <a:gd name="connsiteX1" fmla="*/ 114300 w 2762250"/>
              <a:gd name="connsiteY1" fmla="*/ 1222375 h 1393825"/>
              <a:gd name="connsiteX2" fmla="*/ 476250 w 2762250"/>
              <a:gd name="connsiteY2" fmla="*/ 612775 h 1393825"/>
              <a:gd name="connsiteX3" fmla="*/ 1066800 w 2762250"/>
              <a:gd name="connsiteY3" fmla="*/ 841375 h 1393825"/>
              <a:gd name="connsiteX4" fmla="*/ 1390650 w 2762250"/>
              <a:gd name="connsiteY4" fmla="*/ 307975 h 1393825"/>
              <a:gd name="connsiteX5" fmla="*/ 1657350 w 2762250"/>
              <a:gd name="connsiteY5" fmla="*/ 41275 h 1393825"/>
              <a:gd name="connsiteX6" fmla="*/ 1905000 w 2762250"/>
              <a:gd name="connsiteY6" fmla="*/ 60325 h 1393825"/>
              <a:gd name="connsiteX7" fmla="*/ 2038350 w 2762250"/>
              <a:gd name="connsiteY7" fmla="*/ 155575 h 1393825"/>
              <a:gd name="connsiteX8" fmla="*/ 2152650 w 2762250"/>
              <a:gd name="connsiteY8" fmla="*/ 403225 h 1393825"/>
              <a:gd name="connsiteX9" fmla="*/ 2171700 w 2762250"/>
              <a:gd name="connsiteY9" fmla="*/ 479425 h 1393825"/>
              <a:gd name="connsiteX10" fmla="*/ 2228850 w 2762250"/>
              <a:gd name="connsiteY10" fmla="*/ 650875 h 1393825"/>
              <a:gd name="connsiteX11" fmla="*/ 2305050 w 2762250"/>
              <a:gd name="connsiteY11" fmla="*/ 784225 h 1393825"/>
              <a:gd name="connsiteX12" fmla="*/ 2381250 w 2762250"/>
              <a:gd name="connsiteY12" fmla="*/ 898525 h 1393825"/>
              <a:gd name="connsiteX13" fmla="*/ 2438400 w 2762250"/>
              <a:gd name="connsiteY13" fmla="*/ 993775 h 1393825"/>
              <a:gd name="connsiteX14" fmla="*/ 2667000 w 2762250"/>
              <a:gd name="connsiteY14" fmla="*/ 1184275 h 1393825"/>
              <a:gd name="connsiteX15" fmla="*/ 2743200 w 2762250"/>
              <a:gd name="connsiteY15" fmla="*/ 1241425 h 1393825"/>
              <a:gd name="connsiteX16" fmla="*/ 2762250 w 2762250"/>
              <a:gd name="connsiteY16" fmla="*/ 1260475 h 139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62250" h="1393825">
                <a:moveTo>
                  <a:pt x="0" y="1393825"/>
                </a:moveTo>
                <a:cubicBezTo>
                  <a:pt x="17462" y="1373187"/>
                  <a:pt x="34925" y="1352550"/>
                  <a:pt x="114300" y="1222375"/>
                </a:cubicBezTo>
                <a:cubicBezTo>
                  <a:pt x="193675" y="1092200"/>
                  <a:pt x="317500" y="676275"/>
                  <a:pt x="476250" y="612775"/>
                </a:cubicBezTo>
                <a:cubicBezTo>
                  <a:pt x="635000" y="549275"/>
                  <a:pt x="914400" y="892175"/>
                  <a:pt x="1066800" y="841375"/>
                </a:cubicBezTo>
                <a:cubicBezTo>
                  <a:pt x="1219200" y="790575"/>
                  <a:pt x="1292225" y="441325"/>
                  <a:pt x="1390650" y="307975"/>
                </a:cubicBezTo>
                <a:cubicBezTo>
                  <a:pt x="1489075" y="174625"/>
                  <a:pt x="1571625" y="82550"/>
                  <a:pt x="1657350" y="41275"/>
                </a:cubicBezTo>
                <a:cubicBezTo>
                  <a:pt x="1743075" y="0"/>
                  <a:pt x="1841500" y="41275"/>
                  <a:pt x="1905000" y="60325"/>
                </a:cubicBezTo>
                <a:cubicBezTo>
                  <a:pt x="1968500" y="79375"/>
                  <a:pt x="1997075" y="98425"/>
                  <a:pt x="2038350" y="155575"/>
                </a:cubicBezTo>
                <a:cubicBezTo>
                  <a:pt x="2079625" y="212725"/>
                  <a:pt x="2130425" y="349250"/>
                  <a:pt x="2152650" y="403225"/>
                </a:cubicBezTo>
                <a:cubicBezTo>
                  <a:pt x="2174875" y="457200"/>
                  <a:pt x="2159000" y="438150"/>
                  <a:pt x="2171700" y="479425"/>
                </a:cubicBezTo>
                <a:cubicBezTo>
                  <a:pt x="2184400" y="520700"/>
                  <a:pt x="2206625" y="600075"/>
                  <a:pt x="2228850" y="650875"/>
                </a:cubicBezTo>
                <a:cubicBezTo>
                  <a:pt x="2251075" y="701675"/>
                  <a:pt x="2279650" y="742950"/>
                  <a:pt x="2305050" y="784225"/>
                </a:cubicBezTo>
                <a:cubicBezTo>
                  <a:pt x="2330450" y="825500"/>
                  <a:pt x="2359025" y="863600"/>
                  <a:pt x="2381250" y="898525"/>
                </a:cubicBezTo>
                <a:cubicBezTo>
                  <a:pt x="2403475" y="933450"/>
                  <a:pt x="2390775" y="946150"/>
                  <a:pt x="2438400" y="993775"/>
                </a:cubicBezTo>
                <a:cubicBezTo>
                  <a:pt x="2486025" y="1041400"/>
                  <a:pt x="2616200" y="1143000"/>
                  <a:pt x="2667000" y="1184275"/>
                </a:cubicBezTo>
                <a:cubicBezTo>
                  <a:pt x="2717800" y="1225550"/>
                  <a:pt x="2727325" y="1228725"/>
                  <a:pt x="2743200" y="1241425"/>
                </a:cubicBezTo>
                <a:cubicBezTo>
                  <a:pt x="2759075" y="1254125"/>
                  <a:pt x="2760662" y="1257300"/>
                  <a:pt x="2762250" y="1260475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029200" y="2574925"/>
            <a:ext cx="1524000" cy="914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058887" y="2651125"/>
            <a:ext cx="1594283" cy="830997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 algn="ctr">
              <a:defRPr sz="1920">
                <a:latin typeface="Arial"/>
              </a:defRPr>
            </a:pPr>
            <a:r>
              <a:rPr lang="en-US" sz="1920" dirty="0"/>
              <a:t>Zero-order </a:t>
            </a:r>
          </a:p>
          <a:p>
            <a:pPr algn="ctr">
              <a:defRPr sz="1920">
                <a:latin typeface="Arial"/>
              </a:defRPr>
            </a:pPr>
            <a:r>
              <a:rPr lang="en-US" sz="1920" dirty="0"/>
              <a:t>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3870325"/>
            <a:ext cx="675185" cy="461665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920">
                <a:latin typeface="Arial"/>
              </a:defRPr>
            </a:pPr>
            <a:r>
              <a:rPr lang="en-US" sz="1920" dirty="0"/>
              <a:t>x(t)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6934200" y="3641725"/>
            <a:ext cx="289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6953250" y="2095500"/>
            <a:ext cx="2762250" cy="1393825"/>
          </a:xfrm>
          <a:custGeom>
            <a:avLst/>
            <a:gdLst>
              <a:gd name="connsiteX0" fmla="*/ 0 w 2762250"/>
              <a:gd name="connsiteY0" fmla="*/ 1393825 h 1393825"/>
              <a:gd name="connsiteX1" fmla="*/ 114300 w 2762250"/>
              <a:gd name="connsiteY1" fmla="*/ 1222375 h 1393825"/>
              <a:gd name="connsiteX2" fmla="*/ 476250 w 2762250"/>
              <a:gd name="connsiteY2" fmla="*/ 612775 h 1393825"/>
              <a:gd name="connsiteX3" fmla="*/ 1066800 w 2762250"/>
              <a:gd name="connsiteY3" fmla="*/ 841375 h 1393825"/>
              <a:gd name="connsiteX4" fmla="*/ 1390650 w 2762250"/>
              <a:gd name="connsiteY4" fmla="*/ 307975 h 1393825"/>
              <a:gd name="connsiteX5" fmla="*/ 1657350 w 2762250"/>
              <a:gd name="connsiteY5" fmla="*/ 41275 h 1393825"/>
              <a:gd name="connsiteX6" fmla="*/ 1905000 w 2762250"/>
              <a:gd name="connsiteY6" fmla="*/ 60325 h 1393825"/>
              <a:gd name="connsiteX7" fmla="*/ 2038350 w 2762250"/>
              <a:gd name="connsiteY7" fmla="*/ 155575 h 1393825"/>
              <a:gd name="connsiteX8" fmla="*/ 2152650 w 2762250"/>
              <a:gd name="connsiteY8" fmla="*/ 403225 h 1393825"/>
              <a:gd name="connsiteX9" fmla="*/ 2171700 w 2762250"/>
              <a:gd name="connsiteY9" fmla="*/ 479425 h 1393825"/>
              <a:gd name="connsiteX10" fmla="*/ 2228850 w 2762250"/>
              <a:gd name="connsiteY10" fmla="*/ 650875 h 1393825"/>
              <a:gd name="connsiteX11" fmla="*/ 2305050 w 2762250"/>
              <a:gd name="connsiteY11" fmla="*/ 784225 h 1393825"/>
              <a:gd name="connsiteX12" fmla="*/ 2381250 w 2762250"/>
              <a:gd name="connsiteY12" fmla="*/ 898525 h 1393825"/>
              <a:gd name="connsiteX13" fmla="*/ 2438400 w 2762250"/>
              <a:gd name="connsiteY13" fmla="*/ 993775 h 1393825"/>
              <a:gd name="connsiteX14" fmla="*/ 2667000 w 2762250"/>
              <a:gd name="connsiteY14" fmla="*/ 1184275 h 1393825"/>
              <a:gd name="connsiteX15" fmla="*/ 2743200 w 2762250"/>
              <a:gd name="connsiteY15" fmla="*/ 1241425 h 1393825"/>
              <a:gd name="connsiteX16" fmla="*/ 2762250 w 2762250"/>
              <a:gd name="connsiteY16" fmla="*/ 1260475 h 139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62250" h="1393825">
                <a:moveTo>
                  <a:pt x="0" y="1393825"/>
                </a:moveTo>
                <a:cubicBezTo>
                  <a:pt x="17462" y="1373187"/>
                  <a:pt x="34925" y="1352550"/>
                  <a:pt x="114300" y="1222375"/>
                </a:cubicBezTo>
                <a:cubicBezTo>
                  <a:pt x="193675" y="1092200"/>
                  <a:pt x="317500" y="676275"/>
                  <a:pt x="476250" y="612775"/>
                </a:cubicBezTo>
                <a:cubicBezTo>
                  <a:pt x="635000" y="549275"/>
                  <a:pt x="914400" y="892175"/>
                  <a:pt x="1066800" y="841375"/>
                </a:cubicBezTo>
                <a:cubicBezTo>
                  <a:pt x="1219200" y="790575"/>
                  <a:pt x="1292225" y="441325"/>
                  <a:pt x="1390650" y="307975"/>
                </a:cubicBezTo>
                <a:cubicBezTo>
                  <a:pt x="1489075" y="174625"/>
                  <a:pt x="1571625" y="82550"/>
                  <a:pt x="1657350" y="41275"/>
                </a:cubicBezTo>
                <a:cubicBezTo>
                  <a:pt x="1743075" y="0"/>
                  <a:pt x="1841500" y="41275"/>
                  <a:pt x="1905000" y="60325"/>
                </a:cubicBezTo>
                <a:cubicBezTo>
                  <a:pt x="1968500" y="79375"/>
                  <a:pt x="1997075" y="98425"/>
                  <a:pt x="2038350" y="155575"/>
                </a:cubicBezTo>
                <a:cubicBezTo>
                  <a:pt x="2079625" y="212725"/>
                  <a:pt x="2130425" y="349250"/>
                  <a:pt x="2152650" y="403225"/>
                </a:cubicBezTo>
                <a:cubicBezTo>
                  <a:pt x="2174875" y="457200"/>
                  <a:pt x="2159000" y="438150"/>
                  <a:pt x="2171700" y="479425"/>
                </a:cubicBezTo>
                <a:cubicBezTo>
                  <a:pt x="2184400" y="520700"/>
                  <a:pt x="2206625" y="600075"/>
                  <a:pt x="2228850" y="650875"/>
                </a:cubicBezTo>
                <a:cubicBezTo>
                  <a:pt x="2251075" y="701675"/>
                  <a:pt x="2279650" y="742950"/>
                  <a:pt x="2305050" y="784225"/>
                </a:cubicBezTo>
                <a:cubicBezTo>
                  <a:pt x="2330450" y="825500"/>
                  <a:pt x="2359025" y="863600"/>
                  <a:pt x="2381250" y="898525"/>
                </a:cubicBezTo>
                <a:cubicBezTo>
                  <a:pt x="2403475" y="933450"/>
                  <a:pt x="2390775" y="946150"/>
                  <a:pt x="2438400" y="993775"/>
                </a:cubicBezTo>
                <a:cubicBezTo>
                  <a:pt x="2486025" y="1041400"/>
                  <a:pt x="2616200" y="1143000"/>
                  <a:pt x="2667000" y="1184275"/>
                </a:cubicBezTo>
                <a:cubicBezTo>
                  <a:pt x="2717800" y="1225550"/>
                  <a:pt x="2727325" y="1228725"/>
                  <a:pt x="2743200" y="1241425"/>
                </a:cubicBezTo>
                <a:cubicBezTo>
                  <a:pt x="2759075" y="1254125"/>
                  <a:pt x="2760662" y="1257300"/>
                  <a:pt x="2762250" y="1260475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 rot="5400000">
            <a:off x="6324600" y="3108325"/>
            <a:ext cx="182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6705600" y="3108325"/>
            <a:ext cx="182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7086600" y="3108325"/>
            <a:ext cx="182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7315200" y="3032125"/>
            <a:ext cx="2133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7696200" y="2955925"/>
            <a:ext cx="2133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8077200" y="2955925"/>
            <a:ext cx="2133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8610600" y="3108325"/>
            <a:ext cx="18288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239000" y="2955925"/>
            <a:ext cx="381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620000" y="2727325"/>
            <a:ext cx="381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001000" y="2955925"/>
            <a:ext cx="381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8382000" y="2346325"/>
            <a:ext cx="381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763000" y="2117725"/>
            <a:ext cx="381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9144000" y="2727325"/>
            <a:ext cx="381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525000" y="3184525"/>
            <a:ext cx="381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7505700" y="2841625"/>
            <a:ext cx="2286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7886700" y="2841625"/>
            <a:ext cx="2286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5400000">
            <a:off x="8039100" y="2613025"/>
            <a:ext cx="6858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5400000">
            <a:off x="8648700" y="2232025"/>
            <a:ext cx="2286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cxnSpLocks/>
          </p:cNvCxnSpPr>
          <p:nvPr/>
        </p:nvCxnSpPr>
        <p:spPr>
          <a:xfrm rot="5400000">
            <a:off x="8801100" y="2460625"/>
            <a:ext cx="6858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cxnSpLocks/>
          </p:cNvCxnSpPr>
          <p:nvPr/>
        </p:nvCxnSpPr>
        <p:spPr>
          <a:xfrm>
            <a:off x="9525000" y="2727325"/>
            <a:ext cx="0" cy="4572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240215" y="4022725"/>
            <a:ext cx="881973" cy="461665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920">
                <a:latin typeface="Arial"/>
              </a:defRPr>
            </a:pPr>
            <a:r>
              <a:rPr lang="en-US" sz="1920" dirty="0"/>
              <a:t>x   (t)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82000" y="4251325"/>
            <a:ext cx="301686" cy="36933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rPr lang="en-US" dirty="0"/>
              <a:t>0</a:t>
            </a:r>
          </a:p>
        </p:txBody>
      </p:sp>
      <p:sp>
        <p:nvSpPr>
          <p:cNvPr id="75" name="Oval 74"/>
          <p:cNvSpPr/>
          <p:nvPr/>
        </p:nvSpPr>
        <p:spPr>
          <a:xfrm>
            <a:off x="3581400" y="5318125"/>
            <a:ext cx="685800" cy="6858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3809908" y="5470525"/>
            <a:ext cx="304892" cy="36933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rPr lang="en-US" dirty="0"/>
              <a:t>X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2667000" y="5622925"/>
            <a:ext cx="914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5400000">
            <a:off x="3618706" y="4974431"/>
            <a:ext cx="6858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667000" y="5085060"/>
            <a:ext cx="675185" cy="461665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920">
                <a:latin typeface="Arial"/>
              </a:defRPr>
            </a:pPr>
            <a:r>
              <a:rPr lang="en-US" sz="1920" dirty="0"/>
              <a:t>x(t)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89290" y="4403725"/>
            <a:ext cx="603050" cy="461665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920">
                <a:latin typeface="Arial"/>
              </a:defRPr>
            </a:pPr>
            <a:r>
              <a:rPr lang="en-US" sz="1920" dirty="0"/>
              <a:t>c(t)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81600" y="5165725"/>
            <a:ext cx="2514600" cy="914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5181600" y="5394325"/>
            <a:ext cx="2590800" cy="461665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>
              <a:defRPr sz="1920">
                <a:latin typeface="Arial"/>
              </a:defRPr>
            </a:pPr>
            <a:r>
              <a:rPr lang="en-US" sz="1920" dirty="0"/>
              <a:t>Hold for T seconds</a:t>
            </a:r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4267200" y="5622925"/>
            <a:ext cx="914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7696200" y="5622925"/>
            <a:ext cx="9144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772400" y="5013325"/>
            <a:ext cx="881973" cy="461665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920">
                <a:latin typeface="Arial"/>
              </a:defRPr>
            </a:pPr>
            <a:r>
              <a:rPr lang="en-US" sz="1920" dirty="0"/>
              <a:t>x   (t)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27914" y="5241925"/>
            <a:ext cx="301686" cy="369332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rPr lang="en-US" dirty="0"/>
              <a:t>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Aliasing</a:t>
            </a:r>
          </a:p>
        </p:txBody>
      </p:sp>
      <p:sp>
        <p:nvSpPr>
          <p:cNvPr id="6" name="Text Placeholder 5"/>
          <p:cNvSpPr>
            <a:spLocks noGrp="1"/>
          </p:cNvSpPr>
          <p:nvPr/>
        </p:nvSpPr>
        <p:spPr>
          <a:xfrm>
            <a:off x="3104965" y="3415100"/>
            <a:ext cx="3412044" cy="1913360"/>
          </a:xfrm>
        </p:spPr>
        <p:txBody>
          <a:bodyPr vert="horz" lIns="67042" tIns="33521" rIns="67042" bIns="33521" rtlCol="0">
            <a:normAutofit/>
          </a:bodyPr>
          <a:lstStyle/>
          <a:p>
            <a:pPr indent="-228600">
              <a:buSzPct val="100000"/>
              <a:lnSpc>
                <a:spcPct val="90000"/>
              </a:lnSpc>
              <a:buFont typeface="Arial" panose="020B0604020202020204" pitchFamily="34" charset="0"/>
              <a:buChar char="•"/>
              <a:defRPr sz="1232">
                <a:latin typeface="Arial"/>
              </a:defRPr>
            </a:pPr>
            <a:r>
              <a:rPr lang="en-US" sz="1232"/>
              <a:t>Left panel: Properly Sampled image of brick wall (493-by-599)  </a:t>
            </a:r>
          </a:p>
          <a:p>
            <a:pPr indent="-228600">
              <a:buSzPct val="100000"/>
              <a:lnSpc>
                <a:spcPct val="90000"/>
              </a:lnSpc>
              <a:buFont typeface="Arial" panose="020B0604020202020204" pitchFamily="34" charset="0"/>
              <a:buChar char="•"/>
              <a:defRPr sz="1232">
                <a:latin typeface="Arial"/>
              </a:defRPr>
            </a:pPr>
            <a:endParaRPr lang="en-US" sz="1232"/>
          </a:p>
          <a:p>
            <a:pPr indent="-228600">
              <a:buSzPct val="100000"/>
              <a:lnSpc>
                <a:spcPct val="90000"/>
              </a:lnSpc>
              <a:buFont typeface="Arial" panose="020B0604020202020204" pitchFamily="34" charset="0"/>
              <a:buChar char="•"/>
              <a:defRPr sz="1232">
                <a:latin typeface="Arial"/>
              </a:defRPr>
            </a:pPr>
            <a:r>
              <a:rPr lang="en-US" sz="1232"/>
              <a:t>Right panel: Spatial aliasing in the form of a </a:t>
            </a:r>
            <a:r>
              <a:rPr lang="en-US" sz="1232">
                <a:hlinkClick r:id="rId2" action="ppaction://hlinkfile" tooltip="Moiré pattern"/>
              </a:rPr>
              <a:t>Moiré pattern</a:t>
            </a:r>
            <a:r>
              <a:rPr lang="en-US" sz="1232"/>
              <a:t> (205-by-250) </a:t>
            </a:r>
          </a:p>
          <a:p>
            <a:pPr indent="-228600">
              <a:buSzPct val="100000"/>
              <a:lnSpc>
                <a:spcPct val="90000"/>
              </a:lnSpc>
              <a:buFont typeface="Arial" panose="020B0604020202020204" pitchFamily="34" charset="0"/>
              <a:buChar char="•"/>
              <a:defRPr sz="1232">
                <a:latin typeface="Arial"/>
              </a:defRPr>
            </a:pPr>
            <a:endParaRPr lang="en-US" sz="1232"/>
          </a:p>
          <a:p>
            <a:pPr indent="-228600">
              <a:buSzPct val="100000"/>
              <a:lnSpc>
                <a:spcPct val="90000"/>
              </a:lnSpc>
              <a:buFont typeface="Arial" panose="020B0604020202020204" pitchFamily="34" charset="0"/>
              <a:buChar char="•"/>
              <a:defRPr sz="1232">
                <a:latin typeface="Arial"/>
              </a:defRPr>
            </a:pPr>
            <a:r>
              <a:rPr lang="en-US" sz="1232"/>
              <a:t>http://en.wikipedia.org/wiki/Aliasing</a:t>
            </a:r>
          </a:p>
          <a:p>
            <a:pPr indent="-228600">
              <a:buSzPct val="100000"/>
              <a:lnSpc>
                <a:spcPct val="90000"/>
              </a:lnSpc>
              <a:buFont typeface="Arial" panose="020B0604020202020204" pitchFamily="34" charset="0"/>
              <a:buChar char="•"/>
              <a:defRPr sz="1232">
                <a:latin typeface="Arial"/>
              </a:defRPr>
            </a:pPr>
            <a:endParaRPr lang="en-US" sz="1232"/>
          </a:p>
          <a:p>
            <a:pPr indent="-228600">
              <a:buSzPct val="100000"/>
              <a:lnSpc>
                <a:spcPct val="90000"/>
              </a:lnSpc>
              <a:buFont typeface="Arial" panose="020B0604020202020204" pitchFamily="34" charset="0"/>
              <a:buChar char="•"/>
              <a:defRPr sz="1232">
                <a:latin typeface="Arial"/>
              </a:defRPr>
            </a:pPr>
            <a:endParaRPr lang="en-US" sz="1232"/>
          </a:p>
        </p:txBody>
      </p:sp>
      <p:pic>
        <p:nvPicPr>
          <p:cNvPr id="9" name="Picture 8" descr="Moire_pattern_of_brick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22711" y="2095500"/>
            <a:ext cx="1964325" cy="2388237"/>
          </a:xfrm>
          <a:prstGeom prst="rect">
            <a:avLst/>
          </a:prstGeom>
        </p:spPr>
      </p:pic>
      <p:pic>
        <p:nvPicPr>
          <p:cNvPr id="8" name="Picture 7" descr="Moire_pattern_of_bricks_smal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19863" y="4885232"/>
            <a:ext cx="1044899" cy="12742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Aliasing (another example)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651" y="2095500"/>
            <a:ext cx="3366463" cy="21919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48" y="3998122"/>
            <a:ext cx="3319464" cy="21613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0473" y="2602866"/>
            <a:ext cx="2776297" cy="333009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332">
                <a:latin typeface="Arial"/>
              </a:defRPr>
            </a:pPr>
            <a:r>
              <a:rPr lang="en-US" sz="1332" dirty="0"/>
              <a:t>Aliasing due to </a:t>
            </a:r>
            <a:r>
              <a:rPr lang="en-US" sz="1332" dirty="0" err="1"/>
              <a:t>undersampling</a:t>
            </a:r>
            <a:endParaRPr lang="en-US" sz="1332" dirty="0"/>
          </a:p>
        </p:txBody>
      </p:sp>
      <p:sp>
        <p:nvSpPr>
          <p:cNvPr id="12" name="TextBox 11"/>
          <p:cNvSpPr txBox="1"/>
          <p:nvPr/>
        </p:nvSpPr>
        <p:spPr>
          <a:xfrm>
            <a:off x="2805230" y="5203115"/>
            <a:ext cx="3018156" cy="333009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332">
                <a:latin typeface="Arial"/>
              </a:defRPr>
            </a:pPr>
            <a:r>
              <a:rPr lang="en-US" sz="1332" dirty="0"/>
              <a:t>Application of anti-aliasing filter  </a:t>
            </a:r>
          </a:p>
        </p:txBody>
      </p:sp>
    </p:spTree>
    <p:extLst>
      <p:ext uri="{BB962C8B-B14F-4D97-AF65-F5344CB8AC3E}">
        <p14:creationId xmlns:p14="http://schemas.microsoft.com/office/powerpoint/2010/main" val="27849483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439</Words>
  <Application>Microsoft Office PowerPoint</Application>
  <PresentationFormat>On-screen Show (4:3)</PresentationFormat>
  <Paragraphs>126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Ideal Sampling</vt:lpstr>
      <vt:lpstr>Illustration</vt:lpstr>
      <vt:lpstr>Illustration</vt:lpstr>
      <vt:lpstr>FT of sampled signal</vt:lpstr>
      <vt:lpstr>Back to illustration</vt:lpstr>
      <vt:lpstr>Nyquist Sampling Theorem</vt:lpstr>
      <vt:lpstr>Nyquist Sampling Theorem</vt:lpstr>
      <vt:lpstr>Sampling with Zero-Order Hold </vt:lpstr>
      <vt:lpstr>PowerPoint Presentation</vt:lpstr>
      <vt:lpstr>Aliasing (another example)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(2018 edition)</dc:title>
  <dc:creator>WVU DSPIRA</dc:creator>
  <cp:lastModifiedBy>WVU DSPIRA</cp:lastModifiedBy>
  <cp:revision>34</cp:revision>
  <cp:lastPrinted>2013-04-05T12:53:11Z</cp:lastPrinted>
  <dcterms:created xsi:type="dcterms:W3CDTF">2006-08-16T00:00:00Z</dcterms:created>
  <dcterms:modified xsi:type="dcterms:W3CDTF">2018-07-11T22:08:17Z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0x01010016C36F108F9F92488C988DDF36346911</vt:lpwstr>
  </property>
</Properties>
</file>