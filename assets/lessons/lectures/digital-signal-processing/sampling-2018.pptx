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2.xml" ContentType="application/vnd.openxmlformats-officedocument.presentationml.notesSlide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handoutMasters/handoutMaster1.xml" ContentType="application/vnd.openxmlformats-officedocument.presentationml.handoutMaster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61" r:id="rId2"/>
    <p:sldId id="262" r:id="rId3"/>
    <p:sldId id="263" r:id="rId4"/>
    <p:sldId id="264" r:id="rId5"/>
    <p:sldId id="265" r:id="rId6"/>
    <p:sldId id="258" r:id="rId7"/>
    <p:sldId id="259" r:id="rId8"/>
    <p:sldId id="257" r:id="rId9"/>
    <p:sldId id="256" r:id="rId10"/>
    <p:sldId id="260" r:id="rId11"/>
  </p:sldIdLst>
  <p:sldSz cx="9144000" cy="75438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9" d="100"/>
          <a:sy n="119" d="100"/>
        </p:scale>
        <p:origin x="137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customXml" Target="customXml/item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openxmlformats.org/officeDocument/2006/relationships/customXml" Target="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customXml" Target="customXml/item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05919B30-49AC-47DE-A348-34F7E817606E}"/>
</file>

<file path=ppt/customXml/itemProps2.xml><?xml version="1.0" encoding="utf-8"?>
<ds:datastoreItem xmlns:ds="http://schemas.openxmlformats.org/officeDocument/2006/customXml" ds:itemID="{A217FCB8-3C21-47EA-BD28-F986766CF26D}"/>
</file>

<file path=ppt/customXml/itemProps3.xml><?xml version="1.0" encoding="utf-8"?>
<ds:datastoreItem xmlns:ds="http://schemas.openxmlformats.org/officeDocument/2006/customXml" ds:itemID="{8DCA140A-81BB-40DD-957A-904D2F637921}"/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/>
          <a:lstStyle>
            <a:lvl1pPr algn="r">
              <a:defRPr sz="1300"/>
            </a:lvl1pPr>
          </a:lstStyle>
          <a:p>
            <a:fld id="{A762A31C-FAB7-43E4-82F9-29A8258EC388}" type="datetimeFigureOut">
              <a:rPr lang="en-US" smtClean="0"/>
              <a:t>7/11/2018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 anchor="b"/>
          <a:lstStyle>
            <a:lvl1pPr algn="r">
              <a:defRPr sz="1300"/>
            </a:lvl1pPr>
          </a:lstStyle>
          <a:p>
            <a:fld id="{6B591747-D08B-4660-9B04-ABBB69B2B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8192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/>
          <a:lstStyle>
            <a:lvl1pPr algn="r">
              <a:defRPr sz="1300"/>
            </a:lvl1pPr>
          </a:lstStyle>
          <a:p>
            <a:fld id="{FA5B1346-1967-40F5-995E-93A0D52B5323}" type="datetimeFigureOut">
              <a:rPr lang="en-US" smtClean="0"/>
              <a:pPr/>
              <a:t>7/11/2018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2188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49" tIns="48325" rIns="96649" bIns="4832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49" tIns="48325" rIns="96649" bIns="48325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49" tIns="48325" rIns="96649" bIns="48325" rtlCol="0" anchor="b"/>
          <a:lstStyle>
            <a:lvl1pPr algn="r">
              <a:defRPr sz="1300"/>
            </a:lvl1pPr>
          </a:lstStyle>
          <a:p>
            <a:fld id="{6B020B43-94CA-4726-BE19-C192C628E7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247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020B43-94CA-4726-BE19-C192C628E765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99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020B43-94CA-4726-BE19-C192C628E765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70122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4733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2291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749800"/>
            <a:ext cx="7772400" cy="1362075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49613"/>
            <a:ext cx="7772400" cy="1500187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43100"/>
            <a:ext cx="4038600" cy="4525963"/>
          </a:xfrm>
        </p:spPr>
        <p:txBody>
          <a:bodyPr/>
          <a:lstStyle>
            <a:lvl1pPr>
              <a:defRPr sz="2240"/>
            </a:lvl1pPr>
            <a:lvl2pPr>
              <a:defRPr sz="1920"/>
            </a:lvl2pPr>
            <a:lvl3pPr>
              <a:defRPr sz="1600"/>
            </a:lvl3pPr>
            <a:lvl4pPr>
              <a:defRPr sz="1440"/>
            </a:lvl4pPr>
            <a:lvl5pPr>
              <a:defRPr sz="1440"/>
            </a:lvl5pPr>
            <a:lvl6pPr>
              <a:defRPr sz="1440"/>
            </a:lvl6pPr>
            <a:lvl7pPr>
              <a:defRPr sz="1440"/>
            </a:lvl7pPr>
            <a:lvl8pPr>
              <a:defRPr sz="1440"/>
            </a:lvl8pPr>
            <a:lvl9pPr>
              <a:defRPr sz="14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43100"/>
            <a:ext cx="4038600" cy="4525963"/>
          </a:xfrm>
        </p:spPr>
        <p:txBody>
          <a:bodyPr/>
          <a:lstStyle>
            <a:lvl1pPr>
              <a:defRPr sz="2240"/>
            </a:lvl1pPr>
            <a:lvl2pPr>
              <a:defRPr sz="1920"/>
            </a:lvl2pPr>
            <a:lvl3pPr>
              <a:defRPr sz="1600"/>
            </a:lvl3pPr>
            <a:lvl4pPr>
              <a:defRPr sz="1440"/>
            </a:lvl4pPr>
            <a:lvl5pPr>
              <a:defRPr sz="1440"/>
            </a:lvl5pPr>
            <a:lvl6pPr>
              <a:defRPr sz="1440"/>
            </a:lvl6pPr>
            <a:lvl7pPr>
              <a:defRPr sz="1440"/>
            </a:lvl7pPr>
            <a:lvl8pPr>
              <a:defRPr sz="1440"/>
            </a:lvl8pPr>
            <a:lvl9pPr>
              <a:defRPr sz="14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78013"/>
            <a:ext cx="4040188" cy="63976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517775"/>
            <a:ext cx="4040188" cy="3951288"/>
          </a:xfrm>
        </p:spPr>
        <p:txBody>
          <a:bodyPr/>
          <a:lstStyle>
            <a:lvl1pPr>
              <a:defRPr sz="1920"/>
            </a:lvl1pPr>
            <a:lvl2pPr>
              <a:defRPr sz="1600"/>
            </a:lvl2pPr>
            <a:lvl3pPr>
              <a:defRPr sz="1440"/>
            </a:lvl3pPr>
            <a:lvl4pPr>
              <a:defRPr sz="1280"/>
            </a:lvl4pPr>
            <a:lvl5pPr>
              <a:defRPr sz="1280"/>
            </a:lvl5pPr>
            <a:lvl6pPr>
              <a:defRPr sz="1280"/>
            </a:lvl6pPr>
            <a:lvl7pPr>
              <a:defRPr sz="1280"/>
            </a:lvl7pPr>
            <a:lvl8pPr>
              <a:defRPr sz="1280"/>
            </a:lvl8pPr>
            <a:lvl9pPr>
              <a:defRPr sz="12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878013"/>
            <a:ext cx="4041775" cy="63976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517775"/>
            <a:ext cx="4041775" cy="3951288"/>
          </a:xfrm>
        </p:spPr>
        <p:txBody>
          <a:bodyPr/>
          <a:lstStyle>
            <a:lvl1pPr>
              <a:defRPr sz="1920"/>
            </a:lvl1pPr>
            <a:lvl2pPr>
              <a:defRPr sz="1600"/>
            </a:lvl2pPr>
            <a:lvl3pPr>
              <a:defRPr sz="1440"/>
            </a:lvl3pPr>
            <a:lvl4pPr>
              <a:defRPr sz="1280"/>
            </a:lvl4pPr>
            <a:lvl5pPr>
              <a:defRPr sz="1280"/>
            </a:lvl5pPr>
            <a:lvl6pPr>
              <a:defRPr sz="1280"/>
            </a:lvl6pPr>
            <a:lvl7pPr>
              <a:defRPr sz="1280"/>
            </a:lvl7pPr>
            <a:lvl8pPr>
              <a:defRPr sz="1280"/>
            </a:lvl8pPr>
            <a:lvl9pPr>
              <a:defRPr sz="12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15950"/>
            <a:ext cx="3008313" cy="1162050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615950"/>
            <a:ext cx="5111750" cy="5853113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778000"/>
            <a:ext cx="3008313" cy="4691063"/>
          </a:xfrm>
        </p:spPr>
        <p:txBody>
          <a:bodyPr/>
          <a:lstStyle>
            <a:lvl1pPr marL="0" indent="0">
              <a:buNone/>
              <a:defRPr sz="1120"/>
            </a:lvl1pPr>
            <a:lvl2pPr marL="457200" indent="0">
              <a:buNone/>
              <a:defRPr sz="960"/>
            </a:lvl2pPr>
            <a:lvl3pPr marL="914400" indent="0">
              <a:buNone/>
              <a:defRPr sz="800"/>
            </a:lvl3pPr>
            <a:lvl4pPr marL="1371600" indent="0">
              <a:buNone/>
              <a:defRPr sz="720"/>
            </a:lvl4pPr>
            <a:lvl5pPr marL="1828800" indent="0">
              <a:buNone/>
              <a:defRPr sz="720"/>
            </a:lvl5pPr>
            <a:lvl6pPr marL="2286000" indent="0">
              <a:buNone/>
              <a:defRPr sz="720"/>
            </a:lvl6pPr>
            <a:lvl7pPr marL="2743200" indent="0">
              <a:buNone/>
              <a:defRPr sz="720"/>
            </a:lvl7pPr>
            <a:lvl8pPr marL="3200400" indent="0">
              <a:buNone/>
              <a:defRPr sz="720"/>
            </a:lvl8pPr>
            <a:lvl9pPr marL="3657600" indent="0">
              <a:buNone/>
              <a:defRPr sz="7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5143500"/>
            <a:ext cx="5486400" cy="566738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955675"/>
            <a:ext cx="5486400" cy="4114800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710238"/>
            <a:ext cx="5486400" cy="804862"/>
          </a:xfrm>
        </p:spPr>
        <p:txBody>
          <a:bodyPr/>
          <a:lstStyle>
            <a:lvl1pPr marL="0" indent="0">
              <a:buNone/>
              <a:defRPr sz="1120"/>
            </a:lvl1pPr>
            <a:lvl2pPr marL="457200" indent="0">
              <a:buNone/>
              <a:defRPr sz="960"/>
            </a:lvl2pPr>
            <a:lvl3pPr marL="914400" indent="0">
              <a:buNone/>
              <a:defRPr sz="800"/>
            </a:lvl3pPr>
            <a:lvl4pPr marL="1371600" indent="0">
              <a:buNone/>
              <a:defRPr sz="720"/>
            </a:lvl4pPr>
            <a:lvl5pPr marL="1828800" indent="0">
              <a:buNone/>
              <a:defRPr sz="720"/>
            </a:lvl5pPr>
            <a:lvl6pPr marL="2286000" indent="0">
              <a:buNone/>
              <a:defRPr sz="720"/>
            </a:lvl6pPr>
            <a:lvl7pPr marL="2743200" indent="0">
              <a:buNone/>
              <a:defRPr sz="720"/>
            </a:lvl7pPr>
            <a:lvl8pPr marL="3200400" indent="0">
              <a:buNone/>
              <a:defRPr sz="720"/>
            </a:lvl8pPr>
            <a:lvl9pPr marL="3657600" indent="0">
              <a:buNone/>
              <a:defRPr sz="7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175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175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4/05/2013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 329 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175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9431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6992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4/05/2013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6992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EE 329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56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24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://en.wikipedia.org/wiki/Moir%C3%A9_pattern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jpe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D70B121-56F4-4848-B38B-182089D90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41173" y="662940"/>
            <a:ext cx="8661654" cy="6217920"/>
          </a:xfrm>
          <a:prstGeom prst="rect">
            <a:avLst/>
          </a:prstGeom>
          <a:solidFill>
            <a:schemeClr val="tx1">
              <a:alpha val="8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AAE5DD-84B0-4F44-AAC9-C41D57DF2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306777"/>
            <a:ext cx="2620771" cy="493024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kern="1200" dirty="0">
                <a:solidFill>
                  <a:srgbClr val="0070C0"/>
                </a:solidFill>
                <a:latin typeface="Arial"/>
                <a:ea typeface="+mj-ea"/>
                <a:cs typeface="+mj-cs"/>
              </a:rPr>
              <a:t>Ideal Sampling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D72A2C9-F3CA-4216-8BAD-FA4C970C3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2400300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A945F-0473-4D81-94A8-0FE50937FCA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732023" y="963877"/>
                <a:ext cx="4783327" cy="4930246"/>
              </a:xfrm>
            </p:spPr>
            <p:txBody>
              <a:bodyPr vert="horz" lIns="91440" tIns="45720" rIns="91440" bIns="45720" rtlCol="0" anchor="ctr">
                <a:normAutofit/>
              </a:bodyPr>
              <a:lstStyle/>
              <a:p>
                <a:pPr indent="-228600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sz="1680" b="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8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8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8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80" dirty="0"/>
                  <a:t> is a low pass signal (a smooth function)</a:t>
                </a:r>
              </a:p>
              <a:p>
                <a:pPr indent="-228600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sz="168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1680" dirty="0"/>
                  <a:t> is its bandwidth (all frequencies describing </a:t>
                </a:r>
                <a14:m>
                  <m:oMath xmlns:m="http://schemas.openxmlformats.org/officeDocument/2006/math">
                    <m:r>
                      <a:rPr lang="en-US" sz="168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8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8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8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80" dirty="0"/>
                  <a:t>)</a:t>
                </a:r>
              </a:p>
              <a:p>
                <a:pPr indent="-228600">
                  <a:lnSpc>
                    <a:spcPct val="90000"/>
                  </a:lnSpc>
                </a:pPr>
                <a:r>
                  <a:rPr lang="en-US" sz="1680" dirty="0"/>
                  <a:t>Ideal sampling is performed by multiplying </a:t>
                </a:r>
                <a14:m>
                  <m:oMath xmlns:m="http://schemas.openxmlformats.org/officeDocument/2006/math">
                    <m:r>
                      <a:rPr lang="en-US" sz="168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8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8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8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80" dirty="0"/>
                  <a:t> with a Dirac delta train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8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80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)×</m:t>
                      </m:r>
                      <m:nary>
                        <m:naryPr>
                          <m:chr m:val="∑"/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8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sz="168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80" b="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8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8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US" sz="168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80" b="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680" b="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1680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sz="1680" dirty="0"/>
                  <a:t>     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8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8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8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680" dirty="0"/>
                  <a:t> is a sampling interval. </a:t>
                </a:r>
              </a:p>
              <a:p>
                <a:pPr marL="0" indent="-228600">
                  <a:lnSpc>
                    <a:spcPct val="90000"/>
                  </a:lnSpc>
                </a:pPr>
                <a:endParaRPr lang="en-US" sz="168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A945F-0473-4D81-94A8-0FE50937FC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732023" y="963877"/>
                <a:ext cx="4783327" cy="493024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10</a:t>
            </a:r>
          </a:p>
        </p:txBody>
      </p:sp>
    </p:spTree>
    <p:extLst>
      <p:ext uri="{BB962C8B-B14F-4D97-AF65-F5344CB8AC3E}">
        <p14:creationId xmlns:p14="http://schemas.microsoft.com/office/powerpoint/2010/main" val="2357173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1">
            <a:extLst>
              <a:ext uri="{FF2B5EF4-FFF2-40B4-BE49-F238E27FC236}">
                <a16:creationId xmlns:a16="http://schemas.microsoft.com/office/drawing/2014/main" id="{F98ED85F-DCEE-4B50-802E-71A6E3E12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41173" y="662940"/>
            <a:ext cx="8661654" cy="6217920"/>
          </a:xfrm>
          <a:prstGeom prst="rect">
            <a:avLst/>
          </a:prstGeom>
          <a:solidFill>
            <a:schemeClr val="tx1">
              <a:alpha val="14000"/>
            </a:schemeClr>
          </a:solidFill>
          <a:ln w="127000" cap="sq" cmpd="thinThick">
            <a:solidFill>
              <a:schemeClr val="tx1">
                <a:lumMod val="85000"/>
                <a:lumOff val="15000"/>
                <a:alpha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624DB8-EC96-477F-94A5-CAE8238FD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74725"/>
            <a:ext cx="78867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kern="1200">
                <a:solidFill>
                  <a:schemeClr val="tx1"/>
                </a:solidFill>
                <a:latin typeface="Arial"/>
                <a:ea typeface="+mj-ea"/>
                <a:cs typeface="+mj-cs"/>
              </a:rPr>
              <a:t>Illustration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E80BE0-D0AF-4324-8596-70ECFB209EF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28650" y="2057400"/>
                <a:ext cx="7886700" cy="3871762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pPr indent="-228600">
                  <a:lnSpc>
                    <a:spcPct val="90000"/>
                  </a:lnSpc>
                </a:pPr>
                <a:r>
                  <a:rPr lang="en-US" sz="1680" b="0" dirty="0"/>
                  <a:t>Signal as a function of time: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80" b="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80" b="0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68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8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80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m:rPr>
                                  <m:sty m:val="p"/>
                                </m:rPr>
                                <a:rPr lang="en-US" sz="1680" b="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</m:e>
                      </m:func>
                      <m:r>
                        <a:rPr lang="en-US" sz="1680" b="0" i="0">
                          <a:latin typeface="Cambria Math" panose="02040503050406030204" pitchFamily="18" charset="0"/>
                        </a:rPr>
                        <m:t>+2</m:t>
                      </m:r>
                      <m:r>
                        <m:rPr>
                          <m:sty m:val="p"/>
                        </m:rPr>
                        <a:rPr lang="en-US" sz="1680" b="0" i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 sz="1680" b="0" i="0">
                          <a:latin typeface="Cambria Math" panose="02040503050406030204" pitchFamily="18" charset="0"/>
                        </a:rPr>
                        <m:t>(6</m:t>
                      </m:r>
                      <m:r>
                        <m:rPr>
                          <m:sty m:val="p"/>
                        </m:rPr>
                        <a:rPr lang="en-US" sz="1680" b="0" i="1"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80" dirty="0"/>
              </a:p>
              <a:p>
                <a:pPr indent="-228600">
                  <a:lnSpc>
                    <a:spcPct val="90000"/>
                  </a:lnSpc>
                </a:pPr>
                <a:r>
                  <a:rPr lang="en-US" sz="1680" dirty="0"/>
                  <a:t>Its Fourier transform: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1680" b="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±1</m:t>
                          </m:r>
                        </m:e>
                      </m:d>
                      <m:r>
                        <a:rPr lang="en-US" sz="1680" b="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80" b="0" i="1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68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680" b="0" i="1">
                              <a:latin typeface="Cambria Math" panose="02040503050406030204" pitchFamily="18" charset="0"/>
                            </a:rPr>
                            <m:t>±3</m:t>
                          </m:r>
                        </m:e>
                      </m:d>
                    </m:oMath>
                  </m:oMathPara>
                </a14:m>
                <a:endParaRPr lang="en-US" sz="1680" dirty="0"/>
              </a:p>
              <a:p>
                <a:pPr indent="-228600">
                  <a:lnSpc>
                    <a:spcPct val="90000"/>
                  </a:lnSpc>
                </a:pPr>
                <a:r>
                  <a:rPr lang="en-US" sz="1680" dirty="0"/>
                  <a:t>If we treat it as a low pass signal (described by low frequencies), then its bandwidth is </a:t>
                </a:r>
                <a:r>
                  <a:rPr lang="en-US" sz="1680" i="1" dirty="0"/>
                  <a:t> </a:t>
                </a:r>
                <a14:m>
                  <m:oMath xmlns:m="http://schemas.openxmlformats.org/officeDocument/2006/math">
                    <m:r>
                      <a:rPr lang="en-US" sz="1680" b="0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80" b="0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sz="1680" dirty="0"/>
                  <a:t>.</a:t>
                </a:r>
              </a:p>
              <a:p>
                <a:pPr indent="-228600">
                  <a:lnSpc>
                    <a:spcPct val="90000"/>
                  </a:lnSpc>
                </a:pPr>
                <a:r>
                  <a:rPr lang="en-US" sz="1680" dirty="0"/>
                  <a:t>Let us sample the signal at the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8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80" b="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8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680" b="0" i="1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sz="1680" dirty="0"/>
                  <a:t> Hz (the sampling period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8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8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8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680" b="0" i="1">
                        <a:latin typeface="Cambria Math" panose="02040503050406030204" pitchFamily="18" charset="0"/>
                      </a:rPr>
                      <m:t>=1/8</m:t>
                    </m:r>
                  </m:oMath>
                </a14:m>
                <a:r>
                  <a:rPr lang="en-US" sz="1680" dirty="0"/>
                  <a:t> s.  </a:t>
                </a:r>
              </a:p>
              <a:p>
                <a:pPr marL="0" indent="-228600">
                  <a:lnSpc>
                    <a:spcPct val="90000"/>
                  </a:lnSpc>
                </a:pPr>
                <a:endParaRPr lang="en-US" sz="168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E80BE0-D0AF-4324-8596-70ECFB209E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28650" y="2057400"/>
                <a:ext cx="7886700" cy="3871762"/>
              </a:xfrm>
              <a:blipFill>
                <a:blip r:embed="rId2"/>
                <a:stretch>
                  <a:fillRect t="-18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771658-C03A-4876-8007-BFA909CC72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420485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4/05/2013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F9749-553E-4ABC-B237-B3F7F362D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485"/>
            <a:ext cx="30861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rPr>
              <a:t>EE 329 </a:t>
            </a:r>
          </a:p>
        </p:txBody>
      </p:sp>
      <p:sp>
        <p:nvSpPr>
          <p:cNvPr id="17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10</a:t>
            </a:r>
          </a:p>
        </p:txBody>
      </p:sp>
    </p:spTree>
    <p:extLst>
      <p:ext uri="{BB962C8B-B14F-4D97-AF65-F5344CB8AC3E}">
        <p14:creationId xmlns:p14="http://schemas.microsoft.com/office/powerpoint/2010/main" val="18972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lowchart: Document 20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631" y="342900"/>
            <a:ext cx="2436019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9B6DEB-BA1D-4E3A-A19A-D6B4D55FA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14062"/>
            <a:ext cx="2130136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2240" kern="1200">
                <a:solidFill>
                  <a:srgbClr val="FFFFFF"/>
                </a:solidFill>
                <a:latin typeface="Arial"/>
                <a:ea typeface="+mj-ea"/>
                <a:cs typeface="+mj-cs"/>
              </a:rPr>
              <a:t>Illustration</a:t>
            </a:r>
          </a:p>
        </p:txBody>
      </p:sp>
      <p:pic>
        <p:nvPicPr>
          <p:cNvPr id="9" name="Picture 8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D89BFBFC-C100-4FFC-84BE-9DC642BB13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5949" y="1485467"/>
            <a:ext cx="5510653" cy="4573841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23431-5FB2-4FC2-AED6-061812578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8650" y="6699250"/>
            <a:ext cx="4470713" cy="365125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rPr>
              <a:t>EE 329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FB0938-D66F-4E27-B3B2-A0784AA10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5312" y="6699250"/>
            <a:ext cx="1917593" cy="365125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4/05/2013</a:t>
            </a:r>
          </a:p>
        </p:txBody>
      </p:sp>
      <p:sp>
        <p:nvSpPr>
          <p:cNvPr id="22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10</a:t>
            </a:r>
          </a:p>
        </p:txBody>
      </p:sp>
    </p:spTree>
    <p:extLst>
      <p:ext uri="{BB962C8B-B14F-4D97-AF65-F5344CB8AC3E}">
        <p14:creationId xmlns:p14="http://schemas.microsoft.com/office/powerpoint/2010/main" val="522917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98ED85F-DCEE-4B50-802E-71A6E3E12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41173" y="662940"/>
            <a:ext cx="8661654" cy="6217920"/>
          </a:xfrm>
          <a:prstGeom prst="rect">
            <a:avLst/>
          </a:prstGeom>
          <a:solidFill>
            <a:schemeClr val="tx1">
              <a:alpha val="14000"/>
            </a:schemeClr>
          </a:solidFill>
          <a:ln w="127000" cap="sq" cmpd="thinThick">
            <a:solidFill>
              <a:schemeClr val="tx1">
                <a:lumMod val="85000"/>
                <a:lumOff val="15000"/>
                <a:alpha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36FCA-84FF-45CA-9839-3D28B6692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74725"/>
            <a:ext cx="78867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kern="1200" dirty="0">
                <a:solidFill>
                  <a:schemeClr val="tx1"/>
                </a:solidFill>
                <a:latin typeface="Arial"/>
                <a:ea typeface="+mj-ea"/>
                <a:cs typeface="+mj-cs"/>
              </a:rPr>
              <a:t>FT of sampled signal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A887F-EA03-4DEB-9BD4-7C3061C70C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28650" y="2057400"/>
                <a:ext cx="7886700" cy="3871762"/>
              </a:xfrm>
            </p:spPr>
            <p:txBody>
              <a:bodyPr vert="horz" lIns="91440" tIns="45720" rIns="91440" bIns="45720" rtlCol="0">
                <a:normAutofit lnSpcReduction="10000"/>
              </a:bodyPr>
              <a:lstStyle/>
              <a:p>
                <a:pPr indent="-228600">
                  <a:lnSpc>
                    <a:spcPct val="90000"/>
                  </a:lnSpc>
                </a:pPr>
                <a:r>
                  <a:rPr lang="en-US" dirty="0"/>
                  <a:t>FT of the sampled signal: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>
                          <a:latin typeface="Cambria Math" panose="02040503050406030204" pitchFamily="18" charset="0"/>
                        </a:rPr>
                        <m:t>∗</m:t>
                      </m:r>
                      <m:nary>
                        <m:naryPr>
                          <m:chr m:val="∑"/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“*” stands for correlation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</a:rPr>
                      <m:t>=1/</m:t>
                    </m:r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-228600">
                  <a:lnSpc>
                    <a:spcPct val="90000"/>
                  </a:lnSpc>
                </a:pPr>
                <a:r>
                  <a:rPr lang="en-US" dirty="0"/>
                  <a:t>It can also be written as: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rgbClr val="C00000"/>
                    </a:solidFill>
                  </a:rPr>
                  <a:t>Many copies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!</a:t>
                </a:r>
              </a:p>
              <a:p>
                <a:pPr indent="-228600">
                  <a:lnSpc>
                    <a:spcPct val="90000"/>
                  </a:lnSpc>
                </a:pPr>
                <a:endParaRPr lang="en-US" sz="168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A887F-EA03-4DEB-9BD4-7C3061C70C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28650" y="2057400"/>
                <a:ext cx="7886700" cy="3871762"/>
              </a:xfrm>
              <a:blipFill>
                <a:blip r:embed="rId2"/>
                <a:stretch>
                  <a:fillRect l="-1546" t="-3622"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18E82D-FACB-45BB-8812-25B42301A3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420485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4/05/2013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0265B2-3B06-4DEB-8360-5F89220D2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485"/>
            <a:ext cx="30861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rPr>
              <a:t>EE 329 </a:t>
            </a:r>
          </a:p>
        </p:txBody>
      </p:sp>
      <p:sp>
        <p:nvSpPr>
          <p:cNvPr id="13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10</a:t>
            </a:r>
          </a:p>
        </p:txBody>
      </p:sp>
    </p:spTree>
    <p:extLst>
      <p:ext uri="{BB962C8B-B14F-4D97-AF65-F5344CB8AC3E}">
        <p14:creationId xmlns:p14="http://schemas.microsoft.com/office/powerpoint/2010/main" val="1124874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0992ED3-FA99-4FAD-A3CA-2B9B3BB8B4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9902" y="986367"/>
            <a:ext cx="2568323" cy="557318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E17194-BFFB-4AEB-B255-53677B030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343" y="1339850"/>
            <a:ext cx="2227007" cy="5028490"/>
          </a:xfrm>
        </p:spPr>
        <p:txBody>
          <a:bodyPr anchor="ctr">
            <a:normAutofit/>
          </a:bodyPr>
          <a:lstStyle/>
          <a:p>
            <a:r>
              <a:rPr lang="en-US" sz="2960">
                <a:solidFill>
                  <a:srgbClr val="FFFFFF"/>
                </a:solidFill>
              </a:rPr>
              <a:t>Back to illustration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94E474-DABE-442B-816E-D98A462734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0754" y="3905965"/>
                <a:ext cx="5047740" cy="23085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520"/>
                  <a:t>FT of the sampled signal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20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52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2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52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52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52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52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2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2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m:rPr>
                                  <m:sty m:val="p"/>
                                </m:rPr>
                                <a:rPr lang="en-US" sz="152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</m:e>
                      </m:func>
                      <m:r>
                        <a:rPr lang="en-US" sz="1520">
                          <a:latin typeface="Cambria Math" panose="02040503050406030204" pitchFamily="18" charset="0"/>
                        </a:rPr>
                        <m:t>+2</m:t>
                      </m:r>
                      <m:r>
                        <m:rPr>
                          <m:sty m:val="p"/>
                        </m:rPr>
                        <a:rPr lang="en-US" sz="1520"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sz="152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2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US" sz="1520" i="1">
                              <a:latin typeface="Cambria Math" panose="02040503050406030204" pitchFamily="18" charset="0"/>
                            </a:rPr>
                            <m:t>π</m:t>
                          </m:r>
                          <m:r>
                            <a:rPr lang="en-US" sz="152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1520"/>
              </a:p>
              <a:p>
                <a:pPr marL="0" indent="0">
                  <a:buNone/>
                </a:pPr>
                <a:r>
                  <a:rPr lang="en-US" sz="1520"/>
                  <a:t>sampled at the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2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520" b="0" i="1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sz="1520"/>
                  <a:t> Hz is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20" b="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520" b="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52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20" b="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152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52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52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520" b="0" i="1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sz="152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sz="152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20" b="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520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d>
                                <m:dPr>
                                  <m:ctrlPr>
                                    <a:rPr lang="en-US" sz="152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2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en-US" sz="1520" i="1">
                                      <a:latin typeface="Cambria Math" panose="02040503050406030204" pitchFamily="18" charset="0"/>
                                    </a:rPr>
                                    <m:t>±1−</m:t>
                                  </m:r>
                                  <m:r>
                                    <a:rPr lang="en-US" sz="1520" b="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520" b="0" i="1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e>
                              </m:d>
                              <m:r>
                                <a:rPr lang="en-US" sz="152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520" b="0" i="1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  <m:r>
                                <a:rPr lang="en-US" sz="1520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d>
                                <m:dPr>
                                  <m:ctrlPr>
                                    <a:rPr lang="en-US" sz="152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2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en-US" sz="1520" i="1">
                                      <a:latin typeface="Cambria Math" panose="02040503050406030204" pitchFamily="18" charset="0"/>
                                    </a:rPr>
                                    <m:t>±3−</m:t>
                                  </m:r>
                                  <m:r>
                                    <a:rPr lang="en-US" sz="1520" b="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520" b="0" i="1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US" sz="152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94E474-DABE-442B-816E-D98A462734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0754" y="3905965"/>
                <a:ext cx="5047740" cy="2308567"/>
              </a:xfrm>
              <a:blipFill>
                <a:blip r:embed="rId2"/>
                <a:stretch>
                  <a:fillRect l="-1087" t="-13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47D6721-BBE5-45DF-8742-C99E3FA09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754" y="1576556"/>
            <a:ext cx="5040237" cy="192794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E52633-A310-4924-A6A7-389A191872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24587" y="6699250"/>
            <a:ext cx="163195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sz="800">
                <a:solidFill>
                  <a:prstClr val="black">
                    <a:tint val="75000"/>
                  </a:prstClr>
                </a:solidFill>
              </a:rPr>
              <a:t>4/05/2013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FEFA0-F683-4D22-ABBE-7A9583A9D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2600" y="6699250"/>
            <a:ext cx="5265737" cy="365125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US" sz="800">
                <a:solidFill>
                  <a:prstClr val="black">
                    <a:tint val="75000"/>
                  </a:prstClr>
                </a:solidFill>
              </a:rPr>
              <a:t>EE 329 </a:t>
            </a:r>
          </a:p>
        </p:txBody>
      </p:sp>
      <p:sp>
        <p:nvSpPr>
          <p:cNvPr id="25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10</a:t>
            </a:r>
          </a:p>
        </p:txBody>
      </p:sp>
    </p:spTree>
    <p:extLst>
      <p:ext uri="{BB962C8B-B14F-4D97-AF65-F5344CB8AC3E}">
        <p14:creationId xmlns:p14="http://schemas.microsoft.com/office/powerpoint/2010/main" val="1454450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571500"/>
            <a:ext cx="8229600" cy="1143000"/>
          </a:xfrm>
        </p:spPr>
        <p:txBody>
          <a:bodyPr/>
          <a:lstStyle/>
          <a:p>
            <a:r>
              <a:rPr lang="en-US" dirty="0" err="1">
                <a:solidFill>
                  <a:srgbClr val="0070C0"/>
                </a:solidFill>
              </a:rPr>
              <a:t>Nyquist</a:t>
            </a:r>
            <a:r>
              <a:rPr lang="en-US" dirty="0">
                <a:solidFill>
                  <a:srgbClr val="0070C0"/>
                </a:solidFill>
              </a:rPr>
              <a:t> Sampling Theorem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>
          <a:xfrm>
            <a:off x="152400" y="2324100"/>
            <a:ext cx="2743200" cy="2667000"/>
          </a:xfrm>
        </p:spPr>
        <p:txBody>
          <a:bodyPr>
            <a:normAutofit/>
          </a:bodyPr>
          <a:lstStyle/>
          <a:p>
            <a:r>
              <a:rPr lang="en-US" sz="1600" dirty="0"/>
              <a:t>W=1000 is the bandwidth of a band pass signal </a:t>
            </a:r>
          </a:p>
          <a:p>
            <a:r>
              <a:rPr lang="en-US" sz="1600" dirty="0"/>
              <a:t>Find the smallest value of sampling rate such that spectral copies do not overlap. 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3429000" y="2933700"/>
            <a:ext cx="5486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>
            <a:off x="5638800" y="20955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/>
          <p:cNvCxnSpPr/>
          <p:nvPr/>
        </p:nvCxnSpPr>
        <p:spPr>
          <a:xfrm rot="5400000" flipH="1" flipV="1">
            <a:off x="5373291" y="2438003"/>
            <a:ext cx="1447006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>
            <a:off x="7467600" y="20955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>
            <a:off x="3810000" y="20955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5870514" y="29453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00" y="3009900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0" y="3009900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- 4000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1943100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1204" y="1943100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5257" y="294536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05400" y="2945368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- 1000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92266" y="2392859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2400300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9956" y="3005435"/>
            <a:ext cx="279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f</a:t>
            </a:r>
          </a:p>
        </p:txBody>
      </p:sp>
      <p:cxnSp>
        <p:nvCxnSpPr>
          <p:cNvPr id="46" name="Straight Arrow Connector 45"/>
          <p:cNvCxnSpPr/>
          <p:nvPr/>
        </p:nvCxnSpPr>
        <p:spPr>
          <a:xfrm>
            <a:off x="3429000" y="4533106"/>
            <a:ext cx="5486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>
            <a:off x="5638800" y="3694906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/>
          <p:cNvCxnSpPr/>
          <p:nvPr/>
        </p:nvCxnSpPr>
        <p:spPr>
          <a:xfrm rot="5400000" flipH="1" flipV="1">
            <a:off x="5373291" y="4037409"/>
            <a:ext cx="1447006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>
            <a:off x="7467600" y="3694906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/>
          <p:cNvSpPr/>
          <p:nvPr/>
        </p:nvSpPr>
        <p:spPr>
          <a:xfrm>
            <a:off x="3810000" y="3694906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5870514" y="45447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2457" y="454556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86425" y="4545568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- 2000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3542506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41204" y="3542506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92266" y="3992265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3999706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59956" y="4604841"/>
            <a:ext cx="279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f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4724400" y="36957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Isosceles Triangle 62"/>
          <p:cNvSpPr/>
          <p:nvPr/>
        </p:nvSpPr>
        <p:spPr>
          <a:xfrm>
            <a:off x="6553200" y="36957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5006666" y="4000500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35466" y="4000500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3429000" y="6298168"/>
            <a:ext cx="5486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/>
          <p:cNvSpPr/>
          <p:nvPr/>
        </p:nvSpPr>
        <p:spPr>
          <a:xfrm>
            <a:off x="5638800" y="5459968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Arrow Connector 67"/>
          <p:cNvCxnSpPr/>
          <p:nvPr/>
        </p:nvCxnSpPr>
        <p:spPr>
          <a:xfrm rot="5400000" flipH="1" flipV="1">
            <a:off x="5373291" y="5802471"/>
            <a:ext cx="1447006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Isosceles Triangle 68"/>
          <p:cNvSpPr/>
          <p:nvPr/>
        </p:nvSpPr>
        <p:spPr>
          <a:xfrm>
            <a:off x="7467600" y="5459968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/>
          <p:cNvSpPr/>
          <p:nvPr/>
        </p:nvSpPr>
        <p:spPr>
          <a:xfrm>
            <a:off x="3810000" y="5459968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/>
          <p:cNvSpPr txBox="1"/>
          <p:nvPr/>
        </p:nvSpPr>
        <p:spPr>
          <a:xfrm>
            <a:off x="5870514" y="63098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5307568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41204" y="5307568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05257" y="6309836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05400" y="6309836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- 1000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92266" y="5757327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0" y="5764768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83" name="Isosceles Triangle 82"/>
          <p:cNvSpPr/>
          <p:nvPr/>
        </p:nvSpPr>
        <p:spPr>
          <a:xfrm>
            <a:off x="6096000" y="54483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Isosceles Triangle 83"/>
          <p:cNvSpPr/>
          <p:nvPr/>
        </p:nvSpPr>
        <p:spPr>
          <a:xfrm>
            <a:off x="6553200" y="54483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Isosceles Triangle 84"/>
          <p:cNvSpPr/>
          <p:nvPr/>
        </p:nvSpPr>
        <p:spPr>
          <a:xfrm>
            <a:off x="7010400" y="54483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Isosceles Triangle 85"/>
          <p:cNvSpPr/>
          <p:nvPr/>
        </p:nvSpPr>
        <p:spPr>
          <a:xfrm>
            <a:off x="5181600" y="54483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Isosceles Triangle 86"/>
          <p:cNvSpPr/>
          <p:nvPr/>
        </p:nvSpPr>
        <p:spPr>
          <a:xfrm>
            <a:off x="4724400" y="54483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Isosceles Triangle 87"/>
          <p:cNvSpPr/>
          <p:nvPr/>
        </p:nvSpPr>
        <p:spPr>
          <a:xfrm>
            <a:off x="4267200" y="54483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Arrow Connector 89"/>
          <p:cNvCxnSpPr>
            <a:stCxn id="51" idx="2"/>
            <a:endCxn id="52" idx="2"/>
          </p:cNvCxnSpPr>
          <p:nvPr/>
        </p:nvCxnSpPr>
        <p:spPr>
          <a:xfrm rot="16200000" flipH="1">
            <a:off x="6504696" y="4430767"/>
            <a:ext cx="794" cy="967472"/>
          </a:xfrm>
          <a:prstGeom prst="straightConnector1">
            <a:avLst/>
          </a:prstGeom>
          <a:ln w="28575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172200" y="4914900"/>
            <a:ext cx="68640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240" b="1" dirty="0">
                <a:solidFill>
                  <a:srgbClr val="FF0000"/>
                </a:solidFill>
              </a:rPr>
              <a:t>2W</a:t>
            </a:r>
          </a:p>
        </p:txBody>
      </p:sp>
      <p:sp>
        <p:nvSpPr>
          <p:cNvPr id="92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3"/>
          <p:cNvSpPr>
            <a:spLocks noGrp="1"/>
          </p:cNvSpPr>
          <p:nvPr>
            <p:ph type="title"/>
          </p:nvPr>
        </p:nvSpPr>
        <p:spPr>
          <a:xfrm>
            <a:off x="457200" y="419100"/>
            <a:ext cx="8229600" cy="1143000"/>
          </a:xfrm>
        </p:spPr>
        <p:txBody>
          <a:bodyPr/>
          <a:lstStyle/>
          <a:p>
            <a:r>
              <a:rPr lang="en-US" dirty="0" err="1">
                <a:solidFill>
                  <a:srgbClr val="0070C0"/>
                </a:solidFill>
              </a:rPr>
              <a:t>Nyquist</a:t>
            </a:r>
            <a:r>
              <a:rPr lang="en-US" dirty="0">
                <a:solidFill>
                  <a:srgbClr val="0070C0"/>
                </a:solidFill>
              </a:rPr>
              <a:t> Sampling Theorem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1"/>
          </p:nvPr>
        </p:nvSpPr>
        <p:spPr>
          <a:xfrm>
            <a:off x="228600" y="1943100"/>
            <a:ext cx="2819400" cy="4525963"/>
          </a:xfrm>
        </p:spPr>
        <p:txBody>
          <a:bodyPr>
            <a:normAutofit/>
          </a:bodyPr>
          <a:lstStyle/>
          <a:p>
            <a:r>
              <a:rPr lang="en-US" sz="1600" dirty="0"/>
              <a:t>Assume that sampling frequency is high (spectral copies do not overlap)  </a:t>
            </a:r>
          </a:p>
          <a:p>
            <a:r>
              <a:rPr lang="en-US" sz="1600" dirty="0"/>
              <a:t>How to recover the original spectrum?  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276600" y="3162300"/>
            <a:ext cx="5486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>
            <a:off x="5486400" y="23241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 rot="5400000" flipH="1" flipV="1">
            <a:off x="5220891" y="2666603"/>
            <a:ext cx="1447006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>
            <a:off x="7315200" y="23241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/>
          <p:cNvSpPr/>
          <p:nvPr/>
        </p:nvSpPr>
        <p:spPr>
          <a:xfrm>
            <a:off x="3657600" y="23241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718114" y="3173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7600" y="3238500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238500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- 4000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2171700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8804" y="2171700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2857" y="317396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3000" y="3173968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- 1000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9866" y="2621459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2628900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7556" y="3234035"/>
            <a:ext cx="279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f</a:t>
            </a:r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3276600" y="5676106"/>
            <a:ext cx="5486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>
            <a:off x="5486400" y="4837906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 rot="5400000" flipH="1" flipV="1">
            <a:off x="5220891" y="5180409"/>
            <a:ext cx="1447006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>
            <a:off x="7315200" y="4837906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Isosceles Triangle 29"/>
          <p:cNvSpPr/>
          <p:nvPr/>
        </p:nvSpPr>
        <p:spPr>
          <a:xfrm>
            <a:off x="3657600" y="4837906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5718114" y="56877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057" y="568856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4025" y="5688568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- 2000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48000" y="4685506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8804" y="4685506"/>
            <a:ext cx="574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9866" y="5135265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00" y="5142706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4572000" y="48387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Isosceles Triangle 38"/>
          <p:cNvSpPr/>
          <p:nvPr/>
        </p:nvSpPr>
        <p:spPr>
          <a:xfrm>
            <a:off x="6400800" y="4838700"/>
            <a:ext cx="914400" cy="838200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4854266" y="5143500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83066" y="5143500"/>
            <a:ext cx="327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dirty="0"/>
              <a:t>.</a:t>
            </a:r>
          </a:p>
        </p:txBody>
      </p:sp>
      <p:cxnSp>
        <p:nvCxnSpPr>
          <p:cNvPr id="49" name="Straight Connector 48"/>
          <p:cNvCxnSpPr/>
          <p:nvPr/>
        </p:nvCxnSpPr>
        <p:spPr>
          <a:xfrm rot="5400000" flipH="1" flipV="1">
            <a:off x="4876800" y="3009900"/>
            <a:ext cx="3048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5029200" y="2857500"/>
            <a:ext cx="18288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rot="5400000" flipH="1" flipV="1">
            <a:off x="6705600" y="3009900"/>
            <a:ext cx="3048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800600" y="2324100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(1/f  )</a:t>
            </a:r>
          </a:p>
        </p:txBody>
      </p:sp>
      <p:grpSp>
        <p:nvGrpSpPr>
          <p:cNvPr id="58" name="Group 57"/>
          <p:cNvGrpSpPr/>
          <p:nvPr/>
        </p:nvGrpSpPr>
        <p:grpSpPr>
          <a:xfrm>
            <a:off x="6031906" y="3554968"/>
            <a:ext cx="2654894" cy="597932"/>
            <a:chOff x="6260506" y="2907268"/>
            <a:chExt cx="2654894" cy="597932"/>
          </a:xfrm>
        </p:grpSpPr>
        <p:sp>
          <p:nvSpPr>
            <p:cNvPr id="55" name="TextBox 54"/>
            <p:cNvSpPr txBox="1"/>
            <p:nvPr/>
          </p:nvSpPr>
          <p:spPr>
            <a:xfrm>
              <a:off x="6260506" y="2907268"/>
              <a:ext cx="265489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40">
                  <a:solidFill>
                    <a:srgbClr val="FF0000"/>
                  </a:solidFill>
                </a:rPr>
                <a:t>W &lt; f        &lt; f - W</a:t>
              </a:r>
              <a:endParaRPr lang="en-US" sz="2240" dirty="0">
                <a:solidFill>
                  <a:srgbClr val="FF0000"/>
                </a:solidFill>
              </a:endParaRP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031415" y="3135868"/>
              <a:ext cx="753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cutoff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013106" y="313586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s</a:t>
              </a:r>
            </a:p>
          </p:txBody>
        </p:sp>
      </p:grpSp>
      <p:sp>
        <p:nvSpPr>
          <p:cNvPr id="59" name="TextBox 58"/>
          <p:cNvSpPr txBox="1"/>
          <p:nvPr/>
        </p:nvSpPr>
        <p:spPr>
          <a:xfrm>
            <a:off x="8458200" y="5748635"/>
            <a:ext cx="279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48644" y="2400300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60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Sampling with Zero-Order Hold </a:t>
            </a:r>
          </a:p>
        </p:txBody>
      </p:sp>
      <p:cxnSp>
        <p:nvCxnSpPr>
          <p:cNvPr id="13" name="Straight Connector 12"/>
          <p:cNvCxnSpPr/>
          <p:nvPr/>
        </p:nvCxnSpPr>
        <p:spPr>
          <a:xfrm>
            <a:off x="533400" y="3238500"/>
            <a:ext cx="289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13"/>
          <p:cNvSpPr/>
          <p:nvPr/>
        </p:nvSpPr>
        <p:spPr>
          <a:xfrm>
            <a:off x="552450" y="1692275"/>
            <a:ext cx="2762250" cy="1393825"/>
          </a:xfrm>
          <a:custGeom>
            <a:avLst/>
            <a:gdLst>
              <a:gd name="connsiteX0" fmla="*/ 0 w 2762250"/>
              <a:gd name="connsiteY0" fmla="*/ 1393825 h 1393825"/>
              <a:gd name="connsiteX1" fmla="*/ 114300 w 2762250"/>
              <a:gd name="connsiteY1" fmla="*/ 1222375 h 1393825"/>
              <a:gd name="connsiteX2" fmla="*/ 476250 w 2762250"/>
              <a:gd name="connsiteY2" fmla="*/ 612775 h 1393825"/>
              <a:gd name="connsiteX3" fmla="*/ 1066800 w 2762250"/>
              <a:gd name="connsiteY3" fmla="*/ 841375 h 1393825"/>
              <a:gd name="connsiteX4" fmla="*/ 1390650 w 2762250"/>
              <a:gd name="connsiteY4" fmla="*/ 307975 h 1393825"/>
              <a:gd name="connsiteX5" fmla="*/ 1657350 w 2762250"/>
              <a:gd name="connsiteY5" fmla="*/ 41275 h 1393825"/>
              <a:gd name="connsiteX6" fmla="*/ 1905000 w 2762250"/>
              <a:gd name="connsiteY6" fmla="*/ 60325 h 1393825"/>
              <a:gd name="connsiteX7" fmla="*/ 2038350 w 2762250"/>
              <a:gd name="connsiteY7" fmla="*/ 155575 h 1393825"/>
              <a:gd name="connsiteX8" fmla="*/ 2152650 w 2762250"/>
              <a:gd name="connsiteY8" fmla="*/ 403225 h 1393825"/>
              <a:gd name="connsiteX9" fmla="*/ 2171700 w 2762250"/>
              <a:gd name="connsiteY9" fmla="*/ 479425 h 1393825"/>
              <a:gd name="connsiteX10" fmla="*/ 2228850 w 2762250"/>
              <a:gd name="connsiteY10" fmla="*/ 650875 h 1393825"/>
              <a:gd name="connsiteX11" fmla="*/ 2305050 w 2762250"/>
              <a:gd name="connsiteY11" fmla="*/ 784225 h 1393825"/>
              <a:gd name="connsiteX12" fmla="*/ 2381250 w 2762250"/>
              <a:gd name="connsiteY12" fmla="*/ 898525 h 1393825"/>
              <a:gd name="connsiteX13" fmla="*/ 2438400 w 2762250"/>
              <a:gd name="connsiteY13" fmla="*/ 993775 h 1393825"/>
              <a:gd name="connsiteX14" fmla="*/ 2667000 w 2762250"/>
              <a:gd name="connsiteY14" fmla="*/ 1184275 h 1393825"/>
              <a:gd name="connsiteX15" fmla="*/ 2743200 w 2762250"/>
              <a:gd name="connsiteY15" fmla="*/ 1241425 h 1393825"/>
              <a:gd name="connsiteX16" fmla="*/ 2762250 w 2762250"/>
              <a:gd name="connsiteY16" fmla="*/ 1260475 h 139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62250" h="1393825">
                <a:moveTo>
                  <a:pt x="0" y="1393825"/>
                </a:moveTo>
                <a:cubicBezTo>
                  <a:pt x="17462" y="1373187"/>
                  <a:pt x="34925" y="1352550"/>
                  <a:pt x="114300" y="1222375"/>
                </a:cubicBezTo>
                <a:cubicBezTo>
                  <a:pt x="193675" y="1092200"/>
                  <a:pt x="317500" y="676275"/>
                  <a:pt x="476250" y="612775"/>
                </a:cubicBezTo>
                <a:cubicBezTo>
                  <a:pt x="635000" y="549275"/>
                  <a:pt x="914400" y="892175"/>
                  <a:pt x="1066800" y="841375"/>
                </a:cubicBezTo>
                <a:cubicBezTo>
                  <a:pt x="1219200" y="790575"/>
                  <a:pt x="1292225" y="441325"/>
                  <a:pt x="1390650" y="307975"/>
                </a:cubicBezTo>
                <a:cubicBezTo>
                  <a:pt x="1489075" y="174625"/>
                  <a:pt x="1571625" y="82550"/>
                  <a:pt x="1657350" y="41275"/>
                </a:cubicBezTo>
                <a:cubicBezTo>
                  <a:pt x="1743075" y="0"/>
                  <a:pt x="1841500" y="41275"/>
                  <a:pt x="1905000" y="60325"/>
                </a:cubicBezTo>
                <a:cubicBezTo>
                  <a:pt x="1968500" y="79375"/>
                  <a:pt x="1997075" y="98425"/>
                  <a:pt x="2038350" y="155575"/>
                </a:cubicBezTo>
                <a:cubicBezTo>
                  <a:pt x="2079625" y="212725"/>
                  <a:pt x="2130425" y="349250"/>
                  <a:pt x="2152650" y="403225"/>
                </a:cubicBezTo>
                <a:cubicBezTo>
                  <a:pt x="2174875" y="457200"/>
                  <a:pt x="2159000" y="438150"/>
                  <a:pt x="2171700" y="479425"/>
                </a:cubicBezTo>
                <a:cubicBezTo>
                  <a:pt x="2184400" y="520700"/>
                  <a:pt x="2206625" y="600075"/>
                  <a:pt x="2228850" y="650875"/>
                </a:cubicBezTo>
                <a:cubicBezTo>
                  <a:pt x="2251075" y="701675"/>
                  <a:pt x="2279650" y="742950"/>
                  <a:pt x="2305050" y="784225"/>
                </a:cubicBezTo>
                <a:cubicBezTo>
                  <a:pt x="2330450" y="825500"/>
                  <a:pt x="2359025" y="863600"/>
                  <a:pt x="2381250" y="898525"/>
                </a:cubicBezTo>
                <a:cubicBezTo>
                  <a:pt x="2403475" y="933450"/>
                  <a:pt x="2390775" y="946150"/>
                  <a:pt x="2438400" y="993775"/>
                </a:cubicBezTo>
                <a:cubicBezTo>
                  <a:pt x="2486025" y="1041400"/>
                  <a:pt x="2616200" y="1143000"/>
                  <a:pt x="2667000" y="1184275"/>
                </a:cubicBezTo>
                <a:cubicBezTo>
                  <a:pt x="2717800" y="1225550"/>
                  <a:pt x="2727325" y="1228725"/>
                  <a:pt x="2743200" y="1241425"/>
                </a:cubicBezTo>
                <a:cubicBezTo>
                  <a:pt x="2759075" y="1254125"/>
                  <a:pt x="2760662" y="1257300"/>
                  <a:pt x="2762250" y="1260475"/>
                </a:cubicBezTo>
              </a:path>
            </a:pathLst>
          </a:cu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3810000" y="2171700"/>
            <a:ext cx="1524000" cy="914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3839687" y="2247900"/>
            <a:ext cx="15942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920" dirty="0"/>
              <a:t>Zero-order </a:t>
            </a:r>
          </a:p>
          <a:p>
            <a:pPr algn="ctr"/>
            <a:r>
              <a:rPr lang="en-US" sz="1920" dirty="0"/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467100"/>
            <a:ext cx="675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x(t) 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5715000" y="3238500"/>
            <a:ext cx="289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5734050" y="1692275"/>
            <a:ext cx="2762250" cy="1393825"/>
          </a:xfrm>
          <a:custGeom>
            <a:avLst/>
            <a:gdLst>
              <a:gd name="connsiteX0" fmla="*/ 0 w 2762250"/>
              <a:gd name="connsiteY0" fmla="*/ 1393825 h 1393825"/>
              <a:gd name="connsiteX1" fmla="*/ 114300 w 2762250"/>
              <a:gd name="connsiteY1" fmla="*/ 1222375 h 1393825"/>
              <a:gd name="connsiteX2" fmla="*/ 476250 w 2762250"/>
              <a:gd name="connsiteY2" fmla="*/ 612775 h 1393825"/>
              <a:gd name="connsiteX3" fmla="*/ 1066800 w 2762250"/>
              <a:gd name="connsiteY3" fmla="*/ 841375 h 1393825"/>
              <a:gd name="connsiteX4" fmla="*/ 1390650 w 2762250"/>
              <a:gd name="connsiteY4" fmla="*/ 307975 h 1393825"/>
              <a:gd name="connsiteX5" fmla="*/ 1657350 w 2762250"/>
              <a:gd name="connsiteY5" fmla="*/ 41275 h 1393825"/>
              <a:gd name="connsiteX6" fmla="*/ 1905000 w 2762250"/>
              <a:gd name="connsiteY6" fmla="*/ 60325 h 1393825"/>
              <a:gd name="connsiteX7" fmla="*/ 2038350 w 2762250"/>
              <a:gd name="connsiteY7" fmla="*/ 155575 h 1393825"/>
              <a:gd name="connsiteX8" fmla="*/ 2152650 w 2762250"/>
              <a:gd name="connsiteY8" fmla="*/ 403225 h 1393825"/>
              <a:gd name="connsiteX9" fmla="*/ 2171700 w 2762250"/>
              <a:gd name="connsiteY9" fmla="*/ 479425 h 1393825"/>
              <a:gd name="connsiteX10" fmla="*/ 2228850 w 2762250"/>
              <a:gd name="connsiteY10" fmla="*/ 650875 h 1393825"/>
              <a:gd name="connsiteX11" fmla="*/ 2305050 w 2762250"/>
              <a:gd name="connsiteY11" fmla="*/ 784225 h 1393825"/>
              <a:gd name="connsiteX12" fmla="*/ 2381250 w 2762250"/>
              <a:gd name="connsiteY12" fmla="*/ 898525 h 1393825"/>
              <a:gd name="connsiteX13" fmla="*/ 2438400 w 2762250"/>
              <a:gd name="connsiteY13" fmla="*/ 993775 h 1393825"/>
              <a:gd name="connsiteX14" fmla="*/ 2667000 w 2762250"/>
              <a:gd name="connsiteY14" fmla="*/ 1184275 h 1393825"/>
              <a:gd name="connsiteX15" fmla="*/ 2743200 w 2762250"/>
              <a:gd name="connsiteY15" fmla="*/ 1241425 h 1393825"/>
              <a:gd name="connsiteX16" fmla="*/ 2762250 w 2762250"/>
              <a:gd name="connsiteY16" fmla="*/ 1260475 h 139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62250" h="1393825">
                <a:moveTo>
                  <a:pt x="0" y="1393825"/>
                </a:moveTo>
                <a:cubicBezTo>
                  <a:pt x="17462" y="1373187"/>
                  <a:pt x="34925" y="1352550"/>
                  <a:pt x="114300" y="1222375"/>
                </a:cubicBezTo>
                <a:cubicBezTo>
                  <a:pt x="193675" y="1092200"/>
                  <a:pt x="317500" y="676275"/>
                  <a:pt x="476250" y="612775"/>
                </a:cubicBezTo>
                <a:cubicBezTo>
                  <a:pt x="635000" y="549275"/>
                  <a:pt x="914400" y="892175"/>
                  <a:pt x="1066800" y="841375"/>
                </a:cubicBezTo>
                <a:cubicBezTo>
                  <a:pt x="1219200" y="790575"/>
                  <a:pt x="1292225" y="441325"/>
                  <a:pt x="1390650" y="307975"/>
                </a:cubicBezTo>
                <a:cubicBezTo>
                  <a:pt x="1489075" y="174625"/>
                  <a:pt x="1571625" y="82550"/>
                  <a:pt x="1657350" y="41275"/>
                </a:cubicBezTo>
                <a:cubicBezTo>
                  <a:pt x="1743075" y="0"/>
                  <a:pt x="1841500" y="41275"/>
                  <a:pt x="1905000" y="60325"/>
                </a:cubicBezTo>
                <a:cubicBezTo>
                  <a:pt x="1968500" y="79375"/>
                  <a:pt x="1997075" y="98425"/>
                  <a:pt x="2038350" y="155575"/>
                </a:cubicBezTo>
                <a:cubicBezTo>
                  <a:pt x="2079625" y="212725"/>
                  <a:pt x="2130425" y="349250"/>
                  <a:pt x="2152650" y="403225"/>
                </a:cubicBezTo>
                <a:cubicBezTo>
                  <a:pt x="2174875" y="457200"/>
                  <a:pt x="2159000" y="438150"/>
                  <a:pt x="2171700" y="479425"/>
                </a:cubicBezTo>
                <a:cubicBezTo>
                  <a:pt x="2184400" y="520700"/>
                  <a:pt x="2206625" y="600075"/>
                  <a:pt x="2228850" y="650875"/>
                </a:cubicBezTo>
                <a:cubicBezTo>
                  <a:pt x="2251075" y="701675"/>
                  <a:pt x="2279650" y="742950"/>
                  <a:pt x="2305050" y="784225"/>
                </a:cubicBezTo>
                <a:cubicBezTo>
                  <a:pt x="2330450" y="825500"/>
                  <a:pt x="2359025" y="863600"/>
                  <a:pt x="2381250" y="898525"/>
                </a:cubicBezTo>
                <a:cubicBezTo>
                  <a:pt x="2403475" y="933450"/>
                  <a:pt x="2390775" y="946150"/>
                  <a:pt x="2438400" y="993775"/>
                </a:cubicBezTo>
                <a:cubicBezTo>
                  <a:pt x="2486025" y="1041400"/>
                  <a:pt x="2616200" y="1143000"/>
                  <a:pt x="2667000" y="1184275"/>
                </a:cubicBezTo>
                <a:cubicBezTo>
                  <a:pt x="2717800" y="1225550"/>
                  <a:pt x="2727325" y="1228725"/>
                  <a:pt x="2743200" y="1241425"/>
                </a:cubicBezTo>
                <a:cubicBezTo>
                  <a:pt x="2759075" y="1254125"/>
                  <a:pt x="2760662" y="1257300"/>
                  <a:pt x="2762250" y="1260475"/>
                </a:cubicBezTo>
              </a:path>
            </a:pathLst>
          </a:cu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 rot="5400000">
            <a:off x="5105400" y="2705100"/>
            <a:ext cx="18288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rot="5400000">
            <a:off x="5486400" y="2705100"/>
            <a:ext cx="18288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rot="5400000">
            <a:off x="5867400" y="2705100"/>
            <a:ext cx="18288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5400000">
            <a:off x="6096000" y="2628900"/>
            <a:ext cx="21336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rot="5400000">
            <a:off x="6477000" y="2552700"/>
            <a:ext cx="21336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rot="5400000">
            <a:off x="6858000" y="2552700"/>
            <a:ext cx="21336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rot="5400000">
            <a:off x="7391400" y="2705100"/>
            <a:ext cx="18288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6019800" y="2552700"/>
            <a:ext cx="3810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6400800" y="2324100"/>
            <a:ext cx="3810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6781800" y="2552700"/>
            <a:ext cx="3810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7162800" y="1943100"/>
            <a:ext cx="3810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543800" y="1714500"/>
            <a:ext cx="3810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7924800" y="2324100"/>
            <a:ext cx="3810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8305800" y="2781300"/>
            <a:ext cx="3810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rot="5400000">
            <a:off x="6286500" y="2438400"/>
            <a:ext cx="2286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rot="5400000">
            <a:off x="6667500" y="2438400"/>
            <a:ext cx="2286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rot="5400000">
            <a:off x="6819900" y="2209800"/>
            <a:ext cx="6858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rot="5400000">
            <a:off x="7429500" y="1828800"/>
            <a:ext cx="2286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>
            <a:cxnSpLocks/>
          </p:cNvCxnSpPr>
          <p:nvPr/>
        </p:nvCxnSpPr>
        <p:spPr>
          <a:xfrm rot="5400000">
            <a:off x="7581900" y="2057400"/>
            <a:ext cx="6858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cxnSpLocks/>
          </p:cNvCxnSpPr>
          <p:nvPr/>
        </p:nvCxnSpPr>
        <p:spPr>
          <a:xfrm>
            <a:off x="8305800" y="2324100"/>
            <a:ext cx="0" cy="45720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21015" y="3619500"/>
            <a:ext cx="881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x   (t)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62800" y="3848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75" name="Oval 74"/>
          <p:cNvSpPr/>
          <p:nvPr/>
        </p:nvSpPr>
        <p:spPr>
          <a:xfrm>
            <a:off x="2362200" y="4914900"/>
            <a:ext cx="685800" cy="6858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/>
          <p:cNvSpPr txBox="1"/>
          <p:nvPr/>
        </p:nvSpPr>
        <p:spPr>
          <a:xfrm>
            <a:off x="2590708" y="5067300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82" name="Straight Arrow Connector 81"/>
          <p:cNvCxnSpPr/>
          <p:nvPr/>
        </p:nvCxnSpPr>
        <p:spPr>
          <a:xfrm>
            <a:off x="1447800" y="5219700"/>
            <a:ext cx="914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/>
          <p:cNvCxnSpPr/>
          <p:nvPr/>
        </p:nvCxnSpPr>
        <p:spPr>
          <a:xfrm rot="5400000">
            <a:off x="2399506" y="4571206"/>
            <a:ext cx="6858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447800" y="4681835"/>
            <a:ext cx="675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x(t)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70090" y="4000500"/>
            <a:ext cx="603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c(t)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962400" y="4762500"/>
            <a:ext cx="2514600" cy="9144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3962400" y="4991100"/>
            <a:ext cx="259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20" dirty="0"/>
              <a:t>Hold for T seconds</a:t>
            </a:r>
          </a:p>
        </p:txBody>
      </p:sp>
      <p:cxnSp>
        <p:nvCxnSpPr>
          <p:cNvPr id="89" name="Straight Arrow Connector 88"/>
          <p:cNvCxnSpPr/>
          <p:nvPr/>
        </p:nvCxnSpPr>
        <p:spPr>
          <a:xfrm>
            <a:off x="3048000" y="5219700"/>
            <a:ext cx="914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/>
          <p:nvPr/>
        </p:nvCxnSpPr>
        <p:spPr>
          <a:xfrm>
            <a:off x="6477000" y="5219700"/>
            <a:ext cx="914400" cy="158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553200" y="4610100"/>
            <a:ext cx="881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x   (t) 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08714" y="48387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94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E02F3C71-C981-4614-98EA-D6C494F80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52662" y="664076"/>
            <a:ext cx="5380685" cy="5896743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5"/>
          <p:cNvSpPr txBox="1">
            <a:spLocks/>
          </p:cNvSpPr>
          <p:nvPr/>
        </p:nvSpPr>
        <p:spPr>
          <a:xfrm>
            <a:off x="616137" y="983163"/>
            <a:ext cx="4653738" cy="13449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kumimoji="0" lang="en-US" sz="2800" b="0" i="0" u="none" strike="noStrike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j-ea"/>
                <a:cs typeface="+mj-cs"/>
              </a:rPr>
              <a:t>Aliasing</a:t>
            </a:r>
          </a:p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sz="2800" b="0" i="0" u="none" strike="noStrike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j-ea"/>
              <a:cs typeface="+mj-cs"/>
            </a:endParaRPr>
          </a:p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  <a:defRPr/>
            </a:pPr>
            <a:endParaRPr kumimoji="0" lang="en-US" sz="2800" b="0" i="0" u="none" strike="noStrike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>
          <a:xfrm>
            <a:off x="616136" y="2464662"/>
            <a:ext cx="4653738" cy="3626917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80"/>
              <a:t>Left panel: Properly Sampled image of brick wall (493-by-599)  </a:t>
            </a:r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680"/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80"/>
              <a:t>Right panel: Spatial aliasing in the form of a </a:t>
            </a:r>
            <a:r>
              <a:rPr lang="en-US" sz="1680">
                <a:hlinkClick r:id="rId2" action="ppaction://hlinkfile" tooltip="Moiré pattern"/>
              </a:rPr>
              <a:t>Moiré pattern</a:t>
            </a:r>
            <a:r>
              <a:rPr lang="en-US" sz="1680"/>
              <a:t> (205-by-250) </a:t>
            </a:r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680"/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80"/>
              <a:t>http://en.wikipedia.org/wiki/Aliasing</a:t>
            </a:r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680"/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680"/>
          </a:p>
        </p:txBody>
      </p:sp>
      <p:pic>
        <p:nvPicPr>
          <p:cNvPr id="9" name="Picture 8" descr="Moire_pattern_of_bricks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096000" y="664840"/>
            <a:ext cx="2679172" cy="3257352"/>
          </a:xfrm>
          <a:prstGeom prst="rect">
            <a:avLst/>
          </a:prstGeom>
        </p:spPr>
      </p:pic>
      <p:pic>
        <p:nvPicPr>
          <p:cNvPr id="8" name="Picture 7" descr="Moire_pattern_of_bricks_small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74073" y="4469798"/>
            <a:ext cx="1425154" cy="1737993"/>
          </a:xfrm>
          <a:prstGeom prst="rect">
            <a:avLst/>
          </a:prstGeom>
        </p:spPr>
      </p:pic>
      <p:sp>
        <p:nvSpPr>
          <p:cNvPr id="27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457200" y="419100"/>
            <a:ext cx="8229600" cy="990600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Aliasing (another example)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1562100"/>
            <a:ext cx="4044805" cy="263366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9656" y="3848100"/>
            <a:ext cx="3988336" cy="2596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0" y="2171700"/>
            <a:ext cx="3335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Aliasing due to </a:t>
            </a:r>
            <a:r>
              <a:rPr lang="en-US" sz="1600" dirty="0" err="1"/>
              <a:t>undersampling</a:t>
            </a:r>
            <a:endParaRPr lang="en-US"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457200" y="5295900"/>
            <a:ext cx="3626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Application of anti-aliasing filter  </a:t>
            </a:r>
          </a:p>
        </p:txBody>
      </p:sp>
      <p:sp>
        <p:nvSpPr>
          <p:cNvPr id="13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10</a:t>
            </a:r>
          </a:p>
        </p:txBody>
      </p:sp>
    </p:spTree>
    <p:extLst>
      <p:ext uri="{BB962C8B-B14F-4D97-AF65-F5344CB8AC3E}">
        <p14:creationId xmlns:p14="http://schemas.microsoft.com/office/powerpoint/2010/main" val="2784948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439</Words>
  <Application>Microsoft Office PowerPoint</Application>
  <PresentationFormat>On-screen Show (4:3)</PresentationFormat>
  <Paragraphs>126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 Math</vt:lpstr>
      <vt:lpstr>Office Theme</vt:lpstr>
      <vt:lpstr>Ideal Sampling</vt:lpstr>
      <vt:lpstr>Illustration</vt:lpstr>
      <vt:lpstr>Illustration</vt:lpstr>
      <vt:lpstr>FT of sampled signal</vt:lpstr>
      <vt:lpstr>Back to illustration</vt:lpstr>
      <vt:lpstr>Nyquist Sampling Theorem</vt:lpstr>
      <vt:lpstr>Nyquist Sampling Theorem</vt:lpstr>
      <vt:lpstr>Sampling with Zero-Order Hold </vt:lpstr>
      <vt:lpstr>PowerPoint Presentation</vt:lpstr>
      <vt:lpstr>Aliasing (another example)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(2018 edition)</dc:title>
  <dc:creator>WVU DSPIRA</dc:creator>
  <cp:lastModifiedBy>WVU DSPIRA</cp:lastModifiedBy>
  <cp:revision>34</cp:revision>
  <cp:lastPrinted>2013-04-05T12:53:11Z</cp:lastPrinted>
  <dcterms:created xsi:type="dcterms:W3CDTF">2006-08-16T00:00:00Z</dcterms:created>
  <dcterms:modified xsi:type="dcterms:W3CDTF">2018-07-11T22:08:17Z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