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s/slide1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1.xml" ContentType="application/vnd.openxmlformats-officedocument.presentationml.slide+xml"/>
  <Override PartName="/ppt/slides/slide1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2" r:id="rId2"/>
    <p:sldId id="257" r:id="rId3"/>
    <p:sldId id="258" r:id="rId4"/>
    <p:sldId id="260" r:id="rId5"/>
    <p:sldId id="259" r:id="rId6"/>
    <p:sldId id="261" r:id="rId7"/>
    <p:sldId id="263" r:id="rId8"/>
    <p:sldId id="265" r:id="rId9"/>
    <p:sldId id="266" r:id="rId10"/>
    <p:sldId id="267" r:id="rId11"/>
    <p:sldId id="268" r:id="rId12"/>
  </p:sldIdLst>
  <p:sldSz cx="12192000" cy="7543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customXml" Target="customXml/item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openxmlformats.org/officeDocument/2006/relationships/customXml" Target="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customXml" Target="customXml/item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CD00ECD5-069A-4A47-8009-7628C4DE17E6}"/>
</file>

<file path=ppt/customXml/itemProps2.xml><?xml version="1.0" encoding="utf-8"?>
<ds:datastoreItem xmlns:ds="http://schemas.openxmlformats.org/officeDocument/2006/customXml" ds:itemID="{79C6B61D-7E3F-42E0-B39A-294C5CD6CDBD}"/>
</file>

<file path=ppt/customXml/itemProps3.xml><?xml version="1.0" encoding="utf-8"?>
<ds:datastoreItem xmlns:ds="http://schemas.openxmlformats.org/officeDocument/2006/customXml" ds:itemID="{382EB52C-8715-4C9E-A982-6F5202BE7E6E}"/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58F1AD-2A82-44CC-BB96-EC82FBB5D855}" type="datetimeFigureOut">
              <a:rPr lang="en-US" smtClean="0"/>
              <a:t>7/8/2018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CB1974-F376-4AE4-AB54-E4AB8E7DB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062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F652D-E9FE-4D1B-89A6-3D0F4BEFB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5263"/>
            <a:ext cx="91440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471713-4167-4466-93E2-8B2849A5B8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44938"/>
            <a:ext cx="9144000" cy="1655762"/>
          </a:xfrm>
        </p:spPr>
        <p:txBody>
          <a:bodyPr/>
          <a:lstStyle>
            <a:lvl1pPr marL="0" indent="0" algn="ctr">
              <a:buNone/>
              <a:defRPr sz="192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40"/>
            </a:lvl3pPr>
            <a:lvl4pPr marL="1371600" indent="0" algn="ctr">
              <a:buNone/>
              <a:defRPr sz="1280"/>
            </a:lvl4pPr>
            <a:lvl5pPr marL="1828800" indent="0" algn="ctr">
              <a:buNone/>
              <a:defRPr sz="1280"/>
            </a:lvl5pPr>
            <a:lvl6pPr marL="2286000" indent="0" algn="ctr">
              <a:buNone/>
              <a:defRPr sz="1280"/>
            </a:lvl6pPr>
            <a:lvl7pPr marL="2743200" indent="0" algn="ctr">
              <a:buNone/>
              <a:defRPr sz="1280"/>
            </a:lvl7pPr>
            <a:lvl8pPr marL="3200400" indent="0" algn="ctr">
              <a:buNone/>
              <a:defRPr sz="1280"/>
            </a:lvl8pPr>
            <a:lvl9pPr marL="365760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D9293-5FB7-4382-A227-F5E0111D7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D2904-3793-4256-B010-45B80BFFDD92}" type="datetime1">
              <a:rPr lang="en-US" smtClean="0"/>
              <a:t>7/8/2018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C35079-4480-48D1-AF4F-902C35E54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720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B21AA-5E9A-40CC-9441-B6450BABE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D4EF6-CD1F-42D3-9F04-1265CE5C8F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2D5D9-C660-495F-93D8-E9F316BBA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AF03B-2FE7-4534-9DD5-5E297B2B97B9}" type="datetime1">
              <a:rPr lang="en-US" smtClean="0"/>
              <a:t>7/8/2018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459BB-471F-469E-B758-D95EF6B11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08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364B-AFAB-4C57-A1F3-2780E0D16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52638"/>
            <a:ext cx="10515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4E3FF2-145C-44DA-B4BE-9B628D1EDB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32363"/>
            <a:ext cx="10515600" cy="1500187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B396C3-D5FC-4A13-BC61-6966693D6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16D3B-A234-4658-9189-FE7F5E7A22B4}" type="datetime1">
              <a:rPr lang="en-US" smtClean="0"/>
              <a:t>7/8/2018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BF0008-6C97-4CFD-8C1B-943F2726B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9434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6CE38-7D50-4BB0-A230-D07E4E7BD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59D0F-924D-48FC-A360-1AB3F670E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22CB6D-760E-49C0-A1D5-E601F5F374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8ED723-9407-4653-AE49-707471D6A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8AE48-2BF7-43E0-B49C-349B6B3F5E25}" type="datetime1">
              <a:rPr lang="en-US" smtClean="0"/>
              <a:t>7/8/2018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39DD19-88BF-445E-9AC3-919092EA4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344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D524E-B139-4C1D-85BA-04213C55C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080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BE6417-5AD3-431B-A9B1-A5A9668A7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24063"/>
            <a:ext cx="5157787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DF7ECE-DBCE-4F55-A05B-21CAB4191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479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5EB727-A4B3-411B-8F26-04C1EDFDA5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24063"/>
            <a:ext cx="5183188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D6F966-7402-4C50-A7AC-A60C0D7DDA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479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0B8E7A-8075-4FBB-AC09-98181F194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E2CDF-CF01-4C4D-89C3-B61F110961A0}" type="datetime1">
              <a:rPr lang="en-US" smtClean="0"/>
              <a:t>7/8/2018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73FB9F-53FE-4BF5-A8E2-5423BEB64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52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00BE4-AEAC-4A68-AB5A-97B44F26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8CED17-369D-435B-A4E0-2C91CAC8C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4B4807-6E5B-4518-B5C4-686CB1E1437C}" type="datetime1">
              <a:rPr lang="en-US" smtClean="0"/>
              <a:t>7/8/2018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C7A536-70E0-4B40-96F2-519940896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739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2A5889-38FB-44A7-AB13-8B390F9EA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4985-A5F2-4776-B51D-AAFED574B198}" type="datetime1">
              <a:rPr lang="en-US" smtClean="0"/>
              <a:t>7/8/2018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9684FB-D8B0-425E-985C-C904838A8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14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AE14E-FDFB-480A-8D2F-38B4857A0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2B655-CDD3-40E7-ADA0-FE3D74B8A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4CF827-83D4-40CE-B1CE-23731FC799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A6B951-F6AB-40BA-9857-191BBD7C3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9F7FA-7005-462B-A0CF-977DC4D7D001}" type="datetime1">
              <a:rPr lang="en-US" smtClean="0"/>
              <a:t>7/8/2018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8C7A13-BB2A-4133-9919-3B82DA347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055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F00C-82F9-4ECD-9AA6-8F18278BF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F12948-89B6-4F4E-86F5-7AED1FFBAE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C367D5-336D-423D-9A68-8A56301A2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6E68E4-0A79-45C9-91DB-2C4BCA88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AD1C27-AADE-4588-9CD6-E623585CE1C7}" type="datetime1">
              <a:rPr lang="en-US" smtClean="0"/>
              <a:t>7/8/2018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4ED76E-3695-4C04-A02D-047D9FB42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109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90839-AB8A-4BB4-AA09-E0F93D35F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2BEDF1-B069-4CE9-ACBB-CF01A1D147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F7616E-5ADE-4379-BA43-E09C4AA2E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5DA11-7954-4AAF-BA96-452F30782209}" type="datetime1">
              <a:rPr lang="en-US" smtClean="0"/>
              <a:t>7/8/2018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EF026-5D45-44D6-97C6-E881079F3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452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C22DDC-F520-4A77-99F4-C9988D91EC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080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C3B5DD-B49F-4396-9C7B-15EC862A5B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080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04BE0-FA80-4725-AC4E-126C5E0F0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EAAB4-3819-4B27-A456-28C4732029CF}" type="datetime1">
              <a:rPr lang="en-US" smtClean="0"/>
              <a:t>7/8/2018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986D19-8708-4597-9BFD-7A636E2F8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17666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1CB6D3-73F6-4A57-BC33-1CBF1BDAA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83CDBD-8932-4011-AD28-85AFE9F33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685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111BC-462C-4A85-A997-A4A359F407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699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93B179-FE7F-4CD2-A65F-14785D790F39}" type="datetime1">
              <a:rPr lang="en-US" smtClean="0"/>
              <a:t>7/8/2018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7055E-CBD1-457F-933E-30DB6B9080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699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902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Arial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E8FC3-0EFC-4B15-849B-9AE20BDD8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7EB09-DD7B-4EB7-9A78-55F8BCA233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Sound = pressure wave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FAE52C-FA9D-4993-9D8A-2BE3F92F35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11</a:t>
            </a:r>
          </a:p>
        </p:txBody>
      </p:sp>
      <p:sp>
        <p:nvSpPr>
          <p:cNvPr id="10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1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28216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02F3C71-C981-4614-98EA-D6C494F80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3" y="664076"/>
            <a:ext cx="7174247" cy="5896743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picture containing cake, table, paper, indoor&#10;&#10;Description generated with very high confidence">
            <a:extLst>
              <a:ext uri="{FF2B5EF4-FFF2-40B4-BE49-F238E27FC236}">
                <a16:creationId xmlns:a16="http://schemas.microsoft.com/office/drawing/2014/main" id="{F796D42B-ABF7-4675-9360-7A52923A3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1956" y="649809"/>
            <a:ext cx="3657599" cy="2286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E933A7-400E-4F21-A110-A12E17D2A0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9883" y="3171825"/>
            <a:ext cx="2541745" cy="33889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28CEA-0D49-43B6-81AA-EDC5286F8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16" y="983163"/>
            <a:ext cx="6204984" cy="1344975"/>
          </a:xfrm>
        </p:spPr>
        <p:txBody>
          <a:bodyPr>
            <a:normAutofit/>
          </a:bodyPr>
          <a:lstStyle/>
          <a:p>
            <a:r>
              <a:rPr lang="en-US" sz="3200"/>
              <a:t>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7A96-02C7-47C4-AAA1-9C054BF8D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1515" y="2464662"/>
            <a:ext cx="6204984" cy="3626917"/>
          </a:xfrm>
        </p:spPr>
        <p:txBody>
          <a:bodyPr>
            <a:normAutofit/>
          </a:bodyPr>
          <a:lstStyle/>
          <a:p>
            <a:r>
              <a:rPr lang="en-US" sz="1920" dirty="0"/>
              <a:t>Coffee filter</a:t>
            </a:r>
          </a:p>
          <a:p>
            <a:r>
              <a:rPr lang="en-US" sz="1920" dirty="0"/>
              <a:t>Particle filter (to measure pollutions)</a:t>
            </a:r>
          </a:p>
          <a:p>
            <a:r>
              <a:rPr lang="en-US" sz="1920" dirty="0"/>
              <a:t>Filters in Signal Processing (remove or attenuate some frequencies while keeping the others without any change) </a:t>
            </a:r>
          </a:p>
        </p:txBody>
      </p:sp>
      <p:sp>
        <p:nvSpPr>
          <p:cNvPr id="14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11</a:t>
            </a:r>
          </a:p>
        </p:txBody>
      </p:sp>
      <p:sp>
        <p:nvSpPr>
          <p:cNvPr id="18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9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2065816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02F3C71-C981-4614-98EA-D6C494F80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3" y="664076"/>
            <a:ext cx="7174247" cy="5896743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ircuit board&#10;&#10;Description generated with high confidence">
            <a:extLst>
              <a:ext uri="{FF2B5EF4-FFF2-40B4-BE49-F238E27FC236}">
                <a16:creationId xmlns:a16="http://schemas.microsoft.com/office/drawing/2014/main" id="{9BFE1F5C-F1C4-4C19-A616-2133D621B1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4874" y="3516118"/>
            <a:ext cx="3371535" cy="2798374"/>
          </a:xfrm>
          <a:prstGeom prst="rect">
            <a:avLst/>
          </a:prstGeom>
        </p:spPr>
      </p:pic>
      <p:pic>
        <p:nvPicPr>
          <p:cNvPr id="5" name="Picture 4" descr="A close up of a map&#10;&#10;Description generated with very high confidence">
            <a:extLst>
              <a:ext uri="{FF2B5EF4-FFF2-40B4-BE49-F238E27FC236}">
                <a16:creationId xmlns:a16="http://schemas.microsoft.com/office/drawing/2014/main" id="{88E2D340-89CD-41D7-8332-899838C7E7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5762" y="613261"/>
            <a:ext cx="3497419" cy="2902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E09C4-92AD-4740-A399-E69E8D13D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16" y="983163"/>
            <a:ext cx="6204984" cy="1344975"/>
          </a:xfrm>
        </p:spPr>
        <p:txBody>
          <a:bodyPr>
            <a:normAutofit/>
          </a:bodyPr>
          <a:lstStyle/>
          <a:p>
            <a:r>
              <a:rPr lang="en-US" sz="3200" dirty="0"/>
              <a:t>Recall (Lecture 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8701E-0405-489D-82D8-F8744EA855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1515" y="2121762"/>
                <a:ext cx="6204984" cy="362691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920" dirty="0"/>
                  <a:t>A signal can be presented as a mixture of sines and cosines (complex exponentials) </a:t>
                </a:r>
              </a:p>
              <a:p>
                <a:endParaRPr lang="en-US" sz="192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ctrlPr>
                            <a:rPr lang="en-US" sz="192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192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1920" b="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1920" b="0" i="1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sz="192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20" b="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192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920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92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920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92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9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9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𝑓𝑡</m:t>
                              </m:r>
                            </m:sup>
                          </m:sSup>
                        </m:e>
                      </m:nary>
                      <m:r>
                        <a:rPr lang="en-US" sz="1920" b="0" i="1">
                          <a:latin typeface="Cambria Math" panose="02040503050406030204" pitchFamily="18" charset="0"/>
                        </a:rPr>
                        <m:t>𝑑𝑓</m:t>
                      </m:r>
                      <m:r>
                        <a:rPr lang="en-US" sz="1920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920" b="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92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20" b="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92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920" dirty="0"/>
              </a:p>
              <a:p>
                <a:pPr marL="0" indent="0">
                  <a:buNone/>
                </a:pPr>
                <a:endParaRPr lang="en-US" sz="192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920" b="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92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920" b="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92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920" dirty="0"/>
                  <a:t> tell us how much each frequency contributes</a:t>
                </a:r>
              </a:p>
              <a:p>
                <a:pPr marL="0" indent="0">
                  <a:buNone/>
                </a:pPr>
                <a:endParaRPr lang="en-US" sz="192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8701E-0405-489D-82D8-F8744EA855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1515" y="2121762"/>
                <a:ext cx="6204984" cy="3626917"/>
              </a:xfrm>
              <a:blipFill>
                <a:blip r:embed="rId4"/>
                <a:stretch>
                  <a:fillRect l="-1572" t="-2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11</a:t>
            </a:r>
          </a:p>
        </p:txBody>
      </p:sp>
      <p:sp>
        <p:nvSpPr>
          <p:cNvPr id="18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9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646896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8342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lose up of a map&#10;&#10;Description generated with very high confidence">
            <a:extLst>
              <a:ext uri="{FF2B5EF4-FFF2-40B4-BE49-F238E27FC236}">
                <a16:creationId xmlns:a16="http://schemas.microsoft.com/office/drawing/2014/main" id="{64639481-D3A7-41A3-BE0F-779B08FED2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003" y="986366"/>
            <a:ext cx="6709325" cy="55687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0BCF9E0-9977-44C0-AE15-55491044F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23101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2880">
                <a:solidFill>
                  <a:srgbClr val="FFFFFF"/>
                </a:solidFill>
              </a:rPr>
              <a:t>Illustration</a:t>
            </a:r>
          </a:p>
        </p:txBody>
      </p:sp>
      <p:sp>
        <p:nvSpPr>
          <p:cNvPr id="11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11</a:t>
            </a:r>
          </a:p>
        </p:txBody>
      </p:sp>
      <p:sp>
        <p:nvSpPr>
          <p:cNvPr id="15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6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341018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8342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ircuit board&#10;&#10;Description generated with high confidence">
            <a:extLst>
              <a:ext uri="{FF2B5EF4-FFF2-40B4-BE49-F238E27FC236}">
                <a16:creationId xmlns:a16="http://schemas.microsoft.com/office/drawing/2014/main" id="{5F660CBA-E6CB-4CB7-9E83-8D092EFD4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003" y="986366"/>
            <a:ext cx="6709325" cy="55687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0BCF9E0-9977-44C0-AE15-55491044F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23101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880" kern="1200">
                <a:solidFill>
                  <a:srgbClr val="FFFFFF"/>
                </a:solidFill>
                <a:latin typeface="Arial"/>
                <a:ea typeface="+mj-ea"/>
                <a:cs typeface="+mj-cs"/>
              </a:rPr>
              <a:t>Illustration</a:t>
            </a:r>
          </a:p>
        </p:txBody>
      </p:sp>
      <p:sp>
        <p:nvSpPr>
          <p:cNvPr id="18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11</a:t>
            </a:r>
          </a:p>
        </p:txBody>
      </p:sp>
      <p:sp>
        <p:nvSpPr>
          <p:cNvPr id="22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3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11324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6F7435D-E3DB-47B1-BA61-B00ACC83A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2950" y="342900"/>
            <a:ext cx="6099050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9">
            <a:extLst>
              <a:ext uri="{FF2B5EF4-FFF2-40B4-BE49-F238E27FC236}">
                <a16:creationId xmlns:a16="http://schemas.microsoft.com/office/drawing/2014/main" id="{F263A0B5-F8C4-4116-809F-78A768EA79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77582" y="827532"/>
            <a:ext cx="5130204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22EE81FE-0101-40D9-97BD-FE4DCB86C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7582" y="1603853"/>
            <a:ext cx="5044030" cy="4186543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B25504-540B-4D1A-9A0D-BC70A7274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972166"/>
            <a:ext cx="4944152" cy="162232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Arial"/>
                <a:ea typeface="+mj-ea"/>
                <a:cs typeface="+mj-cs"/>
              </a:rPr>
              <a:t>How are filters applied?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9F8FA4-5843-4EEC-8453-58B6C039A57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48930" y="2438400"/>
                <a:ext cx="4944151" cy="3785419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groupChr>
                      <m:groupChrPr>
                        <m:chr m:val="⇔"/>
                        <m:vertJc m:val="bot"/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groupChr>
                    <m:r>
                      <a:rPr lang="en-US" sz="1600" b="0" i="1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endParaRPr lang="en-US" sz="1600" b="0"/>
              </a:p>
              <a:p>
                <a:r>
                  <a:rPr lang="en-US" sz="1600"/>
                  <a:t>Filter response </a:t>
                </a:r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/>
                  <a:t> to a narrow pulse on the input (think of it as a delta-function)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  <m:groupChr>
                      <m:groupChrPr>
                        <m:chr m:val="⇔"/>
                        <m:vertJc m:val="bot"/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groupChr>
                    <m:r>
                      <a:rPr lang="en-US" sz="1600" b="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/>
              </a:p>
              <a:p>
                <a:r>
                  <a:rPr lang="en-US" sz="1600"/>
                  <a:t>The response of filter on a composed input </a:t>
                </a:r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/>
                  <a:t> is a correlation of </a:t>
                </a:r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/>
                  <a:t> and </a:t>
                </a:r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(−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/>
                  <a:t> </a:t>
                </a:r>
              </a:p>
              <a:p>
                <a:r>
                  <a:rPr lang="en-US" sz="1600"/>
                  <a:t>By Correlation Theorem: </a:t>
                </a:r>
              </a:p>
              <a:p>
                <a:pPr marL="0"/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sz="1600" b="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/>
              </a:p>
              <a:p>
                <a:pPr marL="0"/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/>
                  <a:t> is the output of the filter.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9F8FA4-5843-4EEC-8453-58B6C039A5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48930" y="2438400"/>
                <a:ext cx="4944151" cy="3785419"/>
              </a:xfrm>
              <a:blipFill>
                <a:blip r:embed="rId3"/>
                <a:stretch>
                  <a:fillRect l="-1108" r="-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11</a:t>
            </a:r>
          </a:p>
        </p:txBody>
      </p:sp>
      <p:sp>
        <p:nvSpPr>
          <p:cNvPr id="19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0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464549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6F7435D-E3DB-47B1-BA61-B00ACC83A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2950" y="342900"/>
            <a:ext cx="6099050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F263A0B5-F8C4-4116-809F-78A768EA79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77582" y="827532"/>
            <a:ext cx="5130204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of a map&#10;&#10;Description generated with high confidence">
            <a:extLst>
              <a:ext uri="{FF2B5EF4-FFF2-40B4-BE49-F238E27FC236}">
                <a16:creationId xmlns:a16="http://schemas.microsoft.com/office/drawing/2014/main" id="{88C7049C-44C6-4CFC-BE30-84A7EAB3DD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3829" y="1770484"/>
            <a:ext cx="5063414" cy="3797559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3849BA-D9F1-4AC9-9E58-707EB2D5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972166"/>
            <a:ext cx="4944152" cy="162232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Arial"/>
                <a:ea typeface="+mj-ea"/>
                <a:cs typeface="+mj-cs"/>
              </a:rPr>
              <a:t>Four types of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F5EB8-85A4-41DF-AE05-679E3AA8CC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8930" y="2781300"/>
            <a:ext cx="4944151" cy="378541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920"/>
              <a:t>Low pass = suppresses high frequencies, passes low frequencies</a:t>
            </a:r>
          </a:p>
          <a:p>
            <a:r>
              <a:rPr lang="en-US" sz="1920"/>
              <a:t>High pass = passes high frequencies and suppresses low</a:t>
            </a:r>
          </a:p>
          <a:p>
            <a:r>
              <a:rPr lang="en-US" sz="1920"/>
              <a:t>Band pass = passes medium frequencies, suppresses low and high</a:t>
            </a:r>
          </a:p>
          <a:p>
            <a:r>
              <a:rPr lang="en-US" sz="1920"/>
              <a:t>Band stop</a:t>
            </a:r>
          </a:p>
        </p:txBody>
      </p:sp>
      <p:sp>
        <p:nvSpPr>
          <p:cNvPr id="1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11</a:t>
            </a:r>
          </a:p>
        </p:txBody>
      </p:sp>
      <p:sp>
        <p:nvSpPr>
          <p:cNvPr id="20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1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453700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8342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280C3480-A558-48E7-B663-5EDEFF9859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7316" y="1227973"/>
            <a:ext cx="6780700" cy="50855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C67BD6-4B04-4786-ACBE-D25661239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23101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2880">
                <a:solidFill>
                  <a:srgbClr val="FFFFFF"/>
                </a:solidFill>
              </a:rPr>
              <a:t>Illustration</a:t>
            </a:r>
          </a:p>
        </p:txBody>
      </p:sp>
      <p:sp>
        <p:nvSpPr>
          <p:cNvPr id="11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11</a:t>
            </a:r>
          </a:p>
        </p:txBody>
      </p:sp>
      <p:sp>
        <p:nvSpPr>
          <p:cNvPr id="15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6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345353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5" descr="A circuit board&#10;&#10;Description generated with high confidence">
            <a:extLst>
              <a:ext uri="{FF2B5EF4-FFF2-40B4-BE49-F238E27FC236}">
                <a16:creationId xmlns:a16="http://schemas.microsoft.com/office/drawing/2014/main" id="{D488CD9B-0310-4D24-B245-9C301275987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3822" y="1056150"/>
            <a:ext cx="6553545" cy="543944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6640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FB9660-F42F-4313-BBC4-47C007FE4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1126" y="4253167"/>
            <a:ext cx="2586790" cy="0"/>
          </a:xfrm>
          <a:prstGeom prst="line">
            <a:avLst/>
          </a:prstGeom>
          <a:ln w="2222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AEFAEDE-E3DE-4DA0-B87F-54DD2105E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237" y="1257300"/>
            <a:ext cx="3657600" cy="28875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840" kern="1200" dirty="0">
                <a:solidFill>
                  <a:srgbClr val="FFFFFF"/>
                </a:solidFill>
                <a:latin typeface="Arial"/>
                <a:ea typeface="+mj-ea"/>
                <a:cs typeface="+mj-cs"/>
              </a:rPr>
              <a:t>Low pass filtering: the original signal and its FT</a:t>
            </a:r>
          </a:p>
        </p:txBody>
      </p:sp>
      <p:sp>
        <p:nvSpPr>
          <p:cNvPr id="1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11</a:t>
            </a:r>
          </a:p>
        </p:txBody>
      </p:sp>
      <p:sp>
        <p:nvSpPr>
          <p:cNvPr id="20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1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20658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4E36A040-5224-4D10-ABC3-3D825481F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3822" y="1056150"/>
            <a:ext cx="6553545" cy="543944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6640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8FB9660-F42F-4313-BBC4-47C007FE4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1126" y="4253167"/>
            <a:ext cx="2586790" cy="0"/>
          </a:xfrm>
          <a:prstGeom prst="line">
            <a:avLst/>
          </a:prstGeom>
          <a:ln w="2222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5855A17-91EA-48CE-A5CE-A082EB488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237" y="1257300"/>
            <a:ext cx="3657600" cy="28875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840" kern="1200">
                <a:solidFill>
                  <a:srgbClr val="FFFFFF"/>
                </a:solidFill>
                <a:latin typeface="Arial"/>
                <a:ea typeface="+mj-ea"/>
                <a:cs typeface="+mj-cs"/>
              </a:rPr>
              <a:t>Signal and its FT after low pass filtering</a:t>
            </a:r>
          </a:p>
        </p:txBody>
      </p:sp>
      <p:sp>
        <p:nvSpPr>
          <p:cNvPr id="14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11</a:t>
            </a:r>
          </a:p>
        </p:txBody>
      </p:sp>
      <p:sp>
        <p:nvSpPr>
          <p:cNvPr id="18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9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943734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77D1452-F0B7-431E-9A24-D3F7103D8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34290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20">
            <a:extLst>
              <a:ext uri="{FF2B5EF4-FFF2-40B4-BE49-F238E27FC236}">
                <a16:creationId xmlns:a16="http://schemas.microsoft.com/office/drawing/2014/main" id="{A660F4F9-5DF5-4F15-BE6A-CD8648BB1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8267" y="902307"/>
            <a:ext cx="6594522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BDCFCA-BB1E-46D3-98B0-011509E8956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5" r="1206"/>
          <a:stretch/>
        </p:blipFill>
        <p:spPr>
          <a:xfrm>
            <a:off x="5118267" y="922296"/>
            <a:ext cx="6640781" cy="5739186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C657B2-0715-4E18-BCB4-CFF0CDBB5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972166"/>
            <a:ext cx="3667039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/>
              <a:t>Filtering in 2D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D8FEE-6C1C-4C7A-9365-BF0DEB275C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8931" y="2781301"/>
            <a:ext cx="3667036" cy="37795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600" dirty="0"/>
              <a:t>Simulated pulse in filter-bank format (image)</a:t>
            </a:r>
          </a:p>
          <a:p>
            <a:r>
              <a:rPr lang="en-US" sz="1600" dirty="0"/>
              <a:t>DM = 375</a:t>
            </a:r>
          </a:p>
          <a:p>
            <a:r>
              <a:rPr lang="en-US" sz="1600" dirty="0"/>
              <a:t>S/N = 25</a:t>
            </a:r>
          </a:p>
          <a:p>
            <a:r>
              <a:rPr lang="en-US" sz="1600" dirty="0"/>
              <a:t>Pulse width T = 50 </a:t>
            </a:r>
            <a:r>
              <a:rPr lang="en-US" sz="1600" dirty="0" err="1"/>
              <a:t>ms</a:t>
            </a:r>
            <a:endParaRPr lang="en-US" sz="1600" dirty="0"/>
          </a:p>
          <a:p>
            <a:r>
              <a:rPr lang="en-US" sz="1600" dirty="0"/>
              <a:t>Apply low-pass filter in 2d FT space</a:t>
            </a:r>
          </a:p>
        </p:txBody>
      </p:sp>
      <p:sp>
        <p:nvSpPr>
          <p:cNvPr id="1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11</a:t>
            </a:r>
          </a:p>
        </p:txBody>
      </p:sp>
      <p:sp>
        <p:nvSpPr>
          <p:cNvPr id="20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1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2593026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957</TotalTime>
  <Words>262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Cambria Math</vt:lpstr>
      <vt:lpstr>Office Theme</vt:lpstr>
      <vt:lpstr> </vt:lpstr>
      <vt:lpstr>Filters</vt:lpstr>
      <vt:lpstr>Recall (Lecture 3)</vt:lpstr>
      <vt:lpstr>Illustration</vt:lpstr>
      <vt:lpstr>Illustration</vt:lpstr>
      <vt:lpstr>How are filters applied? </vt:lpstr>
      <vt:lpstr>Four types of filters</vt:lpstr>
      <vt:lpstr>Illustration</vt:lpstr>
      <vt:lpstr>Low pass filtering: the original signal and its FT</vt:lpstr>
      <vt:lpstr>Signal and its FT after low pass filtering</vt:lpstr>
      <vt:lpstr>Filtering in 2D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Filters (2018 edition)</dc:title>
  <dc:creator>Natalia Schmid</dc:creator>
  <cp:lastModifiedBy>WVU DSPIRA</cp:lastModifiedBy>
  <cp:revision>13</cp:revision>
  <dcterms:created xsi:type="dcterms:W3CDTF">2018-07-07T21:53:37Z</dcterms:created>
  <dcterms:modified xsi:type="dcterms:W3CDTF">2018-07-08T19:29:03Z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