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2" r:id="rId5"/>
    <p:sldId id="257" r:id="rId6"/>
    <p:sldId id="258" r:id="rId7"/>
    <p:sldId id="260" r:id="rId8"/>
    <p:sldId id="259" r:id="rId9"/>
    <p:sldId id="261" r:id="rId10"/>
    <p:sldId id="263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8F1AD-2A82-44CC-BB96-EC82FBB5D85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B1974-F376-4AE4-AB54-E4AB8E7DB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6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Sound = pressure wave</a:t>
            </a:r>
          </a:p>
        </p:txBody>
      </p:sp>
    </p:spTree>
    <p:extLst>
      <p:ext uri="{BB962C8B-B14F-4D97-AF65-F5344CB8AC3E}">
        <p14:creationId xmlns:p14="http://schemas.microsoft.com/office/powerpoint/2010/main" val="192821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Filters</a:t>
            </a:r>
          </a:p>
        </p:txBody>
      </p:sp>
      <p:pic>
        <p:nvPicPr>
          <p:cNvPr id="5" name="Picture 4" descr="A picture containing cake, table, paper, indoor&#10;&#10;Description generated with very high confidence">
            <a:extLst>
              <a:ext uri="{FF2B5EF4-FFF2-40B4-BE49-F238E27FC236}">
                <a16:creationId xmlns:a16="http://schemas.microsoft.com/office/drawing/2014/main" id="{F796D42B-ABF7-4675-9360-7A52923A3E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2095500"/>
            <a:ext cx="2514711" cy="1571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E933A7-400E-4F21-A110-A12E17D2A0F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992" y="3829463"/>
            <a:ext cx="1747527" cy="23300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7A96-02C7-47C4-AAA1-9C054BF8D4EB}"/>
              </a:ext>
            </a:extLst>
          </p:cNvPr>
          <p:cNvSpPr>
            <a:spLocks noGrp="1"/>
          </p:cNvSpPr>
          <p:nvPr/>
        </p:nvSpPr>
        <p:spPr>
          <a:xfrm>
            <a:off x="609600" y="2095499"/>
            <a:ext cx="5334000" cy="4064000"/>
          </a:xfrm>
        </p:spPr>
        <p:txBody>
          <a:bodyPr lIns="0" tIns="0" rIns="0" bIns="0" anchor="t">
            <a:normAutofit/>
          </a:bodyPr>
          <a:lstStyle/>
          <a:p>
            <a:pPr>
              <a:defRPr sz="1320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Coffee filter</a:t>
            </a:r>
          </a:p>
          <a:p>
            <a:pPr>
              <a:defRPr sz="1320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Particle filter (to measure pollutions)</a:t>
            </a:r>
          </a:p>
          <a:p>
            <a:pPr>
              <a:defRPr sz="1320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Filters in Signal Processing (remove or attenuate some frequencies while keeping the others without any change) </a:t>
            </a:r>
          </a:p>
        </p:txBody>
      </p:sp>
    </p:spTree>
    <p:extLst>
      <p:ext uri="{BB962C8B-B14F-4D97-AF65-F5344CB8AC3E}">
        <p14:creationId xmlns:p14="http://schemas.microsoft.com/office/powerpoint/2010/main" val="420658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Recall (Lecture 3)</a:t>
            </a:r>
          </a:p>
        </p:txBody>
      </p:sp>
      <p:pic>
        <p:nvPicPr>
          <p:cNvPr id="7" name="Picture 6" descr="A circuit board&#10;&#10;Description generated with high confidence">
            <a:extLst>
              <a:ext uri="{FF2B5EF4-FFF2-40B4-BE49-F238E27FC236}">
                <a16:creationId xmlns:a16="http://schemas.microsoft.com/office/drawing/2014/main" id="{9BFE1F5C-F1C4-4C19-A616-2133D621B1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562" y="4164739"/>
            <a:ext cx="2403326" cy="1994761"/>
          </a:xfrm>
          <a:prstGeom prst="rect">
            <a:avLst/>
          </a:prstGeom>
        </p:spPr>
      </p:pic>
      <p:pic>
        <p:nvPicPr>
          <p:cNvPr id="5" name="Picture 4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88E2D340-89CD-41D7-8332-899838C7E72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2095500"/>
            <a:ext cx="2493060" cy="20692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8701E-0405-489D-82D8-F8744EA855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9600" y="2095499"/>
                <a:ext cx="5334000" cy="4064000"/>
              </a:xfrm>
            </p:spPr>
            <p:txBody>
              <a:bodyPr lIns="0" tIns="0" rIns="0" bIns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A signal can be presented as a mixture of sines and cosines (complex exponentials) </a:t>
                </a:r>
              </a:p>
              <a:p>
                <a:endParaRPr lang="en-US" sz="22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ctrl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</m:e>
                      </m:nary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22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000000"/>
                    </a:solidFill>
                  </a:rPr>
                  <a:t> tell us how much each frequency contributes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8701E-0405-489D-82D8-F8744EA855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5499"/>
                <a:ext cx="5334000" cy="406400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89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64639481-D3A7-41A3-BE0F-779B08FED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807" y="2095500"/>
            <a:ext cx="4896386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1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A circuit board&#10;&#10;Description generated with high confidence">
            <a:extLst>
              <a:ext uri="{FF2B5EF4-FFF2-40B4-BE49-F238E27FC236}">
                <a16:creationId xmlns:a16="http://schemas.microsoft.com/office/drawing/2014/main" id="{5F660CBA-E6CB-4CB7-9E83-8D092EFD4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807" y="2095500"/>
            <a:ext cx="4896386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2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are filters applied?</a:t>
            </a:r>
          </a:p>
        </p:txBody>
      </p:sp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2EE81FE-0101-40D9-97BD-FE4DCB86C6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2095500"/>
            <a:ext cx="4896388" cy="4064000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F8FA4-5843-4EEC-8453-58B6C039A57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9600" y="2095500"/>
                <a:ext cx="5334000" cy="4064000"/>
              </a:xfrm>
            </p:spPr>
            <p:txBody>
              <a:bodyPr vert="horz" lIns="0" tIns="0" rIns="0" bIns="0" rtlCol="0" anchor="t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groupChr>
                        <m:groupChrPr>
                          <m:chr m:val="⇔"/>
                          <m:pos m:val="bot"/>
                          <m:vertJc m:val="bot"/>
                          <m:ctrl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groupCh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2200" b="0">
                  <a:solidFill>
                    <a:srgbClr val="000000"/>
                  </a:solidFill>
                </a:endParaRPr>
              </a:p>
              <a:p>
                <a:r>
                  <a:rPr lang="en-US" sz="2200">
                    <a:solidFill>
                      <a:srgbClr val="000000"/>
                    </a:solidFill>
                  </a:rPr>
                  <a:t>Filter response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>
                    <a:solidFill>
                      <a:srgbClr val="000000"/>
                    </a:solidFill>
                  </a:rPr>
                  <a:t> to a narrow pulse on the input (think of it as a delta-function)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groupChr>
                        <m:groupChrPr>
                          <m:chr m:val="⇔"/>
                          <m:pos m:val="bot"/>
                          <m:vertJc m:val="bot"/>
                          <m:ctrl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groupCh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>
                  <a:solidFill>
                    <a:srgbClr val="000000"/>
                  </a:solidFill>
                </a:endParaRPr>
              </a:p>
              <a:p>
                <a:r>
                  <a:rPr lang="en-US" sz="2200">
                    <a:solidFill>
                      <a:srgbClr val="000000"/>
                    </a:solidFill>
                  </a:rPr>
                  <a:t>The response of filter on a composed input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>
                    <a:solidFill>
                      <a:srgbClr val="000000"/>
                    </a:solidFill>
                  </a:rPr>
                  <a:t> is a correlation of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>
                    <a:solidFill>
                      <a:srgbClr val="0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>
                    <a:solidFill>
                      <a:srgbClr val="000000"/>
                    </a:solidFill>
                  </a:rPr>
                  <a:t> </a:t>
                </a:r>
              </a:p>
              <a:p>
                <a:r>
                  <a:rPr lang="en-US" sz="2200">
                    <a:solidFill>
                      <a:srgbClr val="000000"/>
                    </a:solidFill>
                  </a:rPr>
                  <a:t>By Correlation Theorem: </a:t>
                </a:r>
              </a:p>
              <a:p>
                <a:pPr marL="0"/>
                <a14:m>
                  <m:oMathPara xmlns:m="http://schemas.openxmlformats.org/officeDocument/2006/math">
                    <m:oMath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>
                  <a:solidFill>
                    <a:srgbClr val="000000"/>
                  </a:solidFill>
                </a:endParaRPr>
              </a:p>
              <a:p>
                <a:pPr marL="0"/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>
                    <a:solidFill>
                      <a:srgbClr val="000000"/>
                    </a:solidFill>
                  </a:rPr>
                  <a:t> is the output of the filter.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F8FA4-5843-4EEC-8453-58B6C039A5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5500"/>
                <a:ext cx="5334000" cy="4064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549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Four types of filters</a:t>
            </a:r>
          </a:p>
        </p:txBody>
      </p:sp>
      <p:pic>
        <p:nvPicPr>
          <p:cNvPr id="7" name="Picture 6" descr="A close up of a map&#10;&#10;Description generated with high confidence">
            <a:extLst>
              <a:ext uri="{FF2B5EF4-FFF2-40B4-BE49-F238E27FC236}">
                <a16:creationId xmlns:a16="http://schemas.microsoft.com/office/drawing/2014/main" id="{88C7049C-44C6-4CFC-BE30-84A7EAB3DD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2095500"/>
            <a:ext cx="5208717" cy="3906536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F5EB8-85A4-41DF-AE05-679E3AA8CCCF}"/>
              </a:ext>
            </a:extLst>
          </p:cNvPr>
          <p:cNvSpPr>
            <a:spLocks noGrp="1"/>
          </p:cNvSpPr>
          <p:nvPr/>
        </p:nvSpPr>
        <p:spPr>
          <a:xfrm>
            <a:off x="609599" y="2095499"/>
            <a:ext cx="5334000" cy="406400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defRPr sz="1917"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Low pass = suppresses high frequencies, passes low frequencies</a:t>
            </a:r>
          </a:p>
          <a:p>
            <a:pPr>
              <a:defRPr sz="1917"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High pass = passes high frequencies and suppresses low</a:t>
            </a:r>
          </a:p>
          <a:p>
            <a:pPr>
              <a:defRPr sz="1917"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Band pass = passes medium frequencies, suppresses low and high</a:t>
            </a:r>
          </a:p>
          <a:p>
            <a:pPr>
              <a:defRPr sz="1917"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Band stop</a:t>
            </a:r>
          </a:p>
        </p:txBody>
      </p:sp>
    </p:spTree>
    <p:extLst>
      <p:ext uri="{BB962C8B-B14F-4D97-AF65-F5344CB8AC3E}">
        <p14:creationId xmlns:p14="http://schemas.microsoft.com/office/powerpoint/2010/main" val="345370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80C3480-A558-48E7-B663-5EDEFF985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66" y="2095500"/>
            <a:ext cx="5418668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5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Filters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71070" y="4436021"/>
            <a:ext cx="202093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EFAEDE-E3DE-4DA0-B87F-54DD2105E138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2857500" cy="2255921"/>
          </a:xfrm>
        </p:spPr>
        <p:txBody>
          <a:bodyPr vert="horz" lIns="71438" tIns="35719" rIns="71438" bIns="35719" rtlCol="0" anchor="b">
            <a:normAutofit/>
          </a:bodyPr>
          <a:lstStyle/>
          <a:p>
            <a:pPr algn="ctr">
              <a:defRPr sz="3000">
                <a:latin typeface="Arial"/>
              </a:defRPr>
            </a:pPr>
            <a:r>
              <a:rPr lang="en-US" sz="3000" kern="1200" dirty="0">
                <a:solidFill>
                  <a:srgbClr val="000000"/>
                </a:solidFill>
                <a:latin typeface="Arial"/>
                <a:ea typeface="+mj-ea"/>
                <a:cs typeface="+mj-cs"/>
              </a:rPr>
              <a:t>Low pass filtering: the original signal and its FT</a:t>
            </a:r>
          </a:p>
        </p:txBody>
      </p:sp>
    </p:spTree>
    <p:extLst>
      <p:ext uri="{BB962C8B-B14F-4D97-AF65-F5344CB8AC3E}">
        <p14:creationId xmlns:p14="http://schemas.microsoft.com/office/powerpoint/2010/main" val="122065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Signal and its FT after low pass filtering</a:t>
            </a:r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4E36A040-5224-4D10-ABC3-3D825481F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142" y="2095500"/>
            <a:ext cx="4896387" cy="4064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7471" y="4484105"/>
            <a:ext cx="1932683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3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Filtering in 2D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DCFCA-BB1E-46D3-98B0-011509E89566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" r="1206"/>
          <a:stretch/>
        </p:blipFill>
        <p:spPr>
          <a:xfrm>
            <a:off x="6375400" y="2095500"/>
            <a:ext cx="4702432" cy="406400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D8FEE-6C1C-4C7A-9365-BF0DEB275CB3}"/>
              </a:ext>
            </a:extLst>
          </p:cNvPr>
          <p:cNvSpPr>
            <a:spLocks noGrp="1"/>
          </p:cNvSpPr>
          <p:nvPr/>
        </p:nvSpPr>
        <p:spPr>
          <a:xfrm>
            <a:off x="609599" y="2095499"/>
            <a:ext cx="5334000" cy="406400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defRPr sz="1133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Simulated pulse in filter-bank format (image)</a:t>
            </a:r>
          </a:p>
          <a:p>
            <a:pPr>
              <a:defRPr sz="1133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DM = 375</a:t>
            </a:r>
          </a:p>
          <a:p>
            <a:pPr>
              <a:defRPr sz="1133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S/N = 25</a:t>
            </a:r>
          </a:p>
          <a:p>
            <a:pPr>
              <a:defRPr sz="1133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Pulse width T = 50 </a:t>
            </a:r>
            <a:r>
              <a:rPr lang="en-US" sz="2200" dirty="0" err="1">
                <a:solidFill>
                  <a:srgbClr val="000000"/>
                </a:solidFill>
              </a:rPr>
              <a:t>ms</a:t>
            </a:r>
            <a:endParaRPr lang="en-US" sz="2200" dirty="0">
              <a:solidFill>
                <a:srgbClr val="000000"/>
              </a:solidFill>
            </a:endParaRPr>
          </a:p>
          <a:p>
            <a:pPr>
              <a:defRPr sz="1133"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Apply low-pass filter in 2d FT space</a:t>
            </a:r>
          </a:p>
        </p:txBody>
      </p:sp>
    </p:spTree>
    <p:extLst>
      <p:ext uri="{BB962C8B-B14F-4D97-AF65-F5344CB8AC3E}">
        <p14:creationId xmlns:p14="http://schemas.microsoft.com/office/powerpoint/2010/main" val="32593026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251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 Math</vt:lpstr>
      <vt:lpstr>ChatGPT</vt:lpstr>
      <vt:lpstr>Sound = pressure wave</vt:lpstr>
      <vt:lpstr>Filters</vt:lpstr>
      <vt:lpstr>Recall (Lecture 3)</vt:lpstr>
      <vt:lpstr>Illustration</vt:lpstr>
      <vt:lpstr>Illustration</vt:lpstr>
      <vt:lpstr>How are filters applied?</vt:lpstr>
      <vt:lpstr>Four types of filters</vt:lpstr>
      <vt:lpstr>Illustration</vt:lpstr>
      <vt:lpstr>Filters</vt:lpstr>
      <vt:lpstr>Signal and its FT after low pass filtering</vt:lpstr>
      <vt:lpstr>Filtering in 2D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Filters (2018 edition)</dc:title>
  <dc:creator>Natalia Schmid</dc:creator>
  <cp:lastModifiedBy>Dylan Gormley</cp:lastModifiedBy>
  <cp:revision>14</cp:revision>
  <dcterms:created xsi:type="dcterms:W3CDTF">2018-07-07T21:53:37Z</dcterms:created>
  <dcterms:modified xsi:type="dcterms:W3CDTF">2026-09-27T00:47:12Z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0x01010016C36F108F9F92488C988DDF36346911</vt:lpwstr>
  </property>
</Properties>
</file>