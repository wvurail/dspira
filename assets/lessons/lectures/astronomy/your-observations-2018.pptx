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8245475" cx="10080625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6d6b06b8_0_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6d6b06b8_0_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6d6b06b8_0_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6d6b06b8_0_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6d6b06b8_0_11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d6d6b06b8_0_11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6d6b06b8_0_17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6d6b06b8_0_17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6d6b06b8_0_2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6d6b06b8_0_2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6d6b06b8_0_29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6d6b06b8_0_2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d6b06b8_0_3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d6d6b06b8_0_3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d6b06b8_0_4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6d6b06b8_0_4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6d6b06b8_0_47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6d6b06b8_0_47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6d6b06b8_0_5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6d6b06b8_0_5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6d6b06b8_0_6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6d6b06b8_0_6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d6b06b8_0_7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d6b06b8_0_7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d6b06b8_0_78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d6b06b8_0_78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d6b06b8_0_8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d6b06b8_0_8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6d6b06b8_0_9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6d6b06b8_0_9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6d6b06b8_0_10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d6d6b06b8_0_10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6d6b06b8_0_116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6d6b06b8_0_116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6d6b06b8_0_121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d6d6b06b8_0_121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6d6b06b8_0_126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d6d6b06b8_0_126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04000" y="72300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447360" y="72300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gif"/><Relationship Id="rId4" Type="http://schemas.openxmlformats.org/officeDocument/2006/relationships/image" Target="../media/image2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www.wwu.edu/skywise/skymobile/skywatch.html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www.wwu.edu/skywise/skymobile/skywatch.html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www.gb.nrao.edu/GBT/setups/radvelcalc.html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www.gb.nrao.edu/GBT/setups/radvelcalc.html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Your Observations</a:t>
            </a:r>
            <a:endParaRPr sz="3040"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19</a:t>
            </a:r>
          </a:p>
        </p:txBody>
      </p:sp>
      <p:sp>
        <p:nvSpPr>
          <p:cNvPr id="6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6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are we measuring?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Your telescopes are sensitive to neutral hydrogen emission.  We call this “HI”.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 emits at 1420MHz, or 21cm.  It is one of the brightest lines in the Universe, and was the first spectral line measured in outer space.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21cm line is due to a “spin-flip” transition.  The electron and proton’s spin can be aligned or antialigned.  This is incredibly rare, but the line is bright because there is so much HI.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9138" y="4322763"/>
            <a:ext cx="3562350" cy="3257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19</a:t>
            </a:r>
          </a:p>
        </p:txBody>
      </p:sp>
      <p:sp>
        <p:nvSpPr>
          <p:cNvPr id="75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76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7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8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Why are we Measuring HI?</a:t>
            </a:r>
            <a:endParaRPr sz="3040"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 has two main observational benefits: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The 21cm line is at a frequency where electronics can be built relatively easily, and</a:t>
            </a:r>
            <a:endParaRPr/>
          </a:p>
          <a:p>
            <a: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there is HI everywhere!  It can be observed in every direction on the sky.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863" y="314006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19</a:t>
            </a:r>
          </a:p>
        </p:txBody>
      </p:sp>
      <p:sp>
        <p:nvSpPr>
          <p:cNvPr id="8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8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8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How Should we Observe?</a:t>
            </a:r>
            <a:endParaRPr sz="3040"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don’t know!  There are a couple ways: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Take data continuously as the sky passes overhead, or</a:t>
            </a:r>
            <a:endParaRPr/>
          </a:p>
          <a:p>
            <a: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Target a specific part of the sky</a:t>
            </a:r>
            <a:endParaRPr/>
          </a:p>
        </p:txBody>
      </p:sp>
      <p:sp>
        <p:nvSpPr>
          <p:cNvPr id="8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19</a:t>
            </a:r>
          </a:p>
        </p:txBody>
      </p:sp>
      <p:sp>
        <p:nvSpPr>
          <p:cNvPr id="8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8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9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Drift Scans</a:t>
            </a:r>
            <a:endParaRPr sz="3040"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504000" y="2111950"/>
            <a:ext cx="43971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Taking data continuously as the sky passes overhead is called a “drift scan.”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the telescope is pointed in one location, you will get data at one dec, but all RAs.</a:t>
            </a:r>
            <a:endParaRPr/>
          </a:p>
        </p:txBody>
      </p:sp>
      <p:pic>
        <p:nvPicPr>
          <p:cNvPr descr="http://egg.astro.cornell.edu/alfalfa/grads/ims13/gal_coord.gif" id="89" name="Google Shape;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5975" y="3168650"/>
            <a:ext cx="9229725" cy="4733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dept.astro.lsa.umich.edu/ugactivities/Labs/coords/coord_transit.gif" id="90" name="Google Shape;9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1050" y="1539850"/>
            <a:ext cx="4191000" cy="303014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19</a:t>
            </a:r>
          </a:p>
        </p:txBody>
      </p:sp>
      <p:sp>
        <p:nvSpPr>
          <p:cNvPr id="96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97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9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9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How to do Drift Scans</a:t>
            </a:r>
            <a:endParaRPr sz="3040"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easy way: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Point the telescope somewhere and collect data for as long as you want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harder way: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Pick a portion of the Galaxy you want to observe and determine its RA and Dec using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the graph from last slide or 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this converter: </a:t>
            </a:r>
            <a:r>
              <a:rPr lang="en-US"/>
              <a:t>heasarc.nasa.gov/cgi-bin/Tools/convcoord/convcoord.pl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Determine the current LST and use this to find when the source transits.  Find the LST with: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the Sun (very approximate) or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this calculator </a:t>
            </a:r>
            <a:r>
              <a:rPr lang="en-US" u="sng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http://www.wwu.edu/skywise/skymobile/skywatch.html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Point your telescope and collect data!  You’ll need to determine the altitude using: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fact that the altitude of Dec = 90deg is your latitude on Earth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equation: sin(alt) = sin(Dec) sin(lat) + cos(Dec) cos(HA) cos(lat), with HA = 0.  For Lat = 39deg., alt = sin</a:t>
            </a:r>
            <a:r>
              <a:rPr baseline="30000" lang="en-US">
                <a:solidFill>
                  <a:schemeClr val="dk1"/>
                </a:solidFill>
              </a:rPr>
              <a:t>-1</a:t>
            </a:r>
            <a:r>
              <a:rPr lang="en-US">
                <a:solidFill>
                  <a:schemeClr val="dk1"/>
                </a:solidFill>
              </a:rPr>
              <a:t> (0.63 sin(Dec) + 0.78 cos(Dec))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19</a:t>
            </a:r>
          </a:p>
        </p:txBody>
      </p:sp>
      <p:sp>
        <p:nvSpPr>
          <p:cNvPr id="10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0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Pointed Observations</a:t>
            </a:r>
            <a:endParaRPr sz="3040"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is the same as the harder drift scan method.  If there is a particular portion of the sky you want to observe: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Determine its longitude and latitude and convert that to RA and Dec using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graph from last slide or 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converter: heasarc.nasa.gov/cgi-bin/Tools/convcoord/convcoord.pl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Determine the current LST and use this to find when the source transits.  Find the LST with: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Sun (very approximate)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calculator </a:t>
            </a:r>
            <a:r>
              <a:rPr lang="en-US" u="sng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http://www.wwu.edu/skywise/skymobile/skywatch.html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Point your telescope and collect data!  You’ll need to determine the altitude using: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fact that Dec = 90deg is your latitude on Earth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equation: sin(alt) = sin(Dec) sin(lat) + cos(Dec) cos(HA) cos(lat), with HA = 0.  For Lat = 39deg., alt = sin</a:t>
            </a:r>
            <a:r>
              <a:rPr baseline="30000" lang="en-US">
                <a:solidFill>
                  <a:schemeClr val="dk1"/>
                </a:solidFill>
              </a:rPr>
              <a:t>-1</a:t>
            </a:r>
            <a:r>
              <a:rPr lang="en-US">
                <a:solidFill>
                  <a:schemeClr val="dk1"/>
                </a:solidFill>
              </a:rPr>
              <a:t> (0.63 sin(Dec) + 0.78 cos(Dec))</a:t>
            </a:r>
            <a:endParaRPr/>
          </a:p>
        </p:txBody>
      </p:sp>
      <p:sp>
        <p:nvSpPr>
          <p:cNvPr id="10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19</a:t>
            </a:r>
          </a:p>
        </p:txBody>
      </p:sp>
      <p:sp>
        <p:nvSpPr>
          <p:cNvPr id="10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1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you have data!  YAY!  Let’s put it into velocity using the Doppler correction: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v = (ν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baseline="30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= Δνc/ν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/>
          </a:p>
        </p:txBody>
      </p:sp>
      <p:pic>
        <p:nvPicPr>
          <p:cNvPr id="109" name="Google Shape;10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21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19</a:t>
            </a:r>
          </a:p>
        </p:txBody>
      </p:sp>
      <p:sp>
        <p:nvSpPr>
          <p:cNvPr id="116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17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9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16" name="Google Shape;116;p2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17" name="Google Shape;11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2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19</a:t>
            </a:r>
          </a:p>
        </p:txBody>
      </p:sp>
      <p:sp>
        <p:nvSpPr>
          <p:cNvPr id="124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25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2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7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25" name="Google Shape;12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p23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3"/>
          <p:cNvSpPr txBox="1"/>
          <p:nvPr/>
        </p:nvSpPr>
        <p:spPr>
          <a:xfrm>
            <a:off x="52075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0   -21     -63      -105    -147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28" name="Google Shape;128;p23"/>
          <p:cNvSpPr txBox="1"/>
          <p:nvPr/>
        </p:nvSpPr>
        <p:spPr>
          <a:xfrm>
            <a:off x="3938475" y="7114875"/>
            <a:ext cx="2647500" cy="47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19</a:t>
            </a:r>
          </a:p>
        </p:txBody>
      </p:sp>
      <p:sp>
        <p:nvSpPr>
          <p:cNvPr id="134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35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3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7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34" name="Google Shape;134;p24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35" name="Google Shape;13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6" name="Google Shape;136;p24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" name="Google Shape;137;p24"/>
          <p:cNvSpPr txBox="1"/>
          <p:nvPr/>
        </p:nvSpPr>
        <p:spPr>
          <a:xfrm>
            <a:off x="52075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0</a:t>
            </a:r>
            <a:r>
              <a:rPr b="1" lang="en-US">
                <a:solidFill>
                  <a:srgbClr val="FF0000"/>
                </a:solidFill>
              </a:rPr>
              <a:t>   </a:t>
            </a:r>
            <a:r>
              <a:rPr b="1" lang="en-US">
                <a:solidFill>
                  <a:srgbClr val="0000FF"/>
                </a:solidFill>
              </a:rPr>
              <a:t>-21     -63      -105    -147</a:t>
            </a:r>
            <a:endParaRPr b="1">
              <a:solidFill>
                <a:srgbClr val="0000FF"/>
              </a:solidFill>
            </a:endParaRPr>
          </a:p>
        </p:txBody>
      </p:sp>
      <p:sp>
        <p:nvSpPr>
          <p:cNvPr id="138" name="Google Shape;138;p24"/>
          <p:cNvSpPr txBox="1"/>
          <p:nvPr/>
        </p:nvSpPr>
        <p:spPr>
          <a:xfrm>
            <a:off x="20895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+182   +147   +105    +63    +21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4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19</a:t>
            </a:r>
          </a:p>
        </p:txBody>
      </p:sp>
      <p:sp>
        <p:nvSpPr>
          <p:cNvPr id="145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6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4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8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Correcting to the LSR Velocity Frame</a:t>
            </a:r>
            <a:endParaRPr sz="3040"/>
          </a:p>
        </p:txBody>
      </p:sp>
      <p:sp>
        <p:nvSpPr>
          <p:cNvPr id="145" name="Google Shape;145;p2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Let’s assume our observations were taken now, toward Orion at (RA, Dec) = (+5:35:17, -5:23:28).</a:t>
            </a:r>
            <a:endParaRPr sz="160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u="sng">
                <a:solidFill>
                  <a:schemeClr val="hlink"/>
                </a:solidFill>
                <a:hlinkClick r:id="rId3"/>
              </a:rPr>
              <a:t>http://www.gb.nrao.edu/GBT/setups/radvelcalc.html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4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19</a:t>
            </a:r>
          </a:p>
        </p:txBody>
      </p:sp>
      <p:sp>
        <p:nvSpPr>
          <p:cNvPr id="151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52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4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Correcting to the LSR Velocity Frame</a:t>
            </a:r>
            <a:endParaRPr sz="3040"/>
          </a:p>
        </p:txBody>
      </p:sp>
      <p:sp>
        <p:nvSpPr>
          <p:cNvPr id="151" name="Google Shape;151;p2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Let’s assume our observations were taken now, toward (RA, Dec) = (+19h, +15deg.), or (l, b) = (</a:t>
            </a:r>
            <a:r>
              <a:rPr lang="en-US" sz="1600">
                <a:highlight>
                  <a:srgbClr val="FFFFFF"/>
                </a:highlight>
              </a:rPr>
              <a:t>47.3,  4.9)</a:t>
            </a:r>
            <a:endParaRPr sz="1600">
              <a:highlight>
                <a:srgbClr val="FFFFFF"/>
              </a:highlight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u="sng">
                <a:solidFill>
                  <a:schemeClr val="hlink"/>
                </a:solidFill>
                <a:hlinkClick r:id="rId3"/>
              </a:rPr>
              <a:t>http://www.gb.nrao.edu/GBT/setups/radvelcalc.html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I get: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v_helio = +0.34 km/s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v_lsr = -18.5 km/s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So the LSR velocity frame is moving toward us at 18.5 km/s.  We must add 18.5 km/s to our velocity axis.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53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5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6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19</a:t>
            </a:r>
          </a:p>
        </p:txBody>
      </p:sp>
      <p:sp>
        <p:nvSpPr>
          <p:cNvPr id="157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58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0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57" name="Google Shape;157;p27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58" name="Google Shape;15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7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0" name="Google Shape;160;p27"/>
          <p:cNvSpPr txBox="1"/>
          <p:nvPr/>
        </p:nvSpPr>
        <p:spPr>
          <a:xfrm>
            <a:off x="50551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18</a:t>
            </a:r>
            <a:r>
              <a:rPr b="1" lang="en-US">
                <a:solidFill>
                  <a:srgbClr val="FF0000"/>
                </a:solidFill>
              </a:rPr>
              <a:t>  -3     -45      -87     -129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61" name="Google Shape;161;p27"/>
          <p:cNvSpPr txBox="1"/>
          <p:nvPr/>
        </p:nvSpPr>
        <p:spPr>
          <a:xfrm>
            <a:off x="20133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182875" spcFirstLastPara="1" rIns="0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+200   +165   +123    +81    +39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6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19</a:t>
            </a:r>
          </a:p>
        </p:txBody>
      </p:sp>
      <p:sp>
        <p:nvSpPr>
          <p:cNvPr id="16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Results!</a:t>
            </a:r>
            <a:endParaRPr sz="3040"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have peaks at:</a:t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+39, +70, and +100 km/s</a:t>
            </a:r>
            <a:endParaRPr/>
          </a:p>
        </p:txBody>
      </p:sp>
      <p:pic>
        <p:nvPicPr>
          <p:cNvPr id="169" name="Google Shape;16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0" name="Google Shape;170;p28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1" name="Google Shape;171;p28"/>
          <p:cNvSpPr txBox="1"/>
          <p:nvPr/>
        </p:nvSpPr>
        <p:spPr>
          <a:xfrm>
            <a:off x="50551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18  -3     -45      -87     -129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20133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182875" spcFirstLastPara="1" rIns="0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+200   +165   +123    +81    +39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3" name="Google Shape;173;p28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7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19</a:t>
            </a:r>
          </a:p>
        </p:txBody>
      </p:sp>
      <p:sp>
        <p:nvSpPr>
          <p:cNvPr id="179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80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2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0" name="Google Shape;1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252" y="1555750"/>
            <a:ext cx="7304375" cy="6305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1" name="Google Shape;181;p29"/>
          <p:cNvCxnSpPr/>
          <p:nvPr/>
        </p:nvCxnSpPr>
        <p:spPr>
          <a:xfrm>
            <a:off x="4433650" y="1993175"/>
            <a:ext cx="10200" cy="4923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2" name="Google Shape;182;p29"/>
          <p:cNvSpPr/>
          <p:nvPr/>
        </p:nvSpPr>
        <p:spPr>
          <a:xfrm>
            <a:off x="4210150" y="39719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9"/>
          <p:cNvSpPr/>
          <p:nvPr/>
        </p:nvSpPr>
        <p:spPr>
          <a:xfrm>
            <a:off x="4210150" y="37433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9"/>
          <p:cNvSpPr/>
          <p:nvPr/>
        </p:nvSpPr>
        <p:spPr>
          <a:xfrm>
            <a:off x="4210150" y="35147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19</a:t>
            </a:r>
          </a:p>
        </p:txBody>
      </p:sp>
      <p:sp>
        <p:nvSpPr>
          <p:cNvPr id="190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1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3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Where is this gas?</a:t>
            </a:r>
            <a:endParaRPr sz="3040"/>
          </a:p>
        </p:txBody>
      </p:sp>
      <p:sp>
        <p:nvSpPr>
          <p:cNvPr id="190" name="Google Shape;190;p30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= (ω-ω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) 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sin l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where ω is the angular velocity defined as v/R, R is the distance from the center of the Galaxy, l is the Galactic longitude, and the “0” subscripts denote Solar quantities.  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8.3kpc and 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29 (km/s)/kpc.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Let’s assume the rotation curve is completely flat, so v = 230km/s everywhere.  Then, ω = 230 km/s / R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Rearranging,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ω = </a:t>
            </a:r>
            <a:r>
              <a:rPr lang="en-US" sz="1600">
                <a:solidFill>
                  <a:schemeClr val="dk1"/>
                </a:solidFill>
              </a:rPr>
              <a:t>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baseline="30000" lang="en-US" sz="1600">
                <a:solidFill>
                  <a:schemeClr val="dk1"/>
                </a:solidFill>
              </a:rPr>
              <a:t> </a:t>
            </a:r>
            <a:r>
              <a:rPr lang="en-US" sz="1600">
                <a:solidFill>
                  <a:schemeClr val="dk1"/>
                </a:solidFill>
              </a:rPr>
              <a:t>/ (R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sin l) + 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230 km/s / R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or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230 km/s / (V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/ (8.3kpc sin l) + 29 (km/s) / kpc) 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9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19</a:t>
            </a:r>
          </a:p>
        </p:txBody>
      </p:sp>
      <p:sp>
        <p:nvSpPr>
          <p:cNvPr id="196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7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9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Where is this gas?</a:t>
            </a:r>
            <a:endParaRPr sz="3040"/>
          </a:p>
        </p:txBody>
      </p:sp>
      <p:sp>
        <p:nvSpPr>
          <p:cNvPr id="196" name="Google Shape;196;p3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230 km/s / (V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/ (8.3 kpc sin l) + 29 (km/s) / kpc)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So for 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= +30, +70, +100 km/s at l= 47deg,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6.8, 5.7, 5.1 kpc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9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19</a:t>
            </a:r>
          </a:p>
        </p:txBody>
      </p:sp>
      <p:sp>
        <p:nvSpPr>
          <p:cNvPr id="20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8049" y="342900"/>
            <a:ext cx="8000348" cy="7559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4" name="Google Shape;204;p32"/>
          <p:cNvCxnSpPr/>
          <p:nvPr/>
        </p:nvCxnSpPr>
        <p:spPr>
          <a:xfrm rot="10800000">
            <a:off x="1379200" y="1619850"/>
            <a:ext cx="3738900" cy="4260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05" name="Google Shape;205;p32"/>
          <p:cNvCxnSpPr/>
          <p:nvPr/>
        </p:nvCxnSpPr>
        <p:spPr>
          <a:xfrm flipH="1">
            <a:off x="4780925" y="4347475"/>
            <a:ext cx="357600" cy="11340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" name="Google Shape;206;p32"/>
          <p:cNvCxnSpPr/>
          <p:nvPr/>
        </p:nvCxnSpPr>
        <p:spPr>
          <a:xfrm flipH="1">
            <a:off x="3963725" y="4337275"/>
            <a:ext cx="1174800" cy="1941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19</a:t>
            </a:r>
          </a:p>
        </p:txBody>
      </p:sp>
      <p:sp>
        <p:nvSpPr>
          <p:cNvPr id="21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Your observations (2018 edition)</dc:title>
  <cp:lastModifiedBy>WVU DSPIRA</cp:lastModifiedBy>
</cp:coreProperties>
</file>