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5a2a3412b5d43b7" /><Relationship Type="http://schemas.openxmlformats.org/officeDocument/2006/relationships/extended-properties" Target="/docProps/app.xml" Id="R25d7161d4c754a9a" /><Relationship Type="http://schemas.openxmlformats.org/officeDocument/2006/relationships/officeDocument" Target="/ppt/presentation.xml" Id="R8b2f2e7b578a401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17cb2d081ad46f6"/>
  </p:sldMasterIdLst>
  <p:notesMasterIdLst>
    <p:notesMasterId xmlns:r="http://schemas.openxmlformats.org/officeDocument/2006/relationships" r:id="R6cc4a7032c0742c2"/>
  </p:notesMasterIdLst>
  <p:sldIdLst>
    <p:sldId xmlns:r="http://schemas.openxmlformats.org/officeDocument/2006/relationships" id="256" r:id="R0ad1d5505c414481"/>
    <p:sldId xmlns:r="http://schemas.openxmlformats.org/officeDocument/2006/relationships" id="257" r:id="Rd5fdce834fa8479f"/>
    <p:sldId xmlns:r="http://schemas.openxmlformats.org/officeDocument/2006/relationships" id="258" r:id="Rcbeea733baf44ba5"/>
    <p:sldId xmlns:r="http://schemas.openxmlformats.org/officeDocument/2006/relationships" id="259" r:id="Rd611627aced0469f"/>
    <p:sldId xmlns:r="http://schemas.openxmlformats.org/officeDocument/2006/relationships" id="260" r:id="R0dc51198c8a1458a"/>
    <p:sldId xmlns:r="http://schemas.openxmlformats.org/officeDocument/2006/relationships" id="261" r:id="R81b3a445926d4931"/>
    <p:sldId xmlns:r="http://schemas.openxmlformats.org/officeDocument/2006/relationships" id="262" r:id="R472da7356791489f"/>
    <p:sldId xmlns:r="http://schemas.openxmlformats.org/officeDocument/2006/relationships" id="263" r:id="R070e2ec675cd4aa1"/>
    <p:sldId xmlns:r="http://schemas.openxmlformats.org/officeDocument/2006/relationships" id="264" r:id="Raf6eb16f0fb0414f"/>
    <p:sldId xmlns:r="http://schemas.openxmlformats.org/officeDocument/2006/relationships" id="265" r:id="Rd54cc2c19d704b64"/>
    <p:sldId xmlns:r="http://schemas.openxmlformats.org/officeDocument/2006/relationships" id="266" r:id="R11d7f4b4daf9456a"/>
    <p:sldId xmlns:r="http://schemas.openxmlformats.org/officeDocument/2006/relationships" id="267" r:id="Rddc43406ab0a471e"/>
    <p:sldId xmlns:r="http://schemas.openxmlformats.org/officeDocument/2006/relationships" id="268" r:id="R45af58fdd52c49e6"/>
    <p:sldId xmlns:r="http://schemas.openxmlformats.org/officeDocument/2006/relationships" id="269" r:id="R35cbec939d1847a1"/>
    <p:sldId xmlns:r="http://schemas.openxmlformats.org/officeDocument/2006/relationships" id="270" r:id="R5f14ce97a38746f8"/>
    <p:sldId xmlns:r="http://schemas.openxmlformats.org/officeDocument/2006/relationships" id="271" r:id="R5075b583c2a24836"/>
    <p:sldId xmlns:r="http://schemas.openxmlformats.org/officeDocument/2006/relationships" id="272" r:id="Re6863e82d8a44f03"/>
    <p:sldId xmlns:r="http://schemas.openxmlformats.org/officeDocument/2006/relationships" id="273" r:id="Rbcba287ab1fa4e19"/>
    <p:sldId xmlns:r="http://schemas.openxmlformats.org/officeDocument/2006/relationships" id="274" r:id="R093e6c16b34441c5"/>
    <p:sldId xmlns:r="http://schemas.openxmlformats.org/officeDocument/2006/relationships" id="275" r:id="R043ed66bc85d4417"/>
    <p:sldId xmlns:r="http://schemas.openxmlformats.org/officeDocument/2006/relationships" id="276" r:id="Rc74765cbfb8346af"/>
    <p:sldId xmlns:r="http://schemas.openxmlformats.org/officeDocument/2006/relationships" id="277" r:id="Re3b7b3ed7ad24ce6"/>
    <p:sldId xmlns:r="http://schemas.openxmlformats.org/officeDocument/2006/relationships" id="278" r:id="R17196b36dc1048ea"/>
    <p:sldId xmlns:r="http://schemas.openxmlformats.org/officeDocument/2006/relationships" id="279" r:id="R44193551b3a840d0"/>
    <p:sldId xmlns:r="http://schemas.openxmlformats.org/officeDocument/2006/relationships" id="280" r:id="R624450da62a444e1"/>
    <p:sldId xmlns:r="http://schemas.openxmlformats.org/officeDocument/2006/relationships" id="281" r:id="R8bd240221c904476"/>
    <p:sldId xmlns:r="http://schemas.openxmlformats.org/officeDocument/2006/relationships" id="282" r:id="R5b5441068b014578"/>
    <p:sldId xmlns:r="http://schemas.openxmlformats.org/officeDocument/2006/relationships" id="283" r:id="Rb1b84ab9a4de4b00"/>
    <p:sldId xmlns:r="http://schemas.openxmlformats.org/officeDocument/2006/relationships" id="284" r:id="R8cd93f92cbbb49d4"/>
    <p:sldId xmlns:r="http://schemas.openxmlformats.org/officeDocument/2006/relationships" id="285" r:id="R34f7d9859f36424f"/>
    <p:sldId xmlns:r="http://schemas.openxmlformats.org/officeDocument/2006/relationships" id="286" r:id="R0f0bfd398cda4d19"/>
    <p:sldId xmlns:r="http://schemas.openxmlformats.org/officeDocument/2006/relationships" id="287" r:id="R28a265ee24494d9c"/>
    <p:sldId xmlns:r="http://schemas.openxmlformats.org/officeDocument/2006/relationships" id="288" r:id="Ra4455f365ea5461c"/>
    <p:sldId xmlns:r="http://schemas.openxmlformats.org/officeDocument/2006/relationships" id="289" r:id="Rff9d53b333d44487"/>
  </p:sldIdLst>
  <p:sldSz cx="10058400" cy="84582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78a777177f82495d" /><Relationship Type="http://schemas.openxmlformats.org/officeDocument/2006/relationships/slideMaster" Target="/ppt/slideMasters/slideMaster1.xml" Id="R417cb2d081ad46f6" /><Relationship Type="http://schemas.openxmlformats.org/officeDocument/2006/relationships/notesMaster" Target="/ppt/notesMasters/notesMaster1.xml" Id="R6cc4a7032c0742c2" /><Relationship Type="http://schemas.openxmlformats.org/officeDocument/2006/relationships/presProps" Target="/ppt/presProps.xml" Id="R9dd20cec7cb540f5" /><Relationship Type="http://schemas.openxmlformats.org/officeDocument/2006/relationships/tableStyles" Target="/ppt/tableStyles.xml" Id="Rde6040d223ca4fbc" /><Relationship Type="http://schemas.openxmlformats.org/officeDocument/2006/relationships/slide" Target="/ppt/slides/slide1.xml" Id="R0ad1d5505c414481" /><Relationship Type="http://schemas.openxmlformats.org/officeDocument/2006/relationships/slide" Target="/ppt/slides/slide2.xml" Id="Rd5fdce834fa8479f" /><Relationship Type="http://schemas.openxmlformats.org/officeDocument/2006/relationships/slide" Target="/ppt/slides/slide3.xml" Id="Rcbeea733baf44ba5" /><Relationship Type="http://schemas.openxmlformats.org/officeDocument/2006/relationships/slide" Target="/ppt/slides/slide4.xml" Id="Rd611627aced0469f" /><Relationship Type="http://schemas.openxmlformats.org/officeDocument/2006/relationships/slide" Target="/ppt/slides/slide5.xml" Id="R0dc51198c8a1458a" /><Relationship Type="http://schemas.openxmlformats.org/officeDocument/2006/relationships/slide" Target="/ppt/slides/slide6.xml" Id="R81b3a445926d4931" /><Relationship Type="http://schemas.openxmlformats.org/officeDocument/2006/relationships/slide" Target="/ppt/slides/slide7.xml" Id="R472da7356791489f" /><Relationship Type="http://schemas.openxmlformats.org/officeDocument/2006/relationships/slide" Target="/ppt/slides/slide8.xml" Id="R070e2ec675cd4aa1" /><Relationship Type="http://schemas.openxmlformats.org/officeDocument/2006/relationships/slide" Target="/ppt/slides/slide9.xml" Id="Raf6eb16f0fb0414f" /><Relationship Type="http://schemas.openxmlformats.org/officeDocument/2006/relationships/slide" Target="/ppt/slides/slide10.xml" Id="Rd54cc2c19d704b64" /><Relationship Type="http://schemas.openxmlformats.org/officeDocument/2006/relationships/slide" Target="/ppt/slides/slide11.xml" Id="R11d7f4b4daf9456a" /><Relationship Type="http://schemas.openxmlformats.org/officeDocument/2006/relationships/slide" Target="/ppt/slides/slide12.xml" Id="Rddc43406ab0a471e" /><Relationship Type="http://schemas.openxmlformats.org/officeDocument/2006/relationships/slide" Target="/ppt/slides/slide13.xml" Id="R45af58fdd52c49e6" /><Relationship Type="http://schemas.openxmlformats.org/officeDocument/2006/relationships/slide" Target="/ppt/slides/slide14.xml" Id="R35cbec939d1847a1" /><Relationship Type="http://schemas.openxmlformats.org/officeDocument/2006/relationships/slide" Target="/ppt/slides/slide15.xml" Id="R5f14ce97a38746f8" /><Relationship Type="http://schemas.openxmlformats.org/officeDocument/2006/relationships/slide" Target="/ppt/slides/slide16.xml" Id="R5075b583c2a24836" /><Relationship Type="http://schemas.openxmlformats.org/officeDocument/2006/relationships/slide" Target="/ppt/slides/slide17.xml" Id="Re6863e82d8a44f03" /><Relationship Type="http://schemas.openxmlformats.org/officeDocument/2006/relationships/slide" Target="/ppt/slides/slide18.xml" Id="Rbcba287ab1fa4e19" /><Relationship Type="http://schemas.openxmlformats.org/officeDocument/2006/relationships/slide" Target="/ppt/slides/slide19.xml" Id="R093e6c16b34441c5" /><Relationship Type="http://schemas.openxmlformats.org/officeDocument/2006/relationships/slide" Target="/ppt/slides/slide20.xml" Id="R043ed66bc85d4417" /><Relationship Type="http://schemas.openxmlformats.org/officeDocument/2006/relationships/slide" Target="/ppt/slides/slide21.xml" Id="Rc74765cbfb8346af" /><Relationship Type="http://schemas.openxmlformats.org/officeDocument/2006/relationships/slide" Target="/ppt/slides/slide22.xml" Id="Re3b7b3ed7ad24ce6" /><Relationship Type="http://schemas.openxmlformats.org/officeDocument/2006/relationships/slide" Target="/ppt/slides/slide23.xml" Id="R17196b36dc1048ea" /><Relationship Type="http://schemas.openxmlformats.org/officeDocument/2006/relationships/slide" Target="/ppt/slides/slide24.xml" Id="R44193551b3a840d0" /><Relationship Type="http://schemas.openxmlformats.org/officeDocument/2006/relationships/slide" Target="/ppt/slides/slide25.xml" Id="R624450da62a444e1" /><Relationship Type="http://schemas.openxmlformats.org/officeDocument/2006/relationships/slide" Target="/ppt/slides/slide26.xml" Id="R8bd240221c904476" /><Relationship Type="http://schemas.openxmlformats.org/officeDocument/2006/relationships/slide" Target="/ppt/slides/slide27.xml" Id="R5b5441068b014578" /><Relationship Type="http://schemas.openxmlformats.org/officeDocument/2006/relationships/slide" Target="/ppt/slides/slide28.xml" Id="Rb1b84ab9a4de4b00" /><Relationship Type="http://schemas.openxmlformats.org/officeDocument/2006/relationships/slide" Target="/ppt/slides/slide29.xml" Id="R8cd93f92cbbb49d4" /><Relationship Type="http://schemas.openxmlformats.org/officeDocument/2006/relationships/slide" Target="/ppt/slides/slide30.xml" Id="R34f7d9859f36424f" /><Relationship Type="http://schemas.openxmlformats.org/officeDocument/2006/relationships/slide" Target="/ppt/slides/slide31.xml" Id="R0f0bfd398cda4d19" /><Relationship Type="http://schemas.openxmlformats.org/officeDocument/2006/relationships/slide" Target="/ppt/slides/slide32.xml" Id="R28a265ee24494d9c" /><Relationship Type="http://schemas.openxmlformats.org/officeDocument/2006/relationships/slide" Target="/ppt/slides/slide33.xml" Id="Ra4455f365ea5461c" /><Relationship Type="http://schemas.openxmlformats.org/officeDocument/2006/relationships/slide" Target="/ppt/slides/slide34.xml" Id="Rff9d53b333d4448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fb4ffeef94984bca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367a2b206f46ac" /><Relationship Type="http://schemas.openxmlformats.org/officeDocument/2006/relationships/notesMaster" Target="/ppt/notesMasters/notesMaster1.xml" Id="Rf3f8e48ef1c344e6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6e42a8dc6964cb3" /><Relationship Type="http://schemas.openxmlformats.org/officeDocument/2006/relationships/notesMaster" Target="/ppt/notesMasters/notesMaster1.xml" Id="Re327cb3c2a3641b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0046c8b447a4d4a" /><Relationship Type="http://schemas.openxmlformats.org/officeDocument/2006/relationships/notesMaster" Target="/ppt/notesMasters/notesMaster1.xml" Id="R87cc1cfe006f4bd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7b7f503f7414c44" /><Relationship Type="http://schemas.openxmlformats.org/officeDocument/2006/relationships/notesMaster" Target="/ppt/notesMasters/notesMaster1.xml" Id="Rce975c20faf74f8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134863bd5ac4ed8" /><Relationship Type="http://schemas.openxmlformats.org/officeDocument/2006/relationships/notesMaster" Target="/ppt/notesMasters/notesMaster1.xml" Id="R8ec700b5198a462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c8c6717dee4c15" /><Relationship Type="http://schemas.openxmlformats.org/officeDocument/2006/relationships/notesMaster" Target="/ppt/notesMasters/notesMaster1.xml" Id="Rabda64c9cd8048f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91cde8b2e4b471b" /><Relationship Type="http://schemas.openxmlformats.org/officeDocument/2006/relationships/notesMaster" Target="/ppt/notesMasters/notesMaster1.xml" Id="R8cd9d46ce085451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b1192d4c8124f7c" /><Relationship Type="http://schemas.openxmlformats.org/officeDocument/2006/relationships/notesMaster" Target="/ppt/notesMasters/notesMaster1.xml" Id="R423133084d194f74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29e27f06394a45" /><Relationship Type="http://schemas.openxmlformats.org/officeDocument/2006/relationships/notesMaster" Target="/ppt/notesMasters/notesMaster1.xml" Id="Rd60c0b775638496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7d2bb13c9c1425a" /><Relationship Type="http://schemas.openxmlformats.org/officeDocument/2006/relationships/notesMaster" Target="/ppt/notesMasters/notesMaster1.xml" Id="Rc7a16ef5c73b4b7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892361ae743a46c7" /><Relationship Type="http://schemas.openxmlformats.org/officeDocument/2006/relationships/notesMaster" Target="/ppt/notesMasters/notesMaster1.xml" Id="Re6f15057e832425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db28c2019bbe40ee" /><Relationship Type="http://schemas.openxmlformats.org/officeDocument/2006/relationships/notesMaster" Target="/ppt/notesMasters/notesMaster1.xml" Id="R493f68727be24a4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c693989eb6041c9" /><Relationship Type="http://schemas.openxmlformats.org/officeDocument/2006/relationships/notesMaster" Target="/ppt/notesMasters/notesMaster1.xml" Id="R428f7079b7504ed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16653bcb2574c74" /><Relationship Type="http://schemas.openxmlformats.org/officeDocument/2006/relationships/notesMaster" Target="/ppt/notesMasters/notesMaster1.xml" Id="Rdfe5625294b2409d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b020c6d56943ff" /><Relationship Type="http://schemas.openxmlformats.org/officeDocument/2006/relationships/notesMaster" Target="/ppt/notesMasters/notesMaster1.xml" Id="Rc3e0ae0a081f444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c1199c906b147f9" /><Relationship Type="http://schemas.openxmlformats.org/officeDocument/2006/relationships/notesMaster" Target="/ppt/notesMasters/notesMaster1.xml" Id="R5ab94c935aa54cc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540e5f3c92d49a8" /><Relationship Type="http://schemas.openxmlformats.org/officeDocument/2006/relationships/notesMaster" Target="/ppt/notesMasters/notesMaster1.xml" Id="R1cedf3fff904466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314c72c298684b72" /><Relationship Type="http://schemas.openxmlformats.org/officeDocument/2006/relationships/notesMaster" Target="/ppt/notesMasters/notesMaster1.xml" Id="R0f8e8ade25f14c3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3eb0109656e44924" /><Relationship Type="http://schemas.openxmlformats.org/officeDocument/2006/relationships/notesMaster" Target="/ppt/notesMasters/notesMaster1.xml" Id="Ra9a47b539bb8470b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18af375c3a79411f" /><Relationship Type="http://schemas.openxmlformats.org/officeDocument/2006/relationships/notesMaster" Target="/ppt/notesMasters/notesMaster1.xml" Id="R25ab9a0eebed4bd2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841c0d7720924bbd" /><Relationship Type="http://schemas.openxmlformats.org/officeDocument/2006/relationships/notesMaster" Target="/ppt/notesMasters/notesMaster1.xml" Id="R429325abca6446f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4a2fff47a1f4d76" /><Relationship Type="http://schemas.openxmlformats.org/officeDocument/2006/relationships/notesMaster" Target="/ppt/notesMasters/notesMaster1.xml" Id="Rd9cebf78f2d4496d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9a83ff3e34c4158" /><Relationship Type="http://schemas.openxmlformats.org/officeDocument/2006/relationships/notesMaster" Target="/ppt/notesMasters/notesMaster1.xml" Id="R4d2d0d9066d54403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f526ab0dbed24415" /><Relationship Type="http://schemas.openxmlformats.org/officeDocument/2006/relationships/notesMaster" Target="/ppt/notesMasters/notesMaster1.xml" Id="Rd608a70d5a064e40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b1eeee82c3844ef9" /><Relationship Type="http://schemas.openxmlformats.org/officeDocument/2006/relationships/notesMaster" Target="/ppt/notesMasters/notesMaster1.xml" Id="R22f886ae067f42e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6bf2dbabdc864a1d" /><Relationship Type="http://schemas.openxmlformats.org/officeDocument/2006/relationships/notesMaster" Target="/ppt/notesMasters/notesMaster1.xml" Id="R4223b5d955124f4f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1a905a9206b24d7e" /><Relationship Type="http://schemas.openxmlformats.org/officeDocument/2006/relationships/notesMaster" Target="/ppt/notesMasters/notesMaster1.xml" Id="R0b6b91710d4047a2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361cb425fce04c8f" /><Relationship Type="http://schemas.openxmlformats.org/officeDocument/2006/relationships/notesMaster" Target="/ppt/notesMasters/notesMaster1.xml" Id="Ref7e5b708e9c43f9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afa362a842634a38" /><Relationship Type="http://schemas.openxmlformats.org/officeDocument/2006/relationships/notesMaster" Target="/ppt/notesMasters/notesMaster1.xml" Id="Ra4aa49c62c5a462a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5c0650d0a88c4a66" /><Relationship Type="http://schemas.openxmlformats.org/officeDocument/2006/relationships/notesMaster" Target="/ppt/notesMasters/notesMaster1.xml" Id="R8645600a338b4ec1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d83f9e9304c4197" /><Relationship Type="http://schemas.openxmlformats.org/officeDocument/2006/relationships/notesMaster" Target="/ppt/notesMasters/notesMaster1.xml" Id="R96a260f039a34bd9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284f9903ad244f15" /><Relationship Type="http://schemas.openxmlformats.org/officeDocument/2006/relationships/notesMaster" Target="/ppt/notesMasters/notesMaster1.xml" Id="Re216f760fe164db8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1c2e3cf1debc4264" /><Relationship Type="http://schemas.openxmlformats.org/officeDocument/2006/relationships/notesMaster" Target="/ppt/notesMasters/notesMaster1.xml" Id="Rf81e50b958694d4e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b0b84c156304469" /><Relationship Type="http://schemas.openxmlformats.org/officeDocument/2006/relationships/notesMaster" Target="/ppt/notesMasters/notesMaster1.xml" Id="Rc7811fd25d0f4c1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19.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25.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26.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27.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28.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29.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30.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31.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32.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33.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 edition: assets/lessons/lectures/astronomy/galaxy-interactions-and-dark-matter.pdf, page 34. Original author and figure credits remain on the slide. Text is editable; illustrations retain their source artwork.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c2f2f8718614630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b6e75d2a0e94f2f" /><Relationship Type="http://schemas.openxmlformats.org/officeDocument/2006/relationships/slideLayout" Target="/ppt/slideLayouts/slideLayout1.xml" Id="R88bc9fba2772476d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8bc9fba2772476d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423734c3cc4093" /><Relationship Type="http://schemas.openxmlformats.org/officeDocument/2006/relationships/image" Target="/ppt/media/image.png" Id="Ra27bd911e7fa47bf" /><Relationship Type="http://schemas.openxmlformats.org/officeDocument/2006/relationships/notesSlide" Target="/ppt/notesSlides/notesSlide1.xml" Id="Ra2184dc62c0840b0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9290ee7fc14883" /><Relationship Type="http://schemas.openxmlformats.org/officeDocument/2006/relationships/image" Target="/ppt/media/image2.png" Id="R57a4a53d054a4888" /><Relationship Type="http://schemas.openxmlformats.org/officeDocument/2006/relationships/notesSlide" Target="/ppt/notesSlides/notesSlide2.xml" Id="R20e926ee6e7141d4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8e0ddb81be4810" /><Relationship Type="http://schemas.openxmlformats.org/officeDocument/2006/relationships/image" Target="/ppt/media/image3.png" Id="R765a2e91176943f9" /><Relationship Type="http://schemas.openxmlformats.org/officeDocument/2006/relationships/notesSlide" Target="/ppt/notesSlides/notesSlide3.xml" Id="R1942fb9222f8409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4c2eb4db914dca" /><Relationship Type="http://schemas.openxmlformats.org/officeDocument/2006/relationships/image" Target="/ppt/media/image4.png" Id="R7f627fd78c1c4a0c" /><Relationship Type="http://schemas.openxmlformats.org/officeDocument/2006/relationships/notesSlide" Target="/ppt/notesSlides/notesSlide4.xml" Id="R9b430ba7c9a6444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f7080d6cde847d8" /><Relationship Type="http://schemas.openxmlformats.org/officeDocument/2006/relationships/image" Target="/ppt/media/image5.png" Id="Rf7ac48c302b04865" /><Relationship Type="http://schemas.openxmlformats.org/officeDocument/2006/relationships/notesSlide" Target="/ppt/notesSlides/notesSlide5.xml" Id="Rf1fdd8dc0ac445ed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756f3154d4432a" /><Relationship Type="http://schemas.openxmlformats.org/officeDocument/2006/relationships/image" Target="/ppt/media/image6.png" Id="Rf417b25e495647bc" /><Relationship Type="http://schemas.openxmlformats.org/officeDocument/2006/relationships/notesSlide" Target="/ppt/notesSlides/notesSlide6.xml" Id="Rddae604b3d5747c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ab1bc88b6f84721" /><Relationship Type="http://schemas.openxmlformats.org/officeDocument/2006/relationships/image" Target="/ppt/media/image7.png" Id="R47266ef38a3b4ec9" /><Relationship Type="http://schemas.openxmlformats.org/officeDocument/2006/relationships/notesSlide" Target="/ppt/notesSlides/notesSlide7.xml" Id="Ra3c6e4e37921480a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317611688794cf2" /><Relationship Type="http://schemas.openxmlformats.org/officeDocument/2006/relationships/image" Target="/ppt/media/image8.png" Id="R51abd10a854d463a" /><Relationship Type="http://schemas.openxmlformats.org/officeDocument/2006/relationships/notesSlide" Target="/ppt/notesSlides/notesSlide8.xml" Id="Rc261bfdf414b465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141df3790443a7" /><Relationship Type="http://schemas.openxmlformats.org/officeDocument/2006/relationships/image" Target="/ppt/media/image9.png" Id="R85a2b17767394308" /><Relationship Type="http://schemas.openxmlformats.org/officeDocument/2006/relationships/notesSlide" Target="/ppt/notesSlides/notesSlide9.xml" Id="R37129500d8b5455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b52290c14a425d" /><Relationship Type="http://schemas.openxmlformats.org/officeDocument/2006/relationships/image" Target="/ppt/media/image10.png" Id="Rb0ca5521a6984545" /><Relationship Type="http://schemas.openxmlformats.org/officeDocument/2006/relationships/notesSlide" Target="/ppt/notesSlides/notesSlide10.xml" Id="Rc17752a1208a4e0c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c5c664a4724007" /><Relationship Type="http://schemas.openxmlformats.org/officeDocument/2006/relationships/image" Target="/ppt/media/image11.png" Id="R9c4e1d1b2ad744a8" /><Relationship Type="http://schemas.openxmlformats.org/officeDocument/2006/relationships/notesSlide" Target="/ppt/notesSlides/notesSlide11.xml" Id="R7153e36e8eb34d57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631f42f967449d" /><Relationship Type="http://schemas.openxmlformats.org/officeDocument/2006/relationships/image" Target="/ppt/media/image12.png" Id="Rbc979203741d4a1f" /><Relationship Type="http://schemas.openxmlformats.org/officeDocument/2006/relationships/notesSlide" Target="/ppt/notesSlides/notesSlide12.xml" Id="Rdc443ac7136844b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9aaafeabfb4be1" /><Relationship Type="http://schemas.openxmlformats.org/officeDocument/2006/relationships/image" Target="/ppt/media/image13.png" Id="R0483c7f24f6e45f8" /><Relationship Type="http://schemas.openxmlformats.org/officeDocument/2006/relationships/notesSlide" Target="/ppt/notesSlides/notesSlide13.xml" Id="R25ca6ed7b93349f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14486496364249" /><Relationship Type="http://schemas.openxmlformats.org/officeDocument/2006/relationships/image" Target="/ppt/media/image14.png" Id="R0a8e969160f44546" /><Relationship Type="http://schemas.openxmlformats.org/officeDocument/2006/relationships/notesSlide" Target="/ppt/notesSlides/notesSlide14.xml" Id="R2fdc609564cc4d04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37af53ff1b4ffa" /><Relationship Type="http://schemas.openxmlformats.org/officeDocument/2006/relationships/image" Target="/ppt/media/image15.png" Id="R0c47a60479624ccc" /><Relationship Type="http://schemas.openxmlformats.org/officeDocument/2006/relationships/notesSlide" Target="/ppt/notesSlides/notesSlide15.xml" Id="R607634f5c2f74673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87d689c36f4a71" /><Relationship Type="http://schemas.openxmlformats.org/officeDocument/2006/relationships/image" Target="/ppt/media/image16.png" Id="R80c2b10d4a934478" /><Relationship Type="http://schemas.openxmlformats.org/officeDocument/2006/relationships/notesSlide" Target="/ppt/notesSlides/notesSlide16.xml" Id="R1856827a09ff4d01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9bab66569d483b" /><Relationship Type="http://schemas.openxmlformats.org/officeDocument/2006/relationships/image" Target="/ppt/media/image17.png" Id="R08478f88886148d3" /><Relationship Type="http://schemas.openxmlformats.org/officeDocument/2006/relationships/notesSlide" Target="/ppt/notesSlides/notesSlide17.xml" Id="R3a362d112a5e4e16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e09ed029d744a6" /><Relationship Type="http://schemas.openxmlformats.org/officeDocument/2006/relationships/image" Target="/ppt/media/image18.png" Id="Rea8c3b349bb24beb" /><Relationship Type="http://schemas.openxmlformats.org/officeDocument/2006/relationships/notesSlide" Target="/ppt/notesSlides/notesSlide18.xml" Id="R84f79a6145a64ea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41436f272c4057" /><Relationship Type="http://schemas.openxmlformats.org/officeDocument/2006/relationships/image" Target="/ppt/media/image19.png" Id="R86c377bfaf8c4085" /><Relationship Type="http://schemas.openxmlformats.org/officeDocument/2006/relationships/notesSlide" Target="/ppt/notesSlides/notesSlide19.xml" Id="Rd62fe44c99564a8c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7ecc499e7841f5" /><Relationship Type="http://schemas.openxmlformats.org/officeDocument/2006/relationships/image" Target="/ppt/media/image20.png" Id="R9003169cded547e7" /><Relationship Type="http://schemas.openxmlformats.org/officeDocument/2006/relationships/notesSlide" Target="/ppt/notesSlides/notesSlide20.xml" Id="Rf50a6a0cafe44772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709c9a13c946a5" /><Relationship Type="http://schemas.openxmlformats.org/officeDocument/2006/relationships/image" Target="/ppt/media/image21.png" Id="Rf31deb62b608421b" /><Relationship Type="http://schemas.openxmlformats.org/officeDocument/2006/relationships/notesSlide" Target="/ppt/notesSlides/notesSlide21.xml" Id="Rdaf65722ecc84570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edaeebdc14483b" /><Relationship Type="http://schemas.openxmlformats.org/officeDocument/2006/relationships/image" Target="/ppt/media/image22.png" Id="R7a925183015749e6" /><Relationship Type="http://schemas.openxmlformats.org/officeDocument/2006/relationships/notesSlide" Target="/ppt/notesSlides/notesSlide22.xml" Id="R95773196d4c645eb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c049ca72414c66" /><Relationship Type="http://schemas.openxmlformats.org/officeDocument/2006/relationships/image" Target="/ppt/media/image23.png" Id="Re952baf45d724cea" /><Relationship Type="http://schemas.openxmlformats.org/officeDocument/2006/relationships/notesSlide" Target="/ppt/notesSlides/notesSlide23.xml" Id="R17c0c22e6541495b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d7f3badf934ac3" /><Relationship Type="http://schemas.openxmlformats.org/officeDocument/2006/relationships/image" Target="/ppt/media/image24.png" Id="R540d5b47d7cc46fb" /><Relationship Type="http://schemas.openxmlformats.org/officeDocument/2006/relationships/notesSlide" Target="/ppt/notesSlides/notesSlide24.xml" Id="R6080a2bae6c848a2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9860cf194ed4862" /><Relationship Type="http://schemas.openxmlformats.org/officeDocument/2006/relationships/image" Target="/ppt/media/image25.png" Id="Rfd9eaafe2dd14d87" /><Relationship Type="http://schemas.openxmlformats.org/officeDocument/2006/relationships/notesSlide" Target="/ppt/notesSlides/notesSlide25.xml" Id="R4d49b6b58d17418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7c9b83f0353449a" /><Relationship Type="http://schemas.openxmlformats.org/officeDocument/2006/relationships/image" Target="/ppt/media/image26.png" Id="R299c67e2e2904c23" /><Relationship Type="http://schemas.openxmlformats.org/officeDocument/2006/relationships/notesSlide" Target="/ppt/notesSlides/notesSlide26.xml" Id="Rd47940571c1d468c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2afe6e7f0b49ce" /><Relationship Type="http://schemas.openxmlformats.org/officeDocument/2006/relationships/image" Target="/ppt/media/image27.png" Id="R664d44677776490e" /><Relationship Type="http://schemas.openxmlformats.org/officeDocument/2006/relationships/notesSlide" Target="/ppt/notesSlides/notesSlide27.xml" Id="R5829a0aa53aa4671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ef7d72d3f734efa" /><Relationship Type="http://schemas.openxmlformats.org/officeDocument/2006/relationships/image" Target="/ppt/media/image28.png" Id="R820df8c9fe4d4dff" /><Relationship Type="http://schemas.openxmlformats.org/officeDocument/2006/relationships/notesSlide" Target="/ppt/notesSlides/notesSlide28.xml" Id="Rb282cc8833a04d6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6f14dd0cec84a41" /><Relationship Type="http://schemas.openxmlformats.org/officeDocument/2006/relationships/image" Target="/ppt/media/image29.png" Id="R27e2b4fa84b24801" /><Relationship Type="http://schemas.openxmlformats.org/officeDocument/2006/relationships/notesSlide" Target="/ppt/notesSlides/notesSlide29.xml" Id="R1d1076022b514ae1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453d5afb83e43f3" /><Relationship Type="http://schemas.openxmlformats.org/officeDocument/2006/relationships/image" Target="/ppt/media/image30.png" Id="R13cb7a0b97874e05" /><Relationship Type="http://schemas.openxmlformats.org/officeDocument/2006/relationships/notesSlide" Target="/ppt/notesSlides/notesSlide30.xml" Id="Rf0679c3a700444aa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929d805944ea4" /><Relationship Type="http://schemas.openxmlformats.org/officeDocument/2006/relationships/image" Target="/ppt/media/image31.png" Id="R7c4f7c2d10ed463d" /><Relationship Type="http://schemas.openxmlformats.org/officeDocument/2006/relationships/notesSlide" Target="/ppt/notesSlides/notesSlide31.xml" Id="R0ac1a661f7cd4c4c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4f3cb14c11341e8" /><Relationship Type="http://schemas.openxmlformats.org/officeDocument/2006/relationships/image" Target="/ppt/media/image32.png" Id="R2c0a6bd6433b415e" /><Relationship Type="http://schemas.openxmlformats.org/officeDocument/2006/relationships/notesSlide" Target="/ppt/notesSlides/notesSlide32.xml" Id="R3299517034304e87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50e0516ebb44b49" /><Relationship Type="http://schemas.openxmlformats.org/officeDocument/2006/relationships/image" Target="/ppt/media/image33.png" Id="R9e8662821e2d4bc2" /><Relationship Type="http://schemas.openxmlformats.org/officeDocument/2006/relationships/notesSlide" Target="/ppt/notesSlides/notesSlide33.xml" Id="Rfe2d9147c8ac4e6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8ac1e3ee4649e5" /><Relationship Type="http://schemas.openxmlformats.org/officeDocument/2006/relationships/image" Target="/ppt/media/image34.png" Id="Ref96b0da3a6c4310" /><Relationship Type="http://schemas.openxmlformats.org/officeDocument/2006/relationships/notesSlide" Target="/ppt/notesSlides/notesSlide34.xml" Id="R649753194d674de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27bd911e7fa47b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B11D9F-DDE2-4CE4-8B0E-7EAB7B005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3909" y="2709659"/>
            <a:ext cx="5136732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Interactions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C2EC50B-D993-44E9-80BA-C9E4FE592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864" y="3429353"/>
            <a:ext cx="3147356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23C67F6-B111-49CF-ABC7-52A633BB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17930" y="4770100"/>
            <a:ext cx="224978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D.J. Pisano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A20B3-12E7-4A2C-8608-5512466E1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57357" y="5366974"/>
            <a:ext cx="197029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July 14, 2017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2147D83-983E-482F-B3F3-B811412D3A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62D167-952B-4E24-85BB-618D2F437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EA7F81-3A21-4AE8-AA2D-F73A4A06E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 of 34</a:t>
            </a:r>
          </a:p>
        </p:txBody>
      </p:sp>
    </p:spTree>
    <p:extLst>
      <p:ext uri="{BB962C8B-B14F-4D97-AF65-F5344CB8AC3E}">
        <p14:creationId xmlns:p14="http://schemas.microsoft.com/office/powerpoint/2010/main" val="128150064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7a4a53d054a488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38EC53B-E90A-4A9E-9862-1E19DCB08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91766" y="855038"/>
            <a:ext cx="5498554" cy="95487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Groups and Clusters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CB811E-4126-4A73-BE80-AFB0BDB7A1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767936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5E2865-37B6-4C88-93EF-206A9719F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768008"/>
            <a:ext cx="8245031" cy="43337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are very social and typically reside in small groups or large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C9A6A8-8BA0-4FCA-8F18-6850BFE3B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093899"/>
            <a:ext cx="1044832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clusters.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987A99-41E0-4F54-839C-E71F3C14F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483388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BDAC80-6F40-4AE1-937E-1F86738F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483532"/>
            <a:ext cx="7310092" cy="433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may be separated by only a couple times their size.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C99288-07C9-4D6A-B6C1-242DD0B7A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872851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2D536B3-4EEE-4DDD-9EA1-1B9B2E9AD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872851"/>
            <a:ext cx="400054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Large clusters have masses ≥ 10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97D3260-1512-481E-8477-BC535C506F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5027" y="5877733"/>
            <a:ext cx="239046" cy="2912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4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049699B-4A64-4E98-8B4D-47CBF7655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8871" y="5872851"/>
            <a:ext cx="263787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6942A3F-6BFE-46E9-A072-055CBFB7C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24280" y="5872851"/>
            <a:ext cx="3388478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, large enough to bend light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CC78CD-E8D4-4B1B-95E1-C4D65B3AA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0" y="6194567"/>
            <a:ext cx="128321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97B9B58-7103-405B-B9A0-1B6BD0270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2340" y="6194567"/>
            <a:ext cx="2664991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gravitational lensing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E230D77-6D1E-46EA-A306-DFF25C022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9208" y="6194615"/>
            <a:ext cx="5325344" cy="4334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).  Groups and clusters span about 1 million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0D3B0C-58E8-4F4E-B040-878E31F6C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6520536"/>
            <a:ext cx="204892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parsecs (1 Mpc).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41DF591-C257-4831-AB35-C4876461E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6909994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A35AFC-C8FF-4A95-BC3E-0C1203392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910622"/>
            <a:ext cx="7514152" cy="4324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2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2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Milky Way resides in the Local Group, a collection of ~ 50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54D7D8C-3558-45AD-AFF6-62720F208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7235968"/>
            <a:ext cx="1107309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69025FB-C47C-49F7-BC53-898F6BF722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E53DBC0-F4E7-4410-A64C-BC51A8DC5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CDAC69E-9DE8-4E91-90DD-742100DDF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 of 34</a:t>
            </a:r>
          </a:p>
        </p:txBody>
      </p:sp>
    </p:spTree>
    <p:extLst>
      <p:ext uri="{BB962C8B-B14F-4D97-AF65-F5344CB8AC3E}">
        <p14:creationId xmlns:p14="http://schemas.microsoft.com/office/powerpoint/2010/main" val="91895552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5a2e91176943f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B339DB-BDD7-4BFE-A655-1ABAF92F1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31681" y="1153629"/>
            <a:ext cx="4821378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Interacting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BF5544E-3A19-4D81-9D98-3260336FF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0496" y="7490466"/>
            <a:ext cx="1067302" cy="39285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GalCrash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36C3C83-FB9E-496E-8ABD-0860C2AF6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AECC38-654A-423C-9C25-4A1A317C3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71076F5-62B0-4456-9199-34A1E87F72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 of 34</a:t>
            </a:r>
          </a:p>
        </p:txBody>
      </p:sp>
    </p:spTree>
    <p:extLst>
      <p:ext uri="{BB962C8B-B14F-4D97-AF65-F5344CB8AC3E}">
        <p14:creationId xmlns:p14="http://schemas.microsoft.com/office/powerpoint/2010/main" val="157675271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f627fd78c1c4a0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9AAF31-C6AF-4968-99BC-9D9189EA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1064" y="828522"/>
            <a:ext cx="7528926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Minor Mergers:  Making bigger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9FBF6B-965E-46A5-87B9-00B748158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07728" y="1480479"/>
            <a:ext cx="3465626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spiral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38E76B-0997-44A6-8FD5-C3529D681C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CB5774-5415-4ADF-9314-8825F5C11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7570A0D-FA8F-4128-AEDE-7D0926BFA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4 of 34</a:t>
            </a:r>
          </a:p>
        </p:txBody>
      </p:sp>
    </p:spTree>
    <p:extLst>
      <p:ext uri="{BB962C8B-B14F-4D97-AF65-F5344CB8AC3E}">
        <p14:creationId xmlns:p14="http://schemas.microsoft.com/office/powerpoint/2010/main" val="46116963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7ac48c302b0486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0052644-6EDC-4563-83C2-CD6750A8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515" y="1009041"/>
            <a:ext cx="650273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Another simulation of a minor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EDE09C6-05FE-4C3C-8B1A-9CA54ADEF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83736" y="1593241"/>
            <a:ext cx="171465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merger: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F0248A4-78D5-47AE-B702-03E881037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7666EE-7BE3-43F8-8814-275B4BC42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A1784E-7A43-4990-8DDB-E0D58CF3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5 of 34</a:t>
            </a:r>
          </a:p>
        </p:txBody>
      </p:sp>
    </p:spTree>
    <p:extLst>
      <p:ext uri="{BB962C8B-B14F-4D97-AF65-F5344CB8AC3E}">
        <p14:creationId xmlns:p14="http://schemas.microsoft.com/office/powerpoint/2010/main" val="4323700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17b25e495647b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A6AD42-72E7-44CA-B1C8-E790765F4F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5871" y="923569"/>
            <a:ext cx="358131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Major Mergers: 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EE6820A-0626-437A-85F2-3CAE1798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55261" y="1511962"/>
            <a:ext cx="577200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Forming Elliptical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AF4C67-9A49-47A0-BF1D-B0082C656C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C1F1B5-A926-475B-B878-3711DD00C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4D047F-BCCB-46A4-BC65-2CF0E3FFA9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6 of 34</a:t>
            </a:r>
          </a:p>
        </p:txBody>
      </p:sp>
    </p:spTree>
    <p:extLst>
      <p:ext uri="{BB962C8B-B14F-4D97-AF65-F5344CB8AC3E}">
        <p14:creationId xmlns:p14="http://schemas.microsoft.com/office/powerpoint/2010/main" val="178511459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7266ef38a3b4ec9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C1E0E63-FA1A-4303-AD5D-EAD1FA47C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77" y="1364475"/>
            <a:ext cx="383249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N-body simulations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541FA4-6F55-4CFF-A96A-061E90234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77" y="1885175"/>
            <a:ext cx="373478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provide past/future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772000-50CD-48ED-9118-9B5BF44CF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77" y="2405901"/>
            <a:ext cx="35439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evolution and 3-D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89145DC-7B15-4191-B055-7B2E16D7D0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77" y="2922344"/>
            <a:ext cx="183797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geometry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BBACD1E-6832-4232-BBB7-A09D69BC6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31182" y="704284"/>
            <a:ext cx="4705449" cy="39053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2" b="0" i="0">
                <a:solidFill>
                  <a:srgbClr val="007F7F"/>
                </a:solidFill>
                <a:latin typeface="Arial"/>
                <a:ea typeface="Arial"/>
                <a:cs typeface="Arial"/>
              </a:defRPr>
            </a:pPr>
            <a:r>
              <a:rPr sz="1922" b="0" i="0">
                <a:solidFill>
                  <a:srgbClr val="007F7F"/>
                </a:solidFill>
                <a:latin typeface="Arial"/>
                <a:ea typeface="Arial"/>
                <a:cs typeface="Arial"/>
              </a:rPr>
              <a:t>N-body simulation of NGC 4676 “The Mice”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D7F623A-BEDF-491E-9219-B3C71916A7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9635" y="993673"/>
            <a:ext cx="2786357" cy="3033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493" b="0" i="0">
                <a:solidFill>
                  <a:srgbClr val="007F7F"/>
                </a:solidFill>
                <a:latin typeface="Arial"/>
                <a:ea typeface="Arial"/>
                <a:cs typeface="Arial"/>
              </a:defRPr>
            </a:pPr>
            <a:r>
              <a:rPr sz="1493" b="0" i="0">
                <a:solidFill>
                  <a:srgbClr val="007F7F"/>
                </a:solidFill>
                <a:latin typeface="Arial"/>
                <a:ea typeface="Arial"/>
                <a:cs typeface="Arial"/>
              </a:rPr>
              <a:t>Hibbard &amp; Barnes, in preparation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54B668-EE0B-46CF-9904-D7313128D3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7305B4-B77D-4152-841B-7DFA7FBBCB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8F89F94-269F-4A1B-BFC4-19B9173C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7 of 34</a:t>
            </a:r>
          </a:p>
        </p:txBody>
      </p:sp>
    </p:spTree>
    <p:extLst>
      <p:ext uri="{BB962C8B-B14F-4D97-AF65-F5344CB8AC3E}">
        <p14:creationId xmlns:p14="http://schemas.microsoft.com/office/powerpoint/2010/main" val="206090371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1abd10a854d463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C302D4-951D-4744-9C37-DE0FD7CB6A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624" y="905116"/>
            <a:ext cx="72176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Galaxy Formation occurs via mergers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CEA54-0111-4421-9272-5E328CFCA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86531" y="1430009"/>
            <a:ext cx="25091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(dark matter)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44E890-587F-4D55-A51F-58FD5A61C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FAA6E8-9B3A-4898-9E66-86E6CC017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180FE1-D3E5-4185-B784-9C9462871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8 of 34</a:t>
            </a:r>
          </a:p>
        </p:txBody>
      </p:sp>
    </p:spTree>
    <p:extLst>
      <p:ext uri="{BB962C8B-B14F-4D97-AF65-F5344CB8AC3E}">
        <p14:creationId xmlns:p14="http://schemas.microsoft.com/office/powerpoint/2010/main" val="30024525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5a2b1776739430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FEDE766-8A9A-43E3-B58E-C5E300F4E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624" y="905116"/>
            <a:ext cx="72176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Galaxy Formation occurs via mergers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1A2B78A-C6BF-4932-8816-1DEA9B2F0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8236" y="1430009"/>
            <a:ext cx="416524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(dark matter and gas)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FA92733-28DC-44B1-9845-A12931A9F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154723-BA92-4ABF-B0DF-032CE2D82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737F71-79D4-4447-9D1D-54EFA932E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9 of 34</a:t>
            </a:r>
          </a:p>
        </p:txBody>
      </p:sp>
    </p:spTree>
    <p:extLst>
      <p:ext uri="{BB962C8B-B14F-4D97-AF65-F5344CB8AC3E}">
        <p14:creationId xmlns:p14="http://schemas.microsoft.com/office/powerpoint/2010/main" val="423203043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0ca5521a698454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2BF2FF-48AB-4ABF-9B04-BD578D796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32624" y="681545"/>
            <a:ext cx="72176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Galaxy Formation occurs via mergers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CF6582-FB7C-4973-A807-52653115E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33863" y="1206443"/>
            <a:ext cx="241420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(one galaxy)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6B9D49-5409-40A3-B0A7-8F8C9B562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CDA5C2-2BBE-4873-9138-5CF28E9426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7CD2A0D-D627-43D4-BFD1-15FFD769F9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10 of 34</a:t>
            </a:r>
          </a:p>
        </p:txBody>
      </p:sp>
    </p:spTree>
    <p:extLst>
      <p:ext uri="{BB962C8B-B14F-4D97-AF65-F5344CB8AC3E}">
        <p14:creationId xmlns:p14="http://schemas.microsoft.com/office/powerpoint/2010/main" val="2090157799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c4e1d1b2ad744a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E6FB95-855F-44B9-AA9B-6E2ADB3B8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756" y="923569"/>
            <a:ext cx="636736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Where do interactions occur?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4DD1E86-4F8F-4E02-857E-F5628A7CAA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9608" y="1511962"/>
            <a:ext cx="420339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Groups of Galaxies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4F4BFC-9D99-42B9-B71D-14611DDE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AB1E8D8-FB5E-4748-BFD5-7C4B7B5BB0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B3F0DF-9C87-412B-925B-2FFA6F21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11 of 34</a:t>
            </a:r>
          </a:p>
        </p:txBody>
      </p:sp>
    </p:spTree>
    <p:extLst>
      <p:ext uri="{BB962C8B-B14F-4D97-AF65-F5344CB8AC3E}">
        <p14:creationId xmlns:p14="http://schemas.microsoft.com/office/powerpoint/2010/main" val="133272763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979203741d4a1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8ED58C-B4A8-4A86-8B68-2FE52136C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1532" y="860692"/>
            <a:ext cx="487989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Clusters of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294DF1-C0C0-47C8-88D0-BEEFC18EE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79469" y="6637135"/>
            <a:ext cx="2324254" cy="39152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2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2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See the arcs of light?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3748DA-2484-4663-AFD9-36A6DA03D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81963" y="6930204"/>
            <a:ext cx="6717418" cy="3899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9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19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Those are gravitational lensed images of background galaxies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484C53-E81B-4751-8F59-71DAE4B23B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3663" y="7222580"/>
            <a:ext cx="5518286" cy="3894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917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917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Their shape is due to the dark matter in the cluster.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3E565D-6D22-4E34-A7C1-D646E1268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83DBDB2-22EC-4964-B08A-6EB9D56E37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7238F49-37A1-45EF-AE13-308BBCF7CF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12 of 34</a:t>
            </a:r>
          </a:p>
        </p:txBody>
      </p:sp>
    </p:spTree>
    <p:extLst>
      <p:ext uri="{BB962C8B-B14F-4D97-AF65-F5344CB8AC3E}">
        <p14:creationId xmlns:p14="http://schemas.microsoft.com/office/powerpoint/2010/main" val="1687889325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483c7f24f6e45f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432E35-513A-4E8D-8C18-02C5A38BE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2526" y="1057809"/>
            <a:ext cx="663760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Galaxy Interactions in Clusters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E4CCDD-C60D-4583-8253-75056BBB13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B8723A-1C86-4D2D-85D1-55E8B8B363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052968D-94D4-4C5D-A3BE-441B3C522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13 of 34</a:t>
            </a:r>
          </a:p>
        </p:txBody>
      </p:sp>
    </p:spTree>
    <p:extLst>
      <p:ext uri="{BB962C8B-B14F-4D97-AF65-F5344CB8AC3E}">
        <p14:creationId xmlns:p14="http://schemas.microsoft.com/office/powerpoint/2010/main" val="120901728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a8e969160f4454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7D61FA7-BAEF-4A3F-A71F-03F834117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6520" y="823836"/>
            <a:ext cx="25086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The Future: 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30646F-0241-460F-9B46-C6EB731072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2704" y="1348728"/>
            <a:ext cx="613451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FFFF"/>
                </a:solidFill>
                <a:latin typeface="Arial"/>
                <a:ea typeface="Arial"/>
                <a:cs typeface="Arial"/>
              </a:rPr>
              <a:t>Forming Even Larger Galaxies?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9ABB4D1-4283-4FEA-99EC-875E61986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91DE57A-9FCF-4C93-8F86-E5CED478DB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13660D-043D-49AF-B25B-9E6D072BF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14 of 34</a:t>
            </a:r>
          </a:p>
        </p:txBody>
      </p:sp>
    </p:spTree>
    <p:extLst>
      <p:ext uri="{BB962C8B-B14F-4D97-AF65-F5344CB8AC3E}">
        <p14:creationId xmlns:p14="http://schemas.microsoft.com/office/powerpoint/2010/main" val="1311011524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47a60479624ccc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D86CD6-7DE2-4DA9-9536-A698EF0825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3211" y="1123328"/>
            <a:ext cx="4937162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Starburst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CFE531-9387-47C6-B5E0-4EC8C68F9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C1FC9A-745A-4F72-ABA9-CC130ADEF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331702"/>
            <a:ext cx="745942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interactions can compress gas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330544C-98C3-4129-B1EC-170147B16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852402"/>
            <a:ext cx="827660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clouds in a galaxy triggering star formation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BE23C1-1166-4D9A-82E2-ACAAFFCD2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373128"/>
            <a:ext cx="72383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(particularly in the center of a galaxy).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E76126-C117-4F76-83B1-89FB04E1A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995388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52B08A4-66CC-4455-91D1-9A784B911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995388"/>
            <a:ext cx="83452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can also fuel a black hole in the center of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B7F9770-AC3B-4FFA-B065-CF1430C18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520564"/>
            <a:ext cx="1735158" cy="68348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 galaxy.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D70F78B-CB73-400F-9D60-631EE3EF75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13845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782C7BD-E247-4435-B903-3B8473E15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138457"/>
            <a:ext cx="74311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Major mergers may also form elliptical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929A12-9191-45CA-ADEF-3EBD9197F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654871"/>
            <a:ext cx="17433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C6FF39C-F272-46C3-85AC-FF6FBFBC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6D86CB-0E82-4256-A23D-0ADBBB44A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D28132-997E-44D3-A785-F5E1B924A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15 of 34</a:t>
            </a:r>
          </a:p>
        </p:txBody>
      </p:sp>
    </p:spTree>
    <p:extLst>
      <p:ext uri="{BB962C8B-B14F-4D97-AF65-F5344CB8AC3E}">
        <p14:creationId xmlns:p14="http://schemas.microsoft.com/office/powerpoint/2010/main" val="1527791801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0c2b10d4a934478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910198-11FA-4C7D-92EF-EF314D181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64218" y="858139"/>
            <a:ext cx="4142081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Active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5D4380-60FC-4235-83DC-F296CF7934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0" y="1842013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C1AB5E-22BD-4850-BF65-120EB7146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1844144"/>
            <a:ext cx="7183008" cy="60604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Often referred to as Active Galactic Nuclei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F1333BD-7B56-4CEB-B104-88298E70D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2294981"/>
            <a:ext cx="1111451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(AGN)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9965192-546E-42D9-AD06-C71857280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0" y="284109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ED4D58-122C-4DF0-B0A5-ECCD2D967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2841948"/>
            <a:ext cx="8011309" cy="60818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Otherwise normal galaxies with an active black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081E081-B407-4D87-B07D-886B0A49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3295209"/>
            <a:ext cx="7920997" cy="6076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hole in their center that is producing jets (often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A1E942-14EC-4531-8A38-0952C1436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3751180"/>
            <a:ext cx="3246866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seen in radio light).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9A9FA1D-901E-4623-BE7B-2153DFCF7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0" y="4297319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C07FD5D-F35A-4CAF-827D-926DE4B5B4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4297444"/>
            <a:ext cx="3497311" cy="6093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May be triggered by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741F0E-8912-4000-83F3-C77C4FE8B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4839227"/>
            <a:ext cx="19799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interactions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0B5BBA6-5689-4D09-9E58-3906167CA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660" y="5385257"/>
            <a:ext cx="1714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23DC22F-0206-444E-AD95-D3969815B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5386526"/>
            <a:ext cx="3212249" cy="60748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9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9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Jets can affect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8DC5DF-3710-4144-B7A2-79A3C94D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6785" y="5931427"/>
            <a:ext cx="364959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0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0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surrounding galaxies.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44BAC4-5FE7-4246-9DAC-26BA717D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4FC4922-A086-4655-94A2-53FAC1BBD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A60986-7188-4948-9FB8-3984F5355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16 of 34</a:t>
            </a:r>
          </a:p>
        </p:txBody>
      </p:sp>
    </p:spTree>
    <p:extLst>
      <p:ext uri="{BB962C8B-B14F-4D97-AF65-F5344CB8AC3E}">
        <p14:creationId xmlns:p14="http://schemas.microsoft.com/office/powerpoint/2010/main" val="100594390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478f88886148d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49E541F-D76F-41BD-AFAC-6E6F63F85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0408" y="828522"/>
            <a:ext cx="5089732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FAEB3A-5DAC-4560-B378-7F7565F32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99231" y="1480479"/>
            <a:ext cx="1421704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Holes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7622AC6-0B32-4159-BA02-F6FAD915C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2258571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3BC8BA-DAF6-4F5C-8D6F-ECC45D6C0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95" y="2258571"/>
            <a:ext cx="328273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Astronomers use widely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9A63A9-A1DB-47F2-B0C7-0800AD4AF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2546395"/>
            <a:ext cx="402764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separated radio telescopes to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FA60238-8DC1-40A9-A394-28741FDA2E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2830071"/>
            <a:ext cx="393103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trace the motion of objects in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29DA7-17A7-44E4-8353-79D0B7BB1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3117965"/>
            <a:ext cx="371648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center of other galaxies.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171E9E-F67D-48D4-AE83-13B47FDBB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3473580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A056B52-FE97-4EAE-803F-2BD111DD6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3473580"/>
            <a:ext cx="352672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measure both the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E99F46-416E-4F4B-B2DE-67E74777C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3761428"/>
            <a:ext cx="341571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apparent motion of these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7B679B4-5C31-43B1-9DBE-9C50C66CE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045039"/>
            <a:ext cx="361129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objects and their velocities.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EAA7EDA-AA1B-4B65-9B1E-2D568DCE6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4400614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FB9DD3C-FE20-4EEF-B431-DB3757F9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4400614"/>
            <a:ext cx="379708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Combined, these data allow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34F433F-DEB8-43CF-AC6A-DD45DBDF3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688461"/>
            <a:ext cx="363055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 to measure the mass of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7D239C-9FE9-4235-A3DC-537E2F844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972138"/>
            <a:ext cx="187581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black hole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87CB90C-790F-406B-B75C-EEA943573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533196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7D0D686-48E6-4F37-9856-C858B1F22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5331969"/>
            <a:ext cx="393967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also see radio jet coming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819E585-D9FA-4EF5-B686-62075B1718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615601"/>
            <a:ext cx="340163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from near the black hole.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C4DAB2D-52D2-4A31-8A5B-503201E8F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5975438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807781-49EF-440F-A4C4-065EEFFA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975438"/>
            <a:ext cx="387965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holes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6BEE041-7328-4045-9E3E-99315FC5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259069"/>
            <a:ext cx="349988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are found in all galaxies 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B395DD0-BF42-46BD-AF47-9994EDEAE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542701"/>
            <a:ext cx="368271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spheroids (ellipticals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731DB28-6AC8-4316-A97E-AD7A6D2C34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830530"/>
            <a:ext cx="320054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early-type spirals)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E2BD98B-4B49-4C37-AD55-F58F74FD7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8416DB9-E15C-4AF9-9964-3130A6CFC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8E4E1E0-DCFF-489E-8E1F-1B0E5CE4B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17 of 34</a:t>
            </a:r>
          </a:p>
        </p:txBody>
      </p:sp>
    </p:spTree>
    <p:extLst>
      <p:ext uri="{BB962C8B-B14F-4D97-AF65-F5344CB8AC3E}">
        <p14:creationId xmlns:p14="http://schemas.microsoft.com/office/powerpoint/2010/main" val="290165731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8c3b349bb24be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2944394-D18B-4EAC-A3CE-DF08A651B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3679" y="952744"/>
            <a:ext cx="6292527" cy="9545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type of galaxy is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95DEF99-817C-45B3-A166-BFB4943BB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37" y="952474"/>
            <a:ext cx="1626215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4BC233-179E-45BC-8284-5B99CB4DE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431" y="1664176"/>
            <a:ext cx="8611154" cy="9542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likely to contain a supermassive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6C2CE8B-1481-4F24-B466-C9E96465A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5602" y="2379175"/>
            <a:ext cx="3050649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6B6FB2A-8E25-406D-9993-79CCF8D97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01" y="3713462"/>
            <a:ext cx="4473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FDC307-1CA7-4F28-BD78-31F66DC37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3713462"/>
            <a:ext cx="287279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Dwarf irregular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C71E288-B1EE-4914-A031-94EDF2276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339979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F709AF9-A43C-43BA-BBD1-80F32E29F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00" y="4339979"/>
            <a:ext cx="162479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Elliptical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D74FF9-7A2D-4590-96E4-F8FABD0CE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4962348"/>
            <a:ext cx="219346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Irregular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2D2241D-98B8-479C-B5A8-F492852EF1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2" y="5584853"/>
            <a:ext cx="7052474" cy="69042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 A spiral galaxy with a small bulge.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EB52D2-BC12-4D1E-BC64-521556505D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35548B3-5742-4D2F-A93F-30253BDAB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702CDE-FE3F-4BFD-82C3-D99867BB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18 of 34</a:t>
            </a:r>
          </a:p>
        </p:txBody>
      </p:sp>
    </p:spTree>
    <p:extLst>
      <p:ext uri="{BB962C8B-B14F-4D97-AF65-F5344CB8AC3E}">
        <p14:creationId xmlns:p14="http://schemas.microsoft.com/office/powerpoint/2010/main" val="858212914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6c377bfaf8c408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77C1751-FB6C-4AE9-9017-7D8080BD61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777" y="925881"/>
            <a:ext cx="852132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we measure the mass of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998232E-7987-4C20-88B9-72C92E4773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9502" y="1577842"/>
            <a:ext cx="190309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E76BC4-D096-40A9-819E-EF0DEF5D8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624651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94914-0750-4DCE-83E1-523FCB109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2624651"/>
            <a:ext cx="80344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need to know the mass of a galaxy in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FCDA78-34CC-47CB-9BEA-462F68E32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145351"/>
            <a:ext cx="767146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order to determine its nature and how it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3246D21-808F-4536-BE4D-B2C440A0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666076"/>
            <a:ext cx="150207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formed.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E713A8-9AD0-4E80-AA3A-F8D3509B7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428833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38EA56-F66B-4951-8C5B-18A4E6AFD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288332"/>
            <a:ext cx="81756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Different physics are involved in forming a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11B4E7D-2FBE-448D-910B-9B14E21CD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4809076"/>
            <a:ext cx="825285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single star as opposed to a cluster of stars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6E64227-6B16-46E9-BB22-62DEEE9D5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326685"/>
            <a:ext cx="6848142" cy="68904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9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9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in contrast to an entire galaxy. 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F580E8-27AA-441A-A824-E98CD5DAA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5947839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1BC5C81-56EB-4D69-A00B-2A0600A0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5947839"/>
            <a:ext cx="555658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There are a couple methods.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62387D-A600-4739-B15B-AFB45C4BD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7B31DE-FA79-4C1C-9407-BF21DB1AD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A4670E-EB00-4934-BDB4-E3A37381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19 of 34</a:t>
            </a:r>
          </a:p>
        </p:txBody>
      </p:sp>
    </p:spTree>
    <p:extLst>
      <p:ext uri="{BB962C8B-B14F-4D97-AF65-F5344CB8AC3E}">
        <p14:creationId xmlns:p14="http://schemas.microsoft.com/office/powerpoint/2010/main" val="2069296305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03169cded547e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39DA684-87CA-4777-B403-3AEBABB88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777" y="925881"/>
            <a:ext cx="852132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we measure the mass of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C39316-E98F-4A3D-8704-9D7BB8FB6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9502" y="1577842"/>
            <a:ext cx="190309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269AB13-63D6-4327-83D8-F77BFDC131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331858"/>
            <a:ext cx="8358097" cy="5213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Method 1:Count all the stars and gas in a galaxy and add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12B699E-84AB-4AD8-A2FD-22D1E249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721214"/>
            <a:ext cx="2836890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up all their masses.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215441-9B93-4EEA-B230-87232BD1F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187688"/>
            <a:ext cx="7812867" cy="52019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Pros:  It is a relatively straight-forward measurement. 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252E5F-2ED2-4DB7-9ED6-EBB23F551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577241"/>
            <a:ext cx="7396252" cy="52004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Getting the total gas mass is fairly easy and robust.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873925-AB67-4608-9EF6-3099923E6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042824"/>
            <a:ext cx="8139594" cy="52019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Cons:  It is pretty hard to actually count all the individual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44708F-1A50-487D-877F-0DE487D87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432238"/>
            <a:ext cx="8140107" cy="520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stars in a galaxy so you have to assume you know what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7B51601-BA92-4A61-AE9C-38348393B9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823079"/>
            <a:ext cx="4505663" cy="51793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types of stars are in the galaxy.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C83D2C3-C180-4F96-A695-F2ACB3A3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24727" y="7485970"/>
            <a:ext cx="671760" cy="2480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2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22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Distance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BA88CAD-CEB4-42F2-B3C4-969443F84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81A1CC4-4E12-4BA5-8D59-3CCF0A188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CEED4B-27AE-4A50-9717-760E7E68BA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20 of 34</a:t>
            </a:r>
          </a:p>
        </p:txBody>
      </p:sp>
    </p:spTree>
    <p:extLst>
      <p:ext uri="{BB962C8B-B14F-4D97-AF65-F5344CB8AC3E}">
        <p14:creationId xmlns:p14="http://schemas.microsoft.com/office/powerpoint/2010/main" val="2084413799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1deb62b608421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D9B10D-F774-49E7-9BEB-5C750F7E2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5777" y="925881"/>
            <a:ext cx="8521325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How do we measure the mass of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9B2974-4785-4983-9CEE-61AFA74B7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89502" y="1577842"/>
            <a:ext cx="1903099" cy="866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2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2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8AAA0B-042A-416D-97CA-9189D293C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462086"/>
            <a:ext cx="837680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Method 2:Use the motions of objects in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4726A7-2DF6-4437-B952-BF389CFACE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982786"/>
            <a:ext cx="58001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FF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FF0000"/>
                </a:solidFill>
                <a:latin typeface="Arial"/>
                <a:ea typeface="Arial"/>
                <a:cs typeface="Arial"/>
              </a:rPr>
              <a:t>galaxy to determine the mass.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A0963B2-37F6-4A57-B464-6EAE83B88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3605136"/>
            <a:ext cx="826994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Pros:  Simple measurement that gives you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B7C5233-B006-4791-A76C-3F6C1218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125782"/>
            <a:ext cx="59067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EB304E1-9E3D-44BE-A1BE-983118ED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5500" y="4127572"/>
            <a:ext cx="4087952" cy="68789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38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38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of a galaxy.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D5BC88E-47A1-4CC1-8A3B-24CB2F5EBE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748136"/>
            <a:ext cx="851990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Cons:  Need to have an object emitting light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55AA87-D82E-4A26-8F99-330624337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268811"/>
            <a:ext cx="798759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order to measure mass at that position.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AE23FB6-8A17-4667-8623-C7481FF0D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40463F-1D70-4EA6-B955-E02FF377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3BB7BDA-1F11-42A7-825E-E07FE0F7F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21 of 34</a:t>
            </a:r>
          </a:p>
        </p:txBody>
      </p:sp>
    </p:spTree>
    <p:extLst>
      <p:ext uri="{BB962C8B-B14F-4D97-AF65-F5344CB8AC3E}">
        <p14:creationId xmlns:p14="http://schemas.microsoft.com/office/powerpoint/2010/main" val="180283643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925183015749e6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0E9D832-1C6A-45F8-84E4-F712980D85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982" y="1123396"/>
            <a:ext cx="6825118" cy="9549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the Solar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E33E1-AE17-4FE6-B9FF-DFD5164DF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B30031A-A081-41FB-A858-3C74A57F7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2331702"/>
            <a:ext cx="73344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the mass of the solar system?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EC0E20-B864-48A6-B2FC-828F88046E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68" y="2940806"/>
            <a:ext cx="3547603" cy="6070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about 1 solar mass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BF4775-FAA3-4FFD-AAF6-B88BCC184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3500087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904CD17-9320-450B-84BE-825ECEF343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3500087"/>
            <a:ext cx="750099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Where is most of the mass in the solar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0630178-BB6D-4BF8-8B16-18070FC70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4020802"/>
            <a:ext cx="164767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system?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461D707-65AD-4A3F-868E-027F62F23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268" y="4629832"/>
            <a:ext cx="2430304" cy="60716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98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98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 in the center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56047A-C3E3-443F-8F9C-189F1DF3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518919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A381B6-BFE7-41F0-A916-78A09694C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5189192"/>
            <a:ext cx="743449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use the velocity of the planets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00FEDF9-B777-4874-AEFE-88328FFAD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5709932"/>
            <a:ext cx="815643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versus their position to measure the mass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0997D6D-27F6-4DB1-95F5-F46C19E90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6226374"/>
            <a:ext cx="390357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solar system.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FF7DBF-8AFF-4FA1-B9F6-0C8EAECD48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81EE788-18F5-4333-A3E0-2CA745348E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8A947A9-CC2B-460B-B259-6BC543E35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22 of 34</a:t>
            </a:r>
          </a:p>
        </p:txBody>
      </p:sp>
    </p:spTree>
    <p:extLst>
      <p:ext uri="{BB962C8B-B14F-4D97-AF65-F5344CB8AC3E}">
        <p14:creationId xmlns:p14="http://schemas.microsoft.com/office/powerpoint/2010/main" val="204733845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52baf45d724cea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303C15E-8566-468A-A976-29F845B9A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29982" y="1123396"/>
            <a:ext cx="6825118" cy="95492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the Solar System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0D892FF-5DAB-40D2-B6FC-6E3E738CA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6447" y="208666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DA562F9-57FF-4547-A14E-091EA9BF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2086669"/>
            <a:ext cx="218878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what the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49CBCE-87F6-479A-AD41-73F9C014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3447" y="2086669"/>
            <a:ext cx="1924961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2F3BFE-2BA8-47DB-931E-44B69DFAB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2446526"/>
            <a:ext cx="402348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 Solar System looks like.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A6E6E9-34A3-4AA4-A093-C9AB82F64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6446" y="2874115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871337-388A-4CF0-B47D-C72D2723D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427" y="2874115"/>
            <a:ext cx="371159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the semi-major axis of a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41FFC6-CB04-408E-A5B2-0E83D03FF8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3229735"/>
            <a:ext cx="4139943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planet is increased, its velocity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EEF8259-07B9-4097-B7D1-8F70E264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3589527"/>
            <a:ext cx="1494872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decreases.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06EF40-E522-4D61-B0F7-EB18D7E12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6446" y="4017116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E448722-571C-4E90-93BB-C1A57872A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4017116"/>
            <a:ext cx="2900750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curve is called a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9BCB519-5605-4C15-9885-32C5E2312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4372671"/>
            <a:ext cx="3265439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Keplerian rotation curve.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267CB1-8587-49FD-A801-E50ED8691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6446" y="480027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F6E856-5ED7-41CF-AA67-816C065AF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4800279"/>
            <a:ext cx="4163514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implies that all the mass is 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AB2A56-2AAA-430C-B71F-239BBD07F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5160095"/>
            <a:ext cx="3900066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center of the system.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2DEC363-3FF0-4655-88F1-6168737F0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6446" y="5587679"/>
            <a:ext cx="14181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B4D4300-B420-4B64-B17A-06EB41789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5587679"/>
            <a:ext cx="3365197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is the same rotation 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CECA793-5538-478D-A21F-BC150EE2A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5943240"/>
            <a:ext cx="3728345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curve as is seen for objects 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66C881E-3630-427D-8F9C-3AC146F40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1571" y="6298840"/>
            <a:ext cx="2620048" cy="4741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3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3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around black holes.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4FD7996-2473-41F5-AAE6-8F77DFACC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982D42D-C7E7-4C6A-A205-F85A10B90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A48F53-4D7A-44C3-A752-0265BECC7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23 of 34</a:t>
            </a:r>
          </a:p>
        </p:txBody>
      </p:sp>
    </p:spTree>
    <p:extLst>
      <p:ext uri="{BB962C8B-B14F-4D97-AF65-F5344CB8AC3E}">
        <p14:creationId xmlns:p14="http://schemas.microsoft.com/office/powerpoint/2010/main" val="721541236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40d5b47d7cc46fb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2615576-7FA7-41A8-84F8-78BCC5CFF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97863" y="936655"/>
            <a:ext cx="6886851" cy="95431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a merry-go-round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F06CDFC-163D-48A7-AEA0-49448B8DBF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483110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98E2582-E6A5-4437-9394-52742122C3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9" y="4832064"/>
            <a:ext cx="8045675" cy="51994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you move from the center to the edge, you go faster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E11C08-1084-4748-B3A6-A5CB38FB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5221279"/>
            <a:ext cx="8070290" cy="5203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faster since each part of the merry-go-round needs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834A03-2E13-4A34-A370-6E1A7BA6F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5610780"/>
            <a:ext cx="6929866" cy="52030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to complete a circle in the same amount of time.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4300A0D-5C44-4E79-BC00-06E70AADFA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607571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A8C759-9FC9-496B-97D5-B15B35BCD4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9" y="6076647"/>
            <a:ext cx="7305499" cy="51998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you move to the edge, more of the mass of the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E237C3-E5C0-4962-B6B4-653156FD8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7" y="6466511"/>
            <a:ext cx="6772994" cy="51931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merry-go-round is between you and the center.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27CFE67-4A87-4ED4-9C35-124D9727C1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2" y="6930842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65F976E-A5BF-40CE-8A22-CAC1DC8D7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8" y="6931291"/>
            <a:ext cx="4547429" cy="52079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curve implies that mass is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737176F-7CED-44BE-A21B-1BF25B6858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2721" y="6930842"/>
            <a:ext cx="1662133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increasing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AC00C0B-29D3-4BF6-A017-20915DE44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6754" y="6930842"/>
            <a:ext cx="177021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with radius.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CC19E63-22F5-4918-ACF5-F35B994E81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03BA481-E8AE-4C29-9F65-AA04F6840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D5896EC-66F2-4F10-A164-E1AAB9EBE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24 of 34</a:t>
            </a:r>
          </a:p>
        </p:txBody>
      </p:sp>
    </p:spTree>
    <p:extLst>
      <p:ext uri="{BB962C8B-B14F-4D97-AF65-F5344CB8AC3E}">
        <p14:creationId xmlns:p14="http://schemas.microsoft.com/office/powerpoint/2010/main" val="82968569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d9eaafe2dd14d87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FFC14C-89B8-4817-A43E-B033235EB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1978" y="1123328"/>
            <a:ext cx="4639023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a Galaxy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8335B76-D68F-4C58-AD8F-0BAA7551C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" y="233174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9F73DC3-0923-4B9D-9C85-7441F1D3C4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2332330"/>
            <a:ext cx="3606199" cy="52056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Using the Doppler effect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6FA133-E11E-41A8-8121-0DC36EB31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2721210"/>
            <a:ext cx="305277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can measure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70D0866-827D-49C8-B39A-AF34DF875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3112726"/>
            <a:ext cx="3715429" cy="51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of a spiral galaxy.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E51C6C-07BF-458B-A48F-2DFB58BDC0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" y="357634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5A2672-335D-415D-89F8-F626A349A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3576392"/>
            <a:ext cx="3612425" cy="52147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side is blue-shifted, 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0DE7EE-9D8A-4B1F-91E5-ADE76F0A0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3965810"/>
            <a:ext cx="330647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one side is red-shifted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A8B44A-FAF0-48D6-8589-8100E05CD1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4357089"/>
            <a:ext cx="3736127" cy="5185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respect to the center.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7379DB1-674F-436B-97B2-DBE6C5D49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" y="4820947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85D93D2-E73F-47FD-9629-985A141257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4820947"/>
            <a:ext cx="207523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shift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BA7A99-D31A-4E4F-AED0-6D13F1884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5210386"/>
            <a:ext cx="281774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corresponds to the 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4334FAD-9951-489D-995D-505EC348CA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5599875"/>
            <a:ext cx="3286557" cy="52150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velocity of the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634D7E5-A772-490B-9BE6-714409BE4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4" y="5989312"/>
            <a:ext cx="97867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9FA217-44CE-4452-A1D2-F8495C9EB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B4FEAED-C17B-44D8-9FA0-6C30ACEC4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E15BC74-4F88-4418-96E2-DBF300CD65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25 of 34</a:t>
            </a:r>
          </a:p>
        </p:txBody>
      </p:sp>
    </p:spTree>
    <p:extLst>
      <p:ext uri="{BB962C8B-B14F-4D97-AF65-F5344CB8AC3E}">
        <p14:creationId xmlns:p14="http://schemas.microsoft.com/office/powerpoint/2010/main" val="35520182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99c67e2e2904c23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604A8EE-36D8-4271-BBBF-F208C7B72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21978" y="1123328"/>
            <a:ext cx="4639023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a Galaxy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4DD8E32-1DD1-4F55-8052-7789E5260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9" y="4571505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31DE3E-D6FD-490D-AA16-6E920E24D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53" y="4571505"/>
            <a:ext cx="519060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DE6DBF5-C874-4F67-B361-2CF8DCEDF0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824" y="4571505"/>
            <a:ext cx="33818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233038-4252-49E2-84DD-5F20BAD0B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2908" y="4571759"/>
            <a:ext cx="6871021" cy="4330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spiral galaxies, we see a rotation curve like those above.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ECDCD07-C509-4D3B-9833-914F59084C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1" y="4931357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D198A7-3CF1-43AC-977F-3A33B3EB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4931545"/>
            <a:ext cx="6691383" cy="4331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2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2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center parts look like a merry-go-round (solid body)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72E13C1-96B7-459C-8EF4-CCAC57B7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5286957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60351-373E-476F-99E5-57BEA785A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5286957"/>
            <a:ext cx="2843222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outer parts are flat.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8B0EAC-DDC0-4302-9BC9-03049482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0" y="5642532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B4616D-9DCB-4EA6-97C1-378680CF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5" y="5642942"/>
            <a:ext cx="7047713" cy="43280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height and extent of the curve give you the total mass.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DE9EB0-EAFA-4B31-89EA-A6442A418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4335" y="5996445"/>
            <a:ext cx="165202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B451C2E-B1CC-44AE-8563-BEB272409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21" y="5996445"/>
            <a:ext cx="4892894" cy="365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8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18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higher and longer curves = larger total mass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49139AF-75D1-4166-8231-C2DA9D43A3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6302932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F0635ED-8056-4CAD-A265-87B34AFADF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302932"/>
            <a:ext cx="47522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 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17F8221-0073-4638-AFE0-987455DDA8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38861" y="6302932"/>
            <a:ext cx="163134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galaxy has a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F903D31-CC50-4765-B669-4AF8EB67B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1212" y="6302932"/>
            <a:ext cx="2401775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declining, Keplerian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C379426-8C38-49D1-9EBD-E4075B82E4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94888" y="6302932"/>
            <a:ext cx="1824224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rotation curve.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AF26157-DD8D-4CB0-A7DB-F7DE883A7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8" y="6662789"/>
            <a:ext cx="132926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4147885-8D79-48E6-89BD-CA3886FDA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6663185"/>
            <a:ext cx="7812775" cy="4328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implies that the mass of a galaxy continues to increase 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4A84607-320E-4EF2-984B-F18B02354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6954899"/>
            <a:ext cx="1538992" cy="43349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133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133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with radius.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1D93135-D1F4-41A8-BB46-FCDE2E9BA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E53192F-87FD-4AD2-BCDC-84F027CD0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224D846-E28B-46FE-9791-470BD23F4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26 of 34</a:t>
            </a:r>
          </a:p>
        </p:txBody>
      </p:sp>
    </p:spTree>
    <p:extLst>
      <p:ext uri="{BB962C8B-B14F-4D97-AF65-F5344CB8AC3E}">
        <p14:creationId xmlns:p14="http://schemas.microsoft.com/office/powerpoint/2010/main" val="836160554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4d44677776490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86614B-CBF0-4442-A2F4-A33297F7A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5990" y="1125656"/>
            <a:ext cx="5971307" cy="95115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8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8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of the Milky Way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5AB5E27-C5CF-4B62-9B1B-AAE10DEA5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33174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89766D3-F86B-4857-92B0-7C74980216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334216"/>
            <a:ext cx="6369865" cy="51742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Same rotation curve seen for the Milky Way.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CF7E97-CF35-4462-AEC6-8D140D21A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279741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3C5E022-585D-4F57-8379-677C3A306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798255"/>
            <a:ext cx="7959186" cy="52014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mass continue to increase beyond the edge of the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DE4742E-93AB-47EF-ABB3-CF83F9CF7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187699"/>
            <a:ext cx="7670156" cy="52017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disk of stars and gas out to the very edge of the halo.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214D9BE-49F6-409E-A647-7FC242853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6" y="3652546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22380B-C3F9-45A6-830F-D3BC84126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1" y="3653370"/>
            <a:ext cx="4686143" cy="520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What is this missing mass???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F97A3C-7DF6-43C1-8E11-E6586786D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E6F821D-9BB6-46D1-8C74-4A2F64E7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C01BA4A-A7D7-4840-A1AB-426D05CEC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27 of 34</a:t>
            </a:r>
          </a:p>
        </p:txBody>
      </p:sp>
    </p:spTree>
    <p:extLst>
      <p:ext uri="{BB962C8B-B14F-4D97-AF65-F5344CB8AC3E}">
        <p14:creationId xmlns:p14="http://schemas.microsoft.com/office/powerpoint/2010/main" val="229723730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0df8c9fe4d4dff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F5D10E5-081A-4805-BA00-18F8276FF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28864" y="1123551"/>
            <a:ext cx="6625166" cy="954669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98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98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Masses of other galaxies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870DA76-59EC-4EA3-B471-6C684AC2D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9" y="2331702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A7DA497-409C-4C80-BB47-09ED15580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3" y="2331702"/>
            <a:ext cx="790974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While not all galaxies rotate, the motions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A383AB5-75AB-421E-B145-F525149308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4" y="2852402"/>
            <a:ext cx="419106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of their stars and gas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AC3973-453F-46CD-B3B1-EF1316C29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56037" y="2852402"/>
            <a:ext cx="63817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all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180D2A-9354-4D9A-AA78-22FD15F95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6127" y="2852402"/>
            <a:ext cx="28246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indicate some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01137F6-73B4-4579-BEE6-458F0D35F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3373128"/>
            <a:ext cx="277554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missing mass.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8DFC8E2-F287-49C2-95F0-891CEB383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1" y="3995388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3010E7-5AE6-408B-A852-D34EE8DEB8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3995388"/>
            <a:ext cx="68057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motions of galaxies in pairs, in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5218ECA-C23E-417F-AE57-ED8595384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4516128"/>
            <a:ext cx="695267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groups, and in clusters also provide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917C7D-449D-4B59-B331-C2FD77F68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6" y="5032635"/>
            <a:ext cx="5248841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for missing mass.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7379CEA-BBC8-4BCB-9E77-B2A8B1974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1" y="5654896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45CF80-D5E8-431D-BCE1-BC8ADBF70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35" y="5654896"/>
            <a:ext cx="808416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As does gravitational lensing by clusters. 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9EAA752-9828-41D2-8D90-19022CFC4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C32B973-FA12-48C7-B681-02DACE4A3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63CCE89-54A3-4ACA-9DB1-445B91D19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28 of 34</a:t>
            </a:r>
          </a:p>
        </p:txBody>
      </p:sp>
    </p:spTree>
    <p:extLst>
      <p:ext uri="{BB962C8B-B14F-4D97-AF65-F5344CB8AC3E}">
        <p14:creationId xmlns:p14="http://schemas.microsoft.com/office/powerpoint/2010/main" val="1037424130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7e2b4fa84b24801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C2D167E-A7F8-4BC6-8056-5F4FE9E28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323" y="1128982"/>
            <a:ext cx="8465766" cy="94561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6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6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in stars versus Total Mass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4E9DF8F-78AB-4820-96DD-4BA848AA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2280921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9B83CB-D5A7-4E65-B572-B77437171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280921"/>
            <a:ext cx="3879056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Most of the missing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69AF4D-2B1F-479C-9877-D522846C2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2750847"/>
            <a:ext cx="279911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mass is in the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0A149A-F97B-4562-9650-95981A14C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216421"/>
            <a:ext cx="224709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outskirts of 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8A067-7BBF-422D-A962-54E02CD9A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3682155"/>
            <a:ext cx="174336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78C2DE-6740-4CE5-B94E-F6577E774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7" y="4253684"/>
            <a:ext cx="18923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2015F05-D823-4EB8-80DB-2B24A21633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253684"/>
            <a:ext cx="349821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Can only account 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E4F519-7E86-48A8-8AC3-4AE32002C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4723555"/>
            <a:ext cx="3327725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for about 10% of 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78C1EC-3C5D-44E6-A907-1F2DE4A1C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189223"/>
            <a:ext cx="332724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total mass of 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316D25-A0F9-4A81-9FD6-B19DFF8AA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5654891"/>
            <a:ext cx="3256003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galaxies in stars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24B8B5-CE34-45E8-818A-546FC2025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2" y="6124791"/>
            <a:ext cx="1694612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and gas.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AEAD377-E57C-463B-A625-C08426C4B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7AC283-2DCD-456C-954D-CA34491B9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F93D97-E99E-436C-8527-324D15D86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29 of 34</a:t>
            </a:r>
          </a:p>
        </p:txBody>
      </p:sp>
    </p:spTree>
    <p:extLst>
      <p:ext uri="{BB962C8B-B14F-4D97-AF65-F5344CB8AC3E}">
        <p14:creationId xmlns:p14="http://schemas.microsoft.com/office/powerpoint/2010/main" val="1356810432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3cb7a0b97874e05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FCD2C2-72DE-4D12-94F5-7674A0BCE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508" y="1123328"/>
            <a:ext cx="3147357" cy="9550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47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47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Matter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135219-DDE9-4A34-B815-4C19F4121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3" y="228941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9553C9-8A3D-4CA7-8D50-003565492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2289598"/>
            <a:ext cx="4062452" cy="521242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This missing mass is called 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89B50B-7236-4A9F-AEE6-099AA002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27572" y="2289415"/>
            <a:ext cx="76096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dark 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6E8EDB-FDFD-4F9E-8FCB-00C2530B2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2640713"/>
            <a:ext cx="957816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1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1">
                <a:solidFill>
                  <a:srgbClr val="000000"/>
                </a:solidFill>
                <a:latin typeface="Arial"/>
                <a:ea typeface="Arial"/>
                <a:cs typeface="Arial"/>
              </a:rPr>
              <a:t>matter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7875E5-7CDF-4424-81A6-57D7531717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22313" y="2641533"/>
            <a:ext cx="4578884" cy="52018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.  It is matter that does not emit 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417150-5C12-460D-8001-6F56BDA57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2992400"/>
            <a:ext cx="4352573" cy="52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5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5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light, or at least can’t be seen.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1F1095E-7775-487B-A39D-3D9E6E196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3419675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A6F0925-9A50-4701-90EB-0FE6E8242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580" y="3422814"/>
            <a:ext cx="4616116" cy="516316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41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41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You are a form of dark matter.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7892457-4615-43CA-9B62-C802F80A9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4" y="3847283"/>
            <a:ext cx="15218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ACAAB4-C80F-4BE7-8349-94F685CA93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39" y="3847283"/>
            <a:ext cx="632339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9DC6033-6AF6-42FA-8E35-44693FD2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6067" y="3847283"/>
            <a:ext cx="542175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1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1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not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2C1A6E-1CA1-42F6-902F-C6F98896D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0143" y="3847669"/>
            <a:ext cx="4423065" cy="52090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 the same as a dark nebula or 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0652C31-DCAB-4E83-B628-4DC549ECE5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198581"/>
            <a:ext cx="1754937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black holes.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63EAFDB-20A9-41EB-BABA-E93BDF849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4626220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EE78331-0D0C-48CC-A314-662C25F44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626900"/>
            <a:ext cx="4616659" cy="520414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1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1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First suggested to exist by Fritz 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128D5BE-8454-4FEA-8787-22CF09E973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4977513"/>
            <a:ext cx="29808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Zwicky in the 1930s!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B4C0B8-B486-44D8-BB01-D48A68C59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5405151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F2D9A97-675A-4549-8A40-BD8C46899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405585"/>
            <a:ext cx="5471589" cy="520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Observational evidence first provided 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E27C8F9-AFBF-4730-ADB7-43E0B648B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5757939"/>
            <a:ext cx="4029057" cy="51905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4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4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in the 1970s by Vera Rubin.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C6D180B-D2BC-4945-9C7B-75513CDCD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15" y="6184083"/>
            <a:ext cx="152188" cy="521547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7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7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•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7563F73-9BB2-4774-8E20-8D34B47A1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185012"/>
            <a:ext cx="5480417" cy="52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59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59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We still don’t know what it is only that 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CE468F-6C20-45BC-85C4-C4574DF5E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2740" y="6535457"/>
            <a:ext cx="4227419" cy="521421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2566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2566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it is seen almost everywhere.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B8FC4C6-CBBE-4121-8BB6-CDCA80943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87DB51D-80E0-4995-A0C6-0191623D05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A3864A8-9523-49D6-B184-6E02718FA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30 of 34</a:t>
            </a:r>
          </a:p>
        </p:txBody>
      </p:sp>
    </p:spTree>
    <p:extLst>
      <p:ext uri="{BB962C8B-B14F-4D97-AF65-F5344CB8AC3E}">
        <p14:creationId xmlns:p14="http://schemas.microsoft.com/office/powerpoint/2010/main" val="1430583151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4f7c2d10ed463d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87287-7487-4AF4-9533-15C782B3D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008" y="822275"/>
            <a:ext cx="8639307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does not provide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BBA925-FB6C-431D-BCEF-5B18C9F337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4023" y="1406475"/>
            <a:ext cx="7449252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evidence for the existence of dark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11C62CE-8D91-4EB7-943D-54D793653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96845" y="1990675"/>
            <a:ext cx="1687388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matter?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D76F3-1E48-49E2-AE62-1F3016554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415" y="2981948"/>
            <a:ext cx="44739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0617E63-4DB2-4953-B453-C9D868D9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2981948"/>
            <a:ext cx="5324300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Curves of galaxies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093A3B7-79A9-4045-B485-DAD0644C0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6" y="3608464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B.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E7D732B-A2CA-478C-BFC8-0BB6C9760A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3608464"/>
            <a:ext cx="466863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 orbits of the planets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A7AD0E5-8627-4B70-9CB4-0483A107C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6" y="4230834"/>
            <a:ext cx="4380434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C. Gravitational lenses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3F45615-8E11-4FEA-A705-7CA20132E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6" y="4853064"/>
            <a:ext cx="6178638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D. Motions of galaxies in groups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821CE5-E086-41B5-8F85-788D94443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626" y="5475434"/>
            <a:ext cx="447187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76F584-AAE5-4A5B-8EE2-743B8A68A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314" y="5475434"/>
            <a:ext cx="4934189" cy="690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400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400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They all provide evidence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0665385-F541-4662-AF19-7E516CBE9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09A04FE-8CE1-491F-B06E-A5ED0925F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385C20-CC1C-4F1F-A440-B0AA5DF6D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31 of 34</a:t>
            </a:r>
          </a:p>
        </p:txBody>
      </p:sp>
    </p:spTree>
    <p:extLst>
      <p:ext uri="{BB962C8B-B14F-4D97-AF65-F5344CB8AC3E}">
        <p14:creationId xmlns:p14="http://schemas.microsoft.com/office/powerpoint/2010/main" val="765300303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0a6bd6433b415e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A9923-4AC3-4563-9A03-ED5ACB564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161" y="1114883"/>
            <a:ext cx="728693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could be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E12A13-7F27-4117-9781-029B9C4CC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1742" y="1699083"/>
            <a:ext cx="7638573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for the solar system?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BE8ED7-7613-4E7A-B0F8-DA3669A1E3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AA62E6-2F9C-4303-A88F-DF1F6E3A0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E88FC9-C0D0-4F20-9B15-5111CB0381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32 of 34</a:t>
            </a:r>
          </a:p>
        </p:txBody>
      </p:sp>
    </p:spTree>
    <p:extLst>
      <p:ext uri="{BB962C8B-B14F-4D97-AF65-F5344CB8AC3E}">
        <p14:creationId xmlns:p14="http://schemas.microsoft.com/office/powerpoint/2010/main" val="150275923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8662821e2d4bc2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E76D5DE-3A4E-4E7A-830E-EC55DED1B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5161" y="822275"/>
            <a:ext cx="7286931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could be a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846CB23-A10C-4978-9D33-9C83407CA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3344" y="1406475"/>
            <a:ext cx="707054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rotation curve for stars around a 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8CCCBB5-2D66-41E6-9C6B-134742D70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22458" y="1990675"/>
            <a:ext cx="5636996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supermassive black hole?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BAACB9-1BB7-47BC-98BB-6B4540AD9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3EC5BCC-1025-4CC1-8AB5-AA764333C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6B5DEA-A716-45F2-8E14-6773E028F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33 of 34</a:t>
            </a:r>
          </a:p>
        </p:txBody>
      </p:sp>
    </p:spTree>
    <p:extLst>
      <p:ext uri="{BB962C8B-B14F-4D97-AF65-F5344CB8AC3E}">
        <p14:creationId xmlns:p14="http://schemas.microsoft.com/office/powerpoint/2010/main" val="536800215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96b0da3a6c4310"/>
          <a:stretch xmlns:a="http://schemas.openxmlformats.org/drawingml/2006/main"/>
        </p:blipFill>
        <p:spPr>
          <a:xfrm xmlns:a="http://schemas.openxmlformats.org/drawingml/2006/main">
            <a:off x="0" y="342900"/>
            <a:ext cx="10058400" cy="7772400"/>
          </a:xfrm>
          <a:prstGeom xmlns:a="http://schemas.openxmlformats.org/drawingml/2006/main" prst="rect">
            <a:avLst/>
          </a:prstGeom>
        </p:spPr>
      </p:pic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49B39-27EC-4A3D-AAEC-06AFAD954C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1850" y="1276465"/>
            <a:ext cx="823352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Which of the following rotation curves 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AC8E690-6AEA-42F7-BC45-D486E324A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7579" y="1860665"/>
            <a:ext cx="4906859" cy="77893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3833" b="0" i="0">
                <a:solidFill>
                  <a:srgbClr val="000000"/>
                </a:solidFill>
                <a:latin typeface="Arial"/>
                <a:ea typeface="Arial"/>
                <a:cs typeface="Arial"/>
              </a:defRPr>
            </a:pPr>
            <a:r>
              <a:rPr sz="3833" b="0" i="0">
                <a:solidFill>
                  <a:srgbClr val="000000"/>
                </a:solidFill>
                <a:latin typeface="Arial"/>
                <a:ea typeface="Arial"/>
                <a:cs typeface="Arial"/>
              </a:rPr>
              <a:t>would be for a galaxy?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075CB8C-60FD-4724-A7A4-7F358F01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76200"/>
            <a:ext cx="96012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1200" b="1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1200" b="1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 DSPIRA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BC08C01-6423-4E9C-9EC5-239E9DB69C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" y="8210550"/>
            <a:ext cx="8820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wvurail.org/dspira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CD9BD-279B-4E26-8A60-8DF61675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8210550"/>
            <a:ext cx="762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  <a:defRPr sz="900" b="0" i="0">
                <a:solidFill>
                  <a:srgbClr val="002855"/>
                </a:solidFill>
                <a:latin typeface="Arial"/>
                <a:ea typeface="Arial"/>
                <a:cs typeface="Arial"/>
              </a:defRPr>
            </a:pPr>
            <a:r>
              <a:rPr sz="900" b="0" i="0">
                <a:solidFill>
                  <a:srgbClr val="002855"/>
                </a:solidFill>
                <a:latin typeface="Arial"/>
                <a:ea typeface="Arial"/>
                <a:cs typeface="Arial"/>
              </a:rPr>
              <a:t>34 of 34</a:t>
            </a:r>
          </a:p>
        </p:txBody>
      </p:sp>
    </p:spTree>
    <p:extLst>
      <p:ext uri="{BB962C8B-B14F-4D97-AF65-F5344CB8AC3E}">
        <p14:creationId xmlns:p14="http://schemas.microsoft.com/office/powerpoint/2010/main" val="148557394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WVU DSPIRA</dc:creator>
  <lastModifiedBy>WVU DSPIRA</lastModifiedBy>
  <dc:title>Galaxy interactions and dark matter</dc:title>
  <dcterms:created xsi:type="dcterms:W3CDTF">2026-09-26T20:03:12.5720000Z</dcterms:created>
  <dcterms:modified xsi:type="dcterms:W3CDTF">2026-09-26T20:03:12.5720000Z</dcterms:modified>
</coreProperties>
</file>