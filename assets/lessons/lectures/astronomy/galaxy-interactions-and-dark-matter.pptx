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a2a3412b5d43b7" /><Relationship Type="http://schemas.openxmlformats.org/officeDocument/2006/relationships/extended-properties" Target="/docProps/app.xml" Id="R25d7161d4c754a9a" /><Relationship Type="http://schemas.openxmlformats.org/officeDocument/2006/relationships/officeDocument" Target="/ppt/presentation.xml" Id="R8b2f2e7b578a401d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6cc4a7032c0742c2"/>
  </p:notesMasterIdLst>
  <p:sldIdLst>
    <p:sldId xmlns:r="http://schemas.openxmlformats.org/officeDocument/2006/relationships" id="256" r:id="R0ad1d5505c414481"/>
    <p:sldId xmlns:r="http://schemas.openxmlformats.org/officeDocument/2006/relationships" id="257" r:id="Rd5fdce834fa8479f"/>
    <p:sldId xmlns:r="http://schemas.openxmlformats.org/officeDocument/2006/relationships" id="258" r:id="Rcbeea733baf44ba5"/>
    <p:sldId xmlns:r="http://schemas.openxmlformats.org/officeDocument/2006/relationships" id="259" r:id="Rd611627aced0469f"/>
    <p:sldId xmlns:r="http://schemas.openxmlformats.org/officeDocument/2006/relationships" id="260" r:id="R0dc51198c8a1458a"/>
    <p:sldId xmlns:r="http://schemas.openxmlformats.org/officeDocument/2006/relationships" id="261" r:id="R81b3a445926d4931"/>
    <p:sldId xmlns:r="http://schemas.openxmlformats.org/officeDocument/2006/relationships" id="262" r:id="R472da7356791489f"/>
    <p:sldId xmlns:r="http://schemas.openxmlformats.org/officeDocument/2006/relationships" id="263" r:id="R070e2ec675cd4aa1"/>
    <p:sldId xmlns:r="http://schemas.openxmlformats.org/officeDocument/2006/relationships" id="264" r:id="Raf6eb16f0fb0414f"/>
    <p:sldId xmlns:r="http://schemas.openxmlformats.org/officeDocument/2006/relationships" id="265" r:id="Rd54cc2c19d704b64"/>
    <p:sldId xmlns:r="http://schemas.openxmlformats.org/officeDocument/2006/relationships" id="266" r:id="R11d7f4b4daf9456a"/>
    <p:sldId xmlns:r="http://schemas.openxmlformats.org/officeDocument/2006/relationships" id="267" r:id="Rddc43406ab0a471e"/>
    <p:sldId xmlns:r="http://schemas.openxmlformats.org/officeDocument/2006/relationships" id="268" r:id="R45af58fdd52c49e6"/>
    <p:sldId xmlns:r="http://schemas.openxmlformats.org/officeDocument/2006/relationships" id="269" r:id="R35cbec939d1847a1"/>
    <p:sldId xmlns:r="http://schemas.openxmlformats.org/officeDocument/2006/relationships" id="270" r:id="R5f14ce97a38746f8"/>
    <p:sldId xmlns:r="http://schemas.openxmlformats.org/officeDocument/2006/relationships" id="271" r:id="R5075b583c2a24836"/>
    <p:sldId xmlns:r="http://schemas.openxmlformats.org/officeDocument/2006/relationships" id="272" r:id="Re6863e82d8a44f03"/>
    <p:sldId xmlns:r="http://schemas.openxmlformats.org/officeDocument/2006/relationships" id="273" r:id="Rbcba287ab1fa4e19"/>
    <p:sldId xmlns:r="http://schemas.openxmlformats.org/officeDocument/2006/relationships" id="274" r:id="R093e6c16b34441c5"/>
    <p:sldId xmlns:r="http://schemas.openxmlformats.org/officeDocument/2006/relationships" id="275" r:id="R043ed66bc85d4417"/>
    <p:sldId xmlns:r="http://schemas.openxmlformats.org/officeDocument/2006/relationships" id="276" r:id="Rc74765cbfb8346af"/>
    <p:sldId xmlns:r="http://schemas.openxmlformats.org/officeDocument/2006/relationships" id="277" r:id="Re3b7b3ed7ad24ce6"/>
    <p:sldId xmlns:r="http://schemas.openxmlformats.org/officeDocument/2006/relationships" id="278" r:id="R17196b36dc1048ea"/>
    <p:sldId xmlns:r="http://schemas.openxmlformats.org/officeDocument/2006/relationships" id="279" r:id="R44193551b3a840d0"/>
    <p:sldId xmlns:r="http://schemas.openxmlformats.org/officeDocument/2006/relationships" id="280" r:id="R624450da62a444e1"/>
    <p:sldId xmlns:r="http://schemas.openxmlformats.org/officeDocument/2006/relationships" id="281" r:id="R8bd240221c904476"/>
    <p:sldId xmlns:r="http://schemas.openxmlformats.org/officeDocument/2006/relationships" id="282" r:id="R5b5441068b014578"/>
    <p:sldId xmlns:r="http://schemas.openxmlformats.org/officeDocument/2006/relationships" id="283" r:id="Rb1b84ab9a4de4b00"/>
    <p:sldId xmlns:r="http://schemas.openxmlformats.org/officeDocument/2006/relationships" id="284" r:id="R8cd93f92cbbb49d4"/>
    <p:sldId xmlns:r="http://schemas.openxmlformats.org/officeDocument/2006/relationships" id="285" r:id="R34f7d9859f36424f"/>
    <p:sldId xmlns:r="http://schemas.openxmlformats.org/officeDocument/2006/relationships" id="286" r:id="R0f0bfd398cda4d19"/>
    <p:sldId xmlns:r="http://schemas.openxmlformats.org/officeDocument/2006/relationships" id="287" r:id="R28a265ee24494d9c"/>
    <p:sldId xmlns:r="http://schemas.openxmlformats.org/officeDocument/2006/relationships" id="288" r:id="Ra4455f365ea5461c"/>
    <p:sldId xmlns:r="http://schemas.openxmlformats.org/officeDocument/2006/relationships" id="289" r:id="Rff9d53b333d444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78a777177f82495d"/><Relationship Type="http://schemas.openxmlformats.org/officeDocument/2006/relationships/notesMaster" Target="/ppt/notesMasters/notesMaster1.xml" Id="R6cc4a7032c0742c2"/><Relationship Type="http://schemas.openxmlformats.org/officeDocument/2006/relationships/presProps" Target="/ppt/presProps.xml" Id="R9dd20cec7cb540f5"/><Relationship Type="http://schemas.openxmlformats.org/officeDocument/2006/relationships/tableStyles" Target="/ppt/tableStyles.xml" Id="Rde6040d223ca4fbc"/><Relationship Type="http://schemas.openxmlformats.org/officeDocument/2006/relationships/slide" Target="/ppt/slides/slide1.xml" Id="R0ad1d5505c414481"/><Relationship Type="http://schemas.openxmlformats.org/officeDocument/2006/relationships/slide" Target="/ppt/slides/slide2.xml" Id="Rd5fdce834fa8479f"/><Relationship Type="http://schemas.openxmlformats.org/officeDocument/2006/relationships/slide" Target="/ppt/slides/slide3.xml" Id="Rcbeea733baf44ba5"/><Relationship Type="http://schemas.openxmlformats.org/officeDocument/2006/relationships/slide" Target="/ppt/slides/slide4.xml" Id="Rd611627aced0469f"/><Relationship Type="http://schemas.openxmlformats.org/officeDocument/2006/relationships/slide" Target="/ppt/slides/slide5.xml" Id="R0dc51198c8a1458a"/><Relationship Type="http://schemas.openxmlformats.org/officeDocument/2006/relationships/slide" Target="/ppt/slides/slide6.xml" Id="R81b3a445926d4931"/><Relationship Type="http://schemas.openxmlformats.org/officeDocument/2006/relationships/slide" Target="/ppt/slides/slide7.xml" Id="R472da7356791489f"/><Relationship Type="http://schemas.openxmlformats.org/officeDocument/2006/relationships/slide" Target="/ppt/slides/slide8.xml" Id="R070e2ec675cd4aa1"/><Relationship Type="http://schemas.openxmlformats.org/officeDocument/2006/relationships/slide" Target="/ppt/slides/slide9.xml" Id="Raf6eb16f0fb0414f"/><Relationship Type="http://schemas.openxmlformats.org/officeDocument/2006/relationships/slide" Target="/ppt/slides/slide10.xml" Id="Rd54cc2c19d704b64"/><Relationship Type="http://schemas.openxmlformats.org/officeDocument/2006/relationships/slide" Target="/ppt/slides/slide11.xml" Id="R11d7f4b4daf9456a"/><Relationship Type="http://schemas.openxmlformats.org/officeDocument/2006/relationships/slide" Target="/ppt/slides/slide12.xml" Id="Rddc43406ab0a471e"/><Relationship Type="http://schemas.openxmlformats.org/officeDocument/2006/relationships/slide" Target="/ppt/slides/slide13.xml" Id="R45af58fdd52c49e6"/><Relationship Type="http://schemas.openxmlformats.org/officeDocument/2006/relationships/slide" Target="/ppt/slides/slide14.xml" Id="R35cbec939d1847a1"/><Relationship Type="http://schemas.openxmlformats.org/officeDocument/2006/relationships/slide" Target="/ppt/slides/slide15.xml" Id="R5f14ce97a38746f8"/><Relationship Type="http://schemas.openxmlformats.org/officeDocument/2006/relationships/slide" Target="/ppt/slides/slide16.xml" Id="R5075b583c2a24836"/><Relationship Type="http://schemas.openxmlformats.org/officeDocument/2006/relationships/slide" Target="/ppt/slides/slide17.xml" Id="Re6863e82d8a44f03"/><Relationship Type="http://schemas.openxmlformats.org/officeDocument/2006/relationships/slide" Target="/ppt/slides/slide18.xml" Id="Rbcba287ab1fa4e19"/><Relationship Type="http://schemas.openxmlformats.org/officeDocument/2006/relationships/slide" Target="/ppt/slides/slide19.xml" Id="R093e6c16b34441c5"/><Relationship Type="http://schemas.openxmlformats.org/officeDocument/2006/relationships/slide" Target="/ppt/slides/slide20.xml" Id="R043ed66bc85d4417"/><Relationship Type="http://schemas.openxmlformats.org/officeDocument/2006/relationships/slide" Target="/ppt/slides/slide21.xml" Id="Rc74765cbfb8346af"/><Relationship Type="http://schemas.openxmlformats.org/officeDocument/2006/relationships/slide" Target="/ppt/slides/slide22.xml" Id="Re3b7b3ed7ad24ce6"/><Relationship Type="http://schemas.openxmlformats.org/officeDocument/2006/relationships/slide" Target="/ppt/slides/slide23.xml" Id="R17196b36dc1048ea"/><Relationship Type="http://schemas.openxmlformats.org/officeDocument/2006/relationships/slide" Target="/ppt/slides/slide24.xml" Id="R44193551b3a840d0"/><Relationship Type="http://schemas.openxmlformats.org/officeDocument/2006/relationships/slide" Target="/ppt/slides/slide25.xml" Id="R624450da62a444e1"/><Relationship Type="http://schemas.openxmlformats.org/officeDocument/2006/relationships/slide" Target="/ppt/slides/slide26.xml" Id="R8bd240221c904476"/><Relationship Type="http://schemas.openxmlformats.org/officeDocument/2006/relationships/slide" Target="/ppt/slides/slide27.xml" Id="R5b5441068b014578"/><Relationship Type="http://schemas.openxmlformats.org/officeDocument/2006/relationships/slide" Target="/ppt/slides/slide28.xml" Id="Rb1b84ab9a4de4b00"/><Relationship Type="http://schemas.openxmlformats.org/officeDocument/2006/relationships/slide" Target="/ppt/slides/slide29.xml" Id="R8cd93f92cbbb49d4"/><Relationship Type="http://schemas.openxmlformats.org/officeDocument/2006/relationships/slide" Target="/ppt/slides/slide30.xml" Id="R34f7d9859f36424f"/><Relationship Type="http://schemas.openxmlformats.org/officeDocument/2006/relationships/slide" Target="/ppt/slides/slide31.xml" Id="R0f0bfd398cda4d19"/><Relationship Type="http://schemas.openxmlformats.org/officeDocument/2006/relationships/slide" Target="/ppt/slides/slide32.xml" Id="R28a265ee24494d9c"/><Relationship Type="http://schemas.openxmlformats.org/officeDocument/2006/relationships/slide" Target="/ppt/slides/slide33.xml" Id="Ra4455f365ea5461c"/><Relationship Type="http://schemas.openxmlformats.org/officeDocument/2006/relationships/slide" Target="/ppt/slides/slide34.xml" Id="Rff9d53b333d44487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4ffeef94984b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367a2b206f46ac" /><Relationship Type="http://schemas.openxmlformats.org/officeDocument/2006/relationships/notesMaster" Target="/ppt/notesMasters/notesMaster1.xml" Id="Rf3f8e48ef1c344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e42a8dc6964cb3" /><Relationship Type="http://schemas.openxmlformats.org/officeDocument/2006/relationships/notesMaster" Target="/ppt/notesMasters/notesMaster1.xml" Id="Re327cb3c2a3641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046c8b447a4d4a" /><Relationship Type="http://schemas.openxmlformats.org/officeDocument/2006/relationships/notesMaster" Target="/ppt/notesMasters/notesMaster1.xml" Id="R87cc1cfe006f4b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b7f503f7414c44" /><Relationship Type="http://schemas.openxmlformats.org/officeDocument/2006/relationships/notesMaster" Target="/ppt/notesMasters/notesMaster1.xml" Id="Rce975c20faf74f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34863bd5ac4ed8" /><Relationship Type="http://schemas.openxmlformats.org/officeDocument/2006/relationships/notesMaster" Target="/ppt/notesMasters/notesMaster1.xml" Id="R8ec700b5198a46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c8c6717dee4c15" /><Relationship Type="http://schemas.openxmlformats.org/officeDocument/2006/relationships/notesMaster" Target="/ppt/notesMasters/notesMaster1.xml" Id="Rabda64c9cd8048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1cde8b2e4b471b" /><Relationship Type="http://schemas.openxmlformats.org/officeDocument/2006/relationships/notesMaster" Target="/ppt/notesMasters/notesMaster1.xml" Id="R8cd9d46ce08545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1192d4c8124f7c" /><Relationship Type="http://schemas.openxmlformats.org/officeDocument/2006/relationships/notesMaster" Target="/ppt/notesMasters/notesMaster1.xml" Id="R423133084d194f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29e27f06394a45" /><Relationship Type="http://schemas.openxmlformats.org/officeDocument/2006/relationships/notesMaster" Target="/ppt/notesMasters/notesMaster1.xml" Id="Rd60c0b77563849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d2bb13c9c1425a" /><Relationship Type="http://schemas.openxmlformats.org/officeDocument/2006/relationships/notesMaster" Target="/ppt/notesMasters/notesMaster1.xml" Id="Rc7a16ef5c73b4b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2361ae743a46c7" /><Relationship Type="http://schemas.openxmlformats.org/officeDocument/2006/relationships/notesMaster" Target="/ppt/notesMasters/notesMaster1.xml" Id="Re6f15057e83242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28c2019bbe40ee" /><Relationship Type="http://schemas.openxmlformats.org/officeDocument/2006/relationships/notesMaster" Target="/ppt/notesMasters/notesMaster1.xml" Id="R493f68727be24a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693989eb6041c9" /><Relationship Type="http://schemas.openxmlformats.org/officeDocument/2006/relationships/notesMaster" Target="/ppt/notesMasters/notesMaster1.xml" Id="R428f7079b7504e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16653bcb2574c74" /><Relationship Type="http://schemas.openxmlformats.org/officeDocument/2006/relationships/notesMaster" Target="/ppt/notesMasters/notesMaster1.xml" Id="Rdfe5625294b240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b020c6d56943ff" /><Relationship Type="http://schemas.openxmlformats.org/officeDocument/2006/relationships/notesMaster" Target="/ppt/notesMasters/notesMaster1.xml" Id="Rc3e0ae0a081f444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1199c906b147f9" /><Relationship Type="http://schemas.openxmlformats.org/officeDocument/2006/relationships/notesMaster" Target="/ppt/notesMasters/notesMaster1.xml" Id="R5ab94c935aa54c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40e5f3c92d49a8" /><Relationship Type="http://schemas.openxmlformats.org/officeDocument/2006/relationships/notesMaster" Target="/ppt/notesMasters/notesMaster1.xml" Id="R1cedf3fff90446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4c72c298684b72" /><Relationship Type="http://schemas.openxmlformats.org/officeDocument/2006/relationships/notesMaster" Target="/ppt/notesMasters/notesMaster1.xml" Id="R0f8e8ade25f14c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b0109656e44924" /><Relationship Type="http://schemas.openxmlformats.org/officeDocument/2006/relationships/notesMaster" Target="/ppt/notesMasters/notesMaster1.xml" Id="Ra9a47b539bb847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8af375c3a79411f" /><Relationship Type="http://schemas.openxmlformats.org/officeDocument/2006/relationships/notesMaster" Target="/ppt/notesMasters/notesMaster1.xml" Id="R25ab9a0eebed4b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41c0d7720924bbd" /><Relationship Type="http://schemas.openxmlformats.org/officeDocument/2006/relationships/notesMaster" Target="/ppt/notesMasters/notesMaster1.xml" Id="R429325abca6446f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4a2fff47a1f4d76" /><Relationship Type="http://schemas.openxmlformats.org/officeDocument/2006/relationships/notesMaster" Target="/ppt/notesMasters/notesMaster1.xml" Id="Rd9cebf78f2d4496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a83ff3e34c4158" /><Relationship Type="http://schemas.openxmlformats.org/officeDocument/2006/relationships/notesMaster" Target="/ppt/notesMasters/notesMaster1.xml" Id="R4d2d0d9066d544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526ab0dbed24415" /><Relationship Type="http://schemas.openxmlformats.org/officeDocument/2006/relationships/notesMaster" Target="/ppt/notesMasters/notesMaster1.xml" Id="Rd608a70d5a064e4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1eeee82c3844ef9" /><Relationship Type="http://schemas.openxmlformats.org/officeDocument/2006/relationships/notesMaster" Target="/ppt/notesMasters/notesMaster1.xml" Id="R22f886ae067f42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bf2dbabdc864a1d" /><Relationship Type="http://schemas.openxmlformats.org/officeDocument/2006/relationships/notesMaster" Target="/ppt/notesMasters/notesMaster1.xml" Id="R4223b5d955124f4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a905a9206b24d7e" /><Relationship Type="http://schemas.openxmlformats.org/officeDocument/2006/relationships/notesMaster" Target="/ppt/notesMasters/notesMaster1.xml" Id="R0b6b91710d4047a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61cb425fce04c8f" /><Relationship Type="http://schemas.openxmlformats.org/officeDocument/2006/relationships/notesMaster" Target="/ppt/notesMasters/notesMaster1.xml" Id="Ref7e5b708e9c43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fa362a842634a38" /><Relationship Type="http://schemas.openxmlformats.org/officeDocument/2006/relationships/notesMaster" Target="/ppt/notesMasters/notesMaster1.xml" Id="Ra4aa49c62c5a462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c0650d0a88c4a66" /><Relationship Type="http://schemas.openxmlformats.org/officeDocument/2006/relationships/notesMaster" Target="/ppt/notesMasters/notesMaster1.xml" Id="R8645600a338b4ec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83f9e9304c4197" /><Relationship Type="http://schemas.openxmlformats.org/officeDocument/2006/relationships/notesMaster" Target="/ppt/notesMasters/notesMaster1.xml" Id="R96a260f039a34bd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84f9903ad244f15" /><Relationship Type="http://schemas.openxmlformats.org/officeDocument/2006/relationships/notesMaster" Target="/ppt/notesMasters/notesMaster1.xml" Id="Re216f760fe164db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c2e3cf1debc4264" /><Relationship Type="http://schemas.openxmlformats.org/officeDocument/2006/relationships/notesMaster" Target="/ppt/notesMasters/notesMaster1.xml" Id="Rf81e50b958694d4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b0b84c156304469" /><Relationship Type="http://schemas.openxmlformats.org/officeDocument/2006/relationships/notesMaster" Target="/ppt/notesMasters/notesMaster1.xml" Id="Rc7811fd25d0f4c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d423734c3cc4093"/><Relationship Type="http://schemas.openxmlformats.org/officeDocument/2006/relationships/image" Target="/ppt/media/image.png" Id="Ra27bd911e7fa47bf"/><Relationship Type="http://schemas.openxmlformats.org/officeDocument/2006/relationships/notesSlide" Target="/ppt/notesSlides/notesSlide1.xml" Id="Ra2184dc62c0840b0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69290ee7fc14883"/><Relationship Type="http://schemas.openxmlformats.org/officeDocument/2006/relationships/image" Target="/ppt/media/image2.png" Id="R57a4a53d054a4888"/><Relationship Type="http://schemas.openxmlformats.org/officeDocument/2006/relationships/notesSlide" Target="/ppt/notesSlides/notesSlide2.xml" Id="R20e926ee6e7141d4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38e0ddb81be4810"/><Relationship Type="http://schemas.openxmlformats.org/officeDocument/2006/relationships/image" Target="/ppt/media/image3.png" Id="R765a2e91176943f9"/><Relationship Type="http://schemas.openxmlformats.org/officeDocument/2006/relationships/notesSlide" Target="/ppt/notesSlides/notesSlide3.xml" Id="R1942fb9222f8409c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a4c2eb4db914dca"/><Relationship Type="http://schemas.openxmlformats.org/officeDocument/2006/relationships/image" Target="/ppt/media/image4.png" Id="R7f627fd78c1c4a0c"/><Relationship Type="http://schemas.openxmlformats.org/officeDocument/2006/relationships/notesSlide" Target="/ppt/notesSlides/notesSlide4.xml" Id="R9b430ba7c9a6444c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f7080d6cde847d8"/><Relationship Type="http://schemas.openxmlformats.org/officeDocument/2006/relationships/image" Target="/ppt/media/image5.png" Id="Rf7ac48c302b04865"/><Relationship Type="http://schemas.openxmlformats.org/officeDocument/2006/relationships/notesSlide" Target="/ppt/notesSlides/notesSlide5.xml" Id="Rf1fdd8dc0ac445ed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5756f3154d4432a"/><Relationship Type="http://schemas.openxmlformats.org/officeDocument/2006/relationships/image" Target="/ppt/media/image6.png" Id="Rf417b25e495647bc"/><Relationship Type="http://schemas.openxmlformats.org/officeDocument/2006/relationships/notesSlide" Target="/ppt/notesSlides/notesSlide6.xml" Id="Rddae604b3d5747ce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ab1bc88b6f84721"/><Relationship Type="http://schemas.openxmlformats.org/officeDocument/2006/relationships/image" Target="/ppt/media/image7.png" Id="R47266ef38a3b4ec9"/><Relationship Type="http://schemas.openxmlformats.org/officeDocument/2006/relationships/notesSlide" Target="/ppt/notesSlides/notesSlide7.xml" Id="Ra3c6e4e37921480a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317611688794cf2"/><Relationship Type="http://schemas.openxmlformats.org/officeDocument/2006/relationships/image" Target="/ppt/media/image8.png" Id="R51abd10a854d463a"/><Relationship Type="http://schemas.openxmlformats.org/officeDocument/2006/relationships/notesSlide" Target="/ppt/notesSlides/notesSlide8.xml" Id="Rc261bfdf414b4655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8141df3790443a7"/><Relationship Type="http://schemas.openxmlformats.org/officeDocument/2006/relationships/image" Target="/ppt/media/image9.png" Id="R85a2b17767394308"/><Relationship Type="http://schemas.openxmlformats.org/officeDocument/2006/relationships/notesSlide" Target="/ppt/notesSlides/notesSlide9.xml" Id="R37129500d8b54550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0b52290c14a425d"/><Relationship Type="http://schemas.openxmlformats.org/officeDocument/2006/relationships/image" Target="/ppt/media/image10.png" Id="Rb0ca5521a6984545"/><Relationship Type="http://schemas.openxmlformats.org/officeDocument/2006/relationships/notesSlide" Target="/ppt/notesSlides/notesSlide10.xml" Id="Rc17752a1208a4e0c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7c5c664a4724007"/><Relationship Type="http://schemas.openxmlformats.org/officeDocument/2006/relationships/image" Target="/ppt/media/image11.png" Id="R9c4e1d1b2ad744a8"/><Relationship Type="http://schemas.openxmlformats.org/officeDocument/2006/relationships/notesSlide" Target="/ppt/notesSlides/notesSlide11.xml" Id="R7153e36e8eb34d57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1631f42f967449d"/><Relationship Type="http://schemas.openxmlformats.org/officeDocument/2006/relationships/image" Target="/ppt/media/image12.png" Id="Rbc979203741d4a1f"/><Relationship Type="http://schemas.openxmlformats.org/officeDocument/2006/relationships/notesSlide" Target="/ppt/notesSlides/notesSlide12.xml" Id="Rdc443ac7136844bf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19aaafeabfb4be1"/><Relationship Type="http://schemas.openxmlformats.org/officeDocument/2006/relationships/image" Target="/ppt/media/image13.png" Id="R0483c7f24f6e45f8"/><Relationship Type="http://schemas.openxmlformats.org/officeDocument/2006/relationships/notesSlide" Target="/ppt/notesSlides/notesSlide13.xml" Id="R25ca6ed7b93349fb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b14486496364249"/><Relationship Type="http://schemas.openxmlformats.org/officeDocument/2006/relationships/image" Target="/ppt/media/image14.png" Id="R0a8e969160f44546"/><Relationship Type="http://schemas.openxmlformats.org/officeDocument/2006/relationships/notesSlide" Target="/ppt/notesSlides/notesSlide14.xml" Id="R2fdc609564cc4d04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f37af53ff1b4ffa"/><Relationship Type="http://schemas.openxmlformats.org/officeDocument/2006/relationships/image" Target="/ppt/media/image15.png" Id="R0c47a60479624ccc"/><Relationship Type="http://schemas.openxmlformats.org/officeDocument/2006/relationships/notesSlide" Target="/ppt/notesSlides/notesSlide15.xml" Id="R607634f5c2f74673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b87d689c36f4a71"/><Relationship Type="http://schemas.openxmlformats.org/officeDocument/2006/relationships/image" Target="/ppt/media/image16.png" Id="R80c2b10d4a934478"/><Relationship Type="http://schemas.openxmlformats.org/officeDocument/2006/relationships/notesSlide" Target="/ppt/notesSlides/notesSlide16.xml" Id="R1856827a09ff4d01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c9bab66569d483b"/><Relationship Type="http://schemas.openxmlformats.org/officeDocument/2006/relationships/image" Target="/ppt/media/image17.png" Id="R08478f88886148d3"/><Relationship Type="http://schemas.openxmlformats.org/officeDocument/2006/relationships/notesSlide" Target="/ppt/notesSlides/notesSlide17.xml" Id="R3a362d112a5e4e16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0e09ed029d744a6"/><Relationship Type="http://schemas.openxmlformats.org/officeDocument/2006/relationships/image" Target="/ppt/media/image18.png" Id="Rea8c3b349bb24beb"/><Relationship Type="http://schemas.openxmlformats.org/officeDocument/2006/relationships/notesSlide" Target="/ppt/notesSlides/notesSlide18.xml" Id="R84f79a6145a64ea6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841436f272c4057"/><Relationship Type="http://schemas.openxmlformats.org/officeDocument/2006/relationships/image" Target="/ppt/media/image19.png" Id="R86c377bfaf8c4085"/><Relationship Type="http://schemas.openxmlformats.org/officeDocument/2006/relationships/notesSlide" Target="/ppt/notesSlides/notesSlide19.xml" Id="Rd62fe44c99564a8c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37ecc499e7841f5"/><Relationship Type="http://schemas.openxmlformats.org/officeDocument/2006/relationships/image" Target="/ppt/media/image20.png" Id="R9003169cded547e7"/><Relationship Type="http://schemas.openxmlformats.org/officeDocument/2006/relationships/notesSlide" Target="/ppt/notesSlides/notesSlide20.xml" Id="Rf50a6a0cafe44772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e709c9a13c946a5"/><Relationship Type="http://schemas.openxmlformats.org/officeDocument/2006/relationships/image" Target="/ppt/media/image21.png" Id="Rf31deb62b608421b"/><Relationship Type="http://schemas.openxmlformats.org/officeDocument/2006/relationships/notesSlide" Target="/ppt/notesSlides/notesSlide21.xml" Id="Rdaf65722ecc84570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dedaeebdc14483b"/><Relationship Type="http://schemas.openxmlformats.org/officeDocument/2006/relationships/image" Target="/ppt/media/image22.png" Id="R7a925183015749e6"/><Relationship Type="http://schemas.openxmlformats.org/officeDocument/2006/relationships/notesSlide" Target="/ppt/notesSlides/notesSlide22.xml" Id="R95773196d4c645eb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ec049ca72414c66"/><Relationship Type="http://schemas.openxmlformats.org/officeDocument/2006/relationships/image" Target="/ppt/media/image23.png" Id="Re952baf45d724cea"/><Relationship Type="http://schemas.openxmlformats.org/officeDocument/2006/relationships/notesSlide" Target="/ppt/notesSlides/notesSlide23.xml" Id="R17c0c22e6541495b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dd7f3badf934ac3"/><Relationship Type="http://schemas.openxmlformats.org/officeDocument/2006/relationships/image" Target="/ppt/media/image24.png" Id="R540d5b47d7cc46fb"/><Relationship Type="http://schemas.openxmlformats.org/officeDocument/2006/relationships/notesSlide" Target="/ppt/notesSlides/notesSlide24.xml" Id="R6080a2bae6c848a2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9860cf194ed4862"/><Relationship Type="http://schemas.openxmlformats.org/officeDocument/2006/relationships/image" Target="/ppt/media/image25.png" Id="Rfd9eaafe2dd14d87"/><Relationship Type="http://schemas.openxmlformats.org/officeDocument/2006/relationships/notesSlide" Target="/ppt/notesSlides/notesSlide25.xml" Id="R4d49b6b58d174183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7c9b83f0353449a"/><Relationship Type="http://schemas.openxmlformats.org/officeDocument/2006/relationships/image" Target="/ppt/media/image26.png" Id="R299c67e2e2904c23"/><Relationship Type="http://schemas.openxmlformats.org/officeDocument/2006/relationships/notesSlide" Target="/ppt/notesSlides/notesSlide26.xml" Id="Rd47940571c1d468c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f2afe6e7f0b49ce"/><Relationship Type="http://schemas.openxmlformats.org/officeDocument/2006/relationships/image" Target="/ppt/media/image27.png" Id="R664d44677776490e"/><Relationship Type="http://schemas.openxmlformats.org/officeDocument/2006/relationships/notesSlide" Target="/ppt/notesSlides/notesSlide27.xml" Id="R5829a0aa53aa4671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ef7d72d3f734efa"/><Relationship Type="http://schemas.openxmlformats.org/officeDocument/2006/relationships/image" Target="/ppt/media/image28.png" Id="R820df8c9fe4d4dff"/><Relationship Type="http://schemas.openxmlformats.org/officeDocument/2006/relationships/notesSlide" Target="/ppt/notesSlides/notesSlide28.xml" Id="Rb282cc8833a04d64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6f14dd0cec84a41"/><Relationship Type="http://schemas.openxmlformats.org/officeDocument/2006/relationships/image" Target="/ppt/media/image29.png" Id="R27e2b4fa84b24801"/><Relationship Type="http://schemas.openxmlformats.org/officeDocument/2006/relationships/notesSlide" Target="/ppt/notesSlides/notesSlide29.xml" Id="R1d1076022b514ae1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453d5afb83e43f3"/><Relationship Type="http://schemas.openxmlformats.org/officeDocument/2006/relationships/image" Target="/ppt/media/image30.png" Id="R13cb7a0b97874e05"/><Relationship Type="http://schemas.openxmlformats.org/officeDocument/2006/relationships/notesSlide" Target="/ppt/notesSlides/notesSlide30.xml" Id="Rf0679c3a700444aa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30929d805944ea4"/><Relationship Type="http://schemas.openxmlformats.org/officeDocument/2006/relationships/image" Target="/ppt/media/image31.png" Id="R7c4f7c2d10ed463d"/><Relationship Type="http://schemas.openxmlformats.org/officeDocument/2006/relationships/notesSlide" Target="/ppt/notesSlides/notesSlide31.xml" Id="R0ac1a661f7cd4c4c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4f3cb14c11341e8"/><Relationship Type="http://schemas.openxmlformats.org/officeDocument/2006/relationships/image" Target="/ppt/media/image32.png" Id="R2c0a6bd6433b415e"/><Relationship Type="http://schemas.openxmlformats.org/officeDocument/2006/relationships/notesSlide" Target="/ppt/notesSlides/notesSlide32.xml" Id="R3299517034304e87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50e0516ebb44b49"/><Relationship Type="http://schemas.openxmlformats.org/officeDocument/2006/relationships/image" Target="/ppt/media/image33.png" Id="R9e8662821e2d4bc2"/><Relationship Type="http://schemas.openxmlformats.org/officeDocument/2006/relationships/notesSlide" Target="/ppt/notesSlides/notesSlide33.xml" Id="Rfe2d9147c8ac4e64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d8ac1e3ee4649e5"/><Relationship Type="http://schemas.openxmlformats.org/officeDocument/2006/relationships/image" Target="/ppt/media/image34.png" Id="Ref96b0da3a6c4310"/><Relationship Type="http://schemas.openxmlformats.org/officeDocument/2006/relationships/notesSlide" Target="/ppt/notesSlides/notesSlide34.xml" Id="R649753194d674de4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Interactions Dark Matter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C67F6-B111-49CF-ABC7-52A633BB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3450" y="2095500"/>
            <a:ext cx="19851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A20B3-12E7-4A2C-8608-5512466E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474" y="2622153"/>
            <a:ext cx="1738499" cy="4601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14, 2017</a:t>
            </a:r>
          </a:p>
        </p:txBody>
      </p:sp>
    </p:spTree>
    <p:extLst>
      <p:ext uri="{BB962C8B-B14F-4D97-AF65-F5344CB8AC3E}">
        <p14:creationId xmlns:p14="http://schemas.microsoft.com/office/powerpoint/2010/main" val="1281500642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Groups and Clusters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4a53d054a4888"/>
          <ns0:srcRect xmlns:ns0="http://schemas.openxmlformats.org/drawingml/2006/main" l="1299" r="1299" t="16807" b="24370"/>
          <a:stretch xmlns:a="http://schemas.openxmlformats.org/drawingml/2006/main"/>
        </p:blipFill>
        <p:spPr>
          <a:xfrm xmlns:a="http://schemas.openxmlformats.org/drawingml/2006/main">
            <a:off x="2789208" y="2095500"/>
            <a:ext cx="6613584" cy="308633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B811E-4126-4A73-BE80-AFB0BDB7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956" y="4200820"/>
            <a:ext cx="89732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E2865-37B6-4C88-93EF-206A9719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4" y="4200868"/>
            <a:ext cx="5565827" cy="292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are very social and typically reside in small groups or large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9A6A8-8BA0-4FCA-8F18-6850BFE3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5" y="4420862"/>
            <a:ext cx="705316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87A99-41E0-4F54-839C-E71F3C14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956" y="4683787"/>
            <a:ext cx="89732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DAC80-6F40-4AE1-937E-1F86738F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5" y="4683884"/>
            <a:ext cx="4934694" cy="292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may be separated by only a couple times their size.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99288-07C9-4D6A-B6C1-242DD0B7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956" y="4946695"/>
            <a:ext cx="89732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536B3-4EEE-4DDD-9EA1-1B9B2E9A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5" y="4946695"/>
            <a:ext cx="2700578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clusters have masses ≥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D3260-1512-481E-8477-BC535C5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185" y="4949991"/>
            <a:ext cx="161369" cy="1966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9699B-4A64-4E98-8B4D-47CBF765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044" y="4946695"/>
            <a:ext cx="178070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42A3F-6BFE-46E9-A072-055CBFB7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215" y="4946695"/>
            <a:ext cx="2287400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large enough to bend light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C78CD-E8D4-4B1B-95E1-C4D65B3A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41" y="5163870"/>
            <a:ext cx="86623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B9B58-7103-405B-B9A0-1B6BD02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919" y="5163870"/>
            <a:ext cx="1799008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lensing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230D77-6D1E-46EA-A306-DFF25C02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192" y="5163902"/>
            <a:ext cx="3594886" cy="2925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).  Groups and clusters span about 1 million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D3B0C-58E8-4F4E-B040-878E31F6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5" y="5383916"/>
            <a:ext cx="1383131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parsecs (1 Mpc).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DF591-C257-4831-AB35-C4876461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956" y="5646820"/>
            <a:ext cx="89732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A35AFC-C8FF-4A95-BC3E-0C120339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4" y="5647245"/>
            <a:ext cx="5072445" cy="29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 resides in the Local Group, a collection of ~ 50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D7D8C-3558-45AD-AFF6-62720F20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435" y="5866870"/>
            <a:ext cx="747491" cy="292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</p:spTree>
    <p:extLst>
      <p:ext uri="{BB962C8B-B14F-4D97-AF65-F5344CB8AC3E}">
        <p14:creationId xmlns:p14="http://schemas.microsoft.com/office/powerpoint/2010/main" val="918955524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Interacting Galaxies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a2e91176943f9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5544E-3A19-4D81-9D98-3260336F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267" y="5926875"/>
            <a:ext cx="588856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GalCrash</a:t>
            </a:r>
          </a:p>
        </p:txBody>
      </p:sp>
    </p:spTree>
    <p:extLst>
      <p:ext uri="{BB962C8B-B14F-4D97-AF65-F5344CB8AC3E}">
        <p14:creationId xmlns:p14="http://schemas.microsoft.com/office/powerpoint/2010/main" val="1576752718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Minor Mergers: Making bigger spiral galaxies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27fd78c1c4a0c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69632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Another simulation of a minor merger: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c48c302b04865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37000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Major Mergers: Forming Elliptical Galaxies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7b25e495647bc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114598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Simulating galaxy interactions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66ef38a3b4ec9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E0E63-FA1A-4303-AD5D-EAD1FA47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18" y="2547017"/>
            <a:ext cx="2114479" cy="3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N-body simulations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41FA4-6F55-4CFF-A96A-061E9023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18" y="2834300"/>
            <a:ext cx="2060569" cy="3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provide past/future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2000-50CD-48ED-9118-9B5BF44C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18" y="3121597"/>
            <a:ext cx="1955303" cy="3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and 3-D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145DC-7B15-4191-B055-7B2E16D7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18" y="3406531"/>
            <a:ext cx="1014053" cy="3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ACD1E-6832-4232-BBB7-A09D69BC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921" y="2182774"/>
            <a:ext cx="2596110" cy="215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0" b="0" i="0">
                <a:solidFill>
                  <a:srgbClr val="007F7F"/>
                </a:solidFill>
                <a:latin typeface="Arial"/>
                <a:ea typeface="Arial"/>
                <a:cs typeface="Arial"/>
              </a:defRPr>
            </a:pPr>
            <a:r>
              <a:rPr sz="1060" b="0" i="0">
                <a:solidFill>
                  <a:srgbClr val="007F7F"/>
                </a:solidFill>
                <a:latin typeface="Arial"/>
                <a:ea typeface="Arial"/>
                <a:cs typeface="Arial"/>
              </a:rPr>
              <a:t>N-body simulation of NGC 4676 “The Mice”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F623A-BEDF-491E-9219-B3C71916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723" y="2342437"/>
            <a:ext cx="1537300" cy="1673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4" b="0" i="0">
                <a:solidFill>
                  <a:srgbClr val="007F7F"/>
                </a:solidFill>
                <a:latin typeface="Arial"/>
                <a:ea typeface="Arial"/>
                <a:cs typeface="Arial"/>
              </a:defRPr>
            </a:pPr>
            <a:r>
              <a:rPr sz="824" b="0" i="0">
                <a:solidFill>
                  <a:srgbClr val="007F7F"/>
                </a:solidFill>
                <a:latin typeface="Arial"/>
                <a:ea typeface="Arial"/>
                <a:cs typeface="Arial"/>
              </a:rPr>
              <a:t>Hibbard &amp; Barnes, in preparation</a:t>
            </a:r>
          </a:p>
        </p:txBody>
      </p:sp>
    </p:spTree>
    <p:extLst>
      <p:ext uri="{BB962C8B-B14F-4D97-AF65-F5344CB8AC3E}">
        <p14:creationId xmlns:p14="http://schemas.microsoft.com/office/powerpoint/2010/main" val="2060903715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Formation occurs via mergers (dark matter)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bd10a854d463a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45250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Formation occurs via mergers (dark matter and gas)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2b17767394308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03043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Formation occurs via mergers (one galaxy)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a5521a6984545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157799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do interactions occur? Groups of Galaxies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e1d1b2ad744a8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27636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Clusters of Galaxies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79203741d4a1f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94DF1-C0C0-47C8-88D0-BEEFC18E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666" y="5456071"/>
            <a:ext cx="1282347" cy="2160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See the arcs of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3748DA-2484-4663-AFD9-36A6DA0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249" y="5617764"/>
            <a:ext cx="3706162" cy="2151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9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9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Those are gravitational lensed images of background galaxies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84C53-E81B-4751-8F59-71DAE4B2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221" y="5779075"/>
            <a:ext cx="3044572" cy="214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5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Their shape is due to the dark matter in the cluster.</a:t>
            </a:r>
          </a:p>
        </p:txBody>
      </p:sp>
    </p:spTree>
    <p:extLst>
      <p:ext uri="{BB962C8B-B14F-4D97-AF65-F5344CB8AC3E}">
        <p14:creationId xmlns:p14="http://schemas.microsoft.com/office/powerpoint/2010/main" val="1687889325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Interactions in Clusters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3c7f24f6e45f8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017287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Future: Forming Even Larger Galaxies?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e969160f44546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11524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Starburst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FE531-9387-47C6-B5E0-4EC8C68F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91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1FC9A-745A-4F72-ABA9-CC130ADE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2095500"/>
            <a:ext cx="65818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interactions can compress gas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0544C-98C3-4129-B1EC-170147B1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2554941"/>
            <a:ext cx="73028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clouds in a galaxy triggering star formation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E23C1-1166-4D9A-82E2-ACAAFFCD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3014405"/>
            <a:ext cx="63867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(particularly in the center of a galaxy).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76126-C117-4F76-83B1-89FB04E1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91" y="3563458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B08A4-66CC-4455-91D1-9A784B91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3563458"/>
            <a:ext cx="73634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can also fuel a black hole in the center of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F9770-AC3B-4FFA-B065-CF1430C1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4026849"/>
            <a:ext cx="1531022" cy="603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galaxy.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70F78B-CB73-400F-9D60-631EE3EF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191" y="4572048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2C7BD-E247-4435-B903-3B8473E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4572048"/>
            <a:ext cx="655688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Major mergers may also form elliptical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929A12-9191-45CA-ADEF-3EBD9197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361" y="5027708"/>
            <a:ext cx="153826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</p:spTree>
    <p:extLst>
      <p:ext uri="{BB962C8B-B14F-4D97-AF65-F5344CB8AC3E}">
        <p14:creationId xmlns:p14="http://schemas.microsoft.com/office/powerpoint/2010/main" val="1527791801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Active Galaxies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2b10d4a934478"/>
          <ns0:srcRect xmlns:ns0="http://schemas.openxmlformats.org/drawingml/2006/main" l="47547" r="1299" t="45752" b="5789"/>
          <a:stretch xmlns:a="http://schemas.openxmlformats.org/drawingml/2006/main"/>
        </p:blipFill>
        <p:spPr>
          <a:xfrm xmlns:a="http://schemas.openxmlformats.org/drawingml/2006/main">
            <a:off x="5714079" y="3530962"/>
            <a:ext cx="3590816" cy="262853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D4380-60FC-4235-83DC-F296CF79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105" y="2095500"/>
            <a:ext cx="119652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1AB5E-22BD-4850-BF65-120EB714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2096987"/>
            <a:ext cx="5012883" cy="422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Often referred to as Active Galactic Nuclei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333BD-7B56-4CEB-B104-88298E70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2411618"/>
            <a:ext cx="775660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(AGN)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65192-546E-42D9-AD06-C7185728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105" y="2792742"/>
            <a:ext cx="119652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D4D58-122C-4DF0-B0A5-ECCD2D96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2793336"/>
            <a:ext cx="5590938" cy="4244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Otherwise normal galaxies with an active black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1E081-B407-4D87-B07D-886B0A49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3109658"/>
            <a:ext cx="5527912" cy="424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hole in their center that is producing jets (often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1E942-14EC-4531-8A38-0952C143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3427871"/>
            <a:ext cx="2265925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seen in radio light).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9FA1D-901E-4623-BE7B-2153DFCF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105" y="3809011"/>
            <a:ext cx="119652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7FD5D-F35A-4CAF-827D-926DE4B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3809098"/>
            <a:ext cx="2440706" cy="4252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be triggered by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41F0E-8912-4000-83F3-C77C4FE8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4187198"/>
            <a:ext cx="1381797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5BBA6-5689-4D09-9E58-3906167C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105" y="4568262"/>
            <a:ext cx="119652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DC22F-0206-444E-AD95-D3969815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4569147"/>
            <a:ext cx="2241767" cy="423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Jets can affect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DC5DF-3710-4144-B7A2-79A3C94D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9" y="4949424"/>
            <a:ext cx="2546979" cy="42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surrounding galaxies.</a:t>
            </a:r>
          </a:p>
        </p:txBody>
      </p:sp>
    </p:spTree>
    <p:extLst>
      <p:ext uri="{BB962C8B-B14F-4D97-AF65-F5344CB8AC3E}">
        <p14:creationId xmlns:p14="http://schemas.microsoft.com/office/powerpoint/2010/main" val="1005943901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Supermassive Black Holes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78f88886148d3"/>
          <ns0:srcRect xmlns:ns0="http://schemas.openxmlformats.org/drawingml/2006/main" l="51227" r="1299" t="3081" b="2614"/>
          <a:stretch xmlns:a="http://schemas.openxmlformats.org/drawingml/2006/main"/>
        </p:blipFill>
        <p:spPr>
          <a:xfrm xmlns:a="http://schemas.openxmlformats.org/drawingml/2006/main">
            <a:off x="5996130" y="2095500"/>
            <a:ext cx="2647636" cy="4064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22AC6-0B32-4159-BA02-F6FAD915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234" y="3024870"/>
            <a:ext cx="7863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BC8BA-DAF6-4F5C-8D6F-ECC45D6C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599" y="3024870"/>
            <a:ext cx="1820130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Astronomers use widely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A63A9-A1DB-47F2-B0C7-0800AD4A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3184456"/>
            <a:ext cx="2233152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separated radio telescopes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60238-8DC1-40A9-A394-28741FDA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3341741"/>
            <a:ext cx="2179584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trace the motion of objects in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29DA7-17A7-44E4-8353-79D0B7BB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3501366"/>
            <a:ext cx="2060623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 of other galaxies.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171E9E-F67D-48D4-AE83-13B47FD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234" y="3698538"/>
            <a:ext cx="7863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56B52-FE97-4EAE-803F-2BD111DD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3698538"/>
            <a:ext cx="1955412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both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99F46-416E-4F4B-B2DE-67E74777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3858137"/>
            <a:ext cx="1893860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motion of these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679B4-5C31-43B1-9DBE-9C50C66C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015387"/>
            <a:ext cx="2002303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and their velocities.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A7EDA-AA1B-4B65-9B1E-2D568DC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234" y="4212537"/>
            <a:ext cx="7863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B9DD3C-FE20-4EEF-B431-DB3757F9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212537"/>
            <a:ext cx="2105314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Combined, these data allow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F433F-DEB8-43CF-AC6A-DD45DBDF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372136"/>
            <a:ext cx="201298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 to measure the mass of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D239C-9FE9-4235-A3DC-537E2F84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529422"/>
            <a:ext cx="1040054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black hole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7CB90C-790F-406B-B75C-EEA94357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234" y="4728932"/>
            <a:ext cx="7863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D0D686-48E6-4F37-9856-C858B1F2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728932"/>
            <a:ext cx="2184374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also see radio jet coming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9E585-D9FA-4EF5-B686-62075B17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4886194"/>
            <a:ext cx="1886053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near the black hole.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DAB2D-52D2-4A31-8A5B-503201E8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234" y="5085707"/>
            <a:ext cx="78631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07781-49EF-440F-A4C4-065EEFF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5085707"/>
            <a:ext cx="2151095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EE041-7328-4045-9E3E-99315FC5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5242968"/>
            <a:ext cx="1940530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found in all galaxies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395DD0-BF42-46BD-AF47-9994EDEA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5400229"/>
            <a:ext cx="2041899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spheroids (ellipticals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31DB28-6AC8-4316-A97E-AD7A6D2C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679" y="5559818"/>
            <a:ext cx="1774557" cy="262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early-type spirals)</a:t>
            </a:r>
          </a:p>
        </p:txBody>
      </p:sp>
    </p:spTree>
    <p:extLst>
      <p:ext uri="{BB962C8B-B14F-4D97-AF65-F5344CB8AC3E}">
        <p14:creationId xmlns:p14="http://schemas.microsoft.com/office/powerpoint/2010/main" val="290165731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Black holes: review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44394-D18B-4EAC-A3CE-DF08A651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438" y="2095672"/>
            <a:ext cx="4016507" cy="609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type of galaxy is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DEF99-817C-45B3-A166-BFB4943B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45" y="2095500"/>
            <a:ext cx="103801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BC233-179E-45BC-8284-5B99CB4D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939" y="2549778"/>
            <a:ext cx="5496481" cy="60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to contain a supermassive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2CE8B-1481-4F24-B466-C9E96465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899" y="3006160"/>
            <a:ext cx="19472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6FB2A-8E25-406D-9993-79CCF8D9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580" y="3857833"/>
            <a:ext cx="285573" cy="440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DC307-1CA7-4F28-BD78-31F66DC3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302" y="3857833"/>
            <a:ext cx="1833697" cy="440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1E288-B1EE-4914-A031-94EDF227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714" y="4257737"/>
            <a:ext cx="285439" cy="440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09AF9-A43C-43BA-BBD1-80F32E29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302" y="4257737"/>
            <a:ext cx="1037104" cy="440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74FF9-7A2D-4590-96E4-F8FABD0C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714" y="4654994"/>
            <a:ext cx="1400083" cy="440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Irregular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2241D-98B8-479C-B5A8-F492852E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714" y="5052338"/>
            <a:ext cx="4501579" cy="440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A spiral galaxy with a small bulge.</a:t>
            </a:r>
          </a:p>
        </p:txBody>
      </p:sp>
    </p:spTree>
    <p:extLst>
      <p:ext uri="{BB962C8B-B14F-4D97-AF65-F5344CB8AC3E}">
        <p14:creationId xmlns:p14="http://schemas.microsoft.com/office/powerpoint/2010/main" val="858212914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do we measure the mass of a 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76BC4-D096-40A9-819E-EF0DEF5D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49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94914-0750-4DCE-83E1-523FCB10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2095500"/>
            <a:ext cx="70892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need to know the mass of a galaxy 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CDA78-34CC-47CB-9BEA-462F68E3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2554941"/>
            <a:ext cx="67689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 to determine its nature and how it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46D21-808F-4536-BE4D-B2C440A0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3014404"/>
            <a:ext cx="132535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713A8-9AD0-4E80-AA3A-F8D3509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49" y="3563454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8EA56-F66B-4951-8C5B-18A4E6AF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3563454"/>
            <a:ext cx="72138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physics are involved in forming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B4E7D-2FBE-448D-910B-9B14E21C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4022934"/>
            <a:ext cx="72819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star as opposed to a cluster of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64227-6B16-46E9-BB22-62DEEE9D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4479647"/>
            <a:ext cx="6042478" cy="607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in contrast to an entire galaxy.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580E8-27AA-441A-A824-E98CD5DA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49" y="5027725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C5C81-56EB-4D69-A00B-2A0600A0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18" y="5027725"/>
            <a:ext cx="49028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a couple methods.</a:t>
            </a:r>
          </a:p>
        </p:txBody>
      </p:sp>
    </p:spTree>
    <p:extLst>
      <p:ext uri="{BB962C8B-B14F-4D97-AF65-F5344CB8AC3E}">
        <p14:creationId xmlns:p14="http://schemas.microsoft.com/office/powerpoint/2010/main" val="2069296305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do we measure the mass of a galaxy?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3169cded547e7"/>
          <ns0:srcRect xmlns:ns0="http://schemas.openxmlformats.org/drawingml/2006/main" l="26335" r="10678" t="62652" b="5229"/>
          <a:stretch xmlns:a="http://schemas.openxmlformats.org/drawingml/2006/main"/>
        </p:blipFill>
        <p:spPr>
          <a:xfrm xmlns:a="http://schemas.openxmlformats.org/drawingml/2006/main">
            <a:off x="4334618" y="4262521"/>
            <a:ext cx="4766090" cy="187804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9AB13-63D6-4327-83D8-F77BFDC1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21" y="2095500"/>
            <a:ext cx="6287670" cy="392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Method 1:Count all the stars and gas in a galaxy and add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B699E-84AB-4AD8-A2FD-22D1E249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499" y="2388407"/>
            <a:ext cx="2134150" cy="392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3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up all their masses.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15441-9B93-4EEA-B230-87232BD1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21" y="2739328"/>
            <a:ext cx="5877502" cy="391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Pros:  It is a relatively straight-forward measurement.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252E5F-2ED2-4DB7-9ED6-EBB23F55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499" y="3032383"/>
            <a:ext cx="5564088" cy="391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Getting the total gas mass is fairly easy and robust.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73925-AB67-4608-9EF6-3099923E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21" y="3382634"/>
            <a:ext cx="6123294" cy="391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Cons:  It is pretty hard to actually count all the individual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4708F-1A50-487D-877F-0DE487D8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499" y="3675584"/>
            <a:ext cx="6123680" cy="3913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a galaxy so you have to assume you know what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51601-BA92-4A61-AE9C-38348393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499" y="3969608"/>
            <a:ext cx="3389542" cy="389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types of stars are in the galaxy.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3D2C3-C180-4F96-A695-F2ACB3A3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6062" y="5972861"/>
            <a:ext cx="505355" cy="186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Distance </a:t>
            </a:r>
          </a:p>
        </p:txBody>
      </p:sp>
    </p:spTree>
    <p:extLst>
      <p:ext uri="{BB962C8B-B14F-4D97-AF65-F5344CB8AC3E}">
        <p14:creationId xmlns:p14="http://schemas.microsoft.com/office/powerpoint/2010/main" val="2084413799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do we measure the mass of a 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AAA0B-042A-416D-97CA-9189D293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218" y="2095500"/>
            <a:ext cx="739129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Method 2:Use the motions of objects in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726A7-2DF6-4437-B952-BF389CFA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387" y="2554941"/>
            <a:ext cx="51177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galaxy to determine the mass.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963B2-37F6-4A57-B464-6EAE83B8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218" y="3104074"/>
            <a:ext cx="729700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Pros:  Simple measurement that gives you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C5233-B006-4791-A76C-3F6C1218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387" y="3563467"/>
            <a:ext cx="52118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304E1-9E3D-44BE-A1BE-983118ED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114" y="3565047"/>
            <a:ext cx="3607017" cy="606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of a galaxy.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BC88E-47A1-4CC1-8A3B-24CB2F5E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218" y="4112603"/>
            <a:ext cx="75175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Cons:  Need to have an object emitting light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5AA87-D82E-4A26-8F99-33062433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387" y="4572022"/>
            <a:ext cx="704788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order to measure mass at that position.</a:t>
            </a:r>
          </a:p>
        </p:txBody>
      </p:sp>
    </p:spTree>
    <p:extLst>
      <p:ext uri="{BB962C8B-B14F-4D97-AF65-F5344CB8AC3E}">
        <p14:creationId xmlns:p14="http://schemas.microsoft.com/office/powerpoint/2010/main" val="1802836439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the Solar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E33E1-AE17-4FE6-B9FF-DFD5164D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88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0031A-A081-41FB-A858-3C74A57F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7" y="2095500"/>
            <a:ext cx="647153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the mass of the solar system?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C0E20-B864-48A6-B2FC-828F8804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881" y="2632945"/>
            <a:ext cx="3130238" cy="5356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about 1 solar 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F4775-FAA3-4FFD-AAF6-B88BCC18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88" y="3126428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4CD17-9320-450B-84BE-825ECEF3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7" y="3126428"/>
            <a:ext cx="66185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is most of the mass in the solar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30178-BB6D-4BF8-8B16-18070FC7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7" y="3585882"/>
            <a:ext cx="145383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1D707-65AD-4A3F-868E-027F62F2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881" y="4123262"/>
            <a:ext cx="2144386" cy="5357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in the center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6047A-C3E3-443F-8F9C-189F1DF3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88" y="4616815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381B6-BFE7-41F0-A916-78A09694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6" y="4616815"/>
            <a:ext cx="655984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use the velocity of the planets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FEDF9-B777-4874-AEFE-88328FF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7" y="5076291"/>
            <a:ext cx="71968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versus their position to measure the mass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97D6D-27F6-4DB1-95F5-F46C19E9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8657" y="5531975"/>
            <a:ext cx="34443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solar system. </a:t>
            </a:r>
          </a:p>
        </p:txBody>
      </p:sp>
    </p:spTree>
    <p:extLst>
      <p:ext uri="{BB962C8B-B14F-4D97-AF65-F5344CB8AC3E}">
        <p14:creationId xmlns:p14="http://schemas.microsoft.com/office/powerpoint/2010/main" val="2047338457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the Solar System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2baf45d724cea"/>
          <ns0:srcRect xmlns:ns0="http://schemas.openxmlformats.org/drawingml/2006/main" l="6494" r="52020" t="32213" b="23716"/>
          <a:stretch xmlns:a="http://schemas.openxmlformats.org/drawingml/2006/main"/>
        </p:blipFill>
        <p:spPr>
          <a:xfrm xmlns:a="http://schemas.openxmlformats.org/drawingml/2006/main">
            <a:off x="2292451" y="2754531"/>
            <a:ext cx="3618735" cy="297050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892FF-5DAB-40D2-B6FC-6E3E738C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278" y="2095500"/>
            <a:ext cx="12298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562F9-57FF-4547-A14E-091EA9BF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2095500"/>
            <a:ext cx="1898129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what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9CBCE-87F6-479A-AD41-73F9C014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5040" y="2095500"/>
            <a:ext cx="1669341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F3BFE-2BA8-47DB-931E-44B69DFA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2407571"/>
            <a:ext cx="3489197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Solar System looks like.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6E6E9-34A3-4AA4-A093-C9AB82F6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277" y="2778380"/>
            <a:ext cx="12298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71337-388A-4CF0-B47D-C72D2723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791" y="2778380"/>
            <a:ext cx="3218723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the semi-major axis of a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1FFC6-CB04-408E-A5B2-0E83D03F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3086776"/>
            <a:ext cx="3590191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 is increased, its velocity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F8259-07B9-4097-B7D1-8F70E264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3398790"/>
            <a:ext cx="129636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decreases.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6EF40-E522-4D61-B0F7-EB18D7E1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277" y="3769599"/>
            <a:ext cx="12298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48722-571C-4E90-93BB-C1A57872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3769599"/>
            <a:ext cx="2515553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curve is called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CB519-5605-4C15-9885-32C5E231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4077939"/>
            <a:ext cx="283181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Keplerian rotation curve.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67CB1-8587-49FD-A801-E50ED869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277" y="4448764"/>
            <a:ext cx="12298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6E856-5ED7-41CF-AA67-816C065A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4448764"/>
            <a:ext cx="3610632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implies that all the mass is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B2A56-2AAA-430C-B71F-239BBD07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4760800"/>
            <a:ext cx="3382168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center of the system.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EC363-3FF0-4655-88F1-6168737F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277" y="5131604"/>
            <a:ext cx="122985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4D4300-B420-4B64-B17A-06EB4178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5131604"/>
            <a:ext cx="2918326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the same rotation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ECA793-5538-478D-A21F-BC150EE2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5439949"/>
            <a:ext cx="3233250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curve as is seen for objects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6C881E-3630-427D-8F9C-3AC146F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917" y="5748328"/>
            <a:ext cx="2272126" cy="4111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black holes.</a:t>
            </a:r>
          </a:p>
        </p:txBody>
      </p:sp>
    </p:spTree>
    <p:extLst>
      <p:ext uri="{BB962C8B-B14F-4D97-AF65-F5344CB8AC3E}">
        <p14:creationId xmlns:p14="http://schemas.microsoft.com/office/powerpoint/2010/main" val="721541236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a merry-go-round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d5b47d7cc46fb"/>
          <ns0:srcRect xmlns:ns0="http://schemas.openxmlformats.org/drawingml/2006/main" l="12338" r="6205" t="19514" b="41923"/>
          <a:stretch xmlns:a="http://schemas.openxmlformats.org/drawingml/2006/main"/>
        </p:blipFill>
        <p:spPr>
          <a:xfrm xmlns:a="http://schemas.openxmlformats.org/drawingml/2006/main">
            <a:off x="3302022" y="2095500"/>
            <a:ext cx="5953717" cy="217793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6CDFC-163D-48A7-AEA0-49448B8D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261" y="4254730"/>
            <a:ext cx="110588" cy="37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8E2582-E6A5-4437-9394-52742122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466" y="4255426"/>
            <a:ext cx="5846434" cy="377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you move from the center to the edge, you go faster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11C08-1084-4748-B3A6-A5CB38FB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581" y="4538251"/>
            <a:ext cx="5864321" cy="3781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faster since each part of the merry-go-round needs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34A03-2E13-4A34-A370-6E1A7BA6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581" y="4821285"/>
            <a:ext cx="5035626" cy="3780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complete a circle in the same amount of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300A0D-5C44-4E79-BC00-06E70AA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261" y="5159129"/>
            <a:ext cx="110588" cy="37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8C759-9FC9-496B-97D5-B15B35BC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466" y="5159809"/>
            <a:ext cx="5308581" cy="3778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you move to the edge, more of the mass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237C3-E5C0-4962-B6B4-653156FD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581" y="5443106"/>
            <a:ext cx="4921634" cy="377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merry-go-round is between you and the center.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7CFE67-4A87-4ED4-9C35-124D9727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261" y="5780515"/>
            <a:ext cx="110588" cy="37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F976E-A5BF-40CE-8A22-CAC1DC8D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581" y="5780841"/>
            <a:ext cx="3304414" cy="3784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curve implies that mass is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7176F-7CED-44BE-A21B-1BF25B68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778" y="5780515"/>
            <a:ext cx="1207798" cy="37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5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5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00C0B-29D3-4BF6-A017-20915DE4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890" y="5780515"/>
            <a:ext cx="1286339" cy="37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with radius.</a:t>
            </a:r>
          </a:p>
        </p:txBody>
      </p:sp>
    </p:spTree>
    <p:extLst>
      <p:ext uri="{BB962C8B-B14F-4D97-AF65-F5344CB8AC3E}">
        <p14:creationId xmlns:p14="http://schemas.microsoft.com/office/powerpoint/2010/main" val="829685696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a Galaxy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eaafe2dd14d87"/>
          <ns0:srcRect xmlns:ns0="http://schemas.openxmlformats.org/drawingml/2006/main" l="50216" r="4329" t="24370" b="12885"/>
          <a:stretch xmlns:a="http://schemas.openxmlformats.org/drawingml/2006/main"/>
        </p:blipFill>
        <p:spPr>
          <a:xfrm xmlns:a="http://schemas.openxmlformats.org/drawingml/2006/main">
            <a:off x="5988226" y="2095500"/>
            <a:ext cx="381000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35B76-D68F-4C58-AD8F-0BAA7551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774" y="2174439"/>
            <a:ext cx="126823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73DC3-0923-4B9D-9C85-7441F1D3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2174930"/>
            <a:ext cx="3005166" cy="433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Using the Doppler effect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FA133-E11E-41A8-8121-0DC36EB3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2498996"/>
            <a:ext cx="2543980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D0866-827D-49C8-B39A-AF34DF87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2825260"/>
            <a:ext cx="3096191" cy="4317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of a spiral galaxy.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51C6C-07BF-458B-A48F-2DFB58BD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774" y="3211610"/>
            <a:ext cx="126823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A2672-335D-415D-89F8-F626A349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3211648"/>
            <a:ext cx="3010354" cy="4345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side is blue-shifted,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DE7EE-9D8A-4B1F-91E5-ADE76F0A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3536163"/>
            <a:ext cx="2755398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side is red-shifted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8B44A-FAF0-48D6-8589-8100E05C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3862229"/>
            <a:ext cx="3113439" cy="432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respect to the center.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79DB1-674F-436B-97B2-DBE6C5D4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774" y="4248777"/>
            <a:ext cx="126823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D93D2-E73F-47FD-9629-985A1412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4248777"/>
            <a:ext cx="1729363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shift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A7A99-D31A-4E4F-AED0-6D13F188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4573310"/>
            <a:ext cx="2348121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corresponds to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334FAD-9951-489D-995D-505EC348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4897884"/>
            <a:ext cx="2738798" cy="434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velocity of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4D7E5-A772-490B-9BE6-714409BE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045" y="5222415"/>
            <a:ext cx="815564" cy="434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</a:t>
            </a:r>
          </a:p>
        </p:txBody>
      </p:sp>
    </p:spTree>
    <p:extLst>
      <p:ext uri="{BB962C8B-B14F-4D97-AF65-F5344CB8AC3E}">
        <p14:creationId xmlns:p14="http://schemas.microsoft.com/office/powerpoint/2010/main" val="355201822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a Galaxy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c67e2e2904c23"/>
          <ns0:srcRect xmlns:ns0="http://schemas.openxmlformats.org/drawingml/2006/main" l="9163" r="8947" t="17274" b="49206"/>
          <a:stretch xmlns:a="http://schemas.openxmlformats.org/drawingml/2006/main"/>
        </p:blipFill>
        <p:spPr>
          <a:xfrm xmlns:a="http://schemas.openxmlformats.org/drawingml/2006/main">
            <a:off x="3226712" y="2095500"/>
            <a:ext cx="5869728" cy="185659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D8E32-1DD1-4F55-8052-7789E526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70" y="4152138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1DE3E-D6FD-490D-AA16-6E920E24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64" y="4152138"/>
            <a:ext cx="369891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6DBF5-C874-4F67-B361-2CF8DCED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871" y="4152138"/>
            <a:ext cx="240997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33038-4252-49E2-84DD-5F20BAD0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716" y="4152319"/>
            <a:ext cx="4896409" cy="30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spiral galaxies, we see a rotation curve like those above.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DCD07-C509-4D3B-9833-914F5908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65" y="4408575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198A7-3CF1-43AC-977F-3A33B3EB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8" y="4408709"/>
            <a:ext cx="4768396" cy="30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 parts look like a merry-go-round (solid body)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E13C1-96B7-459C-8EF4-CCAC57B7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64" y="4661981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60351-373E-476F-99E5-57BEA785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8" y="4661981"/>
            <a:ext cx="2026129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outer parts are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B0EAC-DDC0-4302-9BC9-03049482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64" y="4915370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4616D-9DCB-4EA6-97C1-378680C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8" y="4915662"/>
            <a:ext cx="5022323" cy="308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height and extent of the curve give you the total mass.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E9EB0-EAFA-4B31-89EA-A6442A41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406" y="5167575"/>
            <a:ext cx="117726" cy="2606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51C2E-B1CC-44AE-8563-BEB27240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316" y="5167575"/>
            <a:ext cx="3486761" cy="2606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and longer curves = larger total mass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9139AF-75D1-4166-8231-C2DA9D43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60" y="5385983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635ED-8056-4CAD-A265-87B34AFA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5" y="5385983"/>
            <a:ext cx="338654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F8221-0073-4638-AFE0-987455D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542" y="5385983"/>
            <a:ext cx="11625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has a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903D31-CC50-4765-B669-4AF8EB67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1279" y="5385983"/>
            <a:ext cx="1711547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declining, Keplerian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79426-8C38-49D1-9EBD-E4075B82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5676" y="5385983"/>
            <a:ext cx="1299974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rotation curve.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F26157-DD8D-4CB0-A7DB-F7DE883A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563" y="5642423"/>
            <a:ext cx="94725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47885-8D79-48E6-89BD-CA3886F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7" y="5642705"/>
            <a:ext cx="5567519" cy="308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implies that the mass of a galaxy continues to increase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A84607-320E-4EF2-984B-F18B0235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757" y="5850585"/>
            <a:ext cx="1096712" cy="308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radius.</a:t>
            </a:r>
          </a:p>
        </p:txBody>
      </p:sp>
    </p:spTree>
    <p:extLst>
      <p:ext uri="{BB962C8B-B14F-4D97-AF65-F5344CB8AC3E}">
        <p14:creationId xmlns:p14="http://schemas.microsoft.com/office/powerpoint/2010/main" val="836160554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of the Milky Way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d44677776490e"/>
          <ns0:srcRect xmlns:ns0="http://schemas.openxmlformats.org/drawingml/2006/main" l="17027" r="18254" t="49673" b="4202"/>
          <a:stretch xmlns:a="http://schemas.openxmlformats.org/drawingml/2006/main"/>
        </p:blipFill>
        <p:spPr>
          <a:xfrm xmlns:a="http://schemas.openxmlformats.org/drawingml/2006/main">
            <a:off x="3722471" y="3489610"/>
            <a:ext cx="4847958" cy="266989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B5E27-C5CF-4B62-9B1B-AAE10DEA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304" y="2095500"/>
            <a:ext cx="113339" cy="3884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766D3-F86B-4857-92B0-7C749802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225" y="2097343"/>
            <a:ext cx="4743850" cy="385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rotation curve seen for the Milky Way.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F7E97-CF35-4462-AEC6-8D140D21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304" y="2442303"/>
            <a:ext cx="113339" cy="3884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C5E022-585D-4F57-8379-677C3A3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225" y="2442929"/>
            <a:ext cx="5927471" cy="387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continue to increase beyond the edge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4742E-93AB-47EF-ABB3-CF83F9CF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225" y="2732960"/>
            <a:ext cx="5712220" cy="387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 of stars and gas out to the very edge of the halo.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4D9BE-49F6-409E-A647-7FC24285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304" y="3079147"/>
            <a:ext cx="113339" cy="3884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2380B-C3F9-45A6-830F-D3BC841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225" y="3079761"/>
            <a:ext cx="3489926" cy="387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0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this missing mass???</a:t>
            </a:r>
          </a:p>
        </p:txBody>
      </p:sp>
    </p:spTree>
    <p:extLst>
      <p:ext uri="{BB962C8B-B14F-4D97-AF65-F5344CB8AC3E}">
        <p14:creationId xmlns:p14="http://schemas.microsoft.com/office/powerpoint/2010/main" val="229723730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Masses of other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0DA76-59EC-4EA3-B471-6C684AC2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66" y="209550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DA497-409C-4C80-BB47-09ED1558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4" y="2095500"/>
            <a:ext cx="69791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While not all galaxies rotate, the motions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83AB5-75AB-421E-B145-F5251493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5" y="2554941"/>
            <a:ext cx="369799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their stars and gas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C3973-453F-46CD-B3B1-EF1316C2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305" y="2554941"/>
            <a:ext cx="5630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80D2A-9354-4D9A-AA78-22FD15F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796" y="2554941"/>
            <a:ext cx="249233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indicate some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137F6-73B4-4579-BEE6-458F0D3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6" y="3014405"/>
            <a:ext cx="24490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 mass.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FC8E2-F287-49C2-95F0-891CEB38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67" y="3563458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010E7-5AE6-408B-A852-D34EE8DE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6" y="3563458"/>
            <a:ext cx="60051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motions of galaxies in pairs, in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18ECA-C23E-417F-AE57-ED859538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6" y="4022935"/>
            <a:ext cx="61347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groups, and in clusters also provide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17C7D-449D-4B59-B331-C2FD77F6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36" y="4478676"/>
            <a:ext cx="46313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for missing mass.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79CEA-BBC8-4BCB-9E77-B2A8B19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67" y="5027730"/>
            <a:ext cx="1669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5CF80-D5E8-431D-BCE1-BC8ADBF7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450" y="5027730"/>
            <a:ext cx="713308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does gravitational lensing by clusters.  </a:t>
            </a:r>
          </a:p>
        </p:txBody>
      </p:sp>
    </p:spTree>
    <p:extLst>
      <p:ext uri="{BB962C8B-B14F-4D97-AF65-F5344CB8AC3E}">
        <p14:creationId xmlns:p14="http://schemas.microsoft.com/office/powerpoint/2010/main" val="1037424130"/>
      </p:ext>
    </p:extLst>
  </p:cSld>
</p:sld>
</file>

<file path=ppt/slides/slide2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Mass in stars versus Total Mass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2b4fa84b24801"/>
          <ns0:srcRect xmlns:ns0="http://schemas.openxmlformats.org/drawingml/2006/main" l="50866" r="2670" t="26984" b="12792"/>
          <a:stretch xmlns:a="http://schemas.openxmlformats.org/drawingml/2006/main"/>
        </p:blipFill>
        <p:spPr>
          <a:xfrm xmlns:a="http://schemas.openxmlformats.org/drawingml/2006/main">
            <a:off x="5972181" y="2229250"/>
            <a:ext cx="3924157" cy="3930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9DF8F-78AB-4820-96DD-4BA848AA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661" y="2095500"/>
            <a:ext cx="158886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B83CB-D5A7-4E65-B572-B7743717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2095500"/>
            <a:ext cx="3257023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of the missing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9AF4D-2B1F-479C-9877-D522846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2490070"/>
            <a:ext cx="2350262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A149A-F97B-4562-9650-95981A14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2880986"/>
            <a:ext cx="1886762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outskirts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8A067-7BBF-422D-A962-54E02CD9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3272037"/>
            <a:ext cx="1463804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8C2DE-6740-4CE5-B94E-F6577E77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661" y="3751917"/>
            <a:ext cx="158886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15F05-D823-4EB8-80DB-2B24A216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3751917"/>
            <a:ext cx="2937249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only account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4F519-7E86-48A8-8AC3-4AE32002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4146441"/>
            <a:ext cx="2794102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about 10% of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8C1EC-3C5D-44E6-A907-1F2DE4A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4537437"/>
            <a:ext cx="2793702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mass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16D25-A0F9-4A81-9FD6-B19DFF8A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4928431"/>
            <a:ext cx="2733881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in stars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24B8B5-CE34-45E8-818A-546FC202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236" y="5322980"/>
            <a:ext cx="1422870" cy="580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gas.</a:t>
            </a:r>
          </a:p>
        </p:txBody>
      </p:sp>
    </p:spTree>
    <p:extLst>
      <p:ext uri="{BB962C8B-B14F-4D97-AF65-F5344CB8AC3E}">
        <p14:creationId xmlns:p14="http://schemas.microsoft.com/office/powerpoint/2010/main" val="1356810432"/>
      </p:ext>
    </p:extLst>
  </p:cSld>
</p:sld>
</file>

<file path=ppt/slides/slide3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b7a0b97874e05"/>
          <ns0:srcRect xmlns:ns0="http://schemas.openxmlformats.org/drawingml/2006/main" l="73016" r="1299" t="3641" b="4575"/>
          <a:stretch xmlns:a="http://schemas.openxmlformats.org/drawingml/2006/main"/>
        </p:blipFill>
        <p:spPr>
          <a:xfrm xmlns:a="http://schemas.openxmlformats.org/drawingml/2006/main">
            <a:off x="7241941" y="2095500"/>
            <a:ext cx="1471805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35219-DDE9-4A34-B815-4C19F412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4" y="3043163"/>
            <a:ext cx="8669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9553C9-8A3D-4CA7-8D50-00356549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3043267"/>
            <a:ext cx="2314316" cy="296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missing mass is called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9B50B-7236-4A9F-AEE6-099AA002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46" y="3043163"/>
            <a:ext cx="433511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8EDB-FDFD-4F9E-8FCB-00C2530B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3243292"/>
            <a:ext cx="545653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875E5-7CDF-4424-81A6-57D75317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128" y="3243759"/>
            <a:ext cx="2608520" cy="29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is matter that does not emit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17150-5C12-460D-8001-6F56BDA5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3443642"/>
            <a:ext cx="2479594" cy="2968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light, or at least can’t be seen.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1095E-7775-487B-A39D-3D9E6E19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5" y="3687054"/>
            <a:ext cx="8669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F0925-9A50-4701-90EB-0FE6E824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0" y="3688843"/>
            <a:ext cx="2629730" cy="2941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are a form of dark matter.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92457-4615-43CA-9B62-C802F80A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5" y="3930656"/>
            <a:ext cx="86700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CAAB4-C80F-4BE7-8349-94F685C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3930656"/>
            <a:ext cx="360234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C6033-6AF6-42FA-8E35-44693FD2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270" y="3930656"/>
            <a:ext cx="30886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C1A6E-1CA1-42F6-902F-C6F98896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435" y="3930876"/>
            <a:ext cx="2519752" cy="29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same as a dark nebula or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52C31-DCAB-4E83-B628-4DC549EC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4130785"/>
            <a:ext cx="999761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3EAFDB-20A9-41EB-BABA-E93BDF84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5" y="4374405"/>
            <a:ext cx="8669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E78331-0D0C-48CC-A314-662C25F4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4374792"/>
            <a:ext cx="2630040" cy="296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 suggested to exist by Fritz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8D5BE-8454-4FEA-8787-22CF09E9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4574531"/>
            <a:ext cx="1698166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Zwicky in the 1930s!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4C0B8-B486-44D8-BB01-D48A68C5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5" y="4818150"/>
            <a:ext cx="8669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2D9A97-675A-4549-8A40-BD8C4689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4818397"/>
            <a:ext cx="3117080" cy="2967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Observational evidence first provided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7C8F9-AFBF-4730-ADB7-43E0B648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5019127"/>
            <a:ext cx="2295292" cy="295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1970s by Vera Rubin.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6D180B-D2BC-4945-9C7B-75513CDC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55" y="5261895"/>
            <a:ext cx="86699" cy="297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63F73-9BB2-4774-8E20-8D34B47A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5262424"/>
            <a:ext cx="3122109" cy="296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still don’t know what it is only that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CE468F-6C20-45BC-85C4-C4574DF5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61" y="5462067"/>
            <a:ext cx="2408296" cy="2970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seen almost everywhere.</a:t>
            </a:r>
          </a:p>
        </p:txBody>
      </p:sp>
    </p:spTree>
    <p:extLst>
      <p:ext uri="{BB962C8B-B14F-4D97-AF65-F5344CB8AC3E}">
        <p14:creationId xmlns:p14="http://schemas.microsoft.com/office/powerpoint/2010/main" val="1430583151"/>
      </p:ext>
    </p:extLst>
  </p:cSld>
</p:sld>
</file>

<file path=ppt/slides/slide3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Dark matter: review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87287-7487-4AF4-9533-15C782B3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636" y="2095500"/>
            <a:ext cx="6569964" cy="592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does not provide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BA925-FB6C-431D-BCEF-5B18C9F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129" y="2539769"/>
            <a:ext cx="5664959" cy="592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for the existence of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C62CE-8D91-4EB7-943D-54D79365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205" y="2984037"/>
            <a:ext cx="1283214" cy="592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D76F3-1E48-49E2-AE62-1F301655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401" y="3737874"/>
            <a:ext cx="340234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17E63-4DB2-4953-B453-C9D868D9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8063" y="3737874"/>
            <a:ext cx="4048989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Curves of galaxies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3A3B7-79A9-4045-B485-DAD0644C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561" y="4214323"/>
            <a:ext cx="340074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D732B-A2CA-478C-BFC8-0BB6C976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8063" y="4214323"/>
            <a:ext cx="3550375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orbits of the planets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AD0E5-8627-4B70-9CB4-0483A10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561" y="4687619"/>
            <a:ext cx="3331204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Gravitational lenses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45615-8E11-4FEA-A705-7CA20132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561" y="5160808"/>
            <a:ext cx="4698690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Motions of galaxies in groups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21CE5-E086-41B5-8F85-788D9444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561" y="5634104"/>
            <a:ext cx="340074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6F584-AAE5-4A5B-8EE2-743B8A68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8063" y="5634104"/>
            <a:ext cx="3752320" cy="52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all provide evidence</a:t>
            </a:r>
          </a:p>
        </p:txBody>
      </p:sp>
    </p:spTree>
    <p:extLst>
      <p:ext uri="{BB962C8B-B14F-4D97-AF65-F5344CB8AC3E}">
        <p14:creationId xmlns:p14="http://schemas.microsoft.com/office/powerpoint/2010/main" val="765300303"/>
      </p:ext>
    </p:extLst>
  </p:cSld>
</p:sld>
</file>

<file path=ppt/slides/slide3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Which of the following could be a rotation curve for the solar system?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a6bd6433b415e"/>
          <ns0:srcRect xmlns:ns0="http://schemas.openxmlformats.org/drawingml/2006/main" l="25397" r="24315" t="36228" b="13632"/>
          <a:stretch xmlns:a="http://schemas.openxmlformats.org/drawingml/2006/main"/>
        </p:blipFill>
        <p:spPr>
          <a:xfrm xmlns:a="http://schemas.openxmlformats.org/drawingml/2006/main">
            <a:off x="3566886" y="2095500"/>
            <a:ext cx="5058229" cy="3897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759233"/>
      </p:ext>
    </p:extLst>
  </p:cSld>
</p:sld>
</file>

<file path=ppt/slides/slide3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curves: review question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662821e2d4bc2"/>
          <ns0:srcRect xmlns:ns0="http://schemas.openxmlformats.org/drawingml/2006/main" l="25397" r="24315" t="36228" b="13632"/>
          <a:stretch xmlns:a="http://schemas.openxmlformats.org/drawingml/2006/main"/>
        </p:blipFill>
        <p:spPr>
          <a:xfrm xmlns:a="http://schemas.openxmlformats.org/drawingml/2006/main">
            <a:off x="4430813" y="3618744"/>
            <a:ext cx="3297778" cy="2540756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6D5DE-3A4E-4E7A-830E-EC55DED1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595" y="2095500"/>
            <a:ext cx="4750810" cy="507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could be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6CB23-A10C-4978-9D33-9C83407C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126" y="2476377"/>
            <a:ext cx="4609735" cy="507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for stars around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CCBB5-2D66-41E6-9C6B-134742D7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4325" y="2857254"/>
            <a:ext cx="3675113" cy="507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hole?</a:t>
            </a:r>
          </a:p>
        </p:txBody>
      </p:sp>
    </p:spTree>
    <p:extLst>
      <p:ext uri="{BB962C8B-B14F-4D97-AF65-F5344CB8AC3E}">
        <p14:creationId xmlns:p14="http://schemas.microsoft.com/office/powerpoint/2010/main" val="536800215"/>
      </p:ext>
    </p:extLst>
  </p:cSld>
</p:sld>
</file>

<file path=ppt/slides/slide3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of the following rotation curves would be for a galaxy?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6b0da3a6c4310"/>
          <ns0:srcRect xmlns:ns0="http://schemas.openxmlformats.org/drawingml/2006/main" l="25397" r="24315" t="36228" b="13632"/>
          <a:stretch xmlns:a="http://schemas.openxmlformats.org/drawingml/2006/main"/>
        </p:blipFill>
        <p:spPr>
          <a:xfrm xmlns:a="http://schemas.openxmlformats.org/drawingml/2006/main">
            <a:off x="3566886" y="2095500"/>
            <a:ext cx="5058229" cy="3897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5739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Galaxy interactions and dark matter</dc:title>
  <dcterms:created xsi:type="dcterms:W3CDTF">2026-09-26T20:03:12.5720000Z</dcterms:created>
  <dcterms:modified xsi:type="dcterms:W3CDTF">2026-09-26T20:03:12.5720000Z</dcterms:modified>
</coreProperties>
</file>