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a2a3412b5d43b7" /><Relationship Type="http://schemas.openxmlformats.org/officeDocument/2006/relationships/extended-properties" Target="/docProps/app.xml" Id="R25d7161d4c754a9a" /><Relationship Type="http://schemas.openxmlformats.org/officeDocument/2006/relationships/officeDocument" Target="/ppt/presentation.xml" Id="R8b2f2e7b578a40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7cb2d081ad46f6"/>
  </p:sldMasterIdLst>
  <p:notesMasterIdLst>
    <p:notesMasterId xmlns:r="http://schemas.openxmlformats.org/officeDocument/2006/relationships" r:id="R6cc4a7032c0742c2"/>
  </p:notesMasterIdLst>
  <p:sldIdLst>
    <p:sldId xmlns:r="http://schemas.openxmlformats.org/officeDocument/2006/relationships" id="256" r:id="R0ad1d5505c414481"/>
    <p:sldId xmlns:r="http://schemas.openxmlformats.org/officeDocument/2006/relationships" id="257" r:id="Rd5fdce834fa8479f"/>
    <p:sldId xmlns:r="http://schemas.openxmlformats.org/officeDocument/2006/relationships" id="258" r:id="Rcbeea733baf44ba5"/>
    <p:sldId xmlns:r="http://schemas.openxmlformats.org/officeDocument/2006/relationships" id="259" r:id="Rd611627aced0469f"/>
    <p:sldId xmlns:r="http://schemas.openxmlformats.org/officeDocument/2006/relationships" id="260" r:id="R0dc51198c8a1458a"/>
    <p:sldId xmlns:r="http://schemas.openxmlformats.org/officeDocument/2006/relationships" id="261" r:id="R81b3a445926d4931"/>
    <p:sldId xmlns:r="http://schemas.openxmlformats.org/officeDocument/2006/relationships" id="262" r:id="R472da7356791489f"/>
    <p:sldId xmlns:r="http://schemas.openxmlformats.org/officeDocument/2006/relationships" id="263" r:id="R070e2ec675cd4aa1"/>
    <p:sldId xmlns:r="http://schemas.openxmlformats.org/officeDocument/2006/relationships" id="264" r:id="Raf6eb16f0fb0414f"/>
    <p:sldId xmlns:r="http://schemas.openxmlformats.org/officeDocument/2006/relationships" id="265" r:id="Rd54cc2c19d704b64"/>
    <p:sldId xmlns:r="http://schemas.openxmlformats.org/officeDocument/2006/relationships" id="266" r:id="R11d7f4b4daf9456a"/>
    <p:sldId xmlns:r="http://schemas.openxmlformats.org/officeDocument/2006/relationships" id="267" r:id="Rddc43406ab0a471e"/>
    <p:sldId xmlns:r="http://schemas.openxmlformats.org/officeDocument/2006/relationships" id="268" r:id="R45af58fdd52c49e6"/>
    <p:sldId xmlns:r="http://schemas.openxmlformats.org/officeDocument/2006/relationships" id="269" r:id="R35cbec939d1847a1"/>
    <p:sldId xmlns:r="http://schemas.openxmlformats.org/officeDocument/2006/relationships" id="270" r:id="R5f14ce97a38746f8"/>
    <p:sldId xmlns:r="http://schemas.openxmlformats.org/officeDocument/2006/relationships" id="271" r:id="R5075b583c2a24836"/>
    <p:sldId xmlns:r="http://schemas.openxmlformats.org/officeDocument/2006/relationships" id="272" r:id="Re6863e82d8a44f03"/>
    <p:sldId xmlns:r="http://schemas.openxmlformats.org/officeDocument/2006/relationships" id="273" r:id="Rbcba287ab1fa4e19"/>
    <p:sldId xmlns:r="http://schemas.openxmlformats.org/officeDocument/2006/relationships" id="274" r:id="R093e6c16b34441c5"/>
    <p:sldId xmlns:r="http://schemas.openxmlformats.org/officeDocument/2006/relationships" id="275" r:id="R043ed66bc85d4417"/>
    <p:sldId xmlns:r="http://schemas.openxmlformats.org/officeDocument/2006/relationships" id="276" r:id="Rc74765cbfb8346af"/>
    <p:sldId xmlns:r="http://schemas.openxmlformats.org/officeDocument/2006/relationships" id="277" r:id="Re3b7b3ed7ad24ce6"/>
    <p:sldId xmlns:r="http://schemas.openxmlformats.org/officeDocument/2006/relationships" id="278" r:id="R17196b36dc1048ea"/>
    <p:sldId xmlns:r="http://schemas.openxmlformats.org/officeDocument/2006/relationships" id="279" r:id="R44193551b3a840d0"/>
    <p:sldId xmlns:r="http://schemas.openxmlformats.org/officeDocument/2006/relationships" id="280" r:id="R624450da62a444e1"/>
    <p:sldId xmlns:r="http://schemas.openxmlformats.org/officeDocument/2006/relationships" id="281" r:id="R8bd240221c904476"/>
    <p:sldId xmlns:r="http://schemas.openxmlformats.org/officeDocument/2006/relationships" id="282" r:id="R5b5441068b014578"/>
    <p:sldId xmlns:r="http://schemas.openxmlformats.org/officeDocument/2006/relationships" id="283" r:id="Rb1b84ab9a4de4b00"/>
    <p:sldId xmlns:r="http://schemas.openxmlformats.org/officeDocument/2006/relationships" id="284" r:id="R8cd93f92cbbb49d4"/>
    <p:sldId xmlns:r="http://schemas.openxmlformats.org/officeDocument/2006/relationships" id="285" r:id="R34f7d9859f36424f"/>
    <p:sldId xmlns:r="http://schemas.openxmlformats.org/officeDocument/2006/relationships" id="286" r:id="R0f0bfd398cda4d19"/>
    <p:sldId xmlns:r="http://schemas.openxmlformats.org/officeDocument/2006/relationships" id="287" r:id="R28a265ee24494d9c"/>
    <p:sldId xmlns:r="http://schemas.openxmlformats.org/officeDocument/2006/relationships" id="288" r:id="Ra4455f365ea5461c"/>
    <p:sldId xmlns:r="http://schemas.openxmlformats.org/officeDocument/2006/relationships" id="289" r:id="Rff9d53b333d44487"/>
  </p:sldIdLst>
  <p:sldSz cx="10058400" cy="8458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a777177f82495d" /><Relationship Type="http://schemas.openxmlformats.org/officeDocument/2006/relationships/slideMaster" Target="/ppt/slideMasters/slideMaster1.xml" Id="R417cb2d081ad46f6" /><Relationship Type="http://schemas.openxmlformats.org/officeDocument/2006/relationships/notesMaster" Target="/ppt/notesMasters/notesMaster1.xml" Id="R6cc4a7032c0742c2" /><Relationship Type="http://schemas.openxmlformats.org/officeDocument/2006/relationships/presProps" Target="/ppt/presProps.xml" Id="R9dd20cec7cb540f5" /><Relationship Type="http://schemas.openxmlformats.org/officeDocument/2006/relationships/tableStyles" Target="/ppt/tableStyles.xml" Id="Rde6040d223ca4fbc" /><Relationship Type="http://schemas.openxmlformats.org/officeDocument/2006/relationships/slide" Target="/ppt/slides/slide1.xml" Id="R0ad1d5505c414481" /><Relationship Type="http://schemas.openxmlformats.org/officeDocument/2006/relationships/slide" Target="/ppt/slides/slide2.xml" Id="Rd5fdce834fa8479f" /><Relationship Type="http://schemas.openxmlformats.org/officeDocument/2006/relationships/slide" Target="/ppt/slides/slide3.xml" Id="Rcbeea733baf44ba5" /><Relationship Type="http://schemas.openxmlformats.org/officeDocument/2006/relationships/slide" Target="/ppt/slides/slide4.xml" Id="Rd611627aced0469f" /><Relationship Type="http://schemas.openxmlformats.org/officeDocument/2006/relationships/slide" Target="/ppt/slides/slide5.xml" Id="R0dc51198c8a1458a" /><Relationship Type="http://schemas.openxmlformats.org/officeDocument/2006/relationships/slide" Target="/ppt/slides/slide6.xml" Id="R81b3a445926d4931" /><Relationship Type="http://schemas.openxmlformats.org/officeDocument/2006/relationships/slide" Target="/ppt/slides/slide7.xml" Id="R472da7356791489f" /><Relationship Type="http://schemas.openxmlformats.org/officeDocument/2006/relationships/slide" Target="/ppt/slides/slide8.xml" Id="R070e2ec675cd4aa1" /><Relationship Type="http://schemas.openxmlformats.org/officeDocument/2006/relationships/slide" Target="/ppt/slides/slide9.xml" Id="Raf6eb16f0fb0414f" /><Relationship Type="http://schemas.openxmlformats.org/officeDocument/2006/relationships/slide" Target="/ppt/slides/slide10.xml" Id="Rd54cc2c19d704b64" /><Relationship Type="http://schemas.openxmlformats.org/officeDocument/2006/relationships/slide" Target="/ppt/slides/slide11.xml" Id="R11d7f4b4daf9456a" /><Relationship Type="http://schemas.openxmlformats.org/officeDocument/2006/relationships/slide" Target="/ppt/slides/slide12.xml" Id="Rddc43406ab0a471e" /><Relationship Type="http://schemas.openxmlformats.org/officeDocument/2006/relationships/slide" Target="/ppt/slides/slide13.xml" Id="R45af58fdd52c49e6" /><Relationship Type="http://schemas.openxmlformats.org/officeDocument/2006/relationships/slide" Target="/ppt/slides/slide14.xml" Id="R35cbec939d1847a1" /><Relationship Type="http://schemas.openxmlformats.org/officeDocument/2006/relationships/slide" Target="/ppt/slides/slide15.xml" Id="R5f14ce97a38746f8" /><Relationship Type="http://schemas.openxmlformats.org/officeDocument/2006/relationships/slide" Target="/ppt/slides/slide16.xml" Id="R5075b583c2a24836" /><Relationship Type="http://schemas.openxmlformats.org/officeDocument/2006/relationships/slide" Target="/ppt/slides/slide17.xml" Id="Re6863e82d8a44f03" /><Relationship Type="http://schemas.openxmlformats.org/officeDocument/2006/relationships/slide" Target="/ppt/slides/slide18.xml" Id="Rbcba287ab1fa4e19" /><Relationship Type="http://schemas.openxmlformats.org/officeDocument/2006/relationships/slide" Target="/ppt/slides/slide19.xml" Id="R093e6c16b34441c5" /><Relationship Type="http://schemas.openxmlformats.org/officeDocument/2006/relationships/slide" Target="/ppt/slides/slide20.xml" Id="R043ed66bc85d4417" /><Relationship Type="http://schemas.openxmlformats.org/officeDocument/2006/relationships/slide" Target="/ppt/slides/slide21.xml" Id="Rc74765cbfb8346af" /><Relationship Type="http://schemas.openxmlformats.org/officeDocument/2006/relationships/slide" Target="/ppt/slides/slide22.xml" Id="Re3b7b3ed7ad24ce6" /><Relationship Type="http://schemas.openxmlformats.org/officeDocument/2006/relationships/slide" Target="/ppt/slides/slide23.xml" Id="R17196b36dc1048ea" /><Relationship Type="http://schemas.openxmlformats.org/officeDocument/2006/relationships/slide" Target="/ppt/slides/slide24.xml" Id="R44193551b3a840d0" /><Relationship Type="http://schemas.openxmlformats.org/officeDocument/2006/relationships/slide" Target="/ppt/slides/slide25.xml" Id="R624450da62a444e1" /><Relationship Type="http://schemas.openxmlformats.org/officeDocument/2006/relationships/slide" Target="/ppt/slides/slide26.xml" Id="R8bd240221c904476" /><Relationship Type="http://schemas.openxmlformats.org/officeDocument/2006/relationships/slide" Target="/ppt/slides/slide27.xml" Id="R5b5441068b014578" /><Relationship Type="http://schemas.openxmlformats.org/officeDocument/2006/relationships/slide" Target="/ppt/slides/slide28.xml" Id="Rb1b84ab9a4de4b00" /><Relationship Type="http://schemas.openxmlformats.org/officeDocument/2006/relationships/slide" Target="/ppt/slides/slide29.xml" Id="R8cd93f92cbbb49d4" /><Relationship Type="http://schemas.openxmlformats.org/officeDocument/2006/relationships/slide" Target="/ppt/slides/slide30.xml" Id="R34f7d9859f36424f" /><Relationship Type="http://schemas.openxmlformats.org/officeDocument/2006/relationships/slide" Target="/ppt/slides/slide31.xml" Id="R0f0bfd398cda4d19" /><Relationship Type="http://schemas.openxmlformats.org/officeDocument/2006/relationships/slide" Target="/ppt/slides/slide32.xml" Id="R28a265ee24494d9c" /><Relationship Type="http://schemas.openxmlformats.org/officeDocument/2006/relationships/slide" Target="/ppt/slides/slide33.xml" Id="Ra4455f365ea5461c" /><Relationship Type="http://schemas.openxmlformats.org/officeDocument/2006/relationships/slide" Target="/ppt/slides/slide34.xml" Id="Rff9d53b333d444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4ffeef94984b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367a2b206f46ac" /><Relationship Type="http://schemas.openxmlformats.org/officeDocument/2006/relationships/notesMaster" Target="/ppt/notesMasters/notesMaster1.xml" Id="Rf3f8e48ef1c344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e42a8dc6964cb3" /><Relationship Type="http://schemas.openxmlformats.org/officeDocument/2006/relationships/notesMaster" Target="/ppt/notesMasters/notesMaster1.xml" Id="Re327cb3c2a3641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046c8b447a4d4a" /><Relationship Type="http://schemas.openxmlformats.org/officeDocument/2006/relationships/notesMaster" Target="/ppt/notesMasters/notesMaster1.xml" Id="R87cc1cfe006f4b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b7f503f7414c44" /><Relationship Type="http://schemas.openxmlformats.org/officeDocument/2006/relationships/notesMaster" Target="/ppt/notesMasters/notesMaster1.xml" Id="Rce975c20faf74f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34863bd5ac4ed8" /><Relationship Type="http://schemas.openxmlformats.org/officeDocument/2006/relationships/notesMaster" Target="/ppt/notesMasters/notesMaster1.xml" Id="R8ec700b5198a46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c8c6717dee4c15" /><Relationship Type="http://schemas.openxmlformats.org/officeDocument/2006/relationships/notesMaster" Target="/ppt/notesMasters/notesMaster1.xml" Id="Rabda64c9cd8048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1cde8b2e4b471b" /><Relationship Type="http://schemas.openxmlformats.org/officeDocument/2006/relationships/notesMaster" Target="/ppt/notesMasters/notesMaster1.xml" Id="R8cd9d46ce08545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1192d4c8124f7c" /><Relationship Type="http://schemas.openxmlformats.org/officeDocument/2006/relationships/notesMaster" Target="/ppt/notesMasters/notesMaster1.xml" Id="R423133084d194f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29e27f06394a45" /><Relationship Type="http://schemas.openxmlformats.org/officeDocument/2006/relationships/notesMaster" Target="/ppt/notesMasters/notesMaster1.xml" Id="Rd60c0b77563849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d2bb13c9c1425a" /><Relationship Type="http://schemas.openxmlformats.org/officeDocument/2006/relationships/notesMaster" Target="/ppt/notesMasters/notesMaster1.xml" Id="Rc7a16ef5c73b4b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2361ae743a46c7" /><Relationship Type="http://schemas.openxmlformats.org/officeDocument/2006/relationships/notesMaster" Target="/ppt/notesMasters/notesMaster1.xml" Id="Re6f15057e83242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28c2019bbe40ee" /><Relationship Type="http://schemas.openxmlformats.org/officeDocument/2006/relationships/notesMaster" Target="/ppt/notesMasters/notesMaster1.xml" Id="R493f68727be24a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693989eb6041c9" /><Relationship Type="http://schemas.openxmlformats.org/officeDocument/2006/relationships/notesMaster" Target="/ppt/notesMasters/notesMaster1.xml" Id="R428f7079b7504e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6653bcb2574c74" /><Relationship Type="http://schemas.openxmlformats.org/officeDocument/2006/relationships/notesMaster" Target="/ppt/notesMasters/notesMaster1.xml" Id="Rdfe5625294b240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b020c6d56943ff" /><Relationship Type="http://schemas.openxmlformats.org/officeDocument/2006/relationships/notesMaster" Target="/ppt/notesMasters/notesMaster1.xml" Id="Rc3e0ae0a081f44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1199c906b147f9" /><Relationship Type="http://schemas.openxmlformats.org/officeDocument/2006/relationships/notesMaster" Target="/ppt/notesMasters/notesMaster1.xml" Id="R5ab94c935aa54c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40e5f3c92d49a8" /><Relationship Type="http://schemas.openxmlformats.org/officeDocument/2006/relationships/notesMaster" Target="/ppt/notesMasters/notesMaster1.xml" Id="R1cedf3fff90446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4c72c298684b72" /><Relationship Type="http://schemas.openxmlformats.org/officeDocument/2006/relationships/notesMaster" Target="/ppt/notesMasters/notesMaster1.xml" Id="R0f8e8ade25f14c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b0109656e44924" /><Relationship Type="http://schemas.openxmlformats.org/officeDocument/2006/relationships/notesMaster" Target="/ppt/notesMasters/notesMaster1.xml" Id="Ra9a47b539bb847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af375c3a79411f" /><Relationship Type="http://schemas.openxmlformats.org/officeDocument/2006/relationships/notesMaster" Target="/ppt/notesMasters/notesMaster1.xml" Id="R25ab9a0eebed4b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1c0d7720924bbd" /><Relationship Type="http://schemas.openxmlformats.org/officeDocument/2006/relationships/notesMaster" Target="/ppt/notesMasters/notesMaster1.xml" Id="R429325abca6446f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a2fff47a1f4d76" /><Relationship Type="http://schemas.openxmlformats.org/officeDocument/2006/relationships/notesMaster" Target="/ppt/notesMasters/notesMaster1.xml" Id="Rd9cebf78f2d449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a83ff3e34c4158" /><Relationship Type="http://schemas.openxmlformats.org/officeDocument/2006/relationships/notesMaster" Target="/ppt/notesMasters/notesMaster1.xml" Id="R4d2d0d9066d544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26ab0dbed24415" /><Relationship Type="http://schemas.openxmlformats.org/officeDocument/2006/relationships/notesMaster" Target="/ppt/notesMasters/notesMaster1.xml" Id="Rd608a70d5a064e4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eeee82c3844ef9" /><Relationship Type="http://schemas.openxmlformats.org/officeDocument/2006/relationships/notesMaster" Target="/ppt/notesMasters/notesMaster1.xml" Id="R22f886ae067f42e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bf2dbabdc864a1d" /><Relationship Type="http://schemas.openxmlformats.org/officeDocument/2006/relationships/notesMaster" Target="/ppt/notesMasters/notesMaster1.xml" Id="R4223b5d955124f4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905a9206b24d7e" /><Relationship Type="http://schemas.openxmlformats.org/officeDocument/2006/relationships/notesMaster" Target="/ppt/notesMasters/notesMaster1.xml" Id="R0b6b91710d4047a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61cb425fce04c8f" /><Relationship Type="http://schemas.openxmlformats.org/officeDocument/2006/relationships/notesMaster" Target="/ppt/notesMasters/notesMaster1.xml" Id="Ref7e5b708e9c43f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fa362a842634a38" /><Relationship Type="http://schemas.openxmlformats.org/officeDocument/2006/relationships/notesMaster" Target="/ppt/notesMasters/notesMaster1.xml" Id="Ra4aa49c62c5a462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0650d0a88c4a66" /><Relationship Type="http://schemas.openxmlformats.org/officeDocument/2006/relationships/notesMaster" Target="/ppt/notesMasters/notesMaster1.xml" Id="R8645600a338b4ec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d83f9e9304c4197" /><Relationship Type="http://schemas.openxmlformats.org/officeDocument/2006/relationships/notesMaster" Target="/ppt/notesMasters/notesMaster1.xml" Id="R96a260f039a34bd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84f9903ad244f15" /><Relationship Type="http://schemas.openxmlformats.org/officeDocument/2006/relationships/notesMaster" Target="/ppt/notesMasters/notesMaster1.xml" Id="Re216f760fe164db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c2e3cf1debc4264" /><Relationship Type="http://schemas.openxmlformats.org/officeDocument/2006/relationships/notesMaster" Target="/ppt/notesMasters/notesMaster1.xml" Id="Rf81e50b958694d4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b0b84c156304469" /><Relationship Type="http://schemas.openxmlformats.org/officeDocument/2006/relationships/notesMaster" Target="/ppt/notesMasters/notesMaster1.xml" Id="Rc7811fd25d0f4c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19.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29.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30.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31.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32.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33.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assets/lessons/lectures/astronomy/galaxy-interactions-and-dark-matter.pdf, page 34.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f2f87186146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e75d2a0e94f2f" /><Relationship Type="http://schemas.openxmlformats.org/officeDocument/2006/relationships/slideLayout" Target="/ppt/slideLayouts/slideLayout1.xml" Id="R88bc9fba277247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bc9fba277247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23734c3cc4093" /><Relationship Type="http://schemas.openxmlformats.org/officeDocument/2006/relationships/image" Target="/ppt/media/image.png" Id="Ra27bd911e7fa47bf" /><Relationship Type="http://schemas.openxmlformats.org/officeDocument/2006/relationships/notesSlide" Target="/ppt/notesSlides/notesSlide1.xml" Id="Ra2184dc62c0840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290ee7fc14883" /><Relationship Type="http://schemas.openxmlformats.org/officeDocument/2006/relationships/image" Target="/ppt/media/image2.png" Id="R57a4a53d054a4888" /><Relationship Type="http://schemas.openxmlformats.org/officeDocument/2006/relationships/notesSlide" Target="/ppt/notesSlides/notesSlide2.xml" Id="R20e926ee6e7141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e0ddb81be4810" /><Relationship Type="http://schemas.openxmlformats.org/officeDocument/2006/relationships/image" Target="/ppt/media/image3.png" Id="R765a2e91176943f9" /><Relationship Type="http://schemas.openxmlformats.org/officeDocument/2006/relationships/notesSlide" Target="/ppt/notesSlides/notesSlide3.xml" Id="R1942fb9222f8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c2eb4db914dca" /><Relationship Type="http://schemas.openxmlformats.org/officeDocument/2006/relationships/image" Target="/ppt/media/image4.png" Id="R7f627fd78c1c4a0c" /><Relationship Type="http://schemas.openxmlformats.org/officeDocument/2006/relationships/notesSlide" Target="/ppt/notesSlides/notesSlide4.xml" Id="R9b430ba7c9a644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080d6cde847d8" /><Relationship Type="http://schemas.openxmlformats.org/officeDocument/2006/relationships/image" Target="/ppt/media/image5.png" Id="Rf7ac48c302b04865" /><Relationship Type="http://schemas.openxmlformats.org/officeDocument/2006/relationships/notesSlide" Target="/ppt/notesSlides/notesSlide5.xml" Id="Rf1fdd8dc0ac445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56f3154d4432a" /><Relationship Type="http://schemas.openxmlformats.org/officeDocument/2006/relationships/image" Target="/ppt/media/image6.png" Id="Rf417b25e495647bc" /><Relationship Type="http://schemas.openxmlformats.org/officeDocument/2006/relationships/notesSlide" Target="/ppt/notesSlides/notesSlide6.xml" Id="Rddae604b3d5747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1bc88b6f84721" /><Relationship Type="http://schemas.openxmlformats.org/officeDocument/2006/relationships/image" Target="/ppt/media/image7.png" Id="R47266ef38a3b4ec9" /><Relationship Type="http://schemas.openxmlformats.org/officeDocument/2006/relationships/notesSlide" Target="/ppt/notesSlides/notesSlide7.xml" Id="Ra3c6e4e3792148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7611688794cf2" /><Relationship Type="http://schemas.openxmlformats.org/officeDocument/2006/relationships/image" Target="/ppt/media/image8.png" Id="R51abd10a854d463a" /><Relationship Type="http://schemas.openxmlformats.org/officeDocument/2006/relationships/notesSlide" Target="/ppt/notesSlides/notesSlide8.xml" Id="Rc261bfdf414b46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41df3790443a7" /><Relationship Type="http://schemas.openxmlformats.org/officeDocument/2006/relationships/image" Target="/ppt/media/image9.png" Id="R85a2b17767394308" /><Relationship Type="http://schemas.openxmlformats.org/officeDocument/2006/relationships/notesSlide" Target="/ppt/notesSlides/notesSlide9.xml" Id="R37129500d8b545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52290c14a425d" /><Relationship Type="http://schemas.openxmlformats.org/officeDocument/2006/relationships/image" Target="/ppt/media/image10.png" Id="Rb0ca5521a6984545" /><Relationship Type="http://schemas.openxmlformats.org/officeDocument/2006/relationships/notesSlide" Target="/ppt/notesSlides/notesSlide10.xml" Id="Rc17752a1208a4e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5c664a4724007" /><Relationship Type="http://schemas.openxmlformats.org/officeDocument/2006/relationships/image" Target="/ppt/media/image11.png" Id="R9c4e1d1b2ad744a8" /><Relationship Type="http://schemas.openxmlformats.org/officeDocument/2006/relationships/notesSlide" Target="/ppt/notesSlides/notesSlide11.xml" Id="R7153e36e8eb34d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31f42f967449d" /><Relationship Type="http://schemas.openxmlformats.org/officeDocument/2006/relationships/image" Target="/ppt/media/image12.png" Id="Rbc979203741d4a1f" /><Relationship Type="http://schemas.openxmlformats.org/officeDocument/2006/relationships/notesSlide" Target="/ppt/notesSlides/notesSlide12.xml" Id="Rdc443ac7136844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aaafeabfb4be1" /><Relationship Type="http://schemas.openxmlformats.org/officeDocument/2006/relationships/image" Target="/ppt/media/image13.png" Id="R0483c7f24f6e45f8" /><Relationship Type="http://schemas.openxmlformats.org/officeDocument/2006/relationships/notesSlide" Target="/ppt/notesSlides/notesSlide13.xml" Id="R25ca6ed7b93349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4486496364249" /><Relationship Type="http://schemas.openxmlformats.org/officeDocument/2006/relationships/image" Target="/ppt/media/image14.png" Id="R0a8e969160f44546" /><Relationship Type="http://schemas.openxmlformats.org/officeDocument/2006/relationships/notesSlide" Target="/ppt/notesSlides/notesSlide14.xml" Id="R2fdc609564cc4d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7af53ff1b4ffa" /><Relationship Type="http://schemas.openxmlformats.org/officeDocument/2006/relationships/image" Target="/ppt/media/image15.png" Id="R0c47a60479624ccc" /><Relationship Type="http://schemas.openxmlformats.org/officeDocument/2006/relationships/notesSlide" Target="/ppt/notesSlides/notesSlide15.xml" Id="R607634f5c2f746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d689c36f4a71" /><Relationship Type="http://schemas.openxmlformats.org/officeDocument/2006/relationships/image" Target="/ppt/media/image16.png" Id="R80c2b10d4a934478" /><Relationship Type="http://schemas.openxmlformats.org/officeDocument/2006/relationships/notesSlide" Target="/ppt/notesSlides/notesSlide16.xml" Id="R1856827a09ff4d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bab66569d483b" /><Relationship Type="http://schemas.openxmlformats.org/officeDocument/2006/relationships/image" Target="/ppt/media/image17.png" Id="R08478f88886148d3" /><Relationship Type="http://schemas.openxmlformats.org/officeDocument/2006/relationships/notesSlide" Target="/ppt/notesSlides/notesSlide17.xml" Id="R3a362d112a5e4e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09ed029d744a6" /><Relationship Type="http://schemas.openxmlformats.org/officeDocument/2006/relationships/image" Target="/ppt/media/image18.png" Id="Rea8c3b349bb24beb" /><Relationship Type="http://schemas.openxmlformats.org/officeDocument/2006/relationships/notesSlide" Target="/ppt/notesSlides/notesSlide18.xml" Id="R84f79a6145a64e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1436f272c4057" /><Relationship Type="http://schemas.openxmlformats.org/officeDocument/2006/relationships/image" Target="/ppt/media/image19.png" Id="R86c377bfaf8c4085" /><Relationship Type="http://schemas.openxmlformats.org/officeDocument/2006/relationships/notesSlide" Target="/ppt/notesSlides/notesSlide19.xml" Id="Rd62fe44c99564a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ecc499e7841f5" /><Relationship Type="http://schemas.openxmlformats.org/officeDocument/2006/relationships/image" Target="/ppt/media/image20.png" Id="R9003169cded547e7" /><Relationship Type="http://schemas.openxmlformats.org/officeDocument/2006/relationships/notesSlide" Target="/ppt/notesSlides/notesSlide20.xml" Id="Rf50a6a0cafe447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09c9a13c946a5" /><Relationship Type="http://schemas.openxmlformats.org/officeDocument/2006/relationships/image" Target="/ppt/media/image21.png" Id="Rf31deb62b608421b" /><Relationship Type="http://schemas.openxmlformats.org/officeDocument/2006/relationships/notesSlide" Target="/ppt/notesSlides/notesSlide21.xml" Id="Rdaf65722ecc845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daeebdc14483b" /><Relationship Type="http://schemas.openxmlformats.org/officeDocument/2006/relationships/image" Target="/ppt/media/image22.png" Id="R7a925183015749e6" /><Relationship Type="http://schemas.openxmlformats.org/officeDocument/2006/relationships/notesSlide" Target="/ppt/notesSlides/notesSlide22.xml" Id="R95773196d4c645e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049ca72414c66" /><Relationship Type="http://schemas.openxmlformats.org/officeDocument/2006/relationships/image" Target="/ppt/media/image23.png" Id="Re952baf45d724cea" /><Relationship Type="http://schemas.openxmlformats.org/officeDocument/2006/relationships/notesSlide" Target="/ppt/notesSlides/notesSlide23.xml" Id="R17c0c22e6541495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7f3badf934ac3" /><Relationship Type="http://schemas.openxmlformats.org/officeDocument/2006/relationships/image" Target="/ppt/media/image24.png" Id="R540d5b47d7cc46fb" /><Relationship Type="http://schemas.openxmlformats.org/officeDocument/2006/relationships/notesSlide" Target="/ppt/notesSlides/notesSlide24.xml" Id="R6080a2bae6c848a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60cf194ed4862" /><Relationship Type="http://schemas.openxmlformats.org/officeDocument/2006/relationships/image" Target="/ppt/media/image25.png" Id="Rfd9eaafe2dd14d87" /><Relationship Type="http://schemas.openxmlformats.org/officeDocument/2006/relationships/notesSlide" Target="/ppt/notesSlides/notesSlide25.xml" Id="R4d49b6b58d1741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9b83f0353449a" /><Relationship Type="http://schemas.openxmlformats.org/officeDocument/2006/relationships/image" Target="/ppt/media/image26.png" Id="R299c67e2e2904c23" /><Relationship Type="http://schemas.openxmlformats.org/officeDocument/2006/relationships/notesSlide" Target="/ppt/notesSlides/notesSlide26.xml" Id="Rd47940571c1d46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afe6e7f0b49ce" /><Relationship Type="http://schemas.openxmlformats.org/officeDocument/2006/relationships/image" Target="/ppt/media/image27.png" Id="R664d44677776490e" /><Relationship Type="http://schemas.openxmlformats.org/officeDocument/2006/relationships/notesSlide" Target="/ppt/notesSlides/notesSlide27.xml" Id="R5829a0aa53aa467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7d72d3f734efa" /><Relationship Type="http://schemas.openxmlformats.org/officeDocument/2006/relationships/image" Target="/ppt/media/image28.png" Id="R820df8c9fe4d4dff" /><Relationship Type="http://schemas.openxmlformats.org/officeDocument/2006/relationships/notesSlide" Target="/ppt/notesSlides/notesSlide28.xml" Id="Rb282cc8833a04d6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14dd0cec84a41" /><Relationship Type="http://schemas.openxmlformats.org/officeDocument/2006/relationships/image" Target="/ppt/media/image29.png" Id="R27e2b4fa84b24801" /><Relationship Type="http://schemas.openxmlformats.org/officeDocument/2006/relationships/notesSlide" Target="/ppt/notesSlides/notesSlide29.xml" Id="R1d1076022b514ae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3d5afb83e43f3" /><Relationship Type="http://schemas.openxmlformats.org/officeDocument/2006/relationships/image" Target="/ppt/media/image30.png" Id="R13cb7a0b97874e05" /><Relationship Type="http://schemas.openxmlformats.org/officeDocument/2006/relationships/notesSlide" Target="/ppt/notesSlides/notesSlide30.xml" Id="Rf0679c3a700444a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929d805944ea4" /><Relationship Type="http://schemas.openxmlformats.org/officeDocument/2006/relationships/image" Target="/ppt/media/image31.png" Id="R7c4f7c2d10ed463d" /><Relationship Type="http://schemas.openxmlformats.org/officeDocument/2006/relationships/notesSlide" Target="/ppt/notesSlides/notesSlide31.xml" Id="R0ac1a661f7cd4c4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3cb14c11341e8" /><Relationship Type="http://schemas.openxmlformats.org/officeDocument/2006/relationships/image" Target="/ppt/media/image32.png" Id="R2c0a6bd6433b415e" /><Relationship Type="http://schemas.openxmlformats.org/officeDocument/2006/relationships/notesSlide" Target="/ppt/notesSlides/notesSlide32.xml" Id="R3299517034304e8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e0516ebb44b49" /><Relationship Type="http://schemas.openxmlformats.org/officeDocument/2006/relationships/image" Target="/ppt/media/image33.png" Id="R9e8662821e2d4bc2" /><Relationship Type="http://schemas.openxmlformats.org/officeDocument/2006/relationships/notesSlide" Target="/ppt/notesSlides/notesSlide33.xml" Id="Rfe2d9147c8ac4e6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ac1e3ee4649e5" /><Relationship Type="http://schemas.openxmlformats.org/officeDocument/2006/relationships/image" Target="/ppt/media/image34.png" Id="Ref96b0da3a6c4310" /><Relationship Type="http://schemas.openxmlformats.org/officeDocument/2006/relationships/notesSlide" Target="/ppt/notesSlides/notesSlide34.xml" Id="R649753194d674d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bd911e7fa47bf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11D9F-DDE2-4CE4-8B0E-7EAB7B00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09" y="2709659"/>
            <a:ext cx="5136732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Galaxy Interactions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EC50B-D993-44E9-80BA-C9E4FE59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864" y="3429353"/>
            <a:ext cx="3147356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Dark Matter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C67F6-B111-49CF-ABC7-52A633BB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30" y="4770100"/>
            <a:ext cx="224978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D.J. Pisano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A20B3-12E7-4A2C-8608-5512466E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357" y="5366974"/>
            <a:ext cx="1970299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July 14, 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2D167-952B-4E24-85BB-618D2F43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A7F81-3A21-4AE8-AA2D-F73A4A06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 of 34</a:t>
            </a:r>
          </a:p>
        </p:txBody>
      </p:sp>
      <p:sp>
        <p:nvSpPr>
          <p:cNvPr id="1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281500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4a53d054a4888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EC53B-E90A-4A9E-9862-1E19DCB0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766" y="855038"/>
            <a:ext cx="5498554" cy="954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Groups and Clusters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B811E-4126-4A73-BE80-AFB0BDB7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4767936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E2865-37B6-4C88-93EF-206A9719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4768008"/>
            <a:ext cx="8245031" cy="4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Galaxies are very social and typically reside in small groups or large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9A6A8-8BA0-4FCA-8F18-6850BFE3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5093899"/>
            <a:ext cx="1044832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clusters.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87A99-41E0-4F54-839C-E71F3C1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5483388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DAC80-6F40-4AE1-937E-1F86738F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5483532"/>
            <a:ext cx="7310092" cy="433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Galaxies may be separated by only a couple times their size.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99288-07C9-4D6A-B6C1-242DD0B7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5872851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536B3-4EEE-4DDD-9EA1-1B9B2E9A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5872851"/>
            <a:ext cx="400054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 clusters have masses ≥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D3260-1512-481E-8477-BC535C5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027" y="5877733"/>
            <a:ext cx="239046" cy="29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9699B-4A64-4E98-8B4D-47CBF765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871" y="5872851"/>
            <a:ext cx="263787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42A3F-6BFE-46E9-A072-055CBFB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280" y="5872851"/>
            <a:ext cx="3388478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large enough to bend light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C78CD-E8D4-4B1B-95E1-C4D65B3A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0" y="6194567"/>
            <a:ext cx="128321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B9B58-7103-405B-B9A0-1B6BD02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40" y="6194567"/>
            <a:ext cx="2664991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gravitational lensing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30D77-6D1E-46EA-A306-DFF25C02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208" y="6194615"/>
            <a:ext cx="5325344" cy="433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).  Groups and clusters span about 1 million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D3B0C-58E8-4F4E-B040-878E31F6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6520536"/>
            <a:ext cx="2048925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parsecs (1 Mpc).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DF591-C257-4831-AB35-C4876461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6909994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35AFC-C8FF-4A95-BC3E-0C12033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6910622"/>
            <a:ext cx="7514152" cy="432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Milky Way resides in the Local Group, a collection of ~ 50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D7D8C-3558-45AD-AFF6-62720F20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7235968"/>
            <a:ext cx="1107309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3DBC0-F4E7-4410-A64C-BC51A8DC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DAC69E-9DE8-4E91-90DD-742100DD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 of 34</a:t>
            </a:r>
          </a:p>
        </p:txBody>
      </p:sp>
      <p:sp>
        <p:nvSpPr>
          <p:cNvPr id="24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5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6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7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918955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a2e91176943f9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339DB-BDD7-4BFE-A655-1ABAF92F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681" y="1153629"/>
            <a:ext cx="4821378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Interacting Galaxies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5544E-3A19-4D81-9D98-3260336F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7490466"/>
            <a:ext cx="1067302" cy="39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3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3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GalCrash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ECC38-654A-423C-9C25-4A1A317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076F5-62B0-4456-9199-34A1E87F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576752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27fd78c1c4a0c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AAF31-C6AF-4968-99BC-9D9189EA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064" y="828522"/>
            <a:ext cx="7528926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Minor Mergers:  Making bigger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FBF6B-965E-46A5-87B9-00B7481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728" y="1480479"/>
            <a:ext cx="3465626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spiral galaxies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B5774-5415-4ADF-9314-8825F5C1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70A0D-FA8F-4128-AEDE-7D0926BF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4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61169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c48c302b0486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52644-6EDC-4563-83C2-CD6750A8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515" y="1009041"/>
            <a:ext cx="6502731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Another simulation of a minor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E09C6-05FE-4C3C-8B1A-9CA54ADE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736" y="1593241"/>
            <a:ext cx="1714653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merger: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666EE-7BE3-43F8-8814-275B4BC4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1784E-7A43-4990-8DDB-E0D58CF3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5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3237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7b25e495647bc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6AD42-72E7-44CA-B1C8-E790765F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871" y="923569"/>
            <a:ext cx="3581313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Major Mergers: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6820A-0626-437A-85F2-3CAE1798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261" y="1511962"/>
            <a:ext cx="5772002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Forming Elliptical Galaxies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1F1B5-A926-475B-B878-3711DD00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D047F-BCCB-46A4-BC65-2CF0E3FF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6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785114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66ef38a3b4ec9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E0E63-FA1A-4303-AD5D-EAD1FA47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77" y="1364475"/>
            <a:ext cx="383249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N-body simulations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41FA4-6F55-4CFF-A96A-061E9023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77" y="1885175"/>
            <a:ext cx="373478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provide past/future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72000-50CD-48ED-9118-9B5BF44C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77" y="2405901"/>
            <a:ext cx="354398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evolution and 3-D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145DC-7B15-4191-B055-7B2E16D7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77" y="2922344"/>
            <a:ext cx="183797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ACD1E-6832-4232-BBB7-A09D69BC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182" y="704284"/>
            <a:ext cx="4705449" cy="390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2" b="0" i="0">
                <a:solidFill>
                  <a:srgbClr val="007F7F"/>
                </a:solidFill>
                <a:latin typeface="Arial"/>
                <a:ea typeface="Arial"/>
                <a:cs typeface="Arial"/>
              </a:defRPr>
            </a:pPr>
            <a:r>
              <a:rPr sz="1922" b="0" i="0">
                <a:solidFill>
                  <a:srgbClr val="007F7F"/>
                </a:solidFill>
                <a:latin typeface="Arial"/>
                <a:ea typeface="Arial"/>
                <a:cs typeface="Arial"/>
              </a:rPr>
              <a:t>N-body simulation of NGC 4676 “The Mice”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F623A-BEDF-491E-9219-B3C71916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635" y="993673"/>
            <a:ext cx="2786357" cy="303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93" b="0" i="0">
                <a:solidFill>
                  <a:srgbClr val="007F7F"/>
                </a:solidFill>
                <a:latin typeface="Arial"/>
                <a:ea typeface="Arial"/>
                <a:cs typeface="Arial"/>
              </a:defRPr>
            </a:pPr>
            <a:r>
              <a:rPr sz="1493" b="0" i="0">
                <a:solidFill>
                  <a:srgbClr val="007F7F"/>
                </a:solidFill>
                <a:latin typeface="Arial"/>
                <a:ea typeface="Arial"/>
                <a:cs typeface="Arial"/>
              </a:rPr>
              <a:t>Hibbard &amp; Barnes, in preparation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305B4-B77D-4152-841B-7DFA7FBB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89F94-269F-4A1B-BFC4-19B9173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7 of 34</a:t>
            </a:r>
          </a:p>
        </p:txBody>
      </p:sp>
      <p:sp>
        <p:nvSpPr>
          <p:cNvPr id="12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3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4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5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60903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bd10a854d463a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302D4-951D-4744-9C37-DE0FD7CB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24" y="905116"/>
            <a:ext cx="721761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Galaxy Formation occurs via mergers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CEA54-0111-4421-9272-5E328CFC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531" y="1430009"/>
            <a:ext cx="250911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(dark matter)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AA6E8-9B3A-4898-9E66-86E6CC01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80FE1-D3E5-4185-B784-9C946287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8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300245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2b17767394308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DE766-8A9A-43E3-B58E-C5E300F4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24" y="905116"/>
            <a:ext cx="721761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Galaxy Formation occurs via mergers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2B78A-C6BF-4932-8816-1DEA9B2F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236" y="1430009"/>
            <a:ext cx="41652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(dark matter and gas)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54723-BA92-4ABF-B0DF-032CE2D8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37F71-79D4-4447-9D1D-54EFA932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9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4232030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a5521a698454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BF2FF-48AB-4ABF-9B04-BD578D79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24" y="681545"/>
            <a:ext cx="721761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Galaxy Formation occurs via mergers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F6582-FB7C-4973-A807-52653115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863" y="1206443"/>
            <a:ext cx="241420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(one galaxy)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DA5C2-2BBE-4873-9138-5CF28E94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D2A0D-D627-43D4-BFD1-15FFD769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10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901577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e1d1b2ad744a8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6FB95-855F-44B9-AA9B-6E2ADB3B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756" y="923569"/>
            <a:ext cx="6367363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do interactions occur?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D1E86-4F8F-4E02-857E-F5628A7C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608" y="1511962"/>
            <a:ext cx="4203391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Groups of Galaxies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1E8D8-FB5E-4748-BFD5-7C4B7B5B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3F0DF-9C87-412B-925B-2FFA6F21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11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332727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79203741d4a1f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ED58C-B4A8-4A86-8B68-2FE52136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532" y="860692"/>
            <a:ext cx="4879892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Clusters of Galaxies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94DF1-C0C0-47C8-88D0-BEEFC18E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469" y="6637135"/>
            <a:ext cx="2324254" cy="391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the arcs of light?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748DA-2484-4663-AFD9-36A6DA03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963" y="6930204"/>
            <a:ext cx="6717418" cy="389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1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1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Those are gravitational lensed images of background galaxies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84C53-E81B-4751-8F59-71DAE4B2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663" y="7222580"/>
            <a:ext cx="5518286" cy="389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1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1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Their shape is due to the dark matter in the cluster.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DBDB2-22EC-4964-B08A-6EB9D56E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38F49-37A1-45EF-AE13-308BBCF7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12 of 34</a:t>
            </a:r>
          </a:p>
        </p:txBody>
      </p:sp>
      <p:sp>
        <p:nvSpPr>
          <p:cNvPr id="1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6878893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3c7f24f6e45f8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2E35-513A-4E8D-8C18-02C5A38B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526" y="1057809"/>
            <a:ext cx="6637603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Galaxy Interactions in Clusters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8723A-1C86-4D2D-85D1-55E8B8B3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2968D-94D4-4C5D-A3BE-441B3C52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13 of 34</a:t>
            </a:r>
          </a:p>
        </p:txBody>
      </p:sp>
      <p:sp>
        <p:nvSpPr>
          <p:cNvPr id="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2090172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e969160f44546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61FA7-BAEF-4A3F-A71F-03F83411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520" y="823836"/>
            <a:ext cx="250860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Future: 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0646F-0241-460F-9B46-C6EB7310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704" y="1348728"/>
            <a:ext cx="613451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Forming Even Larger Galaxies?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DE57A-9FCF-4C93-8F86-E5CED478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3660D-043D-49AF-B25B-9E6D072B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14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3110115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7a60479624ccc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86CD6-7DE2-4DA9-9536-A698EF08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211" y="1123328"/>
            <a:ext cx="4937162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Starburst Galaxies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FE531-9387-47C6-B5E0-4EC8C68F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331702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1FC9A-745A-4F72-ABA9-CC130AD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331702"/>
            <a:ext cx="745942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Galaxy interactions can compress gas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0544C-98C3-4129-B1EC-170147B1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852402"/>
            <a:ext cx="827660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clouds in a galaxy triggering star formation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E23C1-1166-4D9A-82E2-ACAAFFCD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3373128"/>
            <a:ext cx="723836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(particularly in the center of a galaxy).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76126-C117-4F76-83B1-89FB04E1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3995388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B08A4-66CC-4455-91D1-9A784B91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3995388"/>
            <a:ext cx="834524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can also fuel a black hole in the center of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F9770-AC3B-4FFA-B065-CF1430C1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4520564"/>
            <a:ext cx="1735158" cy="683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galaxy.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0F78B-CB73-400F-9D60-631EE3EF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5138457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2C7BD-E247-4435-B903-3B8473E1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5138457"/>
            <a:ext cx="74311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Major mergers may also form elliptical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29A12-9191-45CA-ADEF-3EBD9197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5654871"/>
            <a:ext cx="174336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D86CB-0E82-4256-A23D-0ADBBB44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28132-997E-44D3-A785-F5E1B924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15 of 34</a:t>
            </a:r>
          </a:p>
        </p:txBody>
      </p:sp>
      <p:sp>
        <p:nvSpPr>
          <p:cNvPr id="1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5277918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2b10d4a934478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10198-11FA-4C7D-92EF-EF314D18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218" y="858139"/>
            <a:ext cx="4142081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Active Galaxies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D4380-60FC-4235-83DC-F296CF79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60" y="1842013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1AB5E-22BD-4850-BF65-120EB714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85" y="1844144"/>
            <a:ext cx="7183008" cy="606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Often referred to as Active Galactic Nuclei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333BD-7B56-4CEB-B104-88298E70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85" y="2294981"/>
            <a:ext cx="111145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(AGN)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65192-546E-42D9-AD06-C7185728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60" y="2841097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D4D58-122C-4DF0-B0A5-ECCD2D9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85" y="2841948"/>
            <a:ext cx="8011309" cy="608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Otherwise normal galaxies with an active black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1E081-B407-4D87-B07D-886B0A49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85" y="3295209"/>
            <a:ext cx="7920997" cy="60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hole in their center that is producing jets (often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1E942-14EC-4531-8A38-0952C143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85" y="3751180"/>
            <a:ext cx="324686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seen in radio light).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9FA1D-901E-4623-BE7B-2153DFCF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60" y="4297319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7FD5D-F35A-4CAF-827D-926DE4B5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85" y="4297444"/>
            <a:ext cx="3497311" cy="609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May be triggered by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41F0E-8912-4000-83F3-C77C4FE8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85" y="4839227"/>
            <a:ext cx="197999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5BBA6-5689-4D09-9E58-3906167C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60" y="5385257"/>
            <a:ext cx="17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DC22F-0206-444E-AD95-D3969815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85" y="5386526"/>
            <a:ext cx="3212249" cy="607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Jets can affect the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DC5DF-3710-4144-B7A2-79A3C94D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85" y="5931427"/>
            <a:ext cx="364959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surrounding galaxies.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C4922-A086-4655-94A2-53FAC1BB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60986-7188-4948-9FB8-3984F53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16 of 34</a:t>
            </a:r>
          </a:p>
        </p:txBody>
      </p:sp>
      <p:sp>
        <p:nvSpPr>
          <p:cNvPr id="2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0059439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78f88886148d3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E541F-D76F-41BD-AFAC-6E6F63F8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08" y="828522"/>
            <a:ext cx="5089732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Supermassive Black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AEB3A-5DAC-4560-B378-7F7565F3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1" y="1480479"/>
            <a:ext cx="1421704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22AC6-0B32-4159-BA02-F6FAD915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5" y="2258571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BC8BA-DAF6-4F5C-8D6F-ECC45D6C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95" y="2258571"/>
            <a:ext cx="3282734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Astronomers use widely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A63A9-A1DB-47F2-B0C7-0800AD4A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2546395"/>
            <a:ext cx="4027649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separated radio telescopes to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60238-8DC1-40A9-A394-28741FDA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2830071"/>
            <a:ext cx="3931036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trace the motion of objects in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29DA7-17A7-44E4-8353-79D0B7BB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3117965"/>
            <a:ext cx="3716481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center of other galaxies.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71E9E-F67D-48D4-AE83-13B47FDB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5" y="3473580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56B52-FE97-4EAE-803F-2BD111DD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9" y="3473580"/>
            <a:ext cx="3526726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can measure both the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99F46-416E-4F4B-B2DE-67E74777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3761428"/>
            <a:ext cx="3415712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apparent motion of these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679B4-5C31-43B1-9DBE-9C50C66C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4045039"/>
            <a:ext cx="361129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objects and their velocities.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A7EDA-AA1B-4B65-9B1E-2D568DCE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5" y="4400614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9DD3C-FE20-4EEF-B431-DB3757F9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9" y="4400614"/>
            <a:ext cx="3797085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Combined, these data allow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F433F-DEB8-43CF-AC6A-DD45DBDF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4688461"/>
            <a:ext cx="3630555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 to measure the mass of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D239C-9FE9-4235-A3DC-537E2F84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4972138"/>
            <a:ext cx="1875812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black hole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CB90C-790F-406B-B75C-EEA94357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5" y="5331969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0D686-48E6-4F37-9856-C858B1F2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9" y="5331969"/>
            <a:ext cx="3939674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also see radio jet coming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9E585-D9FA-4EF5-B686-62075B17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5615601"/>
            <a:ext cx="3401632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near the black hole.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DAB2D-52D2-4A31-8A5B-503201E8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5" y="5975438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07781-49EF-440F-A4C4-065EEFFA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5975438"/>
            <a:ext cx="3879653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Supermassive Black holes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EE041-7328-4045-9E3E-99315FC5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6259069"/>
            <a:ext cx="3499884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found in all galaxies 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95DD0-BF42-46BD-AF47-9994EDEA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6542701"/>
            <a:ext cx="3682711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spheroids (ellipticals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1DB28-6AC8-4316-A97E-AD7A6D2C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6830530"/>
            <a:ext cx="3200541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early-type spirals)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16DB9-E15C-4AF9-9964-3130A6CF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4E1E0-DCFF-489E-8E1F-1B0E5CE4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17 of 34</a:t>
            </a:r>
          </a:p>
        </p:txBody>
      </p:sp>
      <p:sp>
        <p:nvSpPr>
          <p:cNvPr id="2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3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3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3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901657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c3b349bb24beb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44394-D18B-4EAC-A3CE-DF08A651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679" y="952744"/>
            <a:ext cx="6292527" cy="954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type of galaxy is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DEF99-817C-45B3-A166-BFB4943B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137" y="952474"/>
            <a:ext cx="1626215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BC233-179E-45BC-8284-5B99CB4D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31" y="1664176"/>
            <a:ext cx="8611154" cy="954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likely to contain a supermassive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2CE8B-1481-4F24-B466-C9E96465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602" y="2379175"/>
            <a:ext cx="3050649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black hole?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6FB2A-8E25-406D-9993-79CCF8D9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01" y="3713462"/>
            <a:ext cx="44739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DC307-1CA7-4F28-BD78-31F66DC3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0" y="3713462"/>
            <a:ext cx="287279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Dwarf irregular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1E288-B1EE-4914-A031-94EDF22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2" y="4339979"/>
            <a:ext cx="44718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09AF9-A43C-43BA-BBD1-80F32E29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00" y="4339979"/>
            <a:ext cx="162479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Elliptical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74FF9-7A2D-4590-96E4-F8FABD0C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2" y="4962348"/>
            <a:ext cx="219346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Irregular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2241D-98B8-479C-B5A8-F492852E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2" y="5584853"/>
            <a:ext cx="7052474" cy="690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A spiral galaxy with a small bulge.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548B3-5742-4D2F-A93F-30253BDA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02CDE-FE3F-4BFD-82C3-D99867BB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18 of 34</a:t>
            </a:r>
          </a:p>
        </p:txBody>
      </p:sp>
      <p:sp>
        <p:nvSpPr>
          <p:cNvPr id="1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8582129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377bfaf8c408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C1751-FB6C-4AE9-9017-7D8080B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77" y="925881"/>
            <a:ext cx="8521325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 we measure the mass of a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8232E-7987-4C20-88B9-72C92E47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502" y="1577842"/>
            <a:ext cx="1903099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76BC4-D096-40A9-819E-EF0DEF5D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624651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94914-0750-4DCE-83E1-523FCB10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2624651"/>
            <a:ext cx="803443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need to know the mass of a galaxy in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CDA78-34CC-47CB-9BEA-462F68E3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3145351"/>
            <a:ext cx="767146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 to determine its nature and how it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46D21-808F-4536-BE4D-B2C440A0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3666076"/>
            <a:ext cx="150207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713A8-9AD0-4E80-AA3A-F8D3509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4288332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8EA56-F66B-4951-8C5B-18A4E6AF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4288332"/>
            <a:ext cx="817566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physics are involved in forming a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B4E7D-2FBE-448D-910B-9B14E21C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4809076"/>
            <a:ext cx="825285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 star as opposed to a cluster of stars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64227-6B16-46E9-BB22-62DEEE9D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5326685"/>
            <a:ext cx="6848142" cy="689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in contrast to an entire galaxy. 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580E8-27AA-441A-A824-E98CD5DA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5947839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C5C81-56EB-4D69-A00B-2A0600A0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5947839"/>
            <a:ext cx="555658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 are a couple methods.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B31DE-FA79-4C1C-9407-BF21DB1A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4670E-EB00-4934-BDB4-E3A37381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19 of 34</a:t>
            </a:r>
          </a:p>
        </p:txBody>
      </p:sp>
      <p:sp>
        <p:nvSpPr>
          <p:cNvPr id="1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69296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3169cded547e7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DA684-87CA-4777-B403-3AEBABB8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77" y="925881"/>
            <a:ext cx="8521325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 we measure the mass of a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39316-E98F-4A3D-8704-9D7BB8FB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502" y="1577842"/>
            <a:ext cx="1903099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9AB13-63D6-4327-83D8-F77BFDC1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2331858"/>
            <a:ext cx="8358097" cy="521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6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566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Method 1:Count all the stars and gas in a galaxy and add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B699E-84AB-4AD8-A2FD-22D1E249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721214"/>
            <a:ext cx="2836890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up all their masses.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15441-9B93-4EEA-B230-87232BD1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3187688"/>
            <a:ext cx="7812867" cy="520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Pros:  It is a relatively straight-forward measurement. 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52E5F-2ED2-4DB7-9ED6-EBB23F55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3577241"/>
            <a:ext cx="7396252" cy="52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Getting the total gas mass is fairly easy and robust.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73925-AB67-4608-9EF6-3099923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4042824"/>
            <a:ext cx="8139594" cy="520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Cons:  It is pretty hard to actually count all the individual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4708F-1A50-487D-877F-0DE487D8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4432238"/>
            <a:ext cx="8140107" cy="52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stars in a galaxy so you have to assume you know what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51601-BA92-4A61-AE9C-38348393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4823079"/>
            <a:ext cx="4505663" cy="517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types of stars are in the galaxy.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3D2C3-C180-4F96-A695-F2ACB3A3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727" y="7485970"/>
            <a:ext cx="671760" cy="24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Distance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A1CC4-4E12-4BA5-8D59-3CCF0A18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EED4B-27AE-4A50-9717-760E7E68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20 of 34</a:t>
            </a:r>
          </a:p>
        </p:txBody>
      </p:sp>
      <p:sp>
        <p:nvSpPr>
          <p:cNvPr id="16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7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8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9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844137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deb62b608421b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9B10D-F774-49E7-9BEB-5C750F7E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77" y="925881"/>
            <a:ext cx="8521325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 we measure the mass of a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B2974-4785-4983-9CEE-61AFA74B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502" y="1577842"/>
            <a:ext cx="1903099" cy="86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AAA0B-042A-416D-97CA-9189D293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2462086"/>
            <a:ext cx="837680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Method 2:Use the motions of objects in the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726A7-2DF6-4437-B952-BF389CFA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982786"/>
            <a:ext cx="580011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galaxy to determine the mass.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963B2-37F6-4A57-B464-6EAE83B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3605136"/>
            <a:ext cx="826994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Pros:  Simple measurement that gives you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5233-B006-4791-A76C-3F6C121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4125782"/>
            <a:ext cx="59067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304E1-9E3D-44BE-A1BE-983118ED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500" y="4127572"/>
            <a:ext cx="4087952" cy="687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3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mass of a galaxy.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BC88E-47A1-4CC1-8A3B-24CB2F5E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4748136"/>
            <a:ext cx="851990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Cons:  Need to have an object emitting light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5AA87-D82E-4A26-8F99-33062433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5268811"/>
            <a:ext cx="798759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order to measure mass at that position.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0463F-1D70-4EA6-B955-E02FF377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B7BDA-1F11-42A7-825E-E07FE0F7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21 of 34</a:t>
            </a:r>
          </a:p>
        </p:txBody>
      </p:sp>
      <p:sp>
        <p:nvSpPr>
          <p:cNvPr id="15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6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7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8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8028364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25183015749e6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9D832-1C6A-45F8-84E4-F712980D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982" y="1123396"/>
            <a:ext cx="6825118" cy="954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of the Solar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E33E1-AE17-4FE6-B9FF-DFD5164D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2" y="2331702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0031A-A081-41FB-A858-3C74A57F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7" y="2331702"/>
            <a:ext cx="733441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the mass of the solar system?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C0E20-B864-48A6-B2FC-828F8804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68" y="2940806"/>
            <a:ext cx="3547603" cy="60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about 1 solar mass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F4775-FAA3-4FFD-AAF6-B88BCC18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2" y="3500087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4CD17-9320-450B-84BE-825ECEF3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7" y="3500087"/>
            <a:ext cx="750099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 is most of the mass in the solar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30178-BB6D-4BF8-8B16-18070FC7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7" y="4020802"/>
            <a:ext cx="164767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1D707-65AD-4A3F-868E-027F62F2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68" y="4629832"/>
            <a:ext cx="2430304" cy="60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in the center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6047A-C3E3-443F-8F9C-189F1DF3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2" y="5189192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381B6-BFE7-41F0-A916-78A09694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6" y="5189192"/>
            <a:ext cx="743449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can use the velocity of the planets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FEDF9-B777-4874-AEFE-88328FF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7" y="5709932"/>
            <a:ext cx="815643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versus their position to measure the mass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97D6D-27F6-4DB1-95F5-F46C19E9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7" y="6226374"/>
            <a:ext cx="390357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the solar system.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EE788-18F5-4333-A3E0-2CA74534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947A9-CC2B-460B-B259-6BC543E3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22 of 34</a:t>
            </a:r>
          </a:p>
        </p:txBody>
      </p:sp>
      <p:sp>
        <p:nvSpPr>
          <p:cNvPr id="1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0473384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2baf45d724cea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3C15E-8566-468A-A976-29F845B9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982" y="1123396"/>
            <a:ext cx="6825118" cy="954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of the Solar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892FF-5DAB-40D2-B6FC-6E3E738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447" y="2086669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562F9-57FF-4547-A14E-091EA9BF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2086669"/>
            <a:ext cx="2188782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what the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9CBCE-87F6-479A-AD41-73F9C014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447" y="2086669"/>
            <a:ext cx="1924961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rotation curve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F3BFE-2BA8-47DB-931E-44B69DFA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2446526"/>
            <a:ext cx="4023484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the Solar System looks like.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6E6E9-34A3-4AA4-A093-C9AB82F6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446" y="2874115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71337-388A-4CF0-B47D-C72D2723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427" y="2874115"/>
            <a:ext cx="3711593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the semi-major axis of a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1FFC6-CB04-408E-A5B2-0E83D03F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3229735"/>
            <a:ext cx="4139943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planet is increased, its velocity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F8259-07B9-4097-B7D1-8F70E264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3589527"/>
            <a:ext cx="1494872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decreases.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6EF40-E522-4D61-B0F7-EB18D7E1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446" y="4017116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48722-571C-4E90-93BB-C1A57872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4017116"/>
            <a:ext cx="2900750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curve is called a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CB519-5605-4C15-9885-32C5E231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4372671"/>
            <a:ext cx="3265439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Keplerian rotation curve.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67CB1-8587-49FD-A801-E50ED869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446" y="4800279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6E856-5ED7-41CF-AA67-816C065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4800279"/>
            <a:ext cx="4163514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implies that all the mass is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B2A56-2AAA-430C-B71F-239BBD07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5160095"/>
            <a:ext cx="3900066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the center of the 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EC363-3FF0-4655-88F1-6168737F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446" y="5587679"/>
            <a:ext cx="14181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D4300-B420-4B64-B17A-06EB4178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5587679"/>
            <a:ext cx="3365197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the same rotation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CA793-5538-478D-A21F-BC150EE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5943240"/>
            <a:ext cx="3728345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curve as is seen for objects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C881E-3630-427D-8F9C-3AC146F4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571" y="6298840"/>
            <a:ext cx="2620048" cy="47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around black holes.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2D42D-C7E7-4C6A-A205-F85A10B9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48F53-4D7A-44C3-A752-0265BECC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23 of 34</a:t>
            </a:r>
          </a:p>
        </p:txBody>
      </p:sp>
      <p:sp>
        <p:nvSpPr>
          <p:cNvPr id="25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6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7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8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7215412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d5b47d7cc46fb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15576-7FA7-41A8-84F8-78BCC5C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863" y="936655"/>
            <a:ext cx="6886851" cy="954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of a merry-go-round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6CDFC-163D-48A7-AEA0-49448B8D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2" y="4831105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E2582-E6A5-4437-9394-52742122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89" y="4832064"/>
            <a:ext cx="8045675" cy="51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you move from the center to the edge, you go faster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11C08-1084-4748-B3A6-A5CB38FB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7" y="5221279"/>
            <a:ext cx="8070290" cy="520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faster since each part of the merry-go-round needs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34A03-2E13-4A34-A370-6E1A7BA6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7" y="5610780"/>
            <a:ext cx="6929866" cy="520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complete a circle in the same amount of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00A0D-5C44-4E79-BC00-06E70AAD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2" y="6075710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8C759-9FC9-496B-97D5-B15B35B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89" y="6076647"/>
            <a:ext cx="7305499" cy="519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you move to the edge, more of the mass of the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237C3-E5C0-4962-B6B4-653156FD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7" y="6466511"/>
            <a:ext cx="6772994" cy="519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merry-go-round is between you and the center.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CFE67-4A87-4ED4-9C35-124D9727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2" y="6930842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F976E-A5BF-40CE-8A22-CAC1DC8D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8" y="6931291"/>
            <a:ext cx="4547429" cy="520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curve implies that mass is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7176F-7CED-44BE-A21B-1BF25B68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721" y="6930842"/>
            <a:ext cx="1662133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increasing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00C0B-29D3-4BF6-A017-20915DE4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754" y="6930842"/>
            <a:ext cx="177021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with radius.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BA481-E8AE-4C29-9F65-AA04F684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896EC-66F2-4F10-A164-E1AAB9EB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24 of 34</a:t>
            </a:r>
          </a:p>
        </p:txBody>
      </p:sp>
      <p:sp>
        <p:nvSpPr>
          <p:cNvPr id="1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8296856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eaafe2dd14d87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FC14C-89B8-4817-A43E-B033235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978" y="1123328"/>
            <a:ext cx="4639023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of a Galaxy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35B76-D68F-4C58-AD8F-0BAA7551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9" y="2331741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73DC3-0923-4B9D-9C85-7441F1D3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2332330"/>
            <a:ext cx="3606199" cy="520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the Doppler effect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FA133-E11E-41A8-8121-0DC36EB3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2721210"/>
            <a:ext cx="3052776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can measure the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D0866-827D-49C8-B39A-AF34DF87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3112726"/>
            <a:ext cx="3715429" cy="51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rotation of a spiral galaxy.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51C6C-07BF-458B-A48F-2DFB58BD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9" y="3576347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A2672-335D-415D-89F8-F626A349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3576392"/>
            <a:ext cx="3612425" cy="521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side is blue-shifted,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DE7EE-9D8A-4B1F-91E5-ADE76F0A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3965810"/>
            <a:ext cx="330647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side is red-shifted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8B44A-FAF0-48D6-8589-8100E05C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4357089"/>
            <a:ext cx="3736127" cy="51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respect to the center.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79DB1-674F-436B-97B2-DBE6C5D4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9" y="4820947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D93D2-E73F-47FD-9629-985A1412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4820947"/>
            <a:ext cx="2075236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total shift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A7A99-D31A-4E4F-AED0-6D13F188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5210386"/>
            <a:ext cx="2817745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corresponds to the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34FAD-9951-489D-995D-505EC348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5599875"/>
            <a:ext cx="3286557" cy="52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rotation velocity of the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4D7E5-A772-490B-9BE6-714409BE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4" y="5989312"/>
            <a:ext cx="978677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FEAED-C17B-44D8-9FA0-6C30ACEC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5BC74-4F88-4418-96E2-DBF300CD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25 of 34</a:t>
            </a:r>
          </a:p>
        </p:txBody>
      </p:sp>
      <p:sp>
        <p:nvSpPr>
          <p:cNvPr id="20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1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2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3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3552018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c67e2e2904c23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4A8EE-36D8-4271-BBBF-F208C7B7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978" y="1123328"/>
            <a:ext cx="4639023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of a Galaxy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D8E32-1DD1-4F55-8052-7789E526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9" y="4571505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1DE3E-D6FD-490D-AA16-6E920E24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53" y="4571505"/>
            <a:ext cx="519060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6DBF5-C874-4F67-B361-2CF8DCED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24" y="4571505"/>
            <a:ext cx="338185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33038-4252-49E2-84DD-5F20BAD0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908" y="4571759"/>
            <a:ext cx="6871021" cy="433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spiral galaxies, we see a rotation curve like those above.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DCD07-C509-4D3B-9833-914F5908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1" y="4931357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198A7-3CF1-43AC-977F-3A33B3E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4931545"/>
            <a:ext cx="6691383" cy="433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center parts look like a merry-go-round (solid body)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E13C1-96B7-459C-8EF4-CCAC57B7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0" y="5286957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60351-373E-476F-99E5-57BEA785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5286957"/>
            <a:ext cx="2843222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outer parts are flat.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B0EAC-DDC0-4302-9BC9-03049482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0" y="5642532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4616D-9DCB-4EA6-97C1-378680CF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5" y="5642942"/>
            <a:ext cx="7047713" cy="432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height and extent of the curve give you the total mass.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E9EB0-EAFA-4B31-89EA-A6442A41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335" y="5996445"/>
            <a:ext cx="165202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51C2E-B1CC-44AE-8563-BEB27240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21" y="5996445"/>
            <a:ext cx="489289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 and longer curves = larger total mass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139AF-75D1-4166-8231-C2DA9D43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5" y="6302932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635ED-8056-4CAD-A265-87B34AFA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6302932"/>
            <a:ext cx="475225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F8221-0073-4638-AFE0-987455DD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861" y="6302932"/>
            <a:ext cx="1631345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galaxy has a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03D31-CC50-4765-B669-4AF8EB67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212" y="6302932"/>
            <a:ext cx="2401775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declining, Keplerian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79426-8C38-49D1-9EBD-E4075B82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888" y="6302932"/>
            <a:ext cx="1824224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rotation curve.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26157-DD8D-4CB0-A7DB-F7DE883A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8" y="6662789"/>
            <a:ext cx="132926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47885-8D79-48E6-89BD-CA3886F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3" y="6663185"/>
            <a:ext cx="7812775" cy="432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implies that the mass of a galaxy continues to increase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84607-320E-4EF2-984B-F18B0235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3" y="6954899"/>
            <a:ext cx="1538992" cy="433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radius.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3192F-87FD-4AD2-BCDC-84F027CD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24D846-E28B-46FE-9791-470BD23F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26 of 34</a:t>
            </a:r>
          </a:p>
        </p:txBody>
      </p:sp>
      <p:sp>
        <p:nvSpPr>
          <p:cNvPr id="2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3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8361605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d44677776490e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6614B-CBF0-4442-A2F4-A33297F7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990" y="1125656"/>
            <a:ext cx="5971307" cy="951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8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of the Milky 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B5E27-C5CF-4B62-9B1B-AAE10DEA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331741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766D3-F86B-4857-92B0-7C749802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334216"/>
            <a:ext cx="6369865" cy="517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rotation curve seen for the Milky Way.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F7E97-CF35-4462-AEC6-8D140D21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2797415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5E022-585D-4F57-8379-677C3A30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798255"/>
            <a:ext cx="7959186" cy="5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mass continue to increase beyond the edge of the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4742E-93AB-47EF-ABB3-CF83F9CF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3187699"/>
            <a:ext cx="7670156" cy="520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disk of stars and gas out to the very edge of the halo.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4D9BE-49F6-409E-A647-7FC24285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" y="3652546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2380B-C3F9-45A6-830F-D3BC8412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1" y="3653370"/>
            <a:ext cx="4686143" cy="52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this missing mass???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F821D-9BB6-46D1-8C74-4A2F64E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1BA4A-A7D7-4840-A1AB-426D05C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27 of 34</a:t>
            </a:r>
          </a:p>
        </p:txBody>
      </p:sp>
      <p:sp>
        <p:nvSpPr>
          <p:cNvPr id="14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5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6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7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2297237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df8c9fe4d4dff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D10E5-081A-4805-BA00-18F8276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864" y="1123551"/>
            <a:ext cx="6625166" cy="95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Masses of other galaxies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0DA76-59EC-4EA3-B471-6C684AC2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9" y="2331702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DA497-409C-4C80-BB47-09ED1558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3" y="2331702"/>
            <a:ext cx="790974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While not all galaxies rotate, the motions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83AB5-75AB-421E-B145-F5251493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4" y="2852402"/>
            <a:ext cx="419106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their stars and gas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C3973-453F-46CD-B3B1-EF1316C2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037" y="2852402"/>
            <a:ext cx="63817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80D2A-9354-4D9A-AA78-22FD15F9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127" y="2852402"/>
            <a:ext cx="282464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indicate some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137F6-73B4-4579-BEE6-458F0D35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6" y="3373128"/>
            <a:ext cx="277554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 mass.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FC8E2-F287-49C2-95F0-891CEB38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1" y="3995388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010E7-5AE6-408B-A852-D34EE8DE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6" y="3995388"/>
            <a:ext cx="680578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motions of galaxies in pairs, in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18ECA-C23E-417F-AE57-ED859538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6" y="4516128"/>
            <a:ext cx="695267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groups, and in clusters also provide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17C7D-449D-4B59-B331-C2FD77F6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6" y="5032635"/>
            <a:ext cx="5248841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for missing mass.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79CEA-BBC8-4BCB-9E77-B2A8B197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1" y="5654896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5CF80-D5E8-431D-BCE1-BC8ADBF7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35" y="5654896"/>
            <a:ext cx="808416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does gravitational lensing by clusters. 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2B973-FA12-48C7-B681-02DACE4A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CCE89-54A3-4ACA-9DB1-445B91D1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28 of 34</a:t>
            </a:r>
          </a:p>
        </p:txBody>
      </p:sp>
      <p:sp>
        <p:nvSpPr>
          <p:cNvPr id="1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2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0374241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2b4fa84b24801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D167E-A7F8-4BC6-8056-5F4FE9E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23" y="1128982"/>
            <a:ext cx="8465766" cy="945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6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in stars versus Total Mass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9DF8F-78AB-4820-96DD-4BA848AA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2280921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B83CB-D5A7-4E65-B572-B7743717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280921"/>
            <a:ext cx="3879056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of the missing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9AF4D-2B1F-479C-9877-D522846C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2750847"/>
            <a:ext cx="279911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 is in the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A149A-F97B-4562-9650-95981A14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3216421"/>
            <a:ext cx="224709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outskirts of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8A067-7BBF-422D-A962-54E02CD9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3682155"/>
            <a:ext cx="174336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8C2DE-6740-4CE5-B94E-F6577E77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7" y="4253684"/>
            <a:ext cx="18923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15F05-D823-4EB8-80DB-2B24A216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4253684"/>
            <a:ext cx="349821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only account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4F519-7E86-48A8-8AC3-4AE32002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4723555"/>
            <a:ext cx="332772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about 10% of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8C1EC-3C5D-44E6-A907-1F2DE4A1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5189223"/>
            <a:ext cx="332724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total mass of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16D25-A0F9-4A81-9FD6-B19DFF8A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5654891"/>
            <a:ext cx="3256003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galaxies in stars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4B8B5-CE34-45E8-818A-546FC202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2" y="6124791"/>
            <a:ext cx="1694612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gas.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AC283-2DCD-456C-954D-CA34491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93D97-E99E-436C-8527-324D15D8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29 of 34</a:t>
            </a:r>
          </a:p>
        </p:txBody>
      </p:sp>
      <p:sp>
        <p:nvSpPr>
          <p:cNvPr id="1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2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3568104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b7a0b97874e05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CD2C2-72DE-4D12-94F5-7674A0BC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508" y="1123328"/>
            <a:ext cx="3147357" cy="95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7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7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Dark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35219-DDE9-4A34-B815-4C19F412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3" y="2289415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553C9-8A3D-4CA7-8D50-00356549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9" y="2289598"/>
            <a:ext cx="4062452" cy="521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missing mass is called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9B50B-7236-4A9F-AEE6-099AA002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572" y="2289415"/>
            <a:ext cx="760966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dark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E8EDB-FDFD-4F9E-8FCB-00C2530B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9" y="2640713"/>
            <a:ext cx="957816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875E5-7CDF-4424-81A6-57D75317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313" y="2641533"/>
            <a:ext cx="4578884" cy="520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 It is matter that does not emit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17150-5C12-460D-8001-6F56BDA5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9" y="2992400"/>
            <a:ext cx="4352573" cy="52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light, or at least can’t be seen.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1095E-7775-487B-A39D-3D9E6E19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4" y="3419675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F0925-9A50-4701-90EB-0FE6E824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80" y="3422814"/>
            <a:ext cx="4616116" cy="516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4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 are a form of dark matter.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92457-4615-43CA-9B62-C802F80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4" y="3847283"/>
            <a:ext cx="152189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CAAB4-C80F-4BE7-8349-94F685C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39" y="3847283"/>
            <a:ext cx="632339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C6033-6AF6-42FA-8E35-44693FD2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067" y="3847283"/>
            <a:ext cx="542175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C1A6E-1CA1-42F6-902F-C6F98896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143" y="3847669"/>
            <a:ext cx="4423065" cy="520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 same as a dark nebula or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52C31-DCAB-4E83-B628-4DC549EC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4198581"/>
            <a:ext cx="1754937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black holes.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EAFDB-20A9-41EB-BABA-E93BDF8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5" y="4626220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78331-0D0C-48CC-A314-662C25F4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4626900"/>
            <a:ext cx="4616659" cy="520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 suggested to exist by Fritz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8D5BE-8454-4FEA-8787-22CF09E9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4977513"/>
            <a:ext cx="29808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Zwicky in the 1930s!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4C0B8-B486-44D8-BB01-D48A68C5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5" y="5405151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D9A97-675A-4549-8A40-BD8C4689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5405585"/>
            <a:ext cx="5471589" cy="52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Observational evidence first provided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7C8F9-AFBF-4730-ADB7-43E0B648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5757939"/>
            <a:ext cx="4029057" cy="519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the 1970s by Vera Rubin.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D180B-D2BC-4945-9C7B-75513CDC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5" y="6184083"/>
            <a:ext cx="152188" cy="521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63F73-9BB2-4774-8E20-8D34B47A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6185012"/>
            <a:ext cx="5480417" cy="5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still don’t know what it is only that 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E468F-6C20-45BC-85C4-C4574DF5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40" y="6535457"/>
            <a:ext cx="4227419" cy="521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seen almost everywhere.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DB51D-80E0-4995-A0C6-0191623D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864A8-9523-49D6-B184-6E02718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30 of 34</a:t>
            </a:r>
          </a:p>
        </p:txBody>
      </p:sp>
      <p:sp>
        <p:nvSpPr>
          <p:cNvPr id="2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3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3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3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4305831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f7c2d10ed463d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87287-7487-4AF4-9533-15C782B3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08" y="822275"/>
            <a:ext cx="8639307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of the following does not provide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BA925-FB6C-431D-BCEF-5B18C9F3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023" y="1406475"/>
            <a:ext cx="7449252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for the existence of dark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C62CE-8D91-4EB7-943D-54D79365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845" y="1990675"/>
            <a:ext cx="1687388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matter?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D76F3-1E48-49E2-AE62-1F301655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15" y="2981948"/>
            <a:ext cx="44739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17E63-4DB2-4953-B453-C9D868D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14" y="2981948"/>
            <a:ext cx="5324300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Rotation Curves of galaxies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3A3B7-79A9-4045-B485-DAD0644C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6" y="3608464"/>
            <a:ext cx="44718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D732B-A2CA-478C-BFC8-0BB6C976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14" y="3608464"/>
            <a:ext cx="466863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orbits of the planets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AD0E5-8627-4B70-9CB4-0483A10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6" y="4230834"/>
            <a:ext cx="4380434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Gravitational lenses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45615-8E11-4FEA-A705-7CA20132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6" y="4853064"/>
            <a:ext cx="6178638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Motions of galaxies in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21CE5-E086-41B5-8F85-788D9444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26" y="5475434"/>
            <a:ext cx="447187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6F584-AAE5-4A5B-8EE2-743B8A68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14" y="5475434"/>
            <a:ext cx="4934189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They all provide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A04FE-8CE1-491F-B06E-A5ED0925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85C20-CC1C-4F1F-A440-B0AA5DF6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31 of 34</a:t>
            </a:r>
          </a:p>
        </p:txBody>
      </p:sp>
      <p:sp>
        <p:nvSpPr>
          <p:cNvPr id="17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8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9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20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7653003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a6bd6433b415e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A9923-4AC3-4563-9A03-ED5ACB56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161" y="1114883"/>
            <a:ext cx="7286931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of the following could be a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12A13-7F27-4117-9781-029B9C4C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42" y="1699083"/>
            <a:ext cx="7638573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rotation curve for the solar system?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A62E6-2F9C-4303-A88F-DF1F6E3A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88FC9-C0D0-4F20-9B15-5111CB03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32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5027592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662821e2d4bc2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6D5DE-3A4E-4E7A-830E-EC55DED1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161" y="822275"/>
            <a:ext cx="7286931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of the following could be a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6CB23-A10C-4978-9D33-9C83407C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344" y="1406475"/>
            <a:ext cx="7070546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rotation curve for stars around a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CCBB5-2D66-41E6-9C6B-134742D7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458" y="1990675"/>
            <a:ext cx="5636996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supermassive black hole?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C5BCC-1025-4CC1-8AB5-AA764333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B5DEA-A716-45F2-8E14-6773E028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33 of 34</a:t>
            </a:r>
          </a:p>
        </p:txBody>
      </p:sp>
      <p:sp>
        <p:nvSpPr>
          <p:cNvPr id="9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10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1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2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53680021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6b0da3a6c4310"/>
          <a:stretch xmlns:a="http://schemas.openxmlformats.org/drawingml/2006/main"/>
        </p:blipFill>
        <p:spPr>
          <a:xfrm xmlns:a="http://schemas.openxmlformats.org/drawingml/2006/main">
            <a:off x="0" y="34290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49B39-27EC-4A3D-AAEC-06AFAD95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50" y="1276465"/>
            <a:ext cx="8233529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of the following rotation curves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8E690-6AEA-42F7-BC45-D486E324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579" y="1860665"/>
            <a:ext cx="4906859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8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would be for a galaxy?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08C01-6423-4E9C-9EC5-239E9DB6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210550"/>
            <a:ext cx="882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wvurail.org/dspira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CD9BD-279B-4E26-8A60-8DF61675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82105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00" b="0" i="0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2855"/>
                </a:solidFill>
                <a:latin typeface="Arial"/>
                <a:ea typeface="Arial"/>
                <a:cs typeface="Arial"/>
              </a:rPr>
              <a:t>34 of 34</a:t>
            </a:r>
          </a:p>
        </p:txBody>
      </p:sp>
      <p:sp>
        <p:nvSpPr>
          <p:cNvPr id="8" name="WVU DSPIRA navy 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5"/>
          </a:solidFill>
          <a:ln xmlns:a="http://schemas.openxmlformats.org/drawingml/2006/main" w="0">
            <a:noFill/>
          </a:ln>
        </p:spPr>
      </p:sp>
      <p:sp>
        <p:nvSpPr>
          <p:cNvPr id="9" name="WVU DSPIRA gold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A00"/>
          </a:solidFill>
          <a:ln xmlns:a="http://schemas.openxmlformats.org/drawingml/2006/main" w="0">
            <a:noFill/>
          </a:ln>
        </p:spPr>
      </p:sp>
      <p:sp>
        <p:nvSpPr>
          <p:cNvPr id="10" name="WVU DSPIRA nam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11" name="WVU DSPIRA universit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4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</p:spTree>
    <p:extLst>
      <p:ext uri="{BB962C8B-B14F-4D97-AF65-F5344CB8AC3E}">
        <p14:creationId xmlns:p14="http://schemas.microsoft.com/office/powerpoint/2010/main" val="1485573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WVU DSPIRA</dc:creator>
  <lastModifiedBy>WVU DSPIRA</lastModifiedBy>
  <dc:title>Galaxy interactions and dark matter</dc:title>
  <dcterms:created xsi:type="dcterms:W3CDTF">2026-09-26T20:03:12.5720000Z</dcterms:created>
  <dcterms:modified xsi:type="dcterms:W3CDTF">2026-09-26T20:03:12.5720000Z</dcterms:modified>
</coreProperties>
</file>