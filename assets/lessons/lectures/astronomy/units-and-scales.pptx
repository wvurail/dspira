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803cd8bbd274554" /><Relationship Type="http://schemas.openxmlformats.org/officeDocument/2006/relationships/extended-properties" Target="/docProps/app.xml" Id="R6141c0b6168f46e7" /><Relationship Type="http://schemas.openxmlformats.org/officeDocument/2006/relationships/officeDocument" Target="/ppt/presentation.xml" Id="R8468a69506ec4753" /></Relationships>
</file>

<file path=ppt/presentation.xml><?xml version="1.0" encoding="utf-8"?>
<p:presentation xmlns:p="http://schemas.openxmlformats.org/presentationml/2006/main">
  <p:sldMasterIdLst>
    <p:sldMasterId xmlns:ns0="http://schemas.openxmlformats.org/officeDocument/2006/relationships" id="2147483648" ns0:id="rIdWvuMaster"/>
  </p:sldMasterIdLst>
  <p:notesMasterIdLst>
    <p:notesMasterId xmlns:r="http://schemas.openxmlformats.org/officeDocument/2006/relationships" r:id="R7a866fbdbb264777"/>
  </p:notesMasterIdLst>
  <p:sldIdLst>
    <p:sldId xmlns:r="http://schemas.openxmlformats.org/officeDocument/2006/relationships" id="256" r:id="R5c0467eaf0254941"/>
    <p:sldId xmlns:r="http://schemas.openxmlformats.org/officeDocument/2006/relationships" id="257" r:id="R56d81123edf14196"/>
    <p:sldId xmlns:r="http://schemas.openxmlformats.org/officeDocument/2006/relationships" id="258" r:id="Rafb3c29a6c354ebd"/>
    <p:sldId xmlns:r="http://schemas.openxmlformats.org/officeDocument/2006/relationships" id="259" r:id="R90feeea9090e42fc"/>
    <p:sldId xmlns:r="http://schemas.openxmlformats.org/officeDocument/2006/relationships" id="260" r:id="Rd43817f461a9462e"/>
    <p:sldId xmlns:r="http://schemas.openxmlformats.org/officeDocument/2006/relationships" id="261" r:id="Rafec9af3ac6e4ed7"/>
    <p:sldId xmlns:r="http://schemas.openxmlformats.org/officeDocument/2006/relationships" id="262" r:id="R2fa44352ac014325"/>
    <p:sldId xmlns:r="http://schemas.openxmlformats.org/officeDocument/2006/relationships" id="263" r:id="Rb88ab617368c43cd"/>
    <p:sldId xmlns:r="http://schemas.openxmlformats.org/officeDocument/2006/relationships" id="264" r:id="Rba0e4d9ba4c5453d"/>
    <p:sldId xmlns:r="http://schemas.openxmlformats.org/officeDocument/2006/relationships" id="265" r:id="Rb8c0f6ebe97448b4"/>
    <p:sldId xmlns:r="http://schemas.openxmlformats.org/officeDocument/2006/relationships" id="266" r:id="R196428fa12814054"/>
    <p:sldId xmlns:r="http://schemas.openxmlformats.org/officeDocument/2006/relationships" id="267" r:id="Rfeea9f90ec08484a"/>
    <p:sldId xmlns:r="http://schemas.openxmlformats.org/officeDocument/2006/relationships" id="268" r:id="R245bd140a3604727"/>
    <p:sldId xmlns:r="http://schemas.openxmlformats.org/officeDocument/2006/relationships" id="269" r:id="Rb10c883b8d3145db"/>
    <p:sldId xmlns:r="http://schemas.openxmlformats.org/officeDocument/2006/relationships" id="270" r:id="R8e37b3218a5f4057"/>
    <p:sldId xmlns:r="http://schemas.openxmlformats.org/officeDocument/2006/relationships" id="271" r:id="R38082896f6f54a80"/>
    <p:sldId xmlns:r="http://schemas.openxmlformats.org/officeDocument/2006/relationships" id="272" r:id="Rffc0cc9ae8994490"/>
    <p:sldId xmlns:r="http://schemas.openxmlformats.org/officeDocument/2006/relationships" id="273" r:id="Re50f5cc813634cad"/>
    <p:sldId xmlns:r="http://schemas.openxmlformats.org/officeDocument/2006/relationships" id="274" r:id="Rdc3b068c3ae94d40"/>
    <p:sldId xmlns:r="http://schemas.openxmlformats.org/officeDocument/2006/relationships" id="275" r:id="R730f28b37cf142d5"/>
    <p:sldId xmlns:r="http://schemas.openxmlformats.org/officeDocument/2006/relationships" id="276" r:id="R1b8305430b494c6e"/>
    <p:sldId xmlns:r="http://schemas.openxmlformats.org/officeDocument/2006/relationships" id="277" r:id="R2dcbdffe725644db"/>
    <p:sldId xmlns:r="http://schemas.openxmlformats.org/officeDocument/2006/relationships" id="278" r:id="R0c1b9d075e3048a0"/>
    <p:sldId xmlns:r="http://schemas.openxmlformats.org/officeDocument/2006/relationships" id="279" r:id="R3d90f67bf0f24555"/>
    <p:sldId xmlns:r="http://schemas.openxmlformats.org/officeDocument/2006/relationships" id="280" r:id="Rbdcde7b401904f79"/>
    <p:sldId xmlns:r="http://schemas.openxmlformats.org/officeDocument/2006/relationships" id="281" r:id="R9a2f9e4056ae4b35"/>
    <p:sldId xmlns:r="http://schemas.openxmlformats.org/officeDocument/2006/relationships" id="282" r:id="R6bb1c321d8f24753"/>
    <p:sldId xmlns:r="http://schemas.openxmlformats.org/officeDocument/2006/relationships" id="283" r:id="Rb326abf1691b40c8"/>
    <p:sldId xmlns:r="http://schemas.openxmlformats.org/officeDocument/2006/relationships" id="284" r:id="Rf5fe025eda544a9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b8043d3be35849d3"/><Relationship Type="http://schemas.openxmlformats.org/officeDocument/2006/relationships/notesMaster" Target="/ppt/notesMasters/notesMaster1.xml" Id="R7a866fbdbb264777"/><Relationship Type="http://schemas.openxmlformats.org/officeDocument/2006/relationships/presProps" Target="/ppt/presProps.xml" Id="R50e6a412c165439a"/><Relationship Type="http://schemas.openxmlformats.org/officeDocument/2006/relationships/tableStyles" Target="/ppt/tableStyles.xml" Id="Rd0d4cd2eea4c4b68"/><Relationship Type="http://schemas.openxmlformats.org/officeDocument/2006/relationships/slide" Target="/ppt/slides/slide1.xml" Id="R5c0467eaf0254941"/><Relationship Type="http://schemas.openxmlformats.org/officeDocument/2006/relationships/slide" Target="/ppt/slides/slide2.xml" Id="R56d81123edf14196"/><Relationship Type="http://schemas.openxmlformats.org/officeDocument/2006/relationships/slide" Target="/ppt/slides/slide3.xml" Id="Rafb3c29a6c354ebd"/><Relationship Type="http://schemas.openxmlformats.org/officeDocument/2006/relationships/slide" Target="/ppt/slides/slide4.xml" Id="R90feeea9090e42fc"/><Relationship Type="http://schemas.openxmlformats.org/officeDocument/2006/relationships/slide" Target="/ppt/slides/slide5.xml" Id="Rd43817f461a9462e"/><Relationship Type="http://schemas.openxmlformats.org/officeDocument/2006/relationships/slide" Target="/ppt/slides/slide6.xml" Id="Rafec9af3ac6e4ed7"/><Relationship Type="http://schemas.openxmlformats.org/officeDocument/2006/relationships/slide" Target="/ppt/slides/slide7.xml" Id="R2fa44352ac014325"/><Relationship Type="http://schemas.openxmlformats.org/officeDocument/2006/relationships/slide" Target="/ppt/slides/slide8.xml" Id="Rb88ab617368c43cd"/><Relationship Type="http://schemas.openxmlformats.org/officeDocument/2006/relationships/slide" Target="/ppt/slides/slide9.xml" Id="Rba0e4d9ba4c5453d"/><Relationship Type="http://schemas.openxmlformats.org/officeDocument/2006/relationships/slide" Target="/ppt/slides/slide10.xml" Id="Rb8c0f6ebe97448b4"/><Relationship Type="http://schemas.openxmlformats.org/officeDocument/2006/relationships/slide" Target="/ppt/slides/slide11.xml" Id="R196428fa12814054"/><Relationship Type="http://schemas.openxmlformats.org/officeDocument/2006/relationships/slide" Target="/ppt/slides/slide12.xml" Id="Rfeea9f90ec08484a"/><Relationship Type="http://schemas.openxmlformats.org/officeDocument/2006/relationships/slide" Target="/ppt/slides/slide13.xml" Id="R245bd140a3604727"/><Relationship Type="http://schemas.openxmlformats.org/officeDocument/2006/relationships/slide" Target="/ppt/slides/slide14.xml" Id="Rb10c883b8d3145db"/><Relationship Type="http://schemas.openxmlformats.org/officeDocument/2006/relationships/slide" Target="/ppt/slides/slide15.xml" Id="R8e37b3218a5f4057"/><Relationship Type="http://schemas.openxmlformats.org/officeDocument/2006/relationships/slide" Target="/ppt/slides/slide16.xml" Id="R38082896f6f54a80"/><Relationship Type="http://schemas.openxmlformats.org/officeDocument/2006/relationships/slide" Target="/ppt/slides/slide17.xml" Id="Rffc0cc9ae8994490"/><Relationship Type="http://schemas.openxmlformats.org/officeDocument/2006/relationships/slide" Target="/ppt/slides/slide18.xml" Id="Re50f5cc813634cad"/><Relationship Type="http://schemas.openxmlformats.org/officeDocument/2006/relationships/slide" Target="/ppt/slides/slide19.xml" Id="Rdc3b068c3ae94d40"/><Relationship Type="http://schemas.openxmlformats.org/officeDocument/2006/relationships/slide" Target="/ppt/slides/slide20.xml" Id="R730f28b37cf142d5"/><Relationship Type="http://schemas.openxmlformats.org/officeDocument/2006/relationships/slide" Target="/ppt/slides/slide21.xml" Id="R1b8305430b494c6e"/><Relationship Type="http://schemas.openxmlformats.org/officeDocument/2006/relationships/slide" Target="/ppt/slides/slide22.xml" Id="R2dcbdffe725644db"/><Relationship Type="http://schemas.openxmlformats.org/officeDocument/2006/relationships/slide" Target="/ppt/slides/slide23.xml" Id="R0c1b9d075e3048a0"/><Relationship Type="http://schemas.openxmlformats.org/officeDocument/2006/relationships/slide" Target="/ppt/slides/slide24.xml" Id="R3d90f67bf0f24555"/><Relationship Type="http://schemas.openxmlformats.org/officeDocument/2006/relationships/slide" Target="/ppt/slides/slide25.xml" Id="Rbdcde7b401904f79"/><Relationship Type="http://schemas.openxmlformats.org/officeDocument/2006/relationships/slide" Target="/ppt/slides/slide26.xml" Id="R9a2f9e4056ae4b35"/><Relationship Type="http://schemas.openxmlformats.org/officeDocument/2006/relationships/slide" Target="/ppt/slides/slide27.xml" Id="R6bb1c321d8f24753"/><Relationship Type="http://schemas.openxmlformats.org/officeDocument/2006/relationships/slide" Target="/ppt/slides/slide28.xml" Id="Rb326abf1691b40c8"/><Relationship Type="http://schemas.openxmlformats.org/officeDocument/2006/relationships/slide" Target="/ppt/slides/slide29.xml" Id="Rf5fe025eda544a9d"/><Relationship Id="rIdWvuMaster" Type="http://schemas.openxmlformats.org/officeDocument/2006/relationships/slideMaster" Target="slideMasters/slideMaster1.xml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b6a23b71eef4c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46930d1f2a4be5" /><Relationship Type="http://schemas.openxmlformats.org/officeDocument/2006/relationships/notesMaster" Target="/ppt/notesMasters/notesMaster1.xml" Id="R5711f3980a5943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d9f2e5b15ba4c25" /><Relationship Type="http://schemas.openxmlformats.org/officeDocument/2006/relationships/notesMaster" Target="/ppt/notesMasters/notesMaster1.xml" Id="R7a510991b3b4439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411f19bdc8e4b23" /><Relationship Type="http://schemas.openxmlformats.org/officeDocument/2006/relationships/notesMaster" Target="/ppt/notesMasters/notesMaster1.xml" Id="Rebf2cf741df9489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282dcaeb3324c7e" /><Relationship Type="http://schemas.openxmlformats.org/officeDocument/2006/relationships/notesMaster" Target="/ppt/notesMasters/notesMaster1.xml" Id="R403c224587964ce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478d8f22b1a49dc" /><Relationship Type="http://schemas.openxmlformats.org/officeDocument/2006/relationships/notesMaster" Target="/ppt/notesMasters/notesMaster1.xml" Id="Rf58beaaa8ff14b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465f8f06524325" /><Relationship Type="http://schemas.openxmlformats.org/officeDocument/2006/relationships/notesMaster" Target="/ppt/notesMasters/notesMaster1.xml" Id="Rf6a663db122c480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b0fb8526b6b4f82" /><Relationship Type="http://schemas.openxmlformats.org/officeDocument/2006/relationships/notesMaster" Target="/ppt/notesMasters/notesMaster1.xml" Id="Rded8d18a6a6240a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cc00209c4f2474b" /><Relationship Type="http://schemas.openxmlformats.org/officeDocument/2006/relationships/notesMaster" Target="/ppt/notesMasters/notesMaster1.xml" Id="R6128776c08094ff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0e5493019544fb5" /><Relationship Type="http://schemas.openxmlformats.org/officeDocument/2006/relationships/notesMaster" Target="/ppt/notesMasters/notesMaster1.xml" Id="R06ebc8da765840c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bb6d9456f294546" /><Relationship Type="http://schemas.openxmlformats.org/officeDocument/2006/relationships/notesMaster" Target="/ppt/notesMasters/notesMaster1.xml" Id="R8f175f4323d1445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ab938f2ac8a457c" /><Relationship Type="http://schemas.openxmlformats.org/officeDocument/2006/relationships/notesMaster" Target="/ppt/notesMasters/notesMaster1.xml" Id="Rb506010f059543f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e4ee5a8cd304dcb" /><Relationship Type="http://schemas.openxmlformats.org/officeDocument/2006/relationships/notesMaster" Target="/ppt/notesMasters/notesMaster1.xml" Id="R436baccb5c204e3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60d6680574b4409" /><Relationship Type="http://schemas.openxmlformats.org/officeDocument/2006/relationships/notesMaster" Target="/ppt/notesMasters/notesMaster1.xml" Id="R4e60c36a01e4499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79397fc0fbb430b" /><Relationship Type="http://schemas.openxmlformats.org/officeDocument/2006/relationships/notesMaster" Target="/ppt/notesMasters/notesMaster1.xml" Id="R4d9af1ca06dd499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a79fb0825a247c4" /><Relationship Type="http://schemas.openxmlformats.org/officeDocument/2006/relationships/notesMaster" Target="/ppt/notesMasters/notesMaster1.xml" Id="Rbc48f925762e4a1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6f95749a3724ed3" /><Relationship Type="http://schemas.openxmlformats.org/officeDocument/2006/relationships/notesMaster" Target="/ppt/notesMasters/notesMaster1.xml" Id="R303b8d65e3a7427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213766d29ab424b" /><Relationship Type="http://schemas.openxmlformats.org/officeDocument/2006/relationships/notesMaster" Target="/ppt/notesMasters/notesMaster1.xml" Id="R96dc02186b6942f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16b982081d44dd8" /><Relationship Type="http://schemas.openxmlformats.org/officeDocument/2006/relationships/notesMaster" Target="/ppt/notesMasters/notesMaster1.xml" Id="Ra9ee988a35b4483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c1112e8ffb643ad" /><Relationship Type="http://schemas.openxmlformats.org/officeDocument/2006/relationships/notesMaster" Target="/ppt/notesMasters/notesMaster1.xml" Id="Rf23a9977ee514f3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acb6aa4f19a42d7" /><Relationship Type="http://schemas.openxmlformats.org/officeDocument/2006/relationships/notesMaster" Target="/ppt/notesMasters/notesMaster1.xml" Id="Rdf010220dbb4458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fc3c9ddf76745f9" /><Relationship Type="http://schemas.openxmlformats.org/officeDocument/2006/relationships/notesMaster" Target="/ppt/notesMasters/notesMaster1.xml" Id="R8dea5cabbf14403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739793d6f4e4723" /><Relationship Type="http://schemas.openxmlformats.org/officeDocument/2006/relationships/notesMaster" Target="/ppt/notesMasters/notesMaster1.xml" Id="R27dc7ff6b72645e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adec7d5bcae4f6b" /><Relationship Type="http://schemas.openxmlformats.org/officeDocument/2006/relationships/notesMaster" Target="/ppt/notesMasters/notesMaster1.xml" Id="R7233de7517e7468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ef6f82609324a8b" /><Relationship Type="http://schemas.openxmlformats.org/officeDocument/2006/relationships/notesMaster" Target="/ppt/notesMasters/notesMaster1.xml" Id="R959505b05b5840c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bf569e597624203" /><Relationship Type="http://schemas.openxmlformats.org/officeDocument/2006/relationships/notesMaster" Target="/ppt/notesMasters/notesMaster1.xml" Id="R6c9a339b48614b5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05aeb5d1fa34bbd" /><Relationship Type="http://schemas.openxmlformats.org/officeDocument/2006/relationships/notesMaster" Target="/ppt/notesMasters/notesMaster1.xml" Id="R0b56e4a47a7d456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f557b6bddff4e0a" /><Relationship Type="http://schemas.openxmlformats.org/officeDocument/2006/relationships/notesMaster" Target="/ppt/notesMasters/notesMaster1.xml" Id="R172a80d304d94f2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e61779bf62a4471" /><Relationship Type="http://schemas.openxmlformats.org/officeDocument/2006/relationships/notesMaster" Target="/ppt/notesMasters/notesMaster1.xml" Id="R994b1daf5b384e5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7cfc7bccd2e42b8" /><Relationship Type="http://schemas.openxmlformats.org/officeDocument/2006/relationships/notesMaster" Target="/ppt/notesMasters/notesMaster1.xml" Id="Rf11a78d68a5249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ss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esson title title 0">
            <a:extLst>
              <a:ext uri="{FF2B5EF4-FFF2-40B4-BE49-F238E27FC236}">
                <a16:creationId xmlns:a16="http://schemas.microsoft.com/office/drawing/2014/main" id="{D0D053A8-BBDF-4114-AC0C-F41E42B0F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95450"/>
            <a:ext cx="109728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[Lesson title]</a:t>
            </a:r>
          </a:p>
        </p:txBody>
      </p:sp>
      <p:sp>
        <p:nvSpPr>
          <p:cNvPr id="2" name="Lesson title subtitle 1">
            <a:extLst>
              <a:ext uri="{FF2B5EF4-FFF2-40B4-BE49-F238E27FC236}">
                <a16:creationId xmlns:a16="http://schemas.microsoft.com/office/drawing/2014/main" id="{ACBDC2AF-F434-4371-8E2A-17CCF7344C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3219450"/>
            <a:ext cx="106680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 short description of the investigation]</a:t>
            </a:r>
          </a:p>
        </p:txBody>
      </p:sp>
      <p:sp>
        <p:nvSpPr>
          <p:cNvPr id="3" name="Lesson title body 2">
            <a:extLst>
              <a:ext uri="{FF2B5EF4-FFF2-40B4-BE49-F238E27FC236}">
                <a16:creationId xmlns:a16="http://schemas.microsoft.com/office/drawing/2014/main" id="{D8956F49-2416-4C96-921B-614B43DC6BB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4591050"/>
            <a:ext cx="10572750" cy="1028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[Teacher or school]</a:t>
            </a:r>
          </a:p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[Course / grade level]   [Date]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 and go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Our investigation</a:t>
            </a: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Essential question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investigate?]</a:t>
            </a: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Learning goals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be able to explain or do?]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nation and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[Key idea]</a:t>
            </a: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the main idea.]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[Define a new term or connect it to prior learning.]</a:t>
            </a: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figure or diagram]</a:t>
            </a: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[Figure caption and source credit]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 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tivity steps title 0">
            <a:extLst>
              <a:ext uri="{FF2B5EF4-FFF2-40B4-BE49-F238E27FC236}">
                <a16:creationId xmlns:a16="http://schemas.microsoft.com/office/drawing/2014/main" id="{4A75A923-A588-498D-8C3D-05C7B27BD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[Activity title]</a:t>
            </a:r>
          </a:p>
        </p:txBody>
      </p:sp>
      <p:sp>
        <p:nvSpPr>
          <p:cNvPr id="2" name="Activity steps body 1">
            <a:extLst>
              <a:ext uri="{FF2B5EF4-FFF2-40B4-BE49-F238E27FC236}">
                <a16:creationId xmlns:a16="http://schemas.microsoft.com/office/drawing/2014/main" id="{F15A3904-D261-4581-891D-0D974E46F6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333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setup.]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measurement and units.]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how to record the result.]</a:t>
            </a:r>
          </a:p>
        </p:txBody>
      </p:sp>
      <p:sp>
        <p:nvSpPr>
          <p:cNvPr id="3" name="Activity steps body 2">
            <a:extLst>
              <a:ext uri="{FF2B5EF4-FFF2-40B4-BE49-F238E27FC236}">
                <a16:creationId xmlns:a16="http://schemas.microsoft.com/office/drawing/2014/main" id="{332D626C-8C62-4762-8A19-77DFBBDD378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581650"/>
            <a:ext cx="109728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[Add relevant safety or supervision instructions.]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ta or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[Observation or result]</a:t>
            </a: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graph, table, or image]</a:t>
            </a: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evidence. Include units, a caption, and source credits.]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cussion and ref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scussion and reflection title 0">
            <a:extLst>
              <a:ext uri="{FF2B5EF4-FFF2-40B4-BE49-F238E27FC236}">
                <a16:creationId xmlns:a16="http://schemas.microsoft.com/office/drawing/2014/main" id="{1A0C5B13-4DC7-4BB2-8032-5A841983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What did we learn?</a:t>
            </a:r>
          </a:p>
        </p:txBody>
      </p:sp>
      <p:sp>
        <p:nvSpPr>
          <p:cNvPr id="2" name="Discussion and reflection body 1">
            <a:extLst>
              <a:ext uri="{FF2B5EF4-FFF2-40B4-BE49-F238E27FC236}">
                <a16:creationId xmlns:a16="http://schemas.microsoft.com/office/drawing/2014/main" id="{73737ED5-7D24-4242-A1DB-9FC8EF99D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467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pattern do the results show?]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evidence supports your explanation?]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would you investigate next?]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WVU DSPIR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WVU navy banner">
            <a:extLst>
              <a:ext uri="{FF2B5EF4-FFF2-40B4-BE49-F238E27FC236}">
                <a16:creationId xmlns:a16="http://schemas.microsoft.com/office/drawing/2014/main" id="{6D4F5CCA-FF43-4F29-8399-ACE93C08BC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524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" name="WVU gold rule">
            <a:extLst>
              <a:ext uri="{FF2B5EF4-FFF2-40B4-BE49-F238E27FC236}">
                <a16:creationId xmlns:a16="http://schemas.microsoft.com/office/drawing/2014/main" id="{B7F9BFBD-7E36-451D-96E5-BC2ED296FC2E}"/>
              </a:ext>
            </a:extLst>
          </p:cNvPr>
          <p:cNvSpPr>
            <a:spLocks noGrp="1"/>
          </p:cNvSpPr>
          <p:nvPr/>
        </p:nvSpPr>
        <p:spPr>
          <a:xfrm>
            <a:off x="0" y="552450"/>
            <a:ext cx="12192000" cy="3810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" name="WVU DSPIRA brand">
            <a:extLst>
              <a:ext uri="{FF2B5EF4-FFF2-40B4-BE49-F238E27FC236}">
                <a16:creationId xmlns:a16="http://schemas.microsoft.com/office/drawing/2014/main" id="{81DC7FEE-6B94-4036-9AF5-8A342A05842A}"/>
              </a:ext>
            </a:extLst>
          </p:cNvPr>
          <p:cNvSpPr>
            <a:spLocks noGrp="1"/>
          </p:cNvSpPr>
          <p:nvPr/>
        </p:nvSpPr>
        <p:spPr>
          <a:xfrm>
            <a:off x="457200" y="76200"/>
            <a:ext cx="3810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University name">
            <a:extLst>
              <a:ext uri="{FF2B5EF4-FFF2-40B4-BE49-F238E27FC236}">
                <a16:creationId xmlns:a16="http://schemas.microsoft.com/office/drawing/2014/main" id="{86DE04A2-939A-456D-B0E1-0BD64EC5EF56}"/>
              </a:ext>
            </a:extLst>
          </p:cNvPr>
          <p:cNvSpPr>
            <a:spLocks noGrp="1"/>
          </p:cNvSpPr>
          <p:nvPr/>
        </p:nvSpPr>
        <p:spPr>
          <a:xfrm>
            <a:off x="7715250" y="161925"/>
            <a:ext cx="40195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  <p:sp>
        <p:nvSpPr>
          <p:cNvPr id="5" name="Website">
            <a:extLst>
              <a:ext uri="{FF2B5EF4-FFF2-40B4-BE49-F238E27FC236}">
                <a16:creationId xmlns:a16="http://schemas.microsoft.com/office/drawing/2014/main" id="{1895C86C-2B15-4605-AD65-E205FDC66179}"/>
              </a:ext>
            </a:extLst>
          </p:cNvPr>
          <p:cNvSpPr>
            <a:spLocks noGrp="1"/>
          </p:cNvSpPr>
          <p:nvPr/>
        </p:nvSpPr>
        <p:spPr>
          <a:xfrm>
            <a:off x="457200" y="63722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rail.wvu.edu/dspira</a:t>
            </a:r>
          </a:p>
        </p:txBody>
      </p:sp>
      <p:sp>
        <p:nvSpPr>
          <p:cNvPr id="6" name="Automatic slide number">
            <a:extLst>
              <a:ext uri="{FF2B5EF4-FFF2-40B4-BE49-F238E27FC236}">
                <a16:creationId xmlns:a16="http://schemas.microsoft.com/office/drawing/2014/main" id="{4AD0E30E-B026-44BD-ABE4-8BF1D7897EFE}"/>
              </a:ext>
            </a:extLst>
          </p:cNvPr>
          <p:cNvSpPr>
            <a:spLocks noGrp="1"/>
          </p:cNvSpPr>
          <p:nvPr/>
        </p:nvSpPr>
        <p:spPr>
          <a:xfrm>
            <a:off x="10953750" y="6372225"/>
            <a:ext cx="7810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fld id="{018D423B-F0A3-4876-8334-4B6CD5BE88A3}" type="slidenum"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‹#›</a:t>
            </a:fld>
            <a:endParaRPr sz="1200" b="0">
              <a:solidFill>
                <a:srgbClr val="454545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a9190b5b0e4942df"/><Relationship Type="http://schemas.openxmlformats.org/officeDocument/2006/relationships/image" Target="/ppt/media/image.png" Id="R2dbec12eb343422d"/><Relationship Type="http://schemas.openxmlformats.org/officeDocument/2006/relationships/notesSlide" Target="/ppt/notesSlides/notesSlide1.xml" Id="Rc2dc13ee90be4906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2e74c792f1854fd3"/><Relationship Type="http://schemas.openxmlformats.org/officeDocument/2006/relationships/image" Target="/ppt/media/image2.png" Id="R3fa775e7b39f4519"/><Relationship Type="http://schemas.openxmlformats.org/officeDocument/2006/relationships/notesSlide" Target="/ppt/notesSlides/notesSlide2.xml" Id="Rabd50a3f98f344dd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5a9c0c91da724c9a"/><Relationship Type="http://schemas.openxmlformats.org/officeDocument/2006/relationships/image" Target="/ppt/media/image3.png" Id="Rfefd3d5549934856"/><Relationship Type="http://schemas.openxmlformats.org/officeDocument/2006/relationships/notesSlide" Target="/ppt/notesSlides/notesSlide3.xml" Id="R3560448488274b74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021080b374e44675"/><Relationship Type="http://schemas.openxmlformats.org/officeDocument/2006/relationships/image" Target="/ppt/media/image4.png" Id="Rf0063136388240d8"/><Relationship Type="http://schemas.openxmlformats.org/officeDocument/2006/relationships/notesSlide" Target="/ppt/notesSlides/notesSlide4.xml" Id="R03c3ba162b2d4f16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919eb9aed82745b7"/><Relationship Type="http://schemas.openxmlformats.org/officeDocument/2006/relationships/image" Target="/ppt/media/image5.png" Id="Rc6df8a6204734915"/><Relationship Type="http://schemas.openxmlformats.org/officeDocument/2006/relationships/notesSlide" Target="/ppt/notesSlides/notesSlide5.xml" Id="R9dd4904852ba4640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2ac3eb7f14f84dba"/><Relationship Type="http://schemas.openxmlformats.org/officeDocument/2006/relationships/image" Target="/ppt/media/image6.png" Id="Rc045bca6edb94996"/><Relationship Type="http://schemas.openxmlformats.org/officeDocument/2006/relationships/notesSlide" Target="/ppt/notesSlides/notesSlide6.xml" Id="R701e3c223dc34621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f1aa1e76c8644fbd"/><Relationship Type="http://schemas.openxmlformats.org/officeDocument/2006/relationships/image" Target="/ppt/media/image7.png" Id="Re27c7a59df504fa0"/><Relationship Type="http://schemas.openxmlformats.org/officeDocument/2006/relationships/notesSlide" Target="/ppt/notesSlides/notesSlide7.xml" Id="R012ee2076a3a49c6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c5892f0506834484"/><Relationship Type="http://schemas.openxmlformats.org/officeDocument/2006/relationships/image" Target="/ppt/media/image8.png" Id="Recf290bbdaa04b52"/><Relationship Type="http://schemas.openxmlformats.org/officeDocument/2006/relationships/notesSlide" Target="/ppt/notesSlides/notesSlide8.xml" Id="Ra95b8c18066b4612"/></Relationships>
</file>

<file path=ppt/slides/_rels/slide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4d39c286fb0d4faf"/><Relationship Type="http://schemas.openxmlformats.org/officeDocument/2006/relationships/image" Target="/ppt/media/image9.png" Id="R455995beaa614a27"/><Relationship Type="http://schemas.openxmlformats.org/officeDocument/2006/relationships/notesSlide" Target="/ppt/notesSlides/notesSlide9.xml" Id="Reff13a56c20641f6"/></Relationships>
</file>

<file path=ppt/slides/_rels/slide1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72932d691d9e48bc"/><Relationship Type="http://schemas.openxmlformats.org/officeDocument/2006/relationships/image" Target="/ppt/media/image10.png" Id="Rb4ab089463a04857"/><Relationship Type="http://schemas.openxmlformats.org/officeDocument/2006/relationships/notesSlide" Target="/ppt/notesSlides/notesSlide10.xml" Id="Rb286215b4bab484a"/></Relationships>
</file>

<file path=ppt/slides/_rels/slide1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e222021b315b45b9"/><Relationship Type="http://schemas.openxmlformats.org/officeDocument/2006/relationships/image" Target="/ppt/media/image11.png" Id="R604afe9c7549422a"/><Relationship Type="http://schemas.openxmlformats.org/officeDocument/2006/relationships/notesSlide" Target="/ppt/notesSlides/notesSlide11.xml" Id="Rdb22ca0a2e114b99"/></Relationships>
</file>

<file path=ppt/slides/_rels/slide1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10bd9997f22f45f9"/><Relationship Type="http://schemas.openxmlformats.org/officeDocument/2006/relationships/image" Target="/ppt/media/image12.png" Id="Rcb389c0af59b439e"/><Relationship Type="http://schemas.openxmlformats.org/officeDocument/2006/relationships/notesSlide" Target="/ppt/notesSlides/notesSlide12.xml" Id="R48035113142c422f"/></Relationships>
</file>

<file path=ppt/slides/_rels/slide1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59b4365dcb264ad6"/><Relationship Type="http://schemas.openxmlformats.org/officeDocument/2006/relationships/image" Target="/ppt/media/image13.png" Id="R0d15cce0e2c5421e"/><Relationship Type="http://schemas.openxmlformats.org/officeDocument/2006/relationships/notesSlide" Target="/ppt/notesSlides/notesSlide13.xml" Id="Rc49faf3156194185"/></Relationships>
</file>

<file path=ppt/slides/_rels/slide1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b717c06c16884e99"/><Relationship Type="http://schemas.openxmlformats.org/officeDocument/2006/relationships/image" Target="/ppt/media/image14.png" Id="R486ceda7501a4396"/><Relationship Type="http://schemas.openxmlformats.org/officeDocument/2006/relationships/notesSlide" Target="/ppt/notesSlides/notesSlide14.xml" Id="R327dbf377ea64a93"/></Relationships>
</file>

<file path=ppt/slides/_rels/slide1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ebc6eb80508a4d3e"/><Relationship Type="http://schemas.openxmlformats.org/officeDocument/2006/relationships/image" Target="/ppt/media/image15.png" Id="Rac72205d688f4f13"/><Relationship Type="http://schemas.openxmlformats.org/officeDocument/2006/relationships/notesSlide" Target="/ppt/notesSlides/notesSlide15.xml" Id="R8d076c04fb294e78"/></Relationships>
</file>

<file path=ppt/slides/_rels/slide1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a547baf4559a46ea"/><Relationship Type="http://schemas.openxmlformats.org/officeDocument/2006/relationships/image" Target="/ppt/media/image16.png" Id="Rcfb6e2b6d9244088"/><Relationship Type="http://schemas.openxmlformats.org/officeDocument/2006/relationships/notesSlide" Target="/ppt/notesSlides/notesSlide16.xml" Id="Rd8d13e7eee9c4b00"/></Relationships>
</file>

<file path=ppt/slides/_rels/slide1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12c2e4cc26ee4cce"/><Relationship Type="http://schemas.openxmlformats.org/officeDocument/2006/relationships/image" Target="/ppt/media/image17.png" Id="R3d4420101db34065"/><Relationship Type="http://schemas.openxmlformats.org/officeDocument/2006/relationships/notesSlide" Target="/ppt/notesSlides/notesSlide17.xml" Id="Rf92b7576364f46af"/></Relationships>
</file>

<file path=ppt/slides/_rels/slide1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ceedce7006564a35"/><Relationship Type="http://schemas.openxmlformats.org/officeDocument/2006/relationships/image" Target="/ppt/media/image18.png" Id="R533c78e267a84919"/><Relationship Type="http://schemas.openxmlformats.org/officeDocument/2006/relationships/notesSlide" Target="/ppt/notesSlides/notesSlide18.xml" Id="Rf38736c4fafc413b"/></Relationships>
</file>

<file path=ppt/slides/_rels/slide1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1e2a3cb53ded4144"/><Relationship Type="http://schemas.openxmlformats.org/officeDocument/2006/relationships/image" Target="/ppt/media/image19.png" Id="Ree5b1f2a659f4e40"/><Relationship Type="http://schemas.openxmlformats.org/officeDocument/2006/relationships/notesSlide" Target="/ppt/notesSlides/notesSlide19.xml" Id="R4a5d506cff6c42e8"/></Relationships>
</file>

<file path=ppt/slides/_rels/slide2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66a65a365fb74fb7"/><Relationship Type="http://schemas.openxmlformats.org/officeDocument/2006/relationships/image" Target="/ppt/media/image20.png" Id="Rdef3d7e38fe64e17"/><Relationship Type="http://schemas.openxmlformats.org/officeDocument/2006/relationships/notesSlide" Target="/ppt/notesSlides/notesSlide20.xml" Id="R3cf40c8b9ea94f07"/></Relationships>
</file>

<file path=ppt/slides/_rels/slide2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d895db7e5289453b"/><Relationship Type="http://schemas.openxmlformats.org/officeDocument/2006/relationships/image" Target="/ppt/media/image21.png" Id="R541f9716bc0847a0"/><Relationship Type="http://schemas.openxmlformats.org/officeDocument/2006/relationships/notesSlide" Target="/ppt/notesSlides/notesSlide21.xml" Id="R094f1243e22847bb"/></Relationships>
</file>

<file path=ppt/slides/_rels/slide2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7e9c2a0920604f66"/><Relationship Type="http://schemas.openxmlformats.org/officeDocument/2006/relationships/image" Target="/ppt/media/image22.png" Id="R3e477a423b1b446a"/><Relationship Type="http://schemas.openxmlformats.org/officeDocument/2006/relationships/notesSlide" Target="/ppt/notesSlides/notesSlide22.xml" Id="R73b8b6294ed243ce"/></Relationships>
</file>

<file path=ppt/slides/_rels/slide2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af39f533d5aa470b"/><Relationship Type="http://schemas.openxmlformats.org/officeDocument/2006/relationships/image" Target="/ppt/media/image23.png" Id="Rc42c7949e44f4058"/><Relationship Type="http://schemas.openxmlformats.org/officeDocument/2006/relationships/notesSlide" Target="/ppt/notesSlides/notesSlide23.xml" Id="Rf08ac9f1638343e1"/><Relationship Id="rIdDspiraLink1" Type="http://schemas.openxmlformats.org/officeDocument/2006/relationships/hyperlink" Target="http://htwins.net/scale2/" TargetMode="External"/><Relationship Id="rIdDspiraLink2" Type="http://schemas.openxmlformats.org/officeDocument/2006/relationships/hyperlink" Target="http://www.youtube.com/watch?" TargetMode="External"/></Relationships>
</file>

<file path=ppt/slides/_rels/slide2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4dc54ef4833343e0"/><Relationship Type="http://schemas.openxmlformats.org/officeDocument/2006/relationships/image" Target="/ppt/media/image24.png" Id="R76ff03c45aa74da9"/><Relationship Type="http://schemas.openxmlformats.org/officeDocument/2006/relationships/notesSlide" Target="/ppt/notesSlides/notesSlide24.xml" Id="R32540b71cc084a58"/><Relationship Id="rIdDspiraLink1" Type="http://schemas.openxmlformats.org/officeDocument/2006/relationships/hyperlink" Target="https://www.youtube.com/watch?" TargetMode="External"/></Relationships>
</file>

<file path=ppt/slides/_rels/slide2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e62f3b2459fc48ad"/><Relationship Type="http://schemas.openxmlformats.org/officeDocument/2006/relationships/image" Target="/ppt/media/image25.png" Id="R543bbeaa66a649d7"/><Relationship Type="http://schemas.openxmlformats.org/officeDocument/2006/relationships/notesSlide" Target="/ppt/notesSlides/notesSlide25.xml" Id="Rcc283c5deffd410a"/></Relationships>
</file>

<file path=ppt/slides/_rels/slide2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6daf60d1e52e4b19"/><Relationship Type="http://schemas.openxmlformats.org/officeDocument/2006/relationships/image" Target="/ppt/media/image26.png" Id="R12c445a6e8754bbb"/><Relationship Type="http://schemas.openxmlformats.org/officeDocument/2006/relationships/notesSlide" Target="/ppt/notesSlides/notesSlide26.xml" Id="Rab66938369284f6e"/><Relationship Id="rIdDspiraLink1" Type="http://schemas.openxmlformats.org/officeDocument/2006/relationships/hyperlink" Target="https://www.youtube.com/watch?" TargetMode="External"/></Relationships>
</file>

<file path=ppt/slides/_rels/slide2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ba2510648fb94201"/><Relationship Type="http://schemas.openxmlformats.org/officeDocument/2006/relationships/image" Target="/ppt/media/image27.png" Id="R41d224c22f7f45d2"/><Relationship Type="http://schemas.openxmlformats.org/officeDocument/2006/relationships/notesSlide" Target="/ppt/notesSlides/notesSlide27.xml" Id="R4376212d8ed049ad"/></Relationships>
</file>

<file path=ppt/slides/_rels/slide2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291c9caf25ef4993"/><Relationship Type="http://schemas.openxmlformats.org/officeDocument/2006/relationships/image" Target="/ppt/media/image28.png" Id="R9381750c24234be3"/><Relationship Type="http://schemas.openxmlformats.org/officeDocument/2006/relationships/notesSlide" Target="/ppt/notesSlides/notesSlide28.xml" Id="R5be9686f16f74ae7"/></Relationships>
</file>

<file path=ppt/slides/_rels/slide2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e67ddd0743df4825"/><Relationship Type="http://schemas.openxmlformats.org/officeDocument/2006/relationships/image" Target="/ppt/media/image29.png" Id="R7087b48d12364dca"/><Relationship Type="http://schemas.openxmlformats.org/officeDocument/2006/relationships/notesSlide" Target="/ppt/notesSlides/notesSlide29.xml" Id="R162bbdd8160c4610"/></Relationships>
</file>

<file path=ppt/slides/slide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An Introduction to Astronomy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bec12eb343422d"/>
          <ns0:srcRect xmlns:ns0="http://schemas.openxmlformats.org/drawingml/2006/main" l="79" r="0" t="11746" b="11534"/>
          <a:stretch xmlns:a="http://schemas.openxmlformats.org/drawingml/2006/main"/>
        </p:blipFill>
        <p:spPr>
          <a:xfrm xmlns:a="http://schemas.openxmlformats.org/drawingml/2006/main">
            <a:off x="2567327" y="2095500"/>
            <a:ext cx="7057346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7266182"/>
      </p:ext>
    </p:extLst>
  </p:cSld>
</p:sld>
</file>

<file path=ppt/slides/slide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A Rough Course Outline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775e7b39f4519"/>
          <ns0:srcRect xmlns:ns0="http://schemas.openxmlformats.org/drawingml/2006/main" l="10794" r="87937" t="19365" b="27090"/>
          <a:stretch xmlns:a="http://schemas.openxmlformats.org/drawingml/2006/main"/>
        </p:blipFill>
        <p:spPr>
          <a:xfrm xmlns:a="http://schemas.openxmlformats.org/drawingml/2006/main">
            <a:off x="3373242" y="2503829"/>
            <a:ext cx="109252" cy="3455091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15406D-5E8F-461C-952D-6417AD371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0817" y="2095500"/>
            <a:ext cx="5467365" cy="3823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82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882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Part I - Introductory material – Today to 6-July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709944-63ED-49AA-AD7B-1E3B42A4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9741" y="2430084"/>
            <a:ext cx="2753514" cy="3823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motions in the sky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CF705E-60FA-4098-92D1-B64C5D4B7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9858" y="2764668"/>
            <a:ext cx="3213692" cy="3823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Early history of Astronomy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EA7541-6565-423D-8E01-BAC796C1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9858" y="3099252"/>
            <a:ext cx="2514170" cy="3823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 and telescopes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3AD0A3-D97F-4349-9EA6-3B9D3A04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0817" y="3433836"/>
            <a:ext cx="3785119" cy="3823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82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882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Part II – Stars – 7-July to 10-July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04EA3B-F40B-4EB5-A584-BC862D16F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9858" y="3768420"/>
            <a:ext cx="2175523" cy="3823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and the Sun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43CA34-37B7-4F9B-831B-A7A15A34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9858" y="4103004"/>
            <a:ext cx="4072620" cy="3823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Stellar birth, evolution, and death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7A2070-0F96-43D8-9508-82F09F9B5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0817" y="4437588"/>
            <a:ext cx="6270367" cy="3823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82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882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Part III - Galaxies and cosmology – 11-July to 19-July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E6A2F1-2469-4EC1-B1F7-54598109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9858" y="4773367"/>
            <a:ext cx="3691434" cy="3823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 and the Interstellar Medium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19554E-A472-4053-A266-AD252AF00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9741" y="5107950"/>
            <a:ext cx="1752147" cy="3823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Milky Way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21595C-44B9-4E55-99C2-4FABA4D0F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9741" y="5442534"/>
            <a:ext cx="4851845" cy="3823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origin and evolution of the Universe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C06D70-9DD2-4348-BB22-6D04452AD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9858" y="5777118"/>
            <a:ext cx="2163574" cy="3823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Life Beyond Earth</a:t>
            </a:r>
          </a:p>
        </p:txBody>
      </p:sp>
    </p:spTree>
    <p:extLst>
      <p:ext uri="{BB962C8B-B14F-4D97-AF65-F5344CB8AC3E}">
        <p14:creationId xmlns:p14="http://schemas.microsoft.com/office/powerpoint/2010/main" val="616546258"/>
      </p:ext>
    </p:extLst>
  </p:cSld>
</p:sld>
</file>

<file path=ppt/slides/slide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Goals for Today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051561-18DD-49A4-9FDA-614FE26DE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0028" y="2095500"/>
            <a:ext cx="277373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Goals for Today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A9CD2A-A07A-46A7-B266-605315DC7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0028" y="2593340"/>
            <a:ext cx="549194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Scientific notation and units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CEF88C-208C-4D1C-866C-E218315E2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0028" y="3091180"/>
            <a:ext cx="315921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2) Where are we?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8DB3F5-D4C7-4CCD-9989-3D5ACC606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0028" y="3589020"/>
            <a:ext cx="436789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 How did we get here?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5BEC0F-DAC6-41D5-BDF0-E70E2C23A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0028" y="4086860"/>
            <a:ext cx="51567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4)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89741B-360F-4087-8501-B4777BA5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7548" y="4086860"/>
            <a:ext cx="3744175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CC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CC0000"/>
                </a:solidFill>
                <a:latin typeface="Arial"/>
                <a:ea typeface="Arial"/>
                <a:cs typeface="Arial"/>
              </a:rPr>
              <a:t>How are we moving?</a:t>
            </a:r>
          </a:p>
        </p:txBody>
      </p:sp>
    </p:spTree>
    <p:extLst>
      <p:ext uri="{BB962C8B-B14F-4D97-AF65-F5344CB8AC3E}">
        <p14:creationId xmlns:p14="http://schemas.microsoft.com/office/powerpoint/2010/main" val="164167903"/>
      </p:ext>
    </p:extLst>
  </p:cSld>
</p:sld>
</file>

<file path=ppt/slides/slide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Units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063136388240d8"/>
          <ns0:srcRect xmlns:ns0="http://schemas.openxmlformats.org/drawingml/2006/main" l="18333" r="6111" t="25820" b="69312"/>
          <a:stretch xmlns:a="http://schemas.openxmlformats.org/drawingml/2006/main"/>
        </p:blipFill>
        <p:spPr>
          <a:xfrm xmlns:a="http://schemas.openxmlformats.org/drawingml/2006/main">
            <a:off x="3874317" y="2755742"/>
            <a:ext cx="5217142" cy="252089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EEE97B-2347-4F43-8B11-BA9B7F55B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2696" y="2095500"/>
            <a:ext cx="5210231" cy="3391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9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69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 astronomy (and science in general) we use SI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9FB3B3-8D43-4C38-8926-7A55AFB26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0536" y="2298815"/>
            <a:ext cx="3396187" cy="3391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9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69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(Systeme Internationale) units.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AC083A-2206-44C7-B2CB-D85DAD773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2592" y="2555836"/>
            <a:ext cx="6146816" cy="3391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9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69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SI system uses length, mass, time, and temperature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5E76FB-3DCF-4549-895C-21093E227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0536" y="2760109"/>
            <a:ext cx="2361021" cy="3391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9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69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as its basic properties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B01C2B-978C-4B37-94A7-AFA75D734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2592" y="3324981"/>
            <a:ext cx="4282429" cy="3391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9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69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basic units for these properties are: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16AB9B-76E9-4CC0-9F2E-5281D946D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2696" y="3606937"/>
            <a:ext cx="5160073" cy="3391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9" b="0" i="0">
                <a:solidFill>
                  <a:srgbClr val="FF3333"/>
                </a:solidFill>
                <a:latin typeface="Arial"/>
                <a:ea typeface="Arial"/>
                <a:cs typeface="Arial"/>
              </a:defRPr>
            </a:pPr>
            <a:r>
              <a:rPr sz="1669" b="0" i="0">
                <a:solidFill>
                  <a:srgbClr val="FF3333"/>
                </a:solidFill>
                <a:latin typeface="Arial"/>
                <a:ea typeface="Arial"/>
                <a:cs typeface="Arial"/>
              </a:rPr>
              <a:t>       length: the meter (m) (about a yard, 3 feet)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AA54CE-27ED-47A3-959B-875B2FBB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2696" y="3889852"/>
            <a:ext cx="4455770" cy="3391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9" b="0" i="0">
                <a:solidFill>
                  <a:srgbClr val="FF3333"/>
                </a:solidFill>
                <a:latin typeface="Arial"/>
                <a:ea typeface="Arial"/>
                <a:cs typeface="Arial"/>
              </a:defRPr>
            </a:pPr>
            <a:r>
              <a:rPr sz="1669" b="0" i="0">
                <a:solidFill>
                  <a:srgbClr val="FF3333"/>
                </a:solidFill>
                <a:latin typeface="Arial"/>
                <a:ea typeface="Arial"/>
                <a:cs typeface="Arial"/>
              </a:rPr>
              <a:t>       mass: the kilogram (kg) (2.2 pounds)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56CEAB-666B-4B11-8E8C-DCCD4F3D8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2696" y="4171807"/>
            <a:ext cx="2641505" cy="3391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9" b="0" i="0">
                <a:solidFill>
                  <a:srgbClr val="FF3333"/>
                </a:solidFill>
                <a:latin typeface="Arial"/>
                <a:ea typeface="Arial"/>
                <a:cs typeface="Arial"/>
              </a:defRPr>
            </a:pPr>
            <a:r>
              <a:rPr sz="1669" b="0" i="0">
                <a:solidFill>
                  <a:srgbClr val="FF3333"/>
                </a:solidFill>
                <a:latin typeface="Arial"/>
                <a:ea typeface="Arial"/>
                <a:cs typeface="Arial"/>
              </a:rPr>
              <a:t>       time: the second (s)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E155D6-0A65-432D-BE55-DEFCD41DA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2696" y="4454722"/>
            <a:ext cx="5765180" cy="3391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9" b="0" i="0">
                <a:solidFill>
                  <a:srgbClr val="FF3333"/>
                </a:solidFill>
                <a:latin typeface="Arial"/>
                <a:ea typeface="Arial"/>
                <a:cs typeface="Arial"/>
              </a:defRPr>
            </a:pPr>
            <a:r>
              <a:rPr sz="1669" b="0" i="0">
                <a:solidFill>
                  <a:srgbClr val="FF3333"/>
                </a:solidFill>
                <a:latin typeface="Arial"/>
                <a:ea typeface="Arial"/>
                <a:cs typeface="Arial"/>
              </a:rPr>
              <a:t>       temperature: the Kelvin (K) (same increments as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D5FFE6-D756-4A91-B0EA-19788E301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0536" y="4683931"/>
            <a:ext cx="3834488" cy="3391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9" b="0" i="0">
                <a:solidFill>
                  <a:srgbClr val="FF3333"/>
                </a:solidFill>
                <a:latin typeface="Arial"/>
                <a:ea typeface="Arial"/>
                <a:cs typeface="Arial"/>
              </a:defRPr>
            </a:pPr>
            <a:r>
              <a:rPr sz="1669" b="0" i="0">
                <a:solidFill>
                  <a:srgbClr val="FF3333"/>
                </a:solidFill>
                <a:latin typeface="Arial"/>
                <a:ea typeface="Arial"/>
                <a:cs typeface="Arial"/>
              </a:rPr>
              <a:t>     Celsius, but 273 degrees higher)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A47842-7BC7-47BE-BC56-B69F4EC59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2696" y="5248802"/>
            <a:ext cx="4293565" cy="3391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9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69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We will encounter some other units also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995B34-71BB-4C90-BFAA-9093CA4A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0136" y="5565283"/>
            <a:ext cx="4982609" cy="3391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9" b="0" i="0">
                <a:solidFill>
                  <a:srgbClr val="FF3333"/>
                </a:solidFill>
                <a:latin typeface="Arial"/>
                <a:ea typeface="Arial"/>
                <a:cs typeface="Arial"/>
              </a:defRPr>
            </a:pPr>
            <a:r>
              <a:rPr sz="1669" b="0" i="0">
                <a:solidFill>
                  <a:srgbClr val="FF3333"/>
                </a:solidFill>
                <a:latin typeface="Arial"/>
                <a:ea typeface="Arial"/>
                <a:cs typeface="Arial"/>
              </a:rPr>
              <a:t>Light years, parsecs, astronomical units, solar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BDA681-BFE1-4B41-9F14-D5545B97F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8656" y="5820386"/>
            <a:ext cx="1295153" cy="3391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9" b="0" i="0">
                <a:solidFill>
                  <a:srgbClr val="FF3333"/>
                </a:solidFill>
                <a:latin typeface="Arial"/>
                <a:ea typeface="Arial"/>
                <a:cs typeface="Arial"/>
              </a:defRPr>
            </a:pPr>
            <a:r>
              <a:rPr sz="1669" b="0" i="0">
                <a:solidFill>
                  <a:srgbClr val="FF3333"/>
                </a:solidFill>
                <a:latin typeface="Arial"/>
                <a:ea typeface="Arial"/>
                <a:cs typeface="Arial"/>
              </a:rPr>
              <a:t>masses etc.</a:t>
            </a:r>
          </a:p>
        </p:txBody>
      </p:sp>
    </p:spTree>
    <p:extLst>
      <p:ext uri="{BB962C8B-B14F-4D97-AF65-F5344CB8AC3E}">
        <p14:creationId xmlns:p14="http://schemas.microsoft.com/office/powerpoint/2010/main" val="913705525"/>
      </p:ext>
    </p:extLst>
  </p:cSld>
</p:sld>
</file>

<file path=ppt/slides/slide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Scientific Notation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2388ED-76AB-4585-970C-D1C65AD6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6899" y="2095500"/>
            <a:ext cx="6167251" cy="3764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5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Astronomers use numbers that are often very large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171C38-997B-4879-BD91-669840C6C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5424" y="2370457"/>
            <a:ext cx="4751281" cy="3764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5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or small and writing out the numbers is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C013F3-3E17-4BE4-9655-D7018C02A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5424" y="2645414"/>
            <a:ext cx="1719596" cy="3764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5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cumbersome.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76745C-9568-40EE-8214-FFDF414EB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6899" y="3231062"/>
            <a:ext cx="168577" cy="3764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2" b="0" i="0">
                <a:solidFill>
                  <a:srgbClr val="333399"/>
                </a:solidFill>
                <a:latin typeface="Arial"/>
                <a:ea typeface="Arial"/>
                <a:cs typeface="Arial"/>
              </a:defRPr>
            </a:pPr>
            <a:r>
              <a:rPr sz="1852" b="0" i="0">
                <a:solidFill>
                  <a:srgbClr val="33339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A55278-D556-40FD-8E50-C1FE189FC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5424" y="3232054"/>
            <a:ext cx="4032505" cy="3764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5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The distance to the nearest star: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B3B7F7-81D4-4AF6-9EFA-3D1D1165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5424" y="3451424"/>
            <a:ext cx="2792338" cy="3764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5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40,000,000,000,000km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30398D-68A2-4E72-B7D6-9A3AA773D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6899" y="3714468"/>
            <a:ext cx="168577" cy="3764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2" b="0" i="0">
                <a:solidFill>
                  <a:srgbClr val="333399"/>
                </a:solidFill>
                <a:latin typeface="Arial"/>
                <a:ea typeface="Arial"/>
                <a:cs typeface="Arial"/>
              </a:defRPr>
            </a:pPr>
            <a:r>
              <a:rPr sz="1852" b="0" i="0">
                <a:solidFill>
                  <a:srgbClr val="33339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33233C-BC21-4808-B979-E7376A952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5424" y="3715462"/>
            <a:ext cx="6059676" cy="3764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5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The radius of an atomic nucleus: 0.0000000001 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C60A3D-6F52-4A92-BA14-59F20C637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6899" y="4243537"/>
            <a:ext cx="960197" cy="3764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5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We use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9F5906-A7F5-484F-9C5D-82AD9229D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8973" y="4243538"/>
            <a:ext cx="2442289" cy="3764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2" b="1" i="1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852" b="1" i="1">
                <a:solidFill>
                  <a:srgbClr val="FF0000"/>
                </a:solidFill>
                <a:latin typeface="Arial"/>
                <a:ea typeface="Arial"/>
                <a:cs typeface="Arial"/>
              </a:rPr>
              <a:t>scientific notation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55C79D-B38B-400C-9E49-953D7C883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7407" y="4243538"/>
            <a:ext cx="2442523" cy="3764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5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to express numbers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1DFC92-90CF-482D-B9E9-6A5CF8DF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5424" y="4463899"/>
            <a:ext cx="1294256" cy="3764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5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compactly.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39EE64-A634-4BE0-B1DF-478A8EAB6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6899" y="4990983"/>
            <a:ext cx="168577" cy="3764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2" b="0" i="0">
                <a:solidFill>
                  <a:srgbClr val="333399"/>
                </a:solidFill>
                <a:latin typeface="Arial"/>
                <a:ea typeface="Arial"/>
                <a:cs typeface="Arial"/>
              </a:defRPr>
            </a:pPr>
            <a:r>
              <a:rPr sz="1852" b="0" i="0">
                <a:solidFill>
                  <a:srgbClr val="33339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00D960-99EF-4E0B-BFAA-3CB801746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698" y="4990983"/>
            <a:ext cx="4131131" cy="3764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5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The distance to the nearest star 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7AEBCC-0376-4E57-8F49-3982B7633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5985" y="4990983"/>
            <a:ext cx="768231" cy="3764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5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4 x 10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E6442B-77E1-4F89-8EE1-D5005620B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6487" y="5041607"/>
            <a:ext cx="202623" cy="2175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7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07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883D87-7A45-422B-A6DA-4C959D340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0197" y="4990983"/>
            <a:ext cx="469932" cy="3764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5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km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866DAD-0DD3-4024-AD0B-E6543C59A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6904" y="5255021"/>
            <a:ext cx="3206649" cy="3764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5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 (4 times 10 to the 13 km)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264211-70E1-4703-A4D3-68D5BF0F5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6899" y="5518066"/>
            <a:ext cx="168577" cy="3764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2" b="0" i="0">
                <a:solidFill>
                  <a:srgbClr val="333399"/>
                </a:solidFill>
                <a:latin typeface="Arial"/>
                <a:ea typeface="Arial"/>
                <a:cs typeface="Arial"/>
              </a:defRPr>
            </a:pPr>
            <a:r>
              <a:rPr sz="1852" b="0" i="0">
                <a:solidFill>
                  <a:srgbClr val="33339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EF5815-6BC6-4B5A-9CD6-018C1349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5424" y="5519059"/>
            <a:ext cx="4954933" cy="3764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5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The radius of an atomic nucleus is 1 x 10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9465C4-ACA4-4A2B-A26E-75B5B30F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779" y="5573653"/>
            <a:ext cx="252936" cy="2175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7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07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-10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17082A-D87B-434E-A749-160029AE3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119" y="5519059"/>
            <a:ext cx="334195" cy="3764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5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289FD0-82F7-45D2-AC6F-A69F96A8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6899" y="5783097"/>
            <a:ext cx="3860175" cy="3764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5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 (1 times 10 to the minus 10 m)</a:t>
            </a:r>
          </a:p>
        </p:txBody>
      </p:sp>
    </p:spTree>
    <p:extLst>
      <p:ext uri="{BB962C8B-B14F-4D97-AF65-F5344CB8AC3E}">
        <p14:creationId xmlns:p14="http://schemas.microsoft.com/office/powerpoint/2010/main" val="836473884"/>
      </p:ext>
    </p:extLst>
  </p:cSld>
</p:sld>
</file>

<file path=ppt/slides/slide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3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Scientific Notation</a:t>
            </a:r>
          </a:p>
        </p:txBody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45bca6edb94996"/>
          <ns0:srcRect xmlns:ns0="http://schemas.openxmlformats.org/drawingml/2006/main" l="52778" r="23968" t="68995" b="10265"/>
          <a:stretch xmlns:a="http://schemas.openxmlformats.org/drawingml/2006/main"/>
        </p:blipFill>
        <p:spPr>
          <a:xfrm xmlns:a="http://schemas.openxmlformats.org/drawingml/2006/main">
            <a:off x="6462514" y="4983482"/>
            <a:ext cx="1601840" cy="1071538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26B488-5A6F-4060-98EA-AC8DAF639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0246" y="2095500"/>
            <a:ext cx="5711627" cy="387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Positive exponents and common abbreviations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6679EF-9CE1-4A8B-8638-DA489DC8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0128" y="2373909"/>
            <a:ext cx="2532131" cy="387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6" b="0" i="0">
                <a:solidFill>
                  <a:srgbClr val="800000"/>
                </a:solidFill>
                <a:latin typeface="Arial"/>
                <a:ea typeface="Arial"/>
                <a:cs typeface="Arial"/>
              </a:defRPr>
            </a:pPr>
            <a:r>
              <a:rPr sz="1906" b="0" i="0">
                <a:solidFill>
                  <a:srgbClr val="800000"/>
                </a:solidFill>
                <a:latin typeface="Arial"/>
                <a:ea typeface="Arial"/>
                <a:cs typeface="Arial"/>
              </a:rPr>
              <a:t>Just count the zeros!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54A417-42C8-4958-8CFD-EAE28927B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0246" y="3053187"/>
            <a:ext cx="337320" cy="387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F286B1-935F-485B-906A-8F2062607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227" y="3108449"/>
            <a:ext cx="118149" cy="225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10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D8E417-F5B6-409C-B056-D59B0CF8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0159" y="3053187"/>
            <a:ext cx="1450770" cy="387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10 = ten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BEF072-F8D5-46A0-A614-C960C726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0246" y="3393784"/>
            <a:ext cx="337321" cy="387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909D84-D455-40C1-8C9B-CCF3CE06A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227" y="3449045"/>
            <a:ext cx="118149" cy="225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10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16DEDC-7001-4B0F-AA85-13E358DE1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0159" y="3393784"/>
            <a:ext cx="3339997" cy="387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10x10 = 100 = hundred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238595-0C24-4A7F-986E-A21D26D90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0246" y="3733423"/>
            <a:ext cx="337321" cy="387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9D823F-027F-4445-914C-566D14B5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227" y="3788684"/>
            <a:ext cx="118149" cy="225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10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3D457D-006A-4A40-9B00-34BF11AC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0159" y="3733423"/>
            <a:ext cx="4223017" cy="387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10x10x10 = 1,000 = thousand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753BE2-47AD-4E1A-A6C1-BCD8C80C7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2120" y="3733423"/>
            <a:ext cx="951888" cy="387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6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906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(kilo- k)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AB64A6-27CE-479E-9756-B434C22AA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0246" y="4073063"/>
            <a:ext cx="337320" cy="387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D75825-68DC-4EC7-AEFD-6DBEA84A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227" y="4128323"/>
            <a:ext cx="118149" cy="225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10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CBC9F-4307-42C4-931E-06283D6F7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0159" y="4073063"/>
            <a:ext cx="3202270" cy="387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10,000 = ten thousand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011AFD-F346-46CC-9EE8-444C8F3D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0246" y="4412702"/>
            <a:ext cx="337321" cy="387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67DE2B-C517-42EC-8314-0C9DB994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227" y="4467962"/>
            <a:ext cx="118149" cy="225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10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974011-11E0-47D0-A911-1F45A215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0159" y="4412702"/>
            <a:ext cx="3972239" cy="387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100,000 = hundred thousand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BC965C-DA61-49B8-911A-A31E43D6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0246" y="4752342"/>
            <a:ext cx="337321" cy="387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2E981A-63E2-40A9-BC43-441FEC39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227" y="4807601"/>
            <a:ext cx="118149" cy="225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10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ADAF5B-38FB-45FE-AC48-0F91843E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0159" y="4752342"/>
            <a:ext cx="2867267" cy="387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1,000,000 = million 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4661CE-B861-4FED-9A29-C7BABF704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562" y="4752342"/>
            <a:ext cx="1256152" cy="387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6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906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(Mega- M)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79E41A-0551-487F-8C33-4F07CDB77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0246" y="5091981"/>
            <a:ext cx="337320" cy="387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F7744C-CCBE-4ADE-AA23-F59F68838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227" y="5148198"/>
            <a:ext cx="118149" cy="225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10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B87E54-7926-41C6-A498-C365B0DD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0159" y="5091981"/>
            <a:ext cx="3138854" cy="387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10,000,000 ten million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4176FD-FEFF-4427-89A4-A4E57FA1E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0246" y="5432576"/>
            <a:ext cx="337321" cy="387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7A9E2E-29CC-401D-A149-28F6BF29D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227" y="5487837"/>
            <a:ext cx="118149" cy="225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10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130CE0-8D89-4444-BA19-C8DC88D8E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0159" y="5432576"/>
            <a:ext cx="4190090" cy="387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100,000,000 = hundred million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A2BFA28-D586-47E1-8984-B9FF0238D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0246" y="5772215"/>
            <a:ext cx="337321" cy="387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AB9125-0B75-46F5-8059-7669BA9D2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227" y="5827477"/>
            <a:ext cx="118149" cy="2250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10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978FAF-6F15-4112-800E-BE9DE371F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0159" y="5772215"/>
            <a:ext cx="3325962" cy="387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1,000,000,000 = billion 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F63DAFB-2999-47ED-BB51-8DE703D45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93" y="5772215"/>
            <a:ext cx="1130772" cy="387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06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906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(Giga- G)</a:t>
            </a:r>
          </a:p>
        </p:txBody>
      </p:sp>
    </p:spTree>
    <p:extLst>
      <p:ext uri="{BB962C8B-B14F-4D97-AF65-F5344CB8AC3E}">
        <p14:creationId xmlns:p14="http://schemas.microsoft.com/office/powerpoint/2010/main" val="1656869322"/>
      </p:ext>
    </p:extLst>
  </p:cSld>
</p:sld>
</file>

<file path=ppt/slides/slide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3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Scientific Notation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7c7a59df504fa0"/>
          <ns0:srcRect xmlns:ns0="http://schemas.openxmlformats.org/drawingml/2006/main" l="66746" r="12778" t="49841" b="10159"/>
          <a:stretch xmlns:a="http://schemas.openxmlformats.org/drawingml/2006/main"/>
        </p:blipFill>
        <p:spPr>
          <a:xfrm xmlns:a="http://schemas.openxmlformats.org/drawingml/2006/main">
            <a:off x="7311980" y="3985506"/>
            <a:ext cx="1404674" cy="2058011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CDC4AE-FE5B-4258-A8E4-87DD804F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4780" y="2095500"/>
            <a:ext cx="4456916" cy="410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1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Negative exponents and common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7312BF-B53A-4033-8381-A42D5E8F9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1061" y="2342271"/>
            <a:ext cx="1778075" cy="410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1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abbreviations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6313E6-76A1-440C-998E-333BE16E0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4780" y="2637633"/>
            <a:ext cx="5902440" cy="410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8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018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Count the zeros (including the one to the left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9A4919-8DD5-4AFC-97EB-587DAA802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1061" y="2884404"/>
            <a:ext cx="2851983" cy="410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8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018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of the decimal place)!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CA86FA-FBE4-4C26-B99F-D7467B891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4780" y="3457027"/>
            <a:ext cx="355107" cy="410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1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FCADEB-EF1C-479A-8F41-958C0272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2537" y="3516557"/>
            <a:ext cx="176474" cy="2378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1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4263D5-8FA8-4360-AD4C-1725754E1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0218" y="3457027"/>
            <a:ext cx="3599599" cy="410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1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(1/10) = 0.1 = one tenth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056E84-88B5-4E4F-814D-34C5298A8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4780" y="3743814"/>
            <a:ext cx="355107" cy="410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1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47DE3C-A828-45B0-838E-7A78BE25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2537" y="3802392"/>
            <a:ext cx="176474" cy="2378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1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805085-AE02-4572-950E-672D7A7C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0218" y="3743814"/>
            <a:ext cx="4363876" cy="410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1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(1/100) = 0.01 one hundredth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74A963-9026-4FE6-BDB5-FB1CFA3C8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3003" y="3743814"/>
            <a:ext cx="865041" cy="410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8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018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(centi)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505A01-379B-4FD0-BBDF-460732E0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4780" y="4030602"/>
            <a:ext cx="355107" cy="410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1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DF98A-2638-4B1F-B9AA-794F33E1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2537" y="4089179"/>
            <a:ext cx="176474" cy="2378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1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360408-3E13-4F04-82FF-53FCB5966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0218" y="4030602"/>
            <a:ext cx="3631633" cy="410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1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0.001 = one thousandth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FC8423-1DB1-4CD9-84EE-69E701E9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0313" y="4030602"/>
            <a:ext cx="767858" cy="410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8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018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(milli)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85F022-7B52-418C-B1ED-19B80855C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4780" y="4317390"/>
            <a:ext cx="355107" cy="410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1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FC4D47-F6AB-49F0-8844-8F02FA6FA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2537" y="4375967"/>
            <a:ext cx="176474" cy="2378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1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70422D-06C5-485E-9D56-2D6D63925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0218" y="4317390"/>
            <a:ext cx="4216254" cy="410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1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0.0001 = one ten thousandth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1C23C2-970B-409E-90FF-F0DE8B49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4780" y="4603225"/>
            <a:ext cx="355107" cy="410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1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13D6FA-42CE-4207-861A-CC747F76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2537" y="4662755"/>
            <a:ext cx="176474" cy="2378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1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4DBF94-260D-41B0-B997-798008FA4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0218" y="4603225"/>
            <a:ext cx="5032054" cy="410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1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0.00001 = one hundred thousandth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A68B69-5A79-4AC8-BF52-8C9061188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4780" y="4890013"/>
            <a:ext cx="355107" cy="410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1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507872-F40C-4F72-98F9-7F73D4320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2537" y="4948590"/>
            <a:ext cx="176474" cy="2378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1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D60136-E83A-41F2-A9B7-8CB09D609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0218" y="4890013"/>
            <a:ext cx="4707615" cy="410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1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0.000001 = one millionth (micro)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A2375C-1DBB-4A44-ACCD-E6D3EF3D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4780" y="5176800"/>
            <a:ext cx="355107" cy="410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1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A6B3B5-8D32-4A70-9C4A-B18C2D480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2537" y="5235377"/>
            <a:ext cx="176474" cy="2378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1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367AF5-2671-4374-990F-B5504F539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0218" y="5176800"/>
            <a:ext cx="4361833" cy="410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1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0.0000001 = one ten millionth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CC83A1-8D74-43B1-9DB6-D2FEF0DB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4780" y="5463587"/>
            <a:ext cx="355107" cy="410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1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7A2219-B6D6-483F-9B90-5CC44E370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2537" y="5522165"/>
            <a:ext cx="176474" cy="2378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1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BC5E326-DC04-4AF8-990F-EC6F4024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0218" y="5463587"/>
            <a:ext cx="5178395" cy="410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1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0.00000001 = one hundred millionth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A681771-4CF5-4BDF-B2E2-EB730677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4780" y="5749422"/>
            <a:ext cx="355107" cy="410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1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1029A4C-AC36-4F94-8CAB-012830709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2537" y="5808953"/>
            <a:ext cx="176474" cy="2378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1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-9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38E81DD-E500-467F-A82C-55D08A225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0218" y="5749422"/>
            <a:ext cx="5195595" cy="410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1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0.000000001 = one billionth (nano)  </a:t>
            </a:r>
          </a:p>
        </p:txBody>
      </p:sp>
    </p:spTree>
    <p:extLst>
      <p:ext uri="{BB962C8B-B14F-4D97-AF65-F5344CB8AC3E}">
        <p14:creationId xmlns:p14="http://schemas.microsoft.com/office/powerpoint/2010/main" val="307268482"/>
      </p:ext>
    </p:extLst>
  </p:cSld>
</p:sld>
</file>

<file path=ppt/slides/slide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For you to do....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7C9F02-C245-4EEC-B468-629E98E4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344" y="2095500"/>
            <a:ext cx="5842092" cy="5914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Write the following in scientific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604572-9920-4B95-ACFF-278244C2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248" y="2539097"/>
            <a:ext cx="3153525" cy="5914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notation (3 min):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A26A02-2311-4A95-B363-3583B65E2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344" y="3609970"/>
            <a:ext cx="6621714" cy="5914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100 billion (# stars in Milky Way)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158A86-4CD2-4686-864B-609C22A10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344" y="4145983"/>
            <a:ext cx="5755965" cy="5914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 0.009154 (Earth's diameter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EF64E1-ADAF-43CD-812E-FD10B099C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248" y="4589581"/>
            <a:ext cx="4360106" cy="5914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compared to the Sun's)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442069-5992-4576-BE06-AACE1C91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344" y="5125594"/>
            <a:ext cx="6797312" cy="5914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 18,332,507,225,851 (US national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5C3929-F09C-40E0-A38E-AFFAF584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248" y="5568037"/>
            <a:ext cx="5206278" cy="5914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91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debt as of    4 August 2015)</a:t>
            </a:r>
          </a:p>
        </p:txBody>
      </p:sp>
    </p:spTree>
    <p:extLst>
      <p:ext uri="{BB962C8B-B14F-4D97-AF65-F5344CB8AC3E}">
        <p14:creationId xmlns:p14="http://schemas.microsoft.com/office/powerpoint/2010/main" val="978819477"/>
      </p:ext>
    </p:extLst>
  </p:cSld>
</p:sld>
</file>

<file path=ppt/slides/slide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For you to do....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5B9ECA-7F35-4DD0-A7F8-E1A070ED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4354" y="2095500"/>
            <a:ext cx="602123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Write the following in scientific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ACFAD7-1E2F-4FCD-A153-73C74D51A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5823" y="2552700"/>
            <a:ext cx="32502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notation (3 min):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E58A64-1C65-4BE6-B1A8-66C8F371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4354" y="3656409"/>
            <a:ext cx="489881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100 billion = 1.00 x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828081-B301-4345-94D4-71094FDE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010" y="3684556"/>
            <a:ext cx="315859" cy="354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4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744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A0A35C-B78D-4519-8EF8-3BFB305E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4354" y="4208859"/>
            <a:ext cx="473193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 0.009154 = 9.15 x 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747FBA-FE5F-4719-893B-0A3D43B8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7323" y="4235815"/>
            <a:ext cx="256289" cy="354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4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744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FADEEE-0890-4785-9635-29E584166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4354" y="4761309"/>
            <a:ext cx="679429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 18,332,507,225,851 = 1.83 x 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DAAD8C-1B88-4454-B948-E4BD86AB1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0676" y="4788265"/>
            <a:ext cx="316971" cy="3543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4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744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441861627"/>
      </p:ext>
    </p:extLst>
  </p:cSld>
</p:sld>
</file>

<file path=ppt/slides/slide1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Where are we?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248325-097E-4C56-AED7-2E3FB4240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2507" y="2095500"/>
            <a:ext cx="6312539" cy="4227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1" b="0" i="1">
                <a:solidFill>
                  <a:srgbClr val="004A4A"/>
                </a:solidFill>
                <a:latin typeface="Arial"/>
                <a:ea typeface="Arial"/>
                <a:cs typeface="Arial"/>
              </a:defRPr>
            </a:pPr>
            <a:r>
              <a:rPr sz="2081" b="0" i="1">
                <a:solidFill>
                  <a:srgbClr val="004A4A"/>
                </a:solidFill>
                <a:latin typeface="Arial"/>
                <a:ea typeface="Arial"/>
                <a:cs typeface="Arial"/>
              </a:rPr>
              <a:t>“I’m a lonely insignificant speck on a has-been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25ED5C-2F89-4EF2-992F-5AB986274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2378" y="2413612"/>
            <a:ext cx="6009691" cy="4227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1" b="0" i="1">
                <a:solidFill>
                  <a:srgbClr val="004A4A"/>
                </a:solidFill>
                <a:latin typeface="Arial"/>
                <a:ea typeface="Arial"/>
                <a:cs typeface="Arial"/>
              </a:defRPr>
            </a:pPr>
            <a:r>
              <a:rPr sz="2081" b="0" i="1">
                <a:solidFill>
                  <a:srgbClr val="004A4A"/>
                </a:solidFill>
                <a:latin typeface="Arial"/>
                <a:ea typeface="Arial"/>
                <a:cs typeface="Arial"/>
              </a:rPr>
              <a:t>planet orbited by a cold and indifferent sun.”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397F70-ED9C-45AE-9901-B8193B884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6685" y="2413612"/>
            <a:ext cx="247489" cy="4227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4C4730-C895-428C-B402-5E3D0C6F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2507" y="2730688"/>
            <a:ext cx="6526646" cy="4227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Homer in “El Viaje Misterioso de Nuestro Homer”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24A1A4-78D8-400E-B9AA-8CED9822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8297" y="3471568"/>
            <a:ext cx="423730" cy="4227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8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B1F221-CA8B-491B-9A6F-E600D7A22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2507" y="4222229"/>
            <a:ext cx="6509521" cy="4824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7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live on a rocky planet in the inner part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D20F7E-0E2B-4596-B9FA-BAF73372E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2507" y="4585934"/>
            <a:ext cx="6597269" cy="4824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7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our Solar System that orbits an average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6DAB6B-62AD-4734-A265-318530219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2507" y="4949639"/>
            <a:ext cx="6627115" cy="4824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7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size star in the outer part of a large galaxy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13A1F6-E3AE-4F09-B885-51728E784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2507" y="5313343"/>
            <a:ext cx="6479364" cy="4824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7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inside a small group of about 30 galaxies,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E6A835-54C8-4600-9DC5-52BC48692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2507" y="5677047"/>
            <a:ext cx="6269799" cy="4824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7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our local supercluster, in the Universe.</a:t>
            </a:r>
          </a:p>
        </p:txBody>
      </p:sp>
    </p:spTree>
    <p:extLst>
      <p:ext uri="{BB962C8B-B14F-4D97-AF65-F5344CB8AC3E}">
        <p14:creationId xmlns:p14="http://schemas.microsoft.com/office/powerpoint/2010/main" val="1972574259"/>
      </p:ext>
    </p:extLst>
  </p:cSld>
</p:sld>
</file>

<file path=ppt/slides/slide1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Where are we?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4afe9c7549422a"/>
          <ns0:srcRect xmlns:ns0="http://schemas.openxmlformats.org/drawingml/2006/main" l="0" r="0" t="10159" b="0"/>
          <a:stretch xmlns:a="http://schemas.openxmlformats.org/drawingml/2006/main"/>
        </p:blipFill>
        <p:spPr>
          <a:xfrm xmlns:a="http://schemas.openxmlformats.org/drawingml/2006/main">
            <a:off x="3080311" y="2095500"/>
            <a:ext cx="6031378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70784"/>
      </p:ext>
    </p:extLst>
  </p:cSld>
</p:sld>
</file>

<file path=ppt/slides/slide1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Units and scales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89c0af59b439e"/>
          <ns0:srcRect xmlns:ns0="http://schemas.openxmlformats.org/drawingml/2006/main" l="79" r="0" t="16508" b="16190"/>
          <a:stretch xmlns:a="http://schemas.openxmlformats.org/drawingml/2006/main"/>
        </p:blipFill>
        <p:spPr>
          <a:xfrm xmlns:a="http://schemas.openxmlformats.org/drawingml/2006/main">
            <a:off x="2073535" y="2095500"/>
            <a:ext cx="8044931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73542"/>
      </p:ext>
    </p:extLst>
  </p:cSld>
</p:sld>
</file>

<file path=ppt/slides/slide1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Components of our Solar System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15cce0e2c5421e"/>
          <ns0:srcRect xmlns:ns0="http://schemas.openxmlformats.org/drawingml/2006/main" l="5873" r="92619" t="41693" b="27090"/>
          <a:stretch xmlns:a="http://schemas.openxmlformats.org/drawingml/2006/main"/>
        </p:blipFill>
        <p:spPr>
          <a:xfrm xmlns:a="http://schemas.openxmlformats.org/drawingml/2006/main">
            <a:off x="2388518" y="3903030"/>
            <a:ext cx="127084" cy="197314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E0F262-01E6-4F52-AF8A-CC329FD21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9220" y="2095500"/>
            <a:ext cx="362858" cy="5243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8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F0B149-3B22-4B22-9738-77DD8D00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6961" y="2095500"/>
            <a:ext cx="2116936" cy="5243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1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581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solar system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B5A202-2D5F-4FA4-9D67-0B2D06692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9293" y="2095500"/>
            <a:ext cx="4994190" cy="5243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8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is: A star and all the material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D59543-D8C5-44A3-9842-8C7E1379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256" y="2488790"/>
            <a:ext cx="6381528" cy="5243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8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that orbits it, including its planets and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A303BC-85D1-46CA-8293-1AA55476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256" y="2882080"/>
            <a:ext cx="1236618" cy="5243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8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moons.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409450-61D5-456F-8C73-78E485E7B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256" y="3799759"/>
            <a:ext cx="1473527" cy="5243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8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The Sun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0E376A-B202-4654-B067-21568281F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256" y="4258597"/>
            <a:ext cx="4122342" cy="5243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8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Planets and their moons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24D7D3-40C2-457D-87FC-4DF9DF883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0602" y="4717435"/>
            <a:ext cx="6271401" cy="5243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8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  Now only eight planets (Sorry Pluto)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A79082-F61C-41F9-BFD4-A64E83E9C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256" y="5176274"/>
            <a:ext cx="4821419" cy="5243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8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Asteroids/Comets/Planetoids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D6183B-8F7D-4811-8D2E-5EFD83414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256" y="5635113"/>
            <a:ext cx="4468773" cy="5243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8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Spacecraft and space junk</a:t>
            </a:r>
          </a:p>
        </p:txBody>
      </p:sp>
    </p:spTree>
    <p:extLst>
      <p:ext uri="{BB962C8B-B14F-4D97-AF65-F5344CB8AC3E}">
        <p14:creationId xmlns:p14="http://schemas.microsoft.com/office/powerpoint/2010/main" val="1622533611"/>
      </p:ext>
    </p:extLst>
  </p:cSld>
</p:sld>
</file>

<file path=ppt/slides/slide1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Our Solar System (distances to scale)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6ceda7501a4396"/>
          <ns0:srcRect xmlns:ns0="http://schemas.openxmlformats.org/drawingml/2006/main" l="0" r="0" t="10265" b="529"/>
          <a:stretch xmlns:a="http://schemas.openxmlformats.org/drawingml/2006/main"/>
        </p:blipFill>
        <p:spPr>
          <a:xfrm xmlns:a="http://schemas.openxmlformats.org/drawingml/2006/main">
            <a:off x="3058847" y="2095500"/>
            <a:ext cx="6074306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544313"/>
      </p:ext>
    </p:extLst>
  </p:cSld>
</p:sld>
</file>

<file path=ppt/slides/slide1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Our Galaxy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72205d688f4f13"/>
          <ns0:srcRect xmlns:ns0="http://schemas.openxmlformats.org/drawingml/2006/main" l="0" r="0" t="10582" b="0"/>
          <a:stretch xmlns:a="http://schemas.openxmlformats.org/drawingml/2006/main"/>
        </p:blipFill>
        <p:spPr>
          <a:xfrm xmlns:a="http://schemas.openxmlformats.org/drawingml/2006/main">
            <a:off x="3066036" y="2095500"/>
            <a:ext cx="6059929" cy="4064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2CF064-AAE7-4F91-BD79-B69A9C5E7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2870" y="2261114"/>
            <a:ext cx="3246607" cy="3770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6" b="0" i="0">
                <a:solidFill>
                  <a:srgbClr val="23FF23"/>
                </a:solidFill>
                <a:latin typeface="Arial"/>
                <a:ea typeface="Arial"/>
                <a:cs typeface="Arial"/>
              </a:defRPr>
            </a:pPr>
            <a:r>
              <a:rPr sz="1856" b="0" i="0">
                <a:solidFill>
                  <a:srgbClr val="23FF23"/>
                </a:solidFill>
                <a:latin typeface="Arial"/>
                <a:ea typeface="Arial"/>
                <a:cs typeface="Arial"/>
              </a:rPr>
              <a:t> 100 billion stars! That’s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D51B72-C44E-411E-BA31-7EEE6122F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257" y="2285758"/>
            <a:ext cx="198685" cy="2181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74" b="0" i="0">
                <a:solidFill>
                  <a:srgbClr val="23FF23"/>
                </a:solidFill>
                <a:latin typeface="Arial"/>
                <a:ea typeface="Arial"/>
                <a:cs typeface="Arial"/>
              </a:defRPr>
            </a:pPr>
            <a:r>
              <a:rPr sz="1074" b="0" i="0">
                <a:solidFill>
                  <a:srgbClr val="23FF23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E186D9-28A4-4467-AA14-26EEC874F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480" y="2261114"/>
            <a:ext cx="119751" cy="3770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6" b="0" i="0">
                <a:solidFill>
                  <a:srgbClr val="23FF23"/>
                </a:solidFill>
                <a:latin typeface="Arial"/>
                <a:ea typeface="Arial"/>
                <a:cs typeface="Arial"/>
              </a:defRPr>
            </a:pPr>
            <a:r>
              <a:rPr sz="1856" b="0" i="0">
                <a:solidFill>
                  <a:srgbClr val="23FF23"/>
                </a:solidFill>
                <a:latin typeface="Arial"/>
                <a:ea typeface="Arial"/>
                <a:cs typeface="Arial"/>
              </a:rPr>
              <a:t>!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118D6A-AA17-4720-89C8-B7CAEBAF5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2585" y="2543911"/>
            <a:ext cx="4922653" cy="3770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6" b="0" i="0">
                <a:solidFill>
                  <a:srgbClr val="23FF23"/>
                </a:solidFill>
                <a:latin typeface="Arial"/>
                <a:ea typeface="Arial"/>
                <a:cs typeface="Arial"/>
              </a:defRPr>
            </a:pPr>
            <a:r>
              <a:rPr sz="1856" b="0" i="0">
                <a:solidFill>
                  <a:srgbClr val="23FF23"/>
                </a:solidFill>
                <a:latin typeface="Arial"/>
                <a:ea typeface="Arial"/>
                <a:cs typeface="Arial"/>
              </a:rPr>
              <a:t> 100 billion stars means 100 billion other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395D5E-560C-4E6D-8345-004BCF1F1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2585" y="2826707"/>
            <a:ext cx="4702478" cy="3770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6" b="0" i="0">
                <a:solidFill>
                  <a:srgbClr val="23FF23"/>
                </a:solidFill>
                <a:latin typeface="Arial"/>
                <a:ea typeface="Arial"/>
                <a:cs typeface="Arial"/>
              </a:defRPr>
            </a:pPr>
            <a:r>
              <a:rPr sz="1856" b="0" i="0">
                <a:solidFill>
                  <a:srgbClr val="23FF23"/>
                </a:solidFill>
                <a:latin typeface="Arial"/>
                <a:ea typeface="Arial"/>
                <a:cs typeface="Arial"/>
              </a:rPr>
              <a:t>solar systems that may have Earth-like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A969BF-7A86-422A-881D-7C32A44EC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2585" y="3109504"/>
            <a:ext cx="2568064" cy="3770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6" b="0" i="0">
                <a:solidFill>
                  <a:srgbClr val="23FF23"/>
                </a:solidFill>
                <a:latin typeface="Arial"/>
                <a:ea typeface="Arial"/>
                <a:cs typeface="Arial"/>
              </a:defRPr>
            </a:pPr>
            <a:r>
              <a:rPr sz="1856" b="0" i="0">
                <a:solidFill>
                  <a:srgbClr val="23FF23"/>
                </a:solidFill>
                <a:latin typeface="Arial"/>
                <a:ea typeface="Arial"/>
                <a:cs typeface="Arial"/>
              </a:rPr>
              <a:t>planets orbiting them</a:t>
            </a:r>
          </a:p>
        </p:txBody>
      </p:sp>
    </p:spTree>
    <p:extLst>
      <p:ext uri="{BB962C8B-B14F-4D97-AF65-F5344CB8AC3E}">
        <p14:creationId xmlns:p14="http://schemas.microsoft.com/office/powerpoint/2010/main" val="1263498338"/>
      </p:ext>
    </p:extLst>
  </p:cSld>
</p:sld>
</file>

<file path=ppt/slides/slide1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Units and scales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b6e2b6d9244088"/>
          <a:stretch xmlns:a="http://schemas.openxmlformats.org/drawingml/2006/main"/>
        </p:blipFill>
        <p:spPr>
          <a:xfrm xmlns:a="http://schemas.openxmlformats.org/drawingml/2006/main">
            <a:off x="3386667" y="2095500"/>
            <a:ext cx="5418667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980734"/>
      </p:ext>
    </p:extLst>
  </p:cSld>
</p:sld>
</file>

<file path=ppt/slides/slide1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Local Group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4420101db34065"/>
          <ns0:srcRect xmlns:ns0="http://schemas.openxmlformats.org/drawingml/2006/main" l="0" r="0" t="10582" b="317"/>
          <a:stretch xmlns:a="http://schemas.openxmlformats.org/drawingml/2006/main"/>
        </p:blipFill>
        <p:spPr>
          <a:xfrm xmlns:a="http://schemas.openxmlformats.org/drawingml/2006/main">
            <a:off x="3055240" y="2095500"/>
            <a:ext cx="6081520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858384"/>
      </p:ext>
    </p:extLst>
  </p:cSld>
</p:sld>
</file>

<file path=ppt/slides/slide1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Local Group Galaxies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3c78e267a84919"/>
          <a:stretch xmlns:a="http://schemas.openxmlformats.org/drawingml/2006/main"/>
        </p:blipFill>
        <p:spPr>
          <a:xfrm xmlns:a="http://schemas.openxmlformats.org/drawingml/2006/main">
            <a:off x="3386667" y="2095500"/>
            <a:ext cx="5418667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749323"/>
      </p:ext>
    </p:extLst>
  </p:cSld>
</p:sld>
</file>

<file path=ppt/slides/slide1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The Universe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5b1f2a659f4e40"/>
          <ns0:srcRect xmlns:ns0="http://schemas.openxmlformats.org/drawingml/2006/main" l="7143" r="91270" t="27090" b="70794"/>
          <a:stretch xmlns:a="http://schemas.openxmlformats.org/drawingml/2006/main"/>
        </p:blipFill>
        <p:spPr>
          <a:xfrm xmlns:a="http://schemas.openxmlformats.org/drawingml/2006/main">
            <a:off x="2180002" y="2641165"/>
            <a:ext cx="145143" cy="14514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A9D015-8E72-4B3E-89EE-75D1693E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520" y="2095500"/>
            <a:ext cx="414137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At Least 100 billion (10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EDFCB5-6313-4DEB-A0B3-0848D858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7430" y="2132686"/>
            <a:ext cx="299801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900B90-641B-45EF-B13E-66AB195AB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320" y="2095500"/>
            <a:ext cx="187299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 galaxies.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DE555C-0FCD-47F0-AF10-D65CD3C4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8240" y="2522220"/>
            <a:ext cx="7606645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If each galaxy has 100 billion stars, there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2FBD4E-4F8B-4170-B2E0-47740B69B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8240" y="2948940"/>
            <a:ext cx="117566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29CB7A-E705-45BD-B196-4568F1E0B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6160" y="2986126"/>
            <a:ext cx="299801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F59875-50DC-4343-950C-D09C99C72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7780" y="2948940"/>
            <a:ext cx="92532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x 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BE3714-3711-4DA0-A489-E8008C06E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4240" y="2986126"/>
            <a:ext cx="300832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0EFE40-C371-4EC1-B51F-1E052A0C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7130" y="2948940"/>
            <a:ext cx="101209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= 10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75CDBB-2F29-416B-B016-8A98F0467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1220" y="2986126"/>
            <a:ext cx="299801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A650B1-146D-4709-B8B0-544EC976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2840" y="2948940"/>
            <a:ext cx="401764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stars in the universe,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BF70C8-0824-4289-B539-F2BF00B14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8240" y="3375660"/>
            <a:ext cx="762127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than all the grains of sand on all the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1FF78B-9A11-4E30-AB75-C6DD5FBA7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8240" y="3802380"/>
            <a:ext cx="325521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beaches on Earth.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448DE3-0CBF-44CC-B847-B0727F11A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520" y="5081270"/>
            <a:ext cx="7693806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NOTE: EXPONENTS ADD WHEN MULTIPLIED</a:t>
            </a:r>
          </a:p>
        </p:txBody>
      </p:sp>
    </p:spTree>
    <p:extLst>
      <p:ext uri="{BB962C8B-B14F-4D97-AF65-F5344CB8AC3E}">
        <p14:creationId xmlns:p14="http://schemas.microsoft.com/office/powerpoint/2010/main" val="1095983185"/>
      </p:ext>
    </p:extLst>
  </p:cSld>
</p:sld>
</file>

<file path=ppt/slides/slide2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The Virgo Supercluster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527F33-E4A4-48D1-A4CD-9BA5609FD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1664" y="2095500"/>
            <a:ext cx="587396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local grouping of galaxies.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463C3B-4751-4F3B-9568-B037A6047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1849" y="2628900"/>
            <a:ext cx="764848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Contains the Local Group and the Virgo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441A2D-9E4E-4254-A71D-AD68ECF31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1849" y="3086100"/>
            <a:ext cx="747780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Cluster, in addition to about 100 other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A2A640-4DA0-4839-9EAE-C15738EE9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1849" y="3542109"/>
            <a:ext cx="530115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galaxy groups and clusters.</a:t>
            </a:r>
          </a:p>
        </p:txBody>
      </p:sp>
    </p:spTree>
    <p:extLst>
      <p:ext uri="{BB962C8B-B14F-4D97-AF65-F5344CB8AC3E}">
        <p14:creationId xmlns:p14="http://schemas.microsoft.com/office/powerpoint/2010/main" val="751482768"/>
      </p:ext>
    </p:extLst>
  </p:cSld>
</p:sld>
</file>

<file path=ppt/slides/slide2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Units and scales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1f9716bc0847a0"/>
          <a:stretch xmlns:a="http://schemas.openxmlformats.org/drawingml/2006/main"/>
        </p:blipFill>
        <p:spPr>
          <a:xfrm xmlns:a="http://schemas.openxmlformats.org/drawingml/2006/main">
            <a:off x="3386667" y="2095500"/>
            <a:ext cx="5418667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646930"/>
      </p:ext>
    </p:extLst>
  </p:cSld>
</p:sld>
</file>

<file path=ppt/slides/slide2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Where are we? (review)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477a423b1b446a"/>
          <ns0:srcRect xmlns:ns0="http://schemas.openxmlformats.org/drawingml/2006/main" l="1429" r="1429" t="11852" b="22963"/>
          <a:stretch xmlns:a="http://schemas.openxmlformats.org/drawingml/2006/main"/>
        </p:blipFill>
        <p:spPr>
          <a:xfrm xmlns:a="http://schemas.openxmlformats.org/drawingml/2006/main">
            <a:off x="3094186" y="2095500"/>
            <a:ext cx="6003628" cy="3021434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BFF5A1-BFA3-480D-A430-4E0164729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561" y="5088264"/>
            <a:ext cx="5688467" cy="3296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live on a rocky planet in the inner part of our Solar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0FC0B4-8A69-4804-A33A-3C173A325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561" y="5335473"/>
            <a:ext cx="5424992" cy="3296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System that orbits an average size star in the outer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4564C8-DA33-4121-B1FE-130C5E40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561" y="5582681"/>
            <a:ext cx="5702270" cy="3296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 of a large galaxy inside a small group of about 30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E0C64A-E70F-448C-B511-D2AD8511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561" y="5829889"/>
            <a:ext cx="5249879" cy="3296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galaxies, in our local supercluster, in the Universe.</a:t>
            </a:r>
          </a:p>
        </p:txBody>
      </p:sp>
    </p:spTree>
    <p:extLst>
      <p:ext uri="{BB962C8B-B14F-4D97-AF65-F5344CB8AC3E}">
        <p14:creationId xmlns:p14="http://schemas.microsoft.com/office/powerpoint/2010/main" val="616344409"/>
      </p:ext>
    </p:extLst>
  </p:cSld>
</p:sld>
</file>

<file path=ppt/slides/slide2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Where are we videos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0A7A9F-5598-4086-AEB4-2AF230235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9060" y="2095500"/>
            <a:ext cx="467706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http://htwins.net/scale2/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791454-266A-4D89-87DE-AA038475C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9060" y="2665095"/>
            <a:ext cx="542273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http://www.youtube.com/watch?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C02922-E813-46E3-8AD2-E4265F3BF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9060" y="3065145"/>
            <a:ext cx="3010429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v=17jymDn0W6U</a:t>
            </a:r>
          </a:p>
        </p:txBody>
      </p:sp>
      <p:sp>
        <p:nvSpPr>
          <p:cNvPr id="10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0207" y="2095500"/>
            <a:ext cx="4677067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1" name="Link 2">
            <ns0:hlinkClick xmlns:ns0="http://schemas.openxmlformats.org/drawingml/2006/main" xmlns:ns1="http://schemas.openxmlformats.org/officeDocument/2006/relationships" ns1:id="rIdDspiraLin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9060" y="2665095"/>
            <a:ext cx="5422733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321466406"/>
      </p:ext>
    </p:extLst>
  </p:cSld>
</p:sld>
</file>

<file path=ppt/slides/slide2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Units and scales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ff03c45aa74da9"/>
          <a:stretch xmlns:a="http://schemas.openxmlformats.org/drawingml/2006/main"/>
        </p:blipFill>
        <p:spPr>
          <a:xfrm xmlns:a="http://schemas.openxmlformats.org/drawingml/2006/main">
            <a:off x="3438150" y="2095500"/>
            <a:ext cx="5315700" cy="3986775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21ADCC-0EB7-4B37-8A5B-131BC0787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759" y="5450740"/>
            <a:ext cx="2434418" cy="2835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9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Carl Sagan’s Pale Blue Dot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6BFA5D-C4C9-4B34-A4EA-9D3C1E038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759" y="5663368"/>
            <a:ext cx="2979272" cy="2835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9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https://www.youtube.com/watch?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FCAD31-486C-4315-AFD0-AEB69EAC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759" y="5875996"/>
            <a:ext cx="1451187" cy="2835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9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v=b58SfRphkKc</a:t>
            </a:r>
          </a:p>
        </p:txBody>
      </p:sp>
      <p:sp>
        <p:nvSpPr>
          <p:cNvPr id="9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759" y="5663368"/>
            <a:ext cx="2979272" cy="2835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312486218"/>
      </p:ext>
    </p:extLst>
  </p:cSld>
</p:sld>
</file>

<file path=ppt/slides/slide2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How did we get here?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3bbeaa66a649d7"/>
          <ns0:srcRect xmlns:ns0="http://schemas.openxmlformats.org/drawingml/2006/main" l="5873" r="92857" t="36508" b="18201"/>
          <a:stretch xmlns:a="http://schemas.openxmlformats.org/drawingml/2006/main"/>
        </p:blipFill>
        <p:spPr>
          <a:xfrm xmlns:a="http://schemas.openxmlformats.org/drawingml/2006/main">
            <a:off x="3047993" y="3330220"/>
            <a:ext cx="89199" cy="238606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36F5E6-06CD-41FF-BF41-17EC0E98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6913" y="2095500"/>
            <a:ext cx="2477092" cy="344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9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9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Steps in your creation: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432D16-37D5-4E6D-9A33-0D0C4B5C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6913" y="2397939"/>
            <a:ext cx="209949" cy="344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9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9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~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8A3457-E60D-4E94-B6E5-47FAE621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377" y="2397939"/>
            <a:ext cx="2151736" cy="344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98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698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14 billion years ago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A80B2A-DCB5-4D65-B987-EDDEE2E59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255" y="2397939"/>
            <a:ext cx="3457471" cy="344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9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9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, the Universe was created in a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E4641B-908C-426D-8036-10397A137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377" y="2657451"/>
            <a:ext cx="4096969" cy="344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9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9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violent explosion called the Big Bang.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87FA55-5E12-4DC7-918C-A61E15E5D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377" y="3262329"/>
            <a:ext cx="5713024" cy="344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9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9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Our Milky Way Galaxy formed ~2 billion years after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AF62CB-C6A5-4533-8B45-EF544D8E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377" y="3522817"/>
            <a:ext cx="1489810" cy="344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9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9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Big Bang.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EF03D6-64A3-459F-96DE-F1B590A9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7645" y="3825256"/>
            <a:ext cx="2303097" cy="344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98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698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Five billion years ago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6C153B-1585-4962-A8D5-7A2A3FD12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4718" y="3825256"/>
            <a:ext cx="3182567" cy="344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9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9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(9 billion years after the Big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0A200A-AB88-49BF-AFE1-DE2297D6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377" y="4084768"/>
            <a:ext cx="4667253" cy="344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9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9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Bang) the Sun and the solar system forms.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42F19D-8A49-4C09-89F1-E41E026E7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7645" y="4387207"/>
            <a:ext cx="2013748" cy="344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98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698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4 billion years ago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CC9C1A-F472-4539-BD91-751748ECE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4962" y="4387207"/>
            <a:ext cx="3579500" cy="344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9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9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the most primitive life forms on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8CDEFD-1F70-4B9D-B1F7-2FAD4C30D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377" y="4646719"/>
            <a:ext cx="678468" cy="344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9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9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Earth.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FFAD22-8C29-4118-B509-4F0B3E361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7645" y="4949158"/>
            <a:ext cx="2059457" cy="344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98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698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100,000 years ago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4EB99A-A86E-411D-B808-7C081865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9840" y="4949158"/>
            <a:ext cx="3804167" cy="344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9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9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modern humans evolved in Africa.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103C2-122E-4C0C-84A3-A630E444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377" y="5554036"/>
            <a:ext cx="5185012" cy="344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9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9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Some decades ago, you gained consciousness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22A5BE-EC1E-4D80-94FF-9B0AD723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377" y="5814524"/>
            <a:ext cx="1004902" cy="344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9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9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(finally!).</a:t>
            </a:r>
          </a:p>
        </p:txBody>
      </p:sp>
    </p:spTree>
    <p:extLst>
      <p:ext uri="{BB962C8B-B14F-4D97-AF65-F5344CB8AC3E}">
        <p14:creationId xmlns:p14="http://schemas.microsoft.com/office/powerpoint/2010/main" val="1327415708"/>
      </p:ext>
    </p:extLst>
  </p:cSld>
</p:sld>
</file>

<file path=ppt/slides/slide2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3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Units and scales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3663FC-07FD-4CD2-8457-B950CF241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9081" y="2095500"/>
            <a:ext cx="4671902" cy="3287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18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1618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How did we get here? (Cosmic Timeline)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0BA0DE-6413-41B9-A916-024A03F5A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720" y="2639670"/>
            <a:ext cx="981017" cy="3220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January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D798DC-D941-4B9A-A121-996998014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8263" y="2639670"/>
            <a:ext cx="928781" cy="3220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Big Bang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B60ECF-1D2D-4857-AF94-5C77F3CAE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818" y="2881226"/>
            <a:ext cx="1108742" cy="3220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February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CD4448-43D5-4E92-BDC8-E52D794B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8261" y="2881226"/>
            <a:ext cx="1668540" cy="3220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Milky Way forms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CF5985-244B-4951-A990-882C6EE4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818" y="3122781"/>
            <a:ext cx="1328754" cy="3220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September 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BC070B-EE12-4110-B22A-D026AC490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8261" y="3122781"/>
            <a:ext cx="1201335" cy="3220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Earth forms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535E71-DC2E-41E2-BE66-529E6B70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818" y="3363498"/>
            <a:ext cx="1456176" cy="3220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September 22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A50822-6F5E-490D-A512-1BC28756B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8260" y="3363498"/>
            <a:ext cx="1735777" cy="3220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First life on Earth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38CA92-DFA3-4B3C-9AFF-714E891A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818" y="3605053"/>
            <a:ext cx="1388140" cy="3220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December 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4A97B5-EE95-409C-99DC-099EB2D33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599" y="3625988"/>
            <a:ext cx="144312" cy="1865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A38E56-C86A-41D1-BF3F-746E71BC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8260" y="3605053"/>
            <a:ext cx="1757314" cy="3220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Dinosaurs evolve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EF2240-6282-4A3E-8F87-75A86BF1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818" y="3846608"/>
            <a:ext cx="1388140" cy="3220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December 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FB0A36-3316-41B9-8CB9-7668A287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599" y="3867543"/>
            <a:ext cx="144312" cy="1865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00E35E-7372-45D7-9BFB-0468D9630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8260" y="3846608"/>
            <a:ext cx="1726925" cy="3220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Dinosaurs die of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2D69C9-88A6-4F97-A25E-6DD1F7FF9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818" y="4088163"/>
            <a:ext cx="1388140" cy="3220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December 31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4DF73B-7279-4A30-82A4-DD096CE3C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599" y="4109098"/>
            <a:ext cx="131255" cy="1865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2E64CF-05B5-406B-B482-8CE8F5DD9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595" y="4328880"/>
            <a:ext cx="1055599" cy="3220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11:58 pm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CFE4F4-802B-47EF-B051-6983FD12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2149" y="4328880"/>
            <a:ext cx="1652035" cy="3220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Modern humans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058512-94B8-424E-8B23-AAC64A457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595" y="4570435"/>
            <a:ext cx="1605541" cy="3220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25 seconds ago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D87683-710E-47D5-A1B8-5E6DBEEE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2150" y="4570435"/>
            <a:ext cx="1791131" cy="3220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Agriculture arises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29181E-6A28-4ABA-8A68-B96304F16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595" y="4811990"/>
            <a:ext cx="1605541" cy="3220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 seconds ago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5A8817-768B-4DE4-B390-07E568636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2150" y="4811990"/>
            <a:ext cx="1466847" cy="3220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Pyramids built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B20680-95BE-4D55-947C-67BE91BBD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595" y="5052707"/>
            <a:ext cx="1797578" cy="3220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0.05 seconds ago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652315-0543-4099-B2BB-31AE7FD37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2050" y="5052707"/>
            <a:ext cx="1446810" cy="3220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You were born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320794F-CCE3-47FC-8732-AE6BA661E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9722" y="5501933"/>
            <a:ext cx="3942164" cy="3757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4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4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https://www.youtube.com/watch?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B9CFB7-3E2C-4FD6-9F19-24763B134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9722" y="5783747"/>
            <a:ext cx="2078891" cy="3757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4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4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v=ShTxGumvbno</a:t>
            </a:r>
          </a:p>
        </p:txBody>
      </p:sp>
      <p:sp>
        <p:nvSpPr>
          <p:cNvPr id="33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9722" y="5501933"/>
            <a:ext cx="3942164" cy="3757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355000090"/>
      </p:ext>
    </p:extLst>
  </p:cSld>
</p:sld>
</file>

<file path=ppt/slides/slide2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How are we Moving?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d224c22f7f45d2"/>
          <ns0:srcRect xmlns:ns0="http://schemas.openxmlformats.org/drawingml/2006/main" l="0" r="0" t="10582" b="635"/>
          <a:stretch xmlns:a="http://schemas.openxmlformats.org/drawingml/2006/main"/>
        </p:blipFill>
        <p:spPr>
          <a:xfrm xmlns:a="http://schemas.openxmlformats.org/drawingml/2006/main">
            <a:off x="3044367" y="2095500"/>
            <a:ext cx="6103266" cy="4064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ABE06A-BEA9-43D7-9150-17F5490B9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460" y="2239750"/>
            <a:ext cx="96635" cy="3255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0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568EB0-F46D-406A-ACD4-E6EA0690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0042" y="2253313"/>
            <a:ext cx="1495884" cy="3255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02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2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Earth rotation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72BA22-D141-48EF-AE0B-B29D38F40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2102" y="2741574"/>
            <a:ext cx="1107745" cy="3255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02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2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Earth orbit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63931B-7717-4E86-A245-5888C44F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2429" y="3229836"/>
            <a:ext cx="2226675" cy="3255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02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2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Random Solar motion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1C1EF0-7C9F-4A8E-99CE-13975C0A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2756" y="3718097"/>
            <a:ext cx="2164223" cy="3255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02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2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Solar motion around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C8DA09-0EF6-44AD-95C0-4C696DD9F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2756" y="3962227"/>
            <a:ext cx="2419336" cy="3255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02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2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center of the Milky Way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E7FE72-82E7-4DA9-A5E3-F7666386A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0524" y="4450489"/>
            <a:ext cx="1819176" cy="3255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02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2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Milky Way motion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E8F622-535F-4665-8CE5-143C3C6B3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3045" y="4686143"/>
            <a:ext cx="127151" cy="3170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71696F-D65D-4E35-A9AB-BBF65B116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3949" y="4694619"/>
            <a:ext cx="1404977" cy="3255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02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2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 local group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EFD7EA-86CD-4E90-9C86-509E4163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460" y="5413448"/>
            <a:ext cx="96635" cy="3255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0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B03279-D72C-4544-93A7-B52B612ED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0042" y="5427011"/>
            <a:ext cx="2689102" cy="3255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02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2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Expansion of the Universe</a:t>
            </a:r>
          </a:p>
        </p:txBody>
      </p:sp>
    </p:spTree>
    <p:extLst>
      <p:ext uri="{BB962C8B-B14F-4D97-AF65-F5344CB8AC3E}">
        <p14:creationId xmlns:p14="http://schemas.microsoft.com/office/powerpoint/2010/main" val="34904635"/>
      </p:ext>
    </p:extLst>
  </p:cSld>
</p:sld>
</file>

<file path=ppt/slides/slide2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Review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259681-C5AA-4D0E-B1DC-BA0EC378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3925" y="2095500"/>
            <a:ext cx="2002847" cy="4097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1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Goals for Today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956856-8786-483A-9E83-3B30D7BF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3925" y="2455033"/>
            <a:ext cx="3967948" cy="4097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1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Scientific notation and units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AA6AB9-1255-40A2-98A0-9A772CF7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3925" y="2815550"/>
            <a:ext cx="1580522" cy="4097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01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Know them!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0463BC-18E1-4A08-B518-05969A985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3925" y="3176068"/>
            <a:ext cx="2285579" cy="4097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1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 Where are we?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5603AB-1252-4AC3-9273-4C04D9908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3925" y="3535601"/>
            <a:ext cx="5932014" cy="4097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01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We are in the Universe, in the Local Group, in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9F7EDD-FA97-40C5-B5DD-3F488362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3925" y="3844897"/>
            <a:ext cx="5732502" cy="4097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1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01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the Milky Way, in the Solar System, on Earth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62EA4A-C73B-4B89-85B3-F2A5533A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000" y="4232799"/>
            <a:ext cx="3387766" cy="4412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7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 How did we get here?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005D1B-C978-4067-91D9-985FF32A2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000" y="4643553"/>
            <a:ext cx="6054001" cy="4412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2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172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Universe created 14 GYr ago, Milky Way 12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A8267F-F712-470E-B7A3-807A4C6E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000" y="4975505"/>
            <a:ext cx="5915532" cy="4412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2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172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GYr ago, Earth 4 GYr ago, man 100,000 yr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45F8EC-D20B-431C-8647-C60D7D379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000" y="5307457"/>
            <a:ext cx="4023773" cy="4412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2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172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ago, and you ~20 years ago.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27816D-F092-4D1C-AA24-D19182643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000" y="5718211"/>
            <a:ext cx="3698607" cy="4412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72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172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4) Everything is in motion!</a:t>
            </a:r>
          </a:p>
        </p:txBody>
      </p:sp>
    </p:spTree>
    <p:extLst>
      <p:ext uri="{BB962C8B-B14F-4D97-AF65-F5344CB8AC3E}">
        <p14:creationId xmlns:p14="http://schemas.microsoft.com/office/powerpoint/2010/main" val="999680466"/>
      </p:ext>
    </p:extLst>
  </p:cSld>
</p:sld>
</file>

<file path=ppt/slides/slide2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The Light Year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7F639E-1527-453E-AD28-251704590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4782" y="2095500"/>
            <a:ext cx="4717692" cy="4377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4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154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 LIGHT YEAR IS A DISTANCE!!!!!!!!!!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33F529-3CD9-455C-B61D-E0A0F0CF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4782" y="2709705"/>
            <a:ext cx="4415207" cy="3817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speed of light is a constant – it is not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1FB6BB-00F9-4B02-B9E4-78D5EF72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4782" y="2996035"/>
            <a:ext cx="1340255" cy="3817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infinitely fast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C5C324-FCCC-4CA3-BB5C-AC9C3F220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2578" y="3273418"/>
            <a:ext cx="149130" cy="3718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2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2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22DF46-FE2D-4F01-8BEE-A5F50F830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1419" y="3282365"/>
            <a:ext cx="3859252" cy="3817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speed of light is the fastest that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295184-DF3A-49D7-A562-8DA62B04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1419" y="3568694"/>
            <a:ext cx="2095698" cy="3817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anything can travel!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D62B01-57AA-4A1B-A897-035709BC6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4782" y="4143129"/>
            <a:ext cx="5122437" cy="445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light year is the distance light travels in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6321D8-5EB8-4084-BDCC-B586748C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4782" y="4476998"/>
            <a:ext cx="1112989" cy="4454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year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518699-600A-4F2D-AD82-B735BE69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2694" y="4811050"/>
            <a:ext cx="1299222" cy="4454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is 9 x 10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3952F5-981D-4AFD-B006-EFB8E1C6B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4279" y="4832206"/>
            <a:ext cx="208926" cy="2576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61860F-B788-43FB-9C1A-09DDEF6DA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235" y="4811050"/>
            <a:ext cx="339103" cy="4454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65E91C-124B-4DA8-9BEF-36F88B71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4782" y="5723258"/>
            <a:ext cx="4701551" cy="4362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4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14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Also, A LIGHT YEAR IS A DISTANCE!</a:t>
            </a:r>
          </a:p>
        </p:txBody>
      </p:sp>
    </p:spTree>
    <p:extLst>
      <p:ext uri="{BB962C8B-B14F-4D97-AF65-F5344CB8AC3E}">
        <p14:creationId xmlns:p14="http://schemas.microsoft.com/office/powerpoint/2010/main" val="8140444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-ready.pptx" id="{6D5A5D80-B59F-47FE-A006-FBFC2926142F}" vid="{69CEE3E8-36C9-43B0-A0FB-27FA92D72A34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Units and scales</dc:title>
  <dcterms:created xsi:type="dcterms:W3CDTF">2026-09-26T20:03:24.2140000Z</dcterms:created>
  <dcterms:modified xsi:type="dcterms:W3CDTF">2026-09-26T20:03:24.2140000Z</dcterms:modified>
</coreProperties>
</file>