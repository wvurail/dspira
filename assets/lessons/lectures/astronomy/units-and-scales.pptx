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803cd8bbd274554" /><Relationship Type="http://schemas.openxmlformats.org/officeDocument/2006/relationships/extended-properties" Target="/docProps/app.xml" Id="R6141c0b6168f46e7" /><Relationship Type="http://schemas.openxmlformats.org/officeDocument/2006/relationships/officeDocument" Target="/ppt/presentation.xml" Id="R8468a69506ec47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a6c6845ed8c47cb"/>
  </p:sldMasterIdLst>
  <p:notesMasterIdLst>
    <p:notesMasterId xmlns:r="http://schemas.openxmlformats.org/officeDocument/2006/relationships" r:id="R7a866fbdbb264777"/>
  </p:notesMasterIdLst>
  <p:sldIdLst>
    <p:sldId xmlns:r="http://schemas.openxmlformats.org/officeDocument/2006/relationships" id="256" r:id="R5c0467eaf0254941"/>
    <p:sldId xmlns:r="http://schemas.openxmlformats.org/officeDocument/2006/relationships" id="257" r:id="R56d81123edf14196"/>
    <p:sldId xmlns:r="http://schemas.openxmlformats.org/officeDocument/2006/relationships" id="258" r:id="Rafb3c29a6c354ebd"/>
    <p:sldId xmlns:r="http://schemas.openxmlformats.org/officeDocument/2006/relationships" id="259" r:id="R90feeea9090e42fc"/>
    <p:sldId xmlns:r="http://schemas.openxmlformats.org/officeDocument/2006/relationships" id="260" r:id="Rd43817f461a9462e"/>
    <p:sldId xmlns:r="http://schemas.openxmlformats.org/officeDocument/2006/relationships" id="261" r:id="Rafec9af3ac6e4ed7"/>
    <p:sldId xmlns:r="http://schemas.openxmlformats.org/officeDocument/2006/relationships" id="262" r:id="R2fa44352ac014325"/>
    <p:sldId xmlns:r="http://schemas.openxmlformats.org/officeDocument/2006/relationships" id="263" r:id="Rb88ab617368c43cd"/>
    <p:sldId xmlns:r="http://schemas.openxmlformats.org/officeDocument/2006/relationships" id="264" r:id="Rba0e4d9ba4c5453d"/>
    <p:sldId xmlns:r="http://schemas.openxmlformats.org/officeDocument/2006/relationships" id="265" r:id="Rb8c0f6ebe97448b4"/>
    <p:sldId xmlns:r="http://schemas.openxmlformats.org/officeDocument/2006/relationships" id="266" r:id="R196428fa12814054"/>
    <p:sldId xmlns:r="http://schemas.openxmlformats.org/officeDocument/2006/relationships" id="267" r:id="Rfeea9f90ec08484a"/>
    <p:sldId xmlns:r="http://schemas.openxmlformats.org/officeDocument/2006/relationships" id="268" r:id="R245bd140a3604727"/>
    <p:sldId xmlns:r="http://schemas.openxmlformats.org/officeDocument/2006/relationships" id="269" r:id="Rb10c883b8d3145db"/>
    <p:sldId xmlns:r="http://schemas.openxmlformats.org/officeDocument/2006/relationships" id="270" r:id="R8e37b3218a5f4057"/>
    <p:sldId xmlns:r="http://schemas.openxmlformats.org/officeDocument/2006/relationships" id="271" r:id="R38082896f6f54a80"/>
    <p:sldId xmlns:r="http://schemas.openxmlformats.org/officeDocument/2006/relationships" id="272" r:id="Rffc0cc9ae8994490"/>
    <p:sldId xmlns:r="http://schemas.openxmlformats.org/officeDocument/2006/relationships" id="273" r:id="Re50f5cc813634cad"/>
    <p:sldId xmlns:r="http://schemas.openxmlformats.org/officeDocument/2006/relationships" id="274" r:id="Rdc3b068c3ae94d40"/>
    <p:sldId xmlns:r="http://schemas.openxmlformats.org/officeDocument/2006/relationships" id="275" r:id="R730f28b37cf142d5"/>
    <p:sldId xmlns:r="http://schemas.openxmlformats.org/officeDocument/2006/relationships" id="276" r:id="R1b8305430b494c6e"/>
    <p:sldId xmlns:r="http://schemas.openxmlformats.org/officeDocument/2006/relationships" id="277" r:id="R2dcbdffe725644db"/>
    <p:sldId xmlns:r="http://schemas.openxmlformats.org/officeDocument/2006/relationships" id="278" r:id="R0c1b9d075e3048a0"/>
    <p:sldId xmlns:r="http://schemas.openxmlformats.org/officeDocument/2006/relationships" id="279" r:id="R3d90f67bf0f24555"/>
    <p:sldId xmlns:r="http://schemas.openxmlformats.org/officeDocument/2006/relationships" id="280" r:id="Rbdcde7b401904f79"/>
    <p:sldId xmlns:r="http://schemas.openxmlformats.org/officeDocument/2006/relationships" id="281" r:id="R9a2f9e4056ae4b35"/>
    <p:sldId xmlns:r="http://schemas.openxmlformats.org/officeDocument/2006/relationships" id="282" r:id="R6bb1c321d8f24753"/>
    <p:sldId xmlns:r="http://schemas.openxmlformats.org/officeDocument/2006/relationships" id="283" r:id="Rb326abf1691b40c8"/>
    <p:sldId xmlns:r="http://schemas.openxmlformats.org/officeDocument/2006/relationships" id="284" r:id="Rf5fe025eda544a9d"/>
  </p:sldIdLst>
  <p:sldSz cx="9144000" cy="75438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8043d3be35849d3" /><Relationship Type="http://schemas.openxmlformats.org/officeDocument/2006/relationships/slideMaster" Target="/ppt/slideMasters/slideMaster1.xml" Id="R8a6c6845ed8c47cb" /><Relationship Type="http://schemas.openxmlformats.org/officeDocument/2006/relationships/notesMaster" Target="/ppt/notesMasters/notesMaster1.xml" Id="R7a866fbdbb264777" /><Relationship Type="http://schemas.openxmlformats.org/officeDocument/2006/relationships/presProps" Target="/ppt/presProps.xml" Id="R50e6a412c165439a" /><Relationship Type="http://schemas.openxmlformats.org/officeDocument/2006/relationships/tableStyles" Target="/ppt/tableStyles.xml" Id="Rd0d4cd2eea4c4b68" /><Relationship Type="http://schemas.openxmlformats.org/officeDocument/2006/relationships/slide" Target="/ppt/slides/slide1.xml" Id="R5c0467eaf0254941" /><Relationship Type="http://schemas.openxmlformats.org/officeDocument/2006/relationships/slide" Target="/ppt/slides/slide2.xml" Id="R56d81123edf14196" /><Relationship Type="http://schemas.openxmlformats.org/officeDocument/2006/relationships/slide" Target="/ppt/slides/slide3.xml" Id="Rafb3c29a6c354ebd" /><Relationship Type="http://schemas.openxmlformats.org/officeDocument/2006/relationships/slide" Target="/ppt/slides/slide4.xml" Id="R90feeea9090e42fc" /><Relationship Type="http://schemas.openxmlformats.org/officeDocument/2006/relationships/slide" Target="/ppt/slides/slide5.xml" Id="Rd43817f461a9462e" /><Relationship Type="http://schemas.openxmlformats.org/officeDocument/2006/relationships/slide" Target="/ppt/slides/slide6.xml" Id="Rafec9af3ac6e4ed7" /><Relationship Type="http://schemas.openxmlformats.org/officeDocument/2006/relationships/slide" Target="/ppt/slides/slide7.xml" Id="R2fa44352ac014325" /><Relationship Type="http://schemas.openxmlformats.org/officeDocument/2006/relationships/slide" Target="/ppt/slides/slide8.xml" Id="Rb88ab617368c43cd" /><Relationship Type="http://schemas.openxmlformats.org/officeDocument/2006/relationships/slide" Target="/ppt/slides/slide9.xml" Id="Rba0e4d9ba4c5453d" /><Relationship Type="http://schemas.openxmlformats.org/officeDocument/2006/relationships/slide" Target="/ppt/slides/slide10.xml" Id="Rb8c0f6ebe97448b4" /><Relationship Type="http://schemas.openxmlformats.org/officeDocument/2006/relationships/slide" Target="/ppt/slides/slide11.xml" Id="R196428fa12814054" /><Relationship Type="http://schemas.openxmlformats.org/officeDocument/2006/relationships/slide" Target="/ppt/slides/slide12.xml" Id="Rfeea9f90ec08484a" /><Relationship Type="http://schemas.openxmlformats.org/officeDocument/2006/relationships/slide" Target="/ppt/slides/slide13.xml" Id="R245bd140a3604727" /><Relationship Type="http://schemas.openxmlformats.org/officeDocument/2006/relationships/slide" Target="/ppt/slides/slide14.xml" Id="Rb10c883b8d3145db" /><Relationship Type="http://schemas.openxmlformats.org/officeDocument/2006/relationships/slide" Target="/ppt/slides/slide15.xml" Id="R8e37b3218a5f4057" /><Relationship Type="http://schemas.openxmlformats.org/officeDocument/2006/relationships/slide" Target="/ppt/slides/slide16.xml" Id="R38082896f6f54a80" /><Relationship Type="http://schemas.openxmlformats.org/officeDocument/2006/relationships/slide" Target="/ppt/slides/slide17.xml" Id="Rffc0cc9ae8994490" /><Relationship Type="http://schemas.openxmlformats.org/officeDocument/2006/relationships/slide" Target="/ppt/slides/slide18.xml" Id="Re50f5cc813634cad" /><Relationship Type="http://schemas.openxmlformats.org/officeDocument/2006/relationships/slide" Target="/ppt/slides/slide19.xml" Id="Rdc3b068c3ae94d40" /><Relationship Type="http://schemas.openxmlformats.org/officeDocument/2006/relationships/slide" Target="/ppt/slides/slide20.xml" Id="R730f28b37cf142d5" /><Relationship Type="http://schemas.openxmlformats.org/officeDocument/2006/relationships/slide" Target="/ppt/slides/slide21.xml" Id="R1b8305430b494c6e" /><Relationship Type="http://schemas.openxmlformats.org/officeDocument/2006/relationships/slide" Target="/ppt/slides/slide22.xml" Id="R2dcbdffe725644db" /><Relationship Type="http://schemas.openxmlformats.org/officeDocument/2006/relationships/slide" Target="/ppt/slides/slide23.xml" Id="R0c1b9d075e3048a0" /><Relationship Type="http://schemas.openxmlformats.org/officeDocument/2006/relationships/slide" Target="/ppt/slides/slide24.xml" Id="R3d90f67bf0f24555" /><Relationship Type="http://schemas.openxmlformats.org/officeDocument/2006/relationships/slide" Target="/ppt/slides/slide25.xml" Id="Rbdcde7b401904f79" /><Relationship Type="http://schemas.openxmlformats.org/officeDocument/2006/relationships/slide" Target="/ppt/slides/slide26.xml" Id="R9a2f9e4056ae4b35" /><Relationship Type="http://schemas.openxmlformats.org/officeDocument/2006/relationships/slide" Target="/ppt/slides/slide27.xml" Id="R6bb1c321d8f24753" /><Relationship Type="http://schemas.openxmlformats.org/officeDocument/2006/relationships/slide" Target="/ppt/slides/slide28.xml" Id="Rb326abf1691b40c8" /><Relationship Type="http://schemas.openxmlformats.org/officeDocument/2006/relationships/slide" Target="/ppt/slides/slide29.xml" Id="Rf5fe025eda544a9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b6a23b71eef4c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546930d1f2a4be5" /><Relationship Type="http://schemas.openxmlformats.org/officeDocument/2006/relationships/notesMaster" Target="/ppt/notesMasters/notesMaster1.xml" Id="R5711f3980a59434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9f2e5b15ba4c25" /><Relationship Type="http://schemas.openxmlformats.org/officeDocument/2006/relationships/notesMaster" Target="/ppt/notesMasters/notesMaster1.xml" Id="R7a510991b3b4439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411f19bdc8e4b23" /><Relationship Type="http://schemas.openxmlformats.org/officeDocument/2006/relationships/notesMaster" Target="/ppt/notesMasters/notesMaster1.xml" Id="Rebf2cf741df9489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b282dcaeb3324c7e" /><Relationship Type="http://schemas.openxmlformats.org/officeDocument/2006/relationships/notesMaster" Target="/ppt/notesMasters/notesMaster1.xml" Id="R403c224587964ce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78d8f22b1a49dc" /><Relationship Type="http://schemas.openxmlformats.org/officeDocument/2006/relationships/notesMaster" Target="/ppt/notesMasters/notesMaster1.xml" Id="Rf58beaaa8ff14b6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f465f8f06524325" /><Relationship Type="http://schemas.openxmlformats.org/officeDocument/2006/relationships/notesMaster" Target="/ppt/notesMasters/notesMaster1.xml" Id="Rf6a663db122c480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b0fb8526b6b4f82" /><Relationship Type="http://schemas.openxmlformats.org/officeDocument/2006/relationships/notesMaster" Target="/ppt/notesMasters/notesMaster1.xml" Id="Rded8d18a6a6240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9cc00209c4f2474b" /><Relationship Type="http://schemas.openxmlformats.org/officeDocument/2006/relationships/notesMaster" Target="/ppt/notesMasters/notesMaster1.xml" Id="R6128776c08094ff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0e5493019544fb5" /><Relationship Type="http://schemas.openxmlformats.org/officeDocument/2006/relationships/notesMaster" Target="/ppt/notesMasters/notesMaster1.xml" Id="R06ebc8da765840c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b6d9456f294546" /><Relationship Type="http://schemas.openxmlformats.org/officeDocument/2006/relationships/notesMaster" Target="/ppt/notesMasters/notesMaster1.xml" Id="R8f175f4323d1445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ab938f2ac8a457c" /><Relationship Type="http://schemas.openxmlformats.org/officeDocument/2006/relationships/notesMaster" Target="/ppt/notesMasters/notesMaster1.xml" Id="Rb506010f059543f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4e4ee5a8cd304dcb" /><Relationship Type="http://schemas.openxmlformats.org/officeDocument/2006/relationships/notesMaster" Target="/ppt/notesMasters/notesMaster1.xml" Id="R436baccb5c204e3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60d6680574b4409" /><Relationship Type="http://schemas.openxmlformats.org/officeDocument/2006/relationships/notesMaster" Target="/ppt/notesMasters/notesMaster1.xml" Id="R4e60c36a01e4499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79397fc0fbb430b" /><Relationship Type="http://schemas.openxmlformats.org/officeDocument/2006/relationships/notesMaster" Target="/ppt/notesMasters/notesMaster1.xml" Id="R4d9af1ca06dd499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a79fb0825a247c4" /><Relationship Type="http://schemas.openxmlformats.org/officeDocument/2006/relationships/notesMaster" Target="/ppt/notesMasters/notesMaster1.xml" Id="Rbc48f925762e4a1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6f95749a3724ed3" /><Relationship Type="http://schemas.openxmlformats.org/officeDocument/2006/relationships/notesMaster" Target="/ppt/notesMasters/notesMaster1.xml" Id="R303b8d65e3a7427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213766d29ab424b" /><Relationship Type="http://schemas.openxmlformats.org/officeDocument/2006/relationships/notesMaster" Target="/ppt/notesMasters/notesMaster1.xml" Id="R96dc02186b6942f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16b982081d44dd8" /><Relationship Type="http://schemas.openxmlformats.org/officeDocument/2006/relationships/notesMaster" Target="/ppt/notesMasters/notesMaster1.xml" Id="Ra9ee988a35b4483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c1112e8ffb643ad" /><Relationship Type="http://schemas.openxmlformats.org/officeDocument/2006/relationships/notesMaster" Target="/ppt/notesMasters/notesMaster1.xml" Id="Rf23a9977ee514f3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bacb6aa4f19a42d7" /><Relationship Type="http://schemas.openxmlformats.org/officeDocument/2006/relationships/notesMaster" Target="/ppt/notesMasters/notesMaster1.xml" Id="Rdf010220dbb4458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5fc3c9ddf76745f9" /><Relationship Type="http://schemas.openxmlformats.org/officeDocument/2006/relationships/notesMaster" Target="/ppt/notesMasters/notesMaster1.xml" Id="R8dea5cabbf14403d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c739793d6f4e4723" /><Relationship Type="http://schemas.openxmlformats.org/officeDocument/2006/relationships/notesMaster" Target="/ppt/notesMasters/notesMaster1.xml" Id="R27dc7ff6b72645e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adec7d5bcae4f6b" /><Relationship Type="http://schemas.openxmlformats.org/officeDocument/2006/relationships/notesMaster" Target="/ppt/notesMasters/notesMaster1.xml" Id="R7233de7517e7468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eef6f82609324a8b" /><Relationship Type="http://schemas.openxmlformats.org/officeDocument/2006/relationships/notesMaster" Target="/ppt/notesMasters/notesMaster1.xml" Id="R959505b05b5840c7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8bf569e597624203" /><Relationship Type="http://schemas.openxmlformats.org/officeDocument/2006/relationships/notesMaster" Target="/ppt/notesMasters/notesMaster1.xml" Id="R6c9a339b48614b5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405aeb5d1fa34bbd" /><Relationship Type="http://schemas.openxmlformats.org/officeDocument/2006/relationships/notesMaster" Target="/ppt/notesMasters/notesMaster1.xml" Id="R0b56e4a47a7d4563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f557b6bddff4e0a" /><Relationship Type="http://schemas.openxmlformats.org/officeDocument/2006/relationships/notesMaster" Target="/ppt/notesMasters/notesMaster1.xml" Id="R172a80d304d94f2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0e61779bf62a4471" /><Relationship Type="http://schemas.openxmlformats.org/officeDocument/2006/relationships/notesMaster" Target="/ppt/notesMasters/notesMaster1.xml" Id="R994b1daf5b384e56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b7cfc7bccd2e42b8" /><Relationship Type="http://schemas.openxmlformats.org/officeDocument/2006/relationships/notesMaster" Target="/ppt/notesMasters/notesMaster1.xml" Id="Rf11a78d68a5249b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assets/lessons/lectures/astronomy/units-and-scales.pdf,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bca12bc06be4f3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2072f329efe4a0c" /><Relationship Type="http://schemas.openxmlformats.org/officeDocument/2006/relationships/slideLayout" Target="/ppt/slideLayouts/slideLayout1.xml" Id="Rd5f07db4a38f4c9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5f07db4a38f4c9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9190b5b0e4942df" /><Relationship Type="http://schemas.openxmlformats.org/officeDocument/2006/relationships/image" Target="/ppt/media/image.png" Id="R2dbec12eb343422d" /><Relationship Type="http://schemas.openxmlformats.org/officeDocument/2006/relationships/notesSlide" Target="/ppt/notesSlides/notesSlide1.xml" Id="Rc2dc13ee90be490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74c792f1854fd3" /><Relationship Type="http://schemas.openxmlformats.org/officeDocument/2006/relationships/image" Target="/ppt/media/image2.png" Id="R3fa775e7b39f4519" /><Relationship Type="http://schemas.openxmlformats.org/officeDocument/2006/relationships/notesSlide" Target="/ppt/notesSlides/notesSlide2.xml" Id="Rabd50a3f98f344d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9c0c91da724c9a" /><Relationship Type="http://schemas.openxmlformats.org/officeDocument/2006/relationships/image" Target="/ppt/media/image3.png" Id="Rfefd3d5549934856" /><Relationship Type="http://schemas.openxmlformats.org/officeDocument/2006/relationships/notesSlide" Target="/ppt/notesSlides/notesSlide3.xml" Id="R3560448488274b7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1080b374e44675" /><Relationship Type="http://schemas.openxmlformats.org/officeDocument/2006/relationships/image" Target="/ppt/media/image4.png" Id="Rf0063136388240d8" /><Relationship Type="http://schemas.openxmlformats.org/officeDocument/2006/relationships/notesSlide" Target="/ppt/notesSlides/notesSlide4.xml" Id="R03c3ba162b2d4f1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eb9aed82745b7" /><Relationship Type="http://schemas.openxmlformats.org/officeDocument/2006/relationships/image" Target="/ppt/media/image5.png" Id="Rc6df8a6204734915" /><Relationship Type="http://schemas.openxmlformats.org/officeDocument/2006/relationships/notesSlide" Target="/ppt/notesSlides/notesSlide5.xml" Id="R9dd4904852ba464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c3eb7f14f84dba" /><Relationship Type="http://schemas.openxmlformats.org/officeDocument/2006/relationships/image" Target="/ppt/media/image6.png" Id="Rc045bca6edb94996" /><Relationship Type="http://schemas.openxmlformats.org/officeDocument/2006/relationships/notesSlide" Target="/ppt/notesSlides/notesSlide6.xml" Id="R701e3c223dc3462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aa1e76c8644fbd" /><Relationship Type="http://schemas.openxmlformats.org/officeDocument/2006/relationships/image" Target="/ppt/media/image7.png" Id="Re27c7a59df504fa0" /><Relationship Type="http://schemas.openxmlformats.org/officeDocument/2006/relationships/notesSlide" Target="/ppt/notesSlides/notesSlide7.xml" Id="R012ee2076a3a49c6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5892f0506834484" /><Relationship Type="http://schemas.openxmlformats.org/officeDocument/2006/relationships/image" Target="/ppt/media/image8.png" Id="Recf290bbdaa04b52" /><Relationship Type="http://schemas.openxmlformats.org/officeDocument/2006/relationships/notesSlide" Target="/ppt/notesSlides/notesSlide8.xml" Id="Ra95b8c18066b461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39c286fb0d4faf" /><Relationship Type="http://schemas.openxmlformats.org/officeDocument/2006/relationships/image" Target="/ppt/media/image9.png" Id="R455995beaa614a27" /><Relationship Type="http://schemas.openxmlformats.org/officeDocument/2006/relationships/notesSlide" Target="/ppt/notesSlides/notesSlide9.xml" Id="Reff13a56c20641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932d691d9e48bc" /><Relationship Type="http://schemas.openxmlformats.org/officeDocument/2006/relationships/image" Target="/ppt/media/image10.png" Id="Rb4ab089463a04857" /><Relationship Type="http://schemas.openxmlformats.org/officeDocument/2006/relationships/notesSlide" Target="/ppt/notesSlides/notesSlide10.xml" Id="Rb286215b4bab484a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2021b315b45b9" /><Relationship Type="http://schemas.openxmlformats.org/officeDocument/2006/relationships/image" Target="/ppt/media/image11.png" Id="R604afe9c7549422a" /><Relationship Type="http://schemas.openxmlformats.org/officeDocument/2006/relationships/notesSlide" Target="/ppt/notesSlides/notesSlide11.xml" Id="Rdb22ca0a2e114b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bd9997f22f45f9" /><Relationship Type="http://schemas.openxmlformats.org/officeDocument/2006/relationships/image" Target="/ppt/media/image12.png" Id="Rcb389c0af59b439e" /><Relationship Type="http://schemas.openxmlformats.org/officeDocument/2006/relationships/notesSlide" Target="/ppt/notesSlides/notesSlide12.xml" Id="R48035113142c422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9b4365dcb264ad6" /><Relationship Type="http://schemas.openxmlformats.org/officeDocument/2006/relationships/image" Target="/ppt/media/image13.png" Id="R0d15cce0e2c5421e" /><Relationship Type="http://schemas.openxmlformats.org/officeDocument/2006/relationships/notesSlide" Target="/ppt/notesSlides/notesSlide13.xml" Id="Rc49faf3156194185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17c06c16884e99" /><Relationship Type="http://schemas.openxmlformats.org/officeDocument/2006/relationships/image" Target="/ppt/media/image14.png" Id="R486ceda7501a4396" /><Relationship Type="http://schemas.openxmlformats.org/officeDocument/2006/relationships/notesSlide" Target="/ppt/notesSlides/notesSlide14.xml" Id="R327dbf377ea64a9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c6eb80508a4d3e" /><Relationship Type="http://schemas.openxmlformats.org/officeDocument/2006/relationships/image" Target="/ppt/media/image15.png" Id="Rac72205d688f4f13" /><Relationship Type="http://schemas.openxmlformats.org/officeDocument/2006/relationships/notesSlide" Target="/ppt/notesSlides/notesSlide15.xml" Id="R8d076c04fb294e78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47baf4559a46ea" /><Relationship Type="http://schemas.openxmlformats.org/officeDocument/2006/relationships/image" Target="/ppt/media/image16.png" Id="Rcfb6e2b6d9244088" /><Relationship Type="http://schemas.openxmlformats.org/officeDocument/2006/relationships/notesSlide" Target="/ppt/notesSlides/notesSlide16.xml" Id="Rd8d13e7eee9c4b00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2c2e4cc26ee4cce" /><Relationship Type="http://schemas.openxmlformats.org/officeDocument/2006/relationships/image" Target="/ppt/media/image17.png" Id="R3d4420101db34065" /><Relationship Type="http://schemas.openxmlformats.org/officeDocument/2006/relationships/notesSlide" Target="/ppt/notesSlides/notesSlide17.xml" Id="Rf92b7576364f46a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edce7006564a35" /><Relationship Type="http://schemas.openxmlformats.org/officeDocument/2006/relationships/image" Target="/ppt/media/image18.png" Id="R533c78e267a84919" /><Relationship Type="http://schemas.openxmlformats.org/officeDocument/2006/relationships/notesSlide" Target="/ppt/notesSlides/notesSlide18.xml" Id="Rf38736c4fafc413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2a3cb53ded4144" /><Relationship Type="http://schemas.openxmlformats.org/officeDocument/2006/relationships/image" Target="/ppt/media/image19.png" Id="Ree5b1f2a659f4e40" /><Relationship Type="http://schemas.openxmlformats.org/officeDocument/2006/relationships/notesSlide" Target="/ppt/notesSlides/notesSlide19.xml" Id="R4a5d506cff6c42e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a65a365fb74fb7" /><Relationship Type="http://schemas.openxmlformats.org/officeDocument/2006/relationships/image" Target="/ppt/media/image20.png" Id="Rdef3d7e38fe64e17" /><Relationship Type="http://schemas.openxmlformats.org/officeDocument/2006/relationships/notesSlide" Target="/ppt/notesSlides/notesSlide20.xml" Id="R3cf40c8b9ea94f0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95db7e5289453b" /><Relationship Type="http://schemas.openxmlformats.org/officeDocument/2006/relationships/image" Target="/ppt/media/image21.png" Id="R541f9716bc0847a0" /><Relationship Type="http://schemas.openxmlformats.org/officeDocument/2006/relationships/notesSlide" Target="/ppt/notesSlides/notesSlide21.xml" Id="R094f1243e22847bb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9c2a0920604f66" /><Relationship Type="http://schemas.openxmlformats.org/officeDocument/2006/relationships/image" Target="/ppt/media/image22.png" Id="R3e477a423b1b446a" /><Relationship Type="http://schemas.openxmlformats.org/officeDocument/2006/relationships/notesSlide" Target="/ppt/notesSlides/notesSlide22.xml" Id="R73b8b6294ed243ce" /></Relationships>
</file>

<file path=ppt/slides/_rels/slide23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af39f533d5aa470b"/><Relationship Type="http://schemas.openxmlformats.org/officeDocument/2006/relationships/image" Target="/ppt/media/image23.png" Id="Rc42c7949e44f4058"/><Relationship Type="http://schemas.openxmlformats.org/officeDocument/2006/relationships/notesSlide" Target="/ppt/notesSlides/notesSlide23.xml" Id="Rf08ac9f1638343e1"/><Relationship Id="rIdDspiraLink1" Type="http://schemas.openxmlformats.org/officeDocument/2006/relationships/hyperlink" Target="http://htwins.net/scale2/" TargetMode="External"/><Relationship Id="rIdDspiraLink2" Type="http://schemas.openxmlformats.org/officeDocument/2006/relationships/hyperlink" Target="http://www.youtube.com/watch?" TargetMode="External"/></Relationships>
</file>

<file path=ppt/slides/_rels/slide24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4dc54ef4833343e0"/><Relationship Type="http://schemas.openxmlformats.org/officeDocument/2006/relationships/image" Target="/ppt/media/image24.png" Id="R76ff03c45aa74da9"/><Relationship Type="http://schemas.openxmlformats.org/officeDocument/2006/relationships/notesSlide" Target="/ppt/notesSlides/notesSlide24.xml" Id="R32540b71cc084a58"/><Relationship Id="rIdDspiraLink1" Type="http://schemas.openxmlformats.org/officeDocument/2006/relationships/hyperlink" Target="https://www.youtube.com/watch?" TargetMode="External"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2f3b2459fc48ad" /><Relationship Type="http://schemas.openxmlformats.org/officeDocument/2006/relationships/image" Target="/ppt/media/image25.png" Id="R543bbeaa66a649d7" /><Relationship Type="http://schemas.openxmlformats.org/officeDocument/2006/relationships/notesSlide" Target="/ppt/notesSlides/notesSlide25.xml" Id="Rcc283c5deffd410a" /></Relationships>
</file>

<file path=ppt/slides/_rels/slide2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1.xml" Id="R6daf60d1e52e4b19"/><Relationship Type="http://schemas.openxmlformats.org/officeDocument/2006/relationships/image" Target="/ppt/media/image26.png" Id="R12c445a6e8754bbb"/><Relationship Type="http://schemas.openxmlformats.org/officeDocument/2006/relationships/notesSlide" Target="/ppt/notesSlides/notesSlide26.xml" Id="Rab66938369284f6e"/><Relationship Id="rIdDspiraLink1" Type="http://schemas.openxmlformats.org/officeDocument/2006/relationships/hyperlink" Target="https://www.youtube.com/watch?" TargetMode="External"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2510648fb94201" /><Relationship Type="http://schemas.openxmlformats.org/officeDocument/2006/relationships/image" Target="/ppt/media/image27.png" Id="R41d224c22f7f45d2" /><Relationship Type="http://schemas.openxmlformats.org/officeDocument/2006/relationships/notesSlide" Target="/ppt/notesSlides/notesSlide27.xml" Id="R4376212d8ed049a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1c9caf25ef4993" /><Relationship Type="http://schemas.openxmlformats.org/officeDocument/2006/relationships/image" Target="/ppt/media/image28.png" Id="R9381750c24234be3" /><Relationship Type="http://schemas.openxmlformats.org/officeDocument/2006/relationships/notesSlide" Target="/ppt/notesSlides/notesSlide28.xml" Id="R5be9686f16f74ae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7ddd0743df4825" /><Relationship Type="http://schemas.openxmlformats.org/officeDocument/2006/relationships/image" Target="/ppt/media/image29.png" Id="R7087b48d12364dca" /><Relationship Type="http://schemas.openxmlformats.org/officeDocument/2006/relationships/notesSlide" Target="/ppt/notesSlides/notesSlide29.xml" Id="R162bbdd8160c461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bec12eb343422d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3DA7D8-63FF-4967-BF85-1717B972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" y="472440"/>
            <a:ext cx="7514354" cy="812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 Introduction to Astronomy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C3C079-64CD-4673-97D2-ACCB96519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FEB1C3-60AC-4C7F-8485-BF9B6F7BE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6CF414E-19D0-472F-9ADF-4F4F97AC2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29</a:t>
            </a:r>
          </a:p>
        </p:txBody>
      </p:sp>
    </p:spTree>
    <p:extLst>
      <p:ext uri="{BB962C8B-B14F-4D97-AF65-F5344CB8AC3E}">
        <p14:creationId xmlns:p14="http://schemas.microsoft.com/office/powerpoint/2010/main" val="11172661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a775e7b39f451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B9CA48-DF96-4343-BDB7-0A26D3954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6271454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A Rough Course Outline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15406D-5E8F-461C-952D-6417AD371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6980"/>
            <a:ext cx="5810784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Part I - Introductory material – Today to 6-July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A709944-63ED-49AA-AD7B-1E3B42A4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466" y="1592580"/>
            <a:ext cx="2926469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motions in the sky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CF705E-60FA-4098-92D1-B64C5D4B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1948180"/>
            <a:ext cx="3415552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Early history of Astronomy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0EA7541-6565-423D-8E01-BAC796C17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2303780"/>
            <a:ext cx="2672091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 and telescopes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53AD0A3-D97F-4349-9EA6-3B9D3A049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59380"/>
            <a:ext cx="4022872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Part II – Stars – 7-July to 10-July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04EA3B-F40B-4EB5-A584-BC862D16F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3014980"/>
            <a:ext cx="2312173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and the Sun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843CA34-37B7-4F9B-831B-A7A15A340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3370580"/>
            <a:ext cx="4328431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Stellar birth, evolution, and death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7A2070-0F96-43D8-9508-82F09F9B5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26180"/>
            <a:ext cx="6664224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Part III - Galaxies and cosmology – 11-July to 19-July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E6A2F1-2469-4EC1-B1F7-54598109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4083050"/>
            <a:ext cx="3923302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 and the Interstellar Medium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19554E-A472-4053-A266-AD252AF00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466" y="4438650"/>
            <a:ext cx="1862204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Milky Way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21595C-44B9-4E55-99C2-4FABA4D0F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466" y="4794250"/>
            <a:ext cx="5156601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origin and evolution of the Universe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6C06D70-9DD2-4348-BB22-6D04452AD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1590" y="5149850"/>
            <a:ext cx="2299473" cy="40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Life Beyond Earth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BAA0000-3B2F-4F87-8D19-74E167139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BEBAA3-202F-49FF-83E0-DF749EE14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B56E60-AF18-4F67-BDA2-5A35176FC3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29</a:t>
            </a:r>
          </a:p>
        </p:txBody>
      </p:sp>
    </p:spTree>
    <p:extLst>
      <p:ext uri="{BB962C8B-B14F-4D97-AF65-F5344CB8AC3E}">
        <p14:creationId xmlns:p14="http://schemas.microsoft.com/office/powerpoint/2010/main" val="61654625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fd3d554993485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807932-FAD3-4B1E-9ACA-2679A8FD1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972453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Goals for Today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051561-18DD-49A4-9FDA-614FE26D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1241044"/>
            <a:ext cx="277373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Goals for Today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A9CD2A-A07A-46A7-B266-605315DC7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1738884"/>
            <a:ext cx="549194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Scientific notation and units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CEF88C-208C-4D1C-866C-E218315E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2236724"/>
            <a:ext cx="315921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2) Where are we?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8DB3F5-D4C7-4CCD-9989-3D5ACC606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2734564"/>
            <a:ext cx="436789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How did we get here?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5BEC0F-DAC6-41D5-BDF0-E70E2C23A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3232404"/>
            <a:ext cx="51567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4)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89741B-360F-4087-8501-B4777BA5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" y="3232404"/>
            <a:ext cx="374417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CC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CC0000"/>
                </a:solidFill>
                <a:latin typeface="Arial"/>
                <a:ea typeface="Arial"/>
                <a:cs typeface="Arial"/>
              </a:rPr>
              <a:t>How are we moving?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C9B4AA-02E9-4FE5-8C21-820EF02A2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C8162E-FDB4-47B6-8921-FC82360A9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8C432B-4183-4CF4-96BB-9D90402DE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29</a:t>
            </a:r>
          </a:p>
        </p:txBody>
      </p:sp>
    </p:spTree>
    <p:extLst>
      <p:ext uri="{BB962C8B-B14F-4D97-AF65-F5344CB8AC3E}">
        <p14:creationId xmlns:p14="http://schemas.microsoft.com/office/powerpoint/2010/main" val="16416790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063136388240d8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984733-5081-4872-9CCE-D48AD4CBB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1369595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Units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EE97B-2347-4F43-8B11-BA9B7F55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9317"/>
            <a:ext cx="6899648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In astronomy (and science in general) we use SI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9FB3B3-8D43-4C38-8926-7A55AFB26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1508557"/>
            <a:ext cx="4497400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(Systeme Internationale) units.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AC083A-2206-44C7-B2CB-D85DAD773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3" y="1848917"/>
            <a:ext cx="8139920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SI system uses length, mass, time, and temperature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5E76FB-3DCF-4549-895C-21093E227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2119426"/>
            <a:ext cx="3126582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as its basic properties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EB01C2B-978C-4B37-94A7-AFA75D734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503" y="2867457"/>
            <a:ext cx="5671006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basic units for these properties are: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16AB9B-76E9-4CC0-9F2E-5281D946D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40837"/>
            <a:ext cx="6833226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  length: the meter (m) (about a yard, 3 feet)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AA54CE-27ED-47A3-959B-875B2FBBF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615487"/>
            <a:ext cx="5900553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  mass: the kilogram (kg) (2.2 pounds)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56CEAB-666B-4B11-8E8C-DCCD4F3D8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88867"/>
            <a:ext cx="3498013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  time: the second (s)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E155D6-0A65-432D-BE55-DEFCD41D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363517"/>
            <a:ext cx="7634539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  temperature: the Kelvin (K) (same increments as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0D5FFE6-D756-4A91-B0EA-19788E301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600" y="4667047"/>
            <a:ext cx="5077820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     Celsius, but 273 degrees higher)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FA47842-7BC7-47BE-BC56-B69F4EC59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15077"/>
            <a:ext cx="5685753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will encounter some other units also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995B34-71BB-4C90-BFAA-9093CA4A9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010" y="5834177"/>
            <a:ext cx="6598220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Light years, parsecs, astronomical units, solar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BDA681-BFE1-4B41-9F14-D5545B97F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1900" y="6171997"/>
            <a:ext cx="1715106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3333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3333"/>
                </a:solidFill>
                <a:latin typeface="Arial"/>
                <a:ea typeface="Arial"/>
                <a:cs typeface="Arial"/>
              </a:rPr>
              <a:t>masses etc.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DAC95C-5FFD-44D7-9EF1-C1AF9D938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766B54-34F2-432C-9876-E41EDBB08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015FF7-C802-4C05-ABE6-34C4C910D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29</a:t>
            </a:r>
          </a:p>
        </p:txBody>
      </p:sp>
    </p:spTree>
    <p:extLst>
      <p:ext uri="{BB962C8B-B14F-4D97-AF65-F5344CB8AC3E}">
        <p14:creationId xmlns:p14="http://schemas.microsoft.com/office/powerpoint/2010/main" val="9137055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6df8a6204734915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D16099-7FCD-4B86-AE0F-887F0A235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77360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Scientific Notation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388ED-76AB-4585-970C-D1C65AD64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18540"/>
            <a:ext cx="7890612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Astronomers use numbers that are often very large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171C38-997B-4879-BD91-669840C6C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1570330"/>
            <a:ext cx="6078967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or small and writing out the numbers is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2C013F3-3E17-4BE4-9655-D7018C02A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1922120"/>
            <a:ext cx="2200115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cumbersome.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76745C-9568-40EE-8214-FFDF414E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71420"/>
            <a:ext cx="215684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333399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33339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55278-D556-40FD-8E50-C1FE189F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2672690"/>
            <a:ext cx="5159338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distance to the nearest star: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B3B7F7-81D4-4AF6-9EFA-3D1D1165F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2953360"/>
            <a:ext cx="3572622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40,000,000,000,000km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30398D-68A2-4E72-B7D6-9A3AA773D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89909"/>
            <a:ext cx="215684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333399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33339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33233C-BC21-4808-B979-E7376A952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3291180"/>
            <a:ext cx="7752977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radius of an atomic nucleus: 0.0000000001 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3C60A3D-6F52-4A92-BA14-59F20C637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66819"/>
            <a:ext cx="1228512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We use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29F5906-A7F5-484F-9C5D-82AD9229D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1170" y="3966820"/>
            <a:ext cx="3124756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1" i="1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370" b="1" i="1">
                <a:solidFill>
                  <a:srgbClr val="FF0000"/>
                </a:solidFill>
                <a:latin typeface="Arial"/>
                <a:ea typeface="Arial"/>
                <a:cs typeface="Arial"/>
              </a:rPr>
              <a:t>scientific notation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D55C79D-B38B-400C-9E49-953D7C883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7760" y="3966820"/>
            <a:ext cx="3125056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to express numbers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91DFC92-90CF-482D-B9E9-6A5CF8DF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4248759"/>
            <a:ext cx="1655920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compactly.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39EE64-A634-4BE0-B1DF-478A8EAB6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23130"/>
            <a:ext cx="215684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333399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33339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00D960-99EF-4E0B-BFAA-3CB801746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224" y="4923130"/>
            <a:ext cx="5285524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distance to the nearest star 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7AEBCC-0376-4E57-8F49-3982B7633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5378" y="4923130"/>
            <a:ext cx="982904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 x 10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E6442B-77E1-4F89-8EE1-D5005620B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5" y="4987900"/>
            <a:ext cx="259243" cy="278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A883D87-7A45-422B-A6DA-4C959D34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85055" y="4923130"/>
            <a:ext cx="601249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km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866DAD-0DD3-4024-AD0B-E6543C59A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6" y="5260950"/>
            <a:ext cx="4102707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 (4 times 10 to the 13 km)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1264211-70E1-4703-A4D3-68D5BF0F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97500"/>
            <a:ext cx="215684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333399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333399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3EF5815-6BC6-4B5A-9CD6-018C13499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640" y="5598770"/>
            <a:ext cx="6339527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radius of an atomic nucleus is 1 x 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79465C4-ACA4-4A2B-A26E-75B5B30F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2000" y="5668620"/>
            <a:ext cx="323616" cy="278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-10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17082A-D87B-434E-A749-160029AE3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7750" y="5598770"/>
            <a:ext cx="427581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m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A289FD0-82F7-45D2-AC6F-A69F96A88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36590"/>
            <a:ext cx="4938852" cy="4815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3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 (1 times 10 to the minus 10 m)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1EC0233-C49E-436F-8C97-4545C39F2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030DFD-62F9-47CD-A242-FE03949E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117141A-F827-4115-83A6-25A982DB3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29</a:t>
            </a:r>
          </a:p>
        </p:txBody>
      </p:sp>
    </p:spTree>
    <p:extLst>
      <p:ext uri="{BB962C8B-B14F-4D97-AF65-F5344CB8AC3E}">
        <p14:creationId xmlns:p14="http://schemas.microsoft.com/office/powerpoint/2010/main" val="83647388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5bca6edb9499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2CFC8A-DC84-4581-A18B-670D4CC5B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77360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Scientific Notation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26B488-5A6F-4060-98EA-AC8DAF63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0942"/>
            <a:ext cx="7581827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Positive exponents and common abbreviations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6679EF-9CE1-4A8B-8638-DA489DC8B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83" y="1610512"/>
            <a:ext cx="3361246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80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800000"/>
                </a:solidFill>
                <a:latin typeface="Arial"/>
                <a:ea typeface="Arial"/>
                <a:cs typeface="Arial"/>
              </a:rPr>
              <a:t>Just count the zeros!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54A417-42C8-4958-8CFD-EAE28927B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512212"/>
            <a:ext cx="447771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F286B1-935F-485B-906A-8F2062607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2585568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D8E417-F5B6-409C-B056-D59B0CF8C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2512212"/>
            <a:ext cx="1925806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 = ten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BEF072-F8D5-46A0-A614-C960C726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64333"/>
            <a:ext cx="4477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909D84-D455-40C1-8C9B-CCF3CE06A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037688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6DEDC-7001-4B0F-AA85-13E358DE1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2964333"/>
            <a:ext cx="4433637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10x10 = 100 = hundred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238595-0C24-4A7F-986E-A21D26D90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15183"/>
            <a:ext cx="4477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9D823F-027F-4445-914C-566D14B5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488538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3D457D-006A-4A40-9B00-34BF11AC9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3415183"/>
            <a:ext cx="5605791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10x10x10 = 1,000 = thousand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753BE2-47AD-4E1A-A6C1-BCD8C80C7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57340" y="3415183"/>
            <a:ext cx="12635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(kilo- k)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7AB64A6-27CE-479E-9756-B434C22A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66033"/>
            <a:ext cx="447771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0D75825-68DC-4EC7-AEFD-6DBEA84AA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3939387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6CBC9F-4307-42C4-931E-06283D6F7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3866033"/>
            <a:ext cx="4250813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10,000 = ten thousand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7011AFD-F346-46CC-9EE8-444C8F3D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316883"/>
            <a:ext cx="4477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67DE2B-C517-42EC-8314-0C9DB994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390237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974011-11E0-47D0-A911-1F45A2159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4316883"/>
            <a:ext cx="5272899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100,000 = hundred thousand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BC965C-DA61-49B8-911A-A31E43D65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67733"/>
            <a:ext cx="4477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2E981A-63E2-40A9-BC43-441FEC393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4841087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ADAF5B-38FB-45FE-AC48-0F91843EE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4767733"/>
            <a:ext cx="3806118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1,000,000 = million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4661CE-B861-4FED-9A29-C7BABF70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3940" y="4767733"/>
            <a:ext cx="1667463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(Mega- M)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79E41A-0551-487F-8C33-4F07CDB77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18583"/>
            <a:ext cx="447771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5F7744C-CCBE-4ADE-AA23-F59F68838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293208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3B87E54-7926-41C6-A498-C365B0DD7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5218583"/>
            <a:ext cx="4166633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10,000,000 ten million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C4176FD-FEFF-4427-89A4-A4E57FA1E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70702"/>
            <a:ext cx="4477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7A9E2E-29CC-401D-A149-28F6BF29D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5744058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1130CE0-8D89-4444-BA19-C8DC88D8E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5670702"/>
            <a:ext cx="5562083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100,000,000 = hundred million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A2BFA28-D586-47E1-8984-B9FF0238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21552"/>
            <a:ext cx="447772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AB9125-0B75-46F5-8059-7669BA9D2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" y="6194908"/>
            <a:ext cx="156835" cy="29870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7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47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6978FAF-6F15-4112-800E-BE9DE371F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9500" y="6121552"/>
            <a:ext cx="4415007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1,000,000,000 = billion 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F63DAFB-2999-47ED-BB51-8DE703D45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3540" y="6121552"/>
            <a:ext cx="1501029" cy="514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3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3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(Giga- G)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583C98-BBEC-44E0-964D-05E6052A4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C635CBE-D1D5-41D8-BF05-81ECD516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98BEADD-9383-400E-A6F6-F5B2EC449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29</a:t>
            </a:r>
          </a:p>
        </p:txBody>
      </p:sp>
    </p:spTree>
    <p:extLst>
      <p:ext uri="{BB962C8B-B14F-4D97-AF65-F5344CB8AC3E}">
        <p14:creationId xmlns:p14="http://schemas.microsoft.com/office/powerpoint/2010/main" val="16568693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27c7a59df504fa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F7AEC0-40FF-4545-BEC8-C227E368A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77360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Scientific Notation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DC4AE-FE5B-4258-A8E4-87DD804FE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1755"/>
            <a:ext cx="5940791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Negative exponents and common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7312BF-B53A-4033-8381-A42D5E8F9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30" y="1570685"/>
            <a:ext cx="2370063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abbreviations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6313E6-76A1-440C-998E-333BE16E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4385"/>
            <a:ext cx="7867584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Count the zeros (including the one to the left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9A4919-8DD5-4AFC-97EB-587DAA802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930" y="2293315"/>
            <a:ext cx="380151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of the decimal place)!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CCA86FA-FBE4-4C26-B99F-D7467B89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5658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FCADEB-EF1C-479A-8F41-958C02729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313593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4263D5-8FA8-4360-AD4C-1725754E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3056585"/>
            <a:ext cx="4798040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(1/10) = 0.1 = one tenth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56E84-88B5-4E4F-814D-34C5298A8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3885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47DE3C-A828-45B0-838E-7A78BE259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351693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805085-AE02-4572-950E-672D7A7C3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3438855"/>
            <a:ext cx="5816774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(1/100) = 0.01 one hundredth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74A963-9026-4FE6-BDB5-FB1CFA3C8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71030" y="3438855"/>
            <a:ext cx="1153046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(centi)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505A01-379B-4FD0-BBDF-460732E0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2112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EDDF98A-2638-4B1F-B9AA-794F33E17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389920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360408-3E13-4F04-82FF-53FCB5966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3821125"/>
            <a:ext cx="4840739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0.001 = one thousandth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FC8423-1DB1-4CD9-84EE-69E701E97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4400" y="3821125"/>
            <a:ext cx="1023506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(milli)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85F022-7B52-418C-B1ED-19B80855C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0339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FC4D47-F6AB-49F0-8844-8F02FA6FA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428147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870422D-06C5-485E-9D56-2D6D63925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4203395"/>
            <a:ext cx="5620003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0.0001 = one ten thousandth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31C23C2-970B-409E-90FF-F0DE8B49F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8439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13D6FA-42CE-4207-861A-CC747F76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466374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4DBF94-260D-41B0-B997-798008FA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4584395"/>
            <a:ext cx="6707413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0.00001 = one hundred thousandth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A68B69-5A79-4AC8-BF52-8C906118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66666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507872-F40C-4F72-98F9-7F73D4320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504474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DD60136-E83A-41F2-A9B7-8CB09D609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4966666"/>
            <a:ext cx="6274956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0.000001 = one millionth (micro)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A2375C-1DBB-4A44-ACCD-E6D3EF3DD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4893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CA6B3B5-8D32-4A70-9C4A-B18C2D480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542701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A367AF5-2671-4374-990F-B5504F539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5348935"/>
            <a:ext cx="5814051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0.0000001 = one ten millionth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CC83A1-8D74-43B1-9DB6-D2FEF0DBB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73120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17A2219-B6D6-483F-9B90-5CC44E370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580928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-8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C5E326-DC04-4AF8-990F-EC6F40241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5731205"/>
            <a:ext cx="6902477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0.00000001 = one hundred millionth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A681771-4CF5-4BDF-B2E2-EB730677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12205"/>
            <a:ext cx="473335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029A4C-AC36-4F94-8CAB-01283070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520" y="6191555"/>
            <a:ext cx="235229" cy="3169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5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5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-9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38E81DD-E500-467F-A82C-55D08A225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2370" y="6112205"/>
            <a:ext cx="6925403" cy="5466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9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9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= 0.000000001 = one billionth (nano)  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8B05C51-B0C2-4D03-BA34-181480D6C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81356EA-298B-4F50-93C5-38DBEB680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7B7A80A-B0A2-4C25-8E16-9C1ABFA32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29</a:t>
            </a:r>
          </a:p>
        </p:txBody>
      </p:sp>
    </p:spTree>
    <p:extLst>
      <p:ext uri="{BB962C8B-B14F-4D97-AF65-F5344CB8AC3E}">
        <p14:creationId xmlns:p14="http://schemas.microsoft.com/office/powerpoint/2010/main" val="30726848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f290bbdaa04b52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A10750E-4534-45E5-95B4-83F79E959A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119833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For you to do....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7C9F02-C245-4EEC-B468-629E98E4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642265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Write the following in scientific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604572-9920-4B95-ACFF-278244C2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1730756"/>
            <a:ext cx="346690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notation (3 min):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6A26A02-2311-4A95-B363-3583B65E2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08046"/>
            <a:ext cx="727974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100 billion (# stars in Milky Way)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158A86-4CD2-4686-864B-609C22A10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97326"/>
            <a:ext cx="632796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0.009154 (Earth's diameter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1EF64E1-ADAF-43CD-812E-FD10B099C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3985006"/>
            <a:ext cx="479339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compared to the Sun's)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442069-5992-4576-BE06-AACE1C91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4286"/>
            <a:ext cx="7472795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18,332,507,225,851 (US national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45C3929-F09C-40E0-A38E-AFFAF584C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5060696"/>
            <a:ext cx="572365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debt as of    4 August 2015)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89725-8C27-4318-BF18-93B530367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D7A9D2-B2E1-4E93-BDF5-F01A83A1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227617-85EC-43D5-8F38-598F0C3A7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29</a:t>
            </a:r>
          </a:p>
        </p:txBody>
      </p:sp>
    </p:spTree>
    <p:extLst>
      <p:ext uri="{BB962C8B-B14F-4D97-AF65-F5344CB8AC3E}">
        <p14:creationId xmlns:p14="http://schemas.microsoft.com/office/powerpoint/2010/main" val="978819477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55995beaa614a2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ECE9A8-F4C6-4CA7-A5D7-368207A62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4119833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For you to do....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5B9ECA-7F35-4DD0-A7F8-E1A070ED7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3076"/>
            <a:ext cx="642265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Write the following in scientific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ACFAD7-1E2F-4FCD-A153-73C74D51A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1730756"/>
            <a:ext cx="3466907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notation (3 min):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E58A64-1C65-4BE6-B1A8-66C8F371C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08046"/>
            <a:ext cx="5225403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100 billion = 1.00 x 10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828081-B301-4345-94D4-71094FDEF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42940" y="2938069"/>
            <a:ext cx="336916" cy="377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A0A35C-B78D-4519-8EF8-3BFB305E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97326"/>
            <a:ext cx="5047400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0.009154 = 9.15 x 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747FBA-FE5F-4719-893B-0A3D43B84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5140" y="3526079"/>
            <a:ext cx="273375" cy="377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FADEEE-0890-4785-9635-29E584166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086606"/>
            <a:ext cx="7247251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18,332,507,225,851 = 1.83 x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ADAAD8C-1B88-4454-B948-E4BD86AB1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6050" y="4115359"/>
            <a:ext cx="338102" cy="3779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6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186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1ED8F1-8E2A-4CAE-AAC0-26E54D21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FE24B8D-4496-496A-AC14-0539A74F6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3E3EDD-3141-48FE-9EB2-D90E43895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29</a:t>
            </a:r>
          </a:p>
        </p:txBody>
      </p:sp>
    </p:spTree>
    <p:extLst>
      <p:ext uri="{BB962C8B-B14F-4D97-AF65-F5344CB8AC3E}">
        <p14:creationId xmlns:p14="http://schemas.microsoft.com/office/powerpoint/2010/main" val="14418616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4ab089463a0485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387748-5002-4A91-B494-9CB2D6C4B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3840876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Where are we?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48325-097E-4C56-AED7-2E3FB4240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9774"/>
            <a:ext cx="7736884" cy="518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0" i="1">
                <a:solidFill>
                  <a:srgbClr val="004A4A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04A4A"/>
                </a:solidFill>
                <a:latin typeface="Arial"/>
                <a:ea typeface="Arial"/>
                <a:cs typeface="Arial"/>
              </a:rPr>
              <a:t>“I’m a lonely insignificant speck on a has-been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25ED5C-2F89-4EF2-992F-5AB986274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82" y="1629664"/>
            <a:ext cx="7365703" cy="518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0" i="1">
                <a:solidFill>
                  <a:srgbClr val="004A4A"/>
                </a:solidFill>
                <a:latin typeface="Arial"/>
                <a:ea typeface="Arial"/>
                <a:cs typeface="Arial"/>
              </a:defRPr>
            </a:pPr>
            <a:r>
              <a:rPr sz="2550" b="0" i="1">
                <a:solidFill>
                  <a:srgbClr val="004A4A"/>
                </a:solidFill>
                <a:latin typeface="Arial"/>
                <a:ea typeface="Arial"/>
                <a:cs typeface="Arial"/>
              </a:rPr>
              <a:t>planet orbited by a cold and indifferent sun.”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397F70-ED9C-45AE-9901-B8193B88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3380" y="1629664"/>
            <a:ext cx="303332" cy="518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C4730-C895-428C-B402-5E3D0C6F8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18284"/>
            <a:ext cx="7999302" cy="518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Homer in “El Viaje Misterioso de Nuestro Homer”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24A1A4-78D8-400E-B9AA-8CED98223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0700" y="2926334"/>
            <a:ext cx="519339" cy="518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B1F221-CA8B-491B-9A6F-E600D7A223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6373"/>
            <a:ext cx="7978313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live on a rocky planet in the inner part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D20F7E-0E2B-4596-B9FA-BAF73372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292143"/>
            <a:ext cx="8085861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our Solar System that orbits an average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6DAB6B-62AD-4734-A265-318530219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37913"/>
            <a:ext cx="8122441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size star in the outer part of a large galaxy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13A1F6-E3AE-4F09-B885-51728E784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183683"/>
            <a:ext cx="7941352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inside a small group of about 30 galaxies,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E6A835-54C8-4600-9DC5-52BC48692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29453"/>
            <a:ext cx="7684501" cy="591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1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1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our local supercluster, in the Universe.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B06895-50B6-428E-B8B8-3A6D4125E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8A3A67-5F42-493C-8401-F8471EE5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D9DDAC-0A32-4763-B39F-BEA9E13E0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29</a:t>
            </a:r>
          </a:p>
        </p:txBody>
      </p:sp>
    </p:spTree>
    <p:extLst>
      <p:ext uri="{BB962C8B-B14F-4D97-AF65-F5344CB8AC3E}">
        <p14:creationId xmlns:p14="http://schemas.microsoft.com/office/powerpoint/2010/main" val="197257425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4afe9c7549422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12942-2FE9-4401-B567-56B0D28E0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4071554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Where are we?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EEAC7B-420C-4BDA-9EE5-0744D3797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03BBE8-4852-4E24-AEA1-BB59CF80E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531DDA-D060-4342-A4FF-18DD0DA96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29</a:t>
            </a:r>
          </a:p>
        </p:txBody>
      </p:sp>
    </p:spTree>
    <p:extLst>
      <p:ext uri="{BB962C8B-B14F-4D97-AF65-F5344CB8AC3E}">
        <p14:creationId xmlns:p14="http://schemas.microsoft.com/office/powerpoint/2010/main" val="27237078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389c0af59b439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F21ECF-F51F-4061-AABD-CC7A497D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D21AD8-5951-42F5-A496-F16F6C145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8CA997-5776-49E2-A1C0-4A25BAA04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29</a:t>
            </a:r>
          </a:p>
        </p:txBody>
      </p:sp>
    </p:spTree>
    <p:extLst>
      <p:ext uri="{BB962C8B-B14F-4D97-AF65-F5344CB8AC3E}">
        <p14:creationId xmlns:p14="http://schemas.microsoft.com/office/powerpoint/2010/main" val="11487354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d15cce0e2c5421e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877BF8-5726-4DD0-86B2-265AA45C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6237"/>
            <a:ext cx="7929538" cy="6786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4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34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Components of our Solar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E0F262-01E6-4F52-AF8A-CC329FD2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41044"/>
            <a:ext cx="39370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F0B149-3B22-4B22-9738-77DD8D00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240" y="1241044"/>
            <a:ext cx="229687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solar 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B5A202-2D5F-4FA4-9D67-0B2D06692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3570" y="1241044"/>
            <a:ext cx="541869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is: A star and all the material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D59543-D8C5-44A3-9842-8C7E1379A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1667764"/>
            <a:ext cx="69239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that orbits it, including its planets and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A303BC-85D1-46CA-8293-1AA554769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2094484"/>
            <a:ext cx="134173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moons.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409450-61D5-456F-8C73-78E485E7B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3090165"/>
            <a:ext cx="1598777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Sun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90E376A-B202-4654-B067-21568281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3588005"/>
            <a:ext cx="4472743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Planets and their moons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224D7D3-40C2-457D-87FC-4DF9DF883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4085844"/>
            <a:ext cx="680447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-  Now only eight planets (Sorry Pluto)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4A79082-F61C-41F9-BFD4-A64E83E9C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4583685"/>
            <a:ext cx="523124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Asteroids/Comets/Planetoids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D6183B-8F7D-4811-8D2E-5EFD8341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" y="5081525"/>
            <a:ext cx="484862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Spacecraft and space junk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60737F9-7499-41D2-807B-21EE379A6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FFACF2B-CCE1-412B-9677-26E320F89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26B4655-93A5-4C29-91A5-684D5A43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29</a:t>
            </a:r>
          </a:p>
        </p:txBody>
      </p:sp>
    </p:spTree>
    <p:extLst>
      <p:ext uri="{BB962C8B-B14F-4D97-AF65-F5344CB8AC3E}">
        <p14:creationId xmlns:p14="http://schemas.microsoft.com/office/powerpoint/2010/main" val="162253361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6ceda7501a4396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76ACD2-BC6E-4543-930B-2F3414DD3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47294"/>
            <a:ext cx="8953615" cy="670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0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30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Our Solar System (distances to scale)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CF9DD4D-19F3-40F3-91EF-01FCEC48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3EE114-5EF4-4BA4-882F-CAABDF2A2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6A5122-C086-465C-97E4-C0D4E6B4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29</a:t>
            </a:r>
          </a:p>
        </p:txBody>
      </p:sp>
    </p:spTree>
    <p:extLst>
      <p:ext uri="{BB962C8B-B14F-4D97-AF65-F5344CB8AC3E}">
        <p14:creationId xmlns:p14="http://schemas.microsoft.com/office/powerpoint/2010/main" val="447544313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c72205d688f4f13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86F1DE-86D0-41F5-B009-D5BDFEE80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3024077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Our Galaxy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2CF064-AAE7-4F91-BD79-B69A9C5E7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670" y="1318514"/>
            <a:ext cx="489889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 100 billion stars! That’s 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51B72-C44E-411E-BA31-7EEE6122F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040" y="1355700"/>
            <a:ext cx="299801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E186D9-28A4-4467-AA14-26EEC874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3930" y="1318514"/>
            <a:ext cx="18069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18D6A-AA17-4720-89C8-B7CAEBAF5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490" y="1745234"/>
            <a:ext cx="742793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 100 billion stars means 100 billion other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395D5E-560C-4E6D-8345-004BCF1F1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490" y="2171954"/>
            <a:ext cx="709570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solar systems that may have Earth-like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A969BF-7A86-422A-881D-7C32A44EC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6490" y="2598674"/>
            <a:ext cx="387502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3FF23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3FF23"/>
                </a:solidFill>
                <a:latin typeface="Arial"/>
                <a:ea typeface="Arial"/>
                <a:cs typeface="Arial"/>
              </a:rPr>
              <a:t>planets orbiting them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777EBC-2FB4-4736-BDCF-6BDDE5330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D4CF20-89AA-4BA5-8AB7-5CA1B461B2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C46C23A-7ECF-485A-9FF5-1331AFFFE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29</a:t>
            </a:r>
          </a:p>
        </p:txBody>
      </p:sp>
    </p:spTree>
    <p:extLst>
      <p:ext uri="{BB962C8B-B14F-4D97-AF65-F5344CB8AC3E}">
        <p14:creationId xmlns:p14="http://schemas.microsoft.com/office/powerpoint/2010/main" val="126349833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fb6e2b6d9244088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445AA3-6D94-44F0-BE02-461E24D05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CD5F8-C35A-4418-BFAB-41F1A5BD9A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1C1F2E-E528-4639-A520-4A1E8766B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29</a:t>
            </a:r>
          </a:p>
        </p:txBody>
      </p:sp>
    </p:spTree>
    <p:extLst>
      <p:ext uri="{BB962C8B-B14F-4D97-AF65-F5344CB8AC3E}">
        <p14:creationId xmlns:p14="http://schemas.microsoft.com/office/powerpoint/2010/main" val="185098073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d4420101db34065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F7DC5B-7670-4D91-8442-2174BE58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376783"/>
            <a:ext cx="3380097" cy="79654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92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92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Local Group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C6B0E8-9E8F-4CD2-B956-A3706B924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13C6E3-697A-4195-AEA2-E8DFDC5EE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AF6D20-BA98-4D55-B728-8DBC91466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29</a:t>
            </a:r>
          </a:p>
        </p:txBody>
      </p:sp>
    </p:spTree>
    <p:extLst>
      <p:ext uri="{BB962C8B-B14F-4D97-AF65-F5344CB8AC3E}">
        <p14:creationId xmlns:p14="http://schemas.microsoft.com/office/powerpoint/2010/main" val="129985838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3c78e267a8491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480E1CD-5CE0-4010-AD88-D3D4C9A33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678231"/>
            <a:ext cx="6070402" cy="81483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01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401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Local Group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127537-ACA1-4404-9774-9465544B1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9EBC27-B12E-4952-B917-315C1CB4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74C53E2-9346-4687-BA65-9A26B1FE3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29</a:t>
            </a:r>
          </a:p>
        </p:txBody>
      </p:sp>
    </p:spTree>
    <p:extLst>
      <p:ext uri="{BB962C8B-B14F-4D97-AF65-F5344CB8AC3E}">
        <p14:creationId xmlns:p14="http://schemas.microsoft.com/office/powerpoint/2010/main" val="62474932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5b1f2a659f4e4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3287C2-DD77-4A3F-AC60-F065D26C4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3465122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Universe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0A9D015-8E72-4B3E-89EE-75D1693EA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660" y="1655064"/>
            <a:ext cx="41413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At Least 100 billion (10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3EDFCB5-6313-4DEB-A0B3-0848D8586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0570" y="1692250"/>
            <a:ext cx="299801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900B90-641B-45EF-B13E-66AB195A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23460" y="1655064"/>
            <a:ext cx="187299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 galaxies.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DE555C-0FCD-47F0-AF10-D65CD3C47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380" y="2081784"/>
            <a:ext cx="7606645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If each galaxy has 100 billion stars, there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A2FBD4E-4F8B-4170-B2E0-47740B69B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380" y="2508504"/>
            <a:ext cx="1175668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10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29CB7A-E705-45BD-B196-4568F1E0B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9300" y="2545690"/>
            <a:ext cx="299801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F59875-50DC-4343-950C-D09C99C72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0920" y="2508504"/>
            <a:ext cx="92532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x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3BE3714-3711-4DA0-A489-E8008C06E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380" y="2545690"/>
            <a:ext cx="300832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0EFE40-C371-4EC1-B51F-1E052A0CF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0270" y="2508504"/>
            <a:ext cx="101209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= 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75CDBB-2F29-416B-B016-8A98F0467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4360" y="2545690"/>
            <a:ext cx="299801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A650B1-146D-4709-B8B0-544EC976C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5980" y="2508504"/>
            <a:ext cx="401764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stars in the universe,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BF70C8-0824-4289-B539-F2BF00B14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380" y="2935224"/>
            <a:ext cx="762127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more than all the grains of sand on all the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1FF78B-9A11-4E30-AB75-C6DD5FBA7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380" y="3361944"/>
            <a:ext cx="325521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beaches on Earth.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448DE3-0CBF-44CC-B847-B0727F11A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660" y="4640834"/>
            <a:ext cx="7693806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NOTE: EXPONENTS ADD WHEN MULTIPLIED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9EE02C-BE41-4D0A-9997-B995E126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A6B2AD-08FB-4DEE-BEB6-C97C87C82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3852896-ABD6-4E6A-8C91-4D1C5041B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29</a:t>
            </a:r>
          </a:p>
        </p:txBody>
      </p:sp>
    </p:spTree>
    <p:extLst>
      <p:ext uri="{BB962C8B-B14F-4D97-AF65-F5344CB8AC3E}">
        <p14:creationId xmlns:p14="http://schemas.microsoft.com/office/powerpoint/2010/main" val="109598318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f3d7e38fe64e1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2CCCBE-79BD-4808-8832-8F25C589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5918821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Virgo Supercluster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527F33-E4A4-48D1-A4CD-9BA5609FD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442" y="1243076"/>
            <a:ext cx="626556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local grouping of galaxies.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1463C3B-4751-4F3B-9568-B037A604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12036"/>
            <a:ext cx="8158386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Contains the Local Group and the Virgo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441A2D-9E4E-4254-A71D-AD68ECF31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299716"/>
            <a:ext cx="7976328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Cluster, in addition to about 100 other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A2A640-4DA0-4839-9EAE-C15738EE9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6126"/>
            <a:ext cx="5654564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galaxy groups and clusters.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21ECB85-2863-48C6-B32E-A5520137E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49635A-FFD6-4AE0-BB15-B60DC17E3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4198AE-A8C4-4592-A9B3-175D0DD20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29</a:t>
            </a:r>
          </a:p>
        </p:txBody>
      </p:sp>
    </p:spTree>
    <p:extLst>
      <p:ext uri="{BB962C8B-B14F-4D97-AF65-F5344CB8AC3E}">
        <p14:creationId xmlns:p14="http://schemas.microsoft.com/office/powerpoint/2010/main" val="7514827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1f9716bc0847a0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546294-B618-4F92-9EF9-707F3B5A4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9AC71E-D6E8-459F-981E-365862FB4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335E4B-C1BF-4E10-A827-12AA67DBA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29</a:t>
            </a:r>
          </a:p>
        </p:txBody>
      </p:sp>
    </p:spTree>
    <p:extLst>
      <p:ext uri="{BB962C8B-B14F-4D97-AF65-F5344CB8AC3E}">
        <p14:creationId xmlns:p14="http://schemas.microsoft.com/office/powerpoint/2010/main" val="61464693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477a423b1b446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C22F48-89FE-4752-8E43-CB2474BA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6488177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Where are we? (review)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BFF5A1-BFA3-480D-A430-4E0164729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10" y="5583682"/>
            <a:ext cx="841644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live on a rocky planet in the inner part of our Solar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0FC0B4-8A69-4804-A33A-3C173A325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10" y="5949442"/>
            <a:ext cx="802661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System that orbits an average size star in the outer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4564C8-DA33-4121-B1FE-130C5E403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10" y="6315202"/>
            <a:ext cx="843686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part of a large galaxy inside a small group of about 30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E0C64A-E70F-448C-B511-D2AD8511C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110" y="6680962"/>
            <a:ext cx="776752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galaxies, in our local supercluster, in the Universe.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7F2EF42-8E1A-4355-9272-38F12928C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477B4D-9FF6-4CD9-90DA-8B3DB9E6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184CB2-987B-4258-A537-E49C82272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29</a:t>
            </a:r>
          </a:p>
        </p:txBody>
      </p:sp>
    </p:spTree>
    <p:extLst>
      <p:ext uri="{BB962C8B-B14F-4D97-AF65-F5344CB8AC3E}">
        <p14:creationId xmlns:p14="http://schemas.microsoft.com/office/powerpoint/2010/main" val="616344409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2c7949e44f4058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DEA6D3-25BC-4F5E-8D18-B701DE08BA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5723433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Where are we videos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0A7A9F-5598-4086-AEB4-2AF230235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50" y="2003806"/>
            <a:ext cx="4988872" cy="650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2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2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http://htwins.net/scale2/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791454-266A-4D89-87DE-AA038475C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50" y="2611374"/>
            <a:ext cx="578424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http://www.youtube.com/watch?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02922-E813-46E3-8AD2-E4265F3BF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50" y="3038094"/>
            <a:ext cx="321112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v=17jymDn0W6U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C2C083-E9FC-4ABB-BB9D-B5035A6FE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3F7B11-9FEC-4445-93AA-F5EC1FB88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ED01F7-C733-4664-92E2-A27739EDA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29</a:t>
            </a:r>
          </a:p>
        </p:txBody>
      </p:sp>
      <p:sp>
        <p:nvSpPr>
          <p:cNvPr id="10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5560" y="2003806"/>
            <a:ext cx="4988872" cy="6502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  <p:sp>
        <p:nvSpPr>
          <p:cNvPr id="11" name="Link 2">
            <ns0:hlinkClick xmlns:ns0="http://schemas.openxmlformats.org/drawingml/2006/main" xmlns:ns1="http://schemas.openxmlformats.org/officeDocument/2006/relationships" ns1:id="rIdDspiraLink2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550" y="2611374"/>
            <a:ext cx="5784249" cy="568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2146640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ff03c45aa74da9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21ADCC-0EB7-4B37-8A5B-131BC078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114542"/>
            <a:ext cx="418765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Carl Sagan’s Pale Blue Dot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D6BFA5D-C4C9-4B34-A4EA-9D3C1E03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480302"/>
            <a:ext cx="512490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https://www.youtube.com/watch?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FCAD31-486C-4315-AFD0-AEB69EACD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846062"/>
            <a:ext cx="249631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v=b58SfRphkKc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812FF8-AA73-4449-8FB4-3BE9594E4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8AA24C-4AA9-4C61-8E3A-104425EF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CA7662-160F-4EBB-AB89-427E2C58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29</a:t>
            </a:r>
          </a:p>
        </p:txBody>
      </p:sp>
      <p:sp>
        <p:nvSpPr>
          <p:cNvPr id="9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" y="6480302"/>
            <a:ext cx="5124906" cy="48768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31248621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3bbeaa66a649d7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690E58-B2DC-42AD-A7E2-56C88E3B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2435"/>
            <a:ext cx="5581089" cy="7233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56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56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How did we get here?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36F5E6-06CD-41FF-BF41-17EC0E984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239317"/>
            <a:ext cx="3224555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Steps in your creation: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432D16-37D5-4E6D-9A33-0D0C4B5CE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33017"/>
            <a:ext cx="273301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~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8A3457-E60D-4E94-B6E5-47FAE6213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1633017"/>
            <a:ext cx="2801022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14 billion years ago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A80B2A-DCB5-4D65-B987-EDDEE2E59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0920" y="1633017"/>
            <a:ext cx="4500763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, the Universe was created in a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E4641B-908C-426D-8036-10397A137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1970837"/>
            <a:ext cx="5333229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violent explosion called the Big Bang.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7FA55-5E12-4DC7-918C-A61E15E5D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2758237"/>
            <a:ext cx="7436929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Our Milky Way Galaxy formed ~2 billion years after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AF62CB-C6A5-4533-8B45-EF544D8E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3097327"/>
            <a:ext cx="1939360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the Big Bang.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EF03D6-64A3-459F-96DE-F1B590A9B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30" y="3491027"/>
            <a:ext cx="2998056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Five billion years ago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6C153B-1585-4962-A8D5-7A2A3FD1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9210" y="3491027"/>
            <a:ext cx="4142907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(9 billion years after the Big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0A200A-AB88-49BF-AFE1-DE2297D69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3828847"/>
            <a:ext cx="6075597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Bang) the Sun and the solar system forms.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42F19D-8A49-4C09-89F1-E41E026E7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30" y="4222547"/>
            <a:ext cx="2621396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4 billion years ago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9CC9C1A-F472-4539-BD91-751748ECE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2020" y="4222547"/>
            <a:ext cx="4659614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the most primitive life forms on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D8CDEFD-1F70-4B9D-B1F7-2FAD4C30D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4560367"/>
            <a:ext cx="883196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Earth.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FFAD22-8C29-4118-B509-4F0B3E361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030" y="4954067"/>
            <a:ext cx="2680898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100,000 years ago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4EB99A-A86E-411D-B808-7C0818651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4954067"/>
            <a:ext cx="4952074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modern humans evolved in Africa.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103C2-122E-4C0C-84A3-A630E444C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5741467"/>
            <a:ext cx="6749589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 Some decades ago, you gained consciousness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B22A5BE-EC1E-4D80-94FF-9B0AD723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" y="6080557"/>
            <a:ext cx="1308131" cy="4490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21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21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(finally!).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E3838D-0D8B-4F2A-91FE-3FA5B3DA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05DC69-8534-4683-AF2C-E773C011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41E1B0-AF71-491C-91FC-63D0FF32F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29</a:t>
            </a:r>
          </a:p>
        </p:txBody>
      </p:sp>
    </p:spTree>
    <p:extLst>
      <p:ext uri="{BB962C8B-B14F-4D97-AF65-F5344CB8AC3E}">
        <p14:creationId xmlns:p14="http://schemas.microsoft.com/office/powerpoint/2010/main" val="1327415708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c445a6e8754bbb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3663FC-07FD-4CD2-8457-B950CF241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10616"/>
            <a:ext cx="7074134" cy="4978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24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How did we get here? (Cosmic Timeline)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0BA0DE-6413-41B9-A916-024A03F5A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681" y="1434592"/>
            <a:ext cx="148544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January 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D798DC-D941-4B9A-A121-99699801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834" y="1434592"/>
            <a:ext cx="140634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Big Bang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B60ECF-1D2D-4857-AF94-5C77F3CAE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" y="1800352"/>
            <a:ext cx="167884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February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CD4448-43D5-4E92-BDC8-E52D794B3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831" y="1800352"/>
            <a:ext cx="2526482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Milky Way forms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CF5985-244B-4951-A990-882C6EE4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" y="2166112"/>
            <a:ext cx="2011982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September 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BC070B-EE12-4110-B22A-D026AC490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831" y="2166112"/>
            <a:ext cx="181904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Earth forms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535E71-DC2E-41E2-BE66-529E6B705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" y="2530602"/>
            <a:ext cx="220492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September 22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4A50822-6F5E-490D-A512-1BC28756B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830" y="2530602"/>
            <a:ext cx="2628292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 life on Earth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038CA92-DFA3-4B3C-9AFF-714E891A4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" y="2896362"/>
            <a:ext cx="210190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December 26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4A97B5-EE95-409C-99DC-099EB2D33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2928061"/>
            <a:ext cx="218516" cy="282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2A38E56-C86A-41D1-BF3F-746E71BC3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830" y="2896362"/>
            <a:ext cx="2660903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Dinosaurs evolve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EF2240-6282-4A3E-8F87-75A86BF1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" y="3262122"/>
            <a:ext cx="210190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December 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FB0A36-3316-41B9-8CB9-7668A287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3293821"/>
            <a:ext cx="218516" cy="282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00E35E-7372-45D7-9BFB-0468D963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2830" y="3262122"/>
            <a:ext cx="261488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Dinosaurs die of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B2D69C9-88A6-4F97-A25E-6DD1F7FF9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0830" y="3627881"/>
            <a:ext cx="210190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December 31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34DF73B-7279-4A30-82A4-DD096CE3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55850" y="3659580"/>
            <a:ext cx="198745" cy="2824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3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3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2E64CF-05B5-406B-B482-8CE8F5DD9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9630" y="3992371"/>
            <a:ext cx="159837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11:58 pm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CFE4F4-802B-47EF-B051-6983FD122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231" y="3992371"/>
            <a:ext cx="250149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Modern humans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058512-94B8-424E-8B23-AAC64A457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9630" y="4358131"/>
            <a:ext cx="243108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25 seconds ago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D87683-710E-47D5-A1B8-5E6DBEEE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232" y="4358131"/>
            <a:ext cx="271210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Agriculture arises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729181E-6A28-4ABA-8A68-B96304F16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9630" y="4723891"/>
            <a:ext cx="2431089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11 seconds ago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5A8817-768B-4DE4-B390-07E568636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232" y="4723891"/>
            <a:ext cx="222108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Pyramids built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9B20680-95BE-4D55-947C-67BE91BB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9630" y="5088381"/>
            <a:ext cx="272187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0.05 seconds ago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652315-0543-4099-B2BB-31AE7FD37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7081" y="5088381"/>
            <a:ext cx="219074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 were born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320794F-CCE3-47FC-8732-AE6BA661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40" y="5768593"/>
            <a:ext cx="596917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https://www.youtube.com/watch?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8B9CFB7-3E2C-4FD6-9F19-24763B134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40" y="6195313"/>
            <a:ext cx="314783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v=ShTxGumvbno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3FD6050-975D-4F1E-9E04-9FEF514A6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E4DBD1F-BE85-484D-9EAB-08B5419E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2FB32D0-F057-426D-8E58-621A15189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29</a:t>
            </a:r>
          </a:p>
        </p:txBody>
      </p:sp>
      <p:sp>
        <p:nvSpPr>
          <p:cNvPr id="33" name="Link 1">
            <ns0:hlinkClick xmlns:ns0="http://schemas.openxmlformats.org/drawingml/2006/main" xmlns:ns1="http://schemas.openxmlformats.org/officeDocument/2006/relationships" ns1:id="rIdDspiraLink1"/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340" y="5768593"/>
            <a:ext cx="5969174" cy="5689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0"/>
            </a:srgbClr>
          </a:solidFill>
          <a:ln xmlns:a="http://schemas.openxmlformats.org/drawingml/2006/main" w="0">
            <a:noFill/>
          </a:ln>
        </p:spPr>
      </p:sp>
    </p:spTree>
    <p:extLst>
      <p:ext uri="{BB962C8B-B14F-4D97-AF65-F5344CB8AC3E}">
        <p14:creationId xmlns:p14="http://schemas.microsoft.com/office/powerpoint/2010/main" val="135500009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d224c22f7f45d2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A00C92-3424-40AC-A6A2-6045B4761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2902"/>
            <a:ext cx="5625997" cy="76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78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78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How are we Moving?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ABE06A-BEA9-43D7-9150-17F5490B9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170" y="1284732"/>
            <a:ext cx="14478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568EB0-F46D-406A-ACD4-E6EA0690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770" y="1305052"/>
            <a:ext cx="224115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Earth rotation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72BA22-D141-48EF-AE0B-B29D38F40C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3499" y="2036572"/>
            <a:ext cx="165964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Earth orbit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63931B-7717-4E86-A245-5888C44F2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7900" y="2768092"/>
            <a:ext cx="3336037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Random Solar motion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1C1EF0-7C9F-4A8E-99CE-13975C0A7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3499612"/>
            <a:ext cx="324247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Solar motion around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BC8DA09-0EF6-44AD-95C0-4C696DD9F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2300" y="3865372"/>
            <a:ext cx="362468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center of the Milky Way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E7FE72-82E7-4DA9-A5E3-F7666386A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596892"/>
            <a:ext cx="2725515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Milky Way motion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E8F622-535F-4665-8CE5-143C3C6B3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091" y="4949953"/>
            <a:ext cx="190500" cy="4749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571696F-D65D-4E35-A9AB-BBF65B116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2570" y="4962652"/>
            <a:ext cx="2104956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 local group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7EFD7EA-86CD-4E90-9C86-509E4163C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3170" y="6039612"/>
            <a:ext cx="144780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B03279-D72C-4544-93A7-B52B612ED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1770" y="6059932"/>
            <a:ext cx="402885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Expansion of the Universe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4422C0-4E46-4540-859A-7A5BFDF224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6A2D2F-F084-4214-B819-30E6B2ED9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D22B16F-AB5E-4FAB-92F7-8C4B29C5D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29</a:t>
            </a:r>
          </a:p>
        </p:txBody>
      </p:sp>
    </p:spTree>
    <p:extLst>
      <p:ext uri="{BB962C8B-B14F-4D97-AF65-F5344CB8AC3E}">
        <p14:creationId xmlns:p14="http://schemas.microsoft.com/office/powerpoint/2010/main" val="34904635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81750c24234be3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9AB1EAD-079A-41FA-A0C4-A4FEEFC3C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1142"/>
            <a:ext cx="1915477" cy="741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65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65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259681-C5AA-4D0E-B1DC-BA0EC378A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1242568"/>
            <a:ext cx="2582295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Goals for Today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956856-8786-483A-9E83-3B30D7BF8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1706118"/>
            <a:ext cx="5115925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1) Scientific notation and units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AA6AB9-1255-40A2-98A0-9A772CF7E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2170938"/>
            <a:ext cx="2037787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Know them!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0463BC-18E1-4A08-B518-05969A98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2635758"/>
            <a:ext cx="2946826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2) Where are we?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5603AB-1252-4AC3-9273-4C04D990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3099308"/>
            <a:ext cx="7648219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We are in the Universe, in the Local Group, in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9F7EDD-FA97-40C5-B5DD-3F488362A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990" y="3498088"/>
            <a:ext cx="7390987" cy="5283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6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6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the Milky Way, in the Solar System, on Earth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62EA4A-C73B-4B89-85B3-F2A5533A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98214"/>
            <a:ext cx="436788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262626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262626"/>
                </a:solidFill>
                <a:latin typeface="Arial"/>
                <a:ea typeface="Arial"/>
                <a:cs typeface="Arial"/>
              </a:rPr>
              <a:t>3) How did we get here?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8005D1B-C978-4067-91D9-985FF32A2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27804"/>
            <a:ext cx="780549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Universe created 14 GYr ago, Milky Way 12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A8267F-F712-470E-B7A3-807A4C6E8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955794"/>
            <a:ext cx="762697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GYr ago, Earth 4 GYr ago, man 100,000 yr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45F8EC-D20B-431C-8647-C60D7D379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383784"/>
            <a:ext cx="5187901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ago, and you ~20 years ago.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27816D-F092-4D1C-AA24-D1918264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913374"/>
            <a:ext cx="4768660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4) Everything is in motion!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29E6728-0335-460E-B0F9-281F7DD7A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37C64B-DB75-40E7-A1E4-B85CB422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AF1193-22B5-460D-98A5-0AA6A5F55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29</a:t>
            </a:r>
          </a:p>
        </p:txBody>
      </p:sp>
    </p:spTree>
    <p:extLst>
      <p:ext uri="{BB962C8B-B14F-4D97-AF65-F5344CB8AC3E}">
        <p14:creationId xmlns:p14="http://schemas.microsoft.com/office/powerpoint/2010/main" val="999680466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087b48d12364dca"/>
          <a:stretch xmlns:a="http://schemas.openxmlformats.org/drawingml/2006/main"/>
        </p:blipFill>
        <p:spPr>
          <a:xfrm xmlns:a="http://schemas.openxmlformats.org/drawingml/2006/main">
            <a:off x="0" y="342900"/>
            <a:ext cx="9144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0C4E2B-FB3B-4010-8A97-1A05B2950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" y="410820"/>
            <a:ext cx="4049150" cy="7863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70" b="1" i="0">
                <a:solidFill>
                  <a:srgbClr val="C00000"/>
                </a:solidFill>
                <a:latin typeface="Arial"/>
                <a:ea typeface="Arial"/>
                <a:cs typeface="Arial"/>
              </a:defRPr>
            </a:pPr>
            <a:r>
              <a:rPr sz="3870" b="1" i="0">
                <a:solidFill>
                  <a:srgbClr val="C00000"/>
                </a:solidFill>
                <a:latin typeface="Arial"/>
                <a:ea typeface="Arial"/>
                <a:cs typeface="Arial"/>
              </a:rPr>
              <a:t>The Light Year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7F639E-1527-453E-AD28-251704590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820" y="1733313"/>
            <a:ext cx="6026411" cy="5591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5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5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 LIGHT YEAR IS A DISTANCE!!!!!!!!!!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33F529-3CD9-455C-B61D-E0A0F0CF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820" y="2517902"/>
            <a:ext cx="564001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speed of light is a constant – it is not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FB6BB-00F9-4B02-B9E4-78D5EF72E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820" y="2883662"/>
            <a:ext cx="1712051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infinitely fast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C5C324-FCCC-4CA3-BB5C-AC9C3F22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6871" y="3237993"/>
            <a:ext cx="190500" cy="47497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922DF46-FE2D-4F01-8BEE-A5F50F830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420" y="3249422"/>
            <a:ext cx="4929834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speed of light is the fastest that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295184-DF3A-49D7-A562-8DA62B04A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36420" y="3615181"/>
            <a:ext cx="2677058" cy="487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anything can travel!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D62B01-57AA-4A1B-A897-035709BC6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820" y="4348968"/>
            <a:ext cx="6543434" cy="5685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7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light year is the distance light travels in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6321D8-5EB8-4084-BDCC-B586748CF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820" y="4775454"/>
            <a:ext cx="1421739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year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518699-600A-4F2D-AD82-B735BE69F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57020" y="5202174"/>
            <a:ext cx="1659634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9 x 10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3952F5-981D-4AFD-B006-EFB8E1C6B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5229199"/>
            <a:ext cx="266883" cy="32918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62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2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61860F-B788-43FB-9C1A-09DDEF6D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5202174"/>
            <a:ext cx="433172" cy="568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m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65E91C-124B-4DA8-9BEF-36F88B710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9820" y="6367435"/>
            <a:ext cx="6005791" cy="5572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742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742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Also, A LIGHT YEAR IS A DISTANCE!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EC29D8-FC7F-44F5-A9C6-AE79B1D9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438E294-C573-4CE7-8EF8-67174C358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296150"/>
            <a:ext cx="7905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1871A7-B172-424F-920F-365D99447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72961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29</a:t>
            </a:r>
          </a:p>
        </p:txBody>
      </p:sp>
    </p:spTree>
    <p:extLst>
      <p:ext uri="{BB962C8B-B14F-4D97-AF65-F5344CB8AC3E}">
        <p14:creationId xmlns:p14="http://schemas.microsoft.com/office/powerpoint/2010/main" val="81404443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Units and scales</dc:title>
  <dcterms:created xsi:type="dcterms:W3CDTF">2026-09-26T20:03:24.2140000Z</dcterms:created>
  <dcterms:modified xsi:type="dcterms:W3CDTF">2026-09-26T20:03:24.2140000Z</dcterms:modified>
</coreProperties>
</file>