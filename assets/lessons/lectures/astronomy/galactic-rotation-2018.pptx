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PartName="/docProps/core.xml" ContentType="application/vnd.openxmlformats-package.core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DocumentProperties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72" r:id="rId3"/>
    <p:sldMasterId id="214748367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8245475" cx="10080625"/>
  <p:notesSz cx="7772400" cy="100584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9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6a590096_0_2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d6a590096_0_2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0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1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d6a590096_0_19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d6a590096_0_19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2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6a590096_0_14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d6a590096_0_14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d6a590096_0_24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d6a590096_0_24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3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3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5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5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d6a590096_0_43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d6a590096_0_43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4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4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d6a590096_0_10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d6a590096_0_1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6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6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d6a590096_0_35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d6a590096_0_35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8:notes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d6a590096_0_30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d6a590096_0_3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1" name="Google Shape;21;p5"/>
          <p:cNvSpPr txBox="1"/>
          <p:nvPr>
            <p:ph idx="2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idx="1" type="subTitle"/>
          </p:nvPr>
        </p:nvSpPr>
        <p:spPr>
          <a:xfrm>
            <a:off x="504000" y="644220"/>
            <a:ext cx="9071640" cy="585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8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8" name="Google Shape;28;p8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2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0" name="Google Shape;30;p8"/>
          <p:cNvSpPr txBox="1"/>
          <p:nvPr>
            <p:ph idx="3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3" name="Google Shape;33;p9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4" name="Google Shape;34;p9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5" name="Google Shape;35;p9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8" name="Google Shape;38;p10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9" name="Google Shape;39;p10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0" name="Google Shape;40;p10"/>
          <p:cNvSpPr txBox="1"/>
          <p:nvPr>
            <p:ph idx="3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504000" y="211194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4" name="Google Shape;44;p11"/>
          <p:cNvSpPr txBox="1"/>
          <p:nvPr>
            <p:ph idx="2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8" name="Google Shape;48;p12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9" name="Google Shape;49;p12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0" name="Google Shape;50;p12"/>
          <p:cNvSpPr txBox="1"/>
          <p:nvPr>
            <p:ph idx="4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5" name="Google Shape;55;p13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  <p:sp>
        <p:nvSpPr>
          <p:cNvPr id="56" name="Google Shape;56;p13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6" name="Google Shape;66;p16"/>
          <p:cNvSpPr txBox="1"/>
          <p:nvPr>
            <p:ph idx="1" type="subTitle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9" name="Google Shape;69;p17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2" name="Google Shape;72;p18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3" name="Google Shape;73;p18"/>
          <p:cNvSpPr txBox="1"/>
          <p:nvPr>
            <p:ph idx="2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idx="1" type="subTitle"/>
          </p:nvPr>
        </p:nvSpPr>
        <p:spPr>
          <a:xfrm>
            <a:off x="504000" y="644220"/>
            <a:ext cx="9071640" cy="585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0" name="Google Shape;80;p21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1" name="Google Shape;81;p21"/>
          <p:cNvSpPr txBox="1"/>
          <p:nvPr>
            <p:ph idx="2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2" name="Google Shape;82;p21"/>
          <p:cNvSpPr txBox="1"/>
          <p:nvPr>
            <p:ph idx="3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5" name="Google Shape;85;p22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7" name="Google Shape;87;p22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0" name="Google Shape;90;p23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1" name="Google Shape;91;p23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2" name="Google Shape;92;p23"/>
          <p:cNvSpPr txBox="1"/>
          <p:nvPr>
            <p:ph idx="3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5" name="Google Shape;95;p24"/>
          <p:cNvSpPr txBox="1"/>
          <p:nvPr>
            <p:ph idx="1" type="body"/>
          </p:nvPr>
        </p:nvSpPr>
        <p:spPr>
          <a:xfrm>
            <a:off x="504000" y="211194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6" name="Google Shape;96;p24"/>
          <p:cNvSpPr txBox="1"/>
          <p:nvPr>
            <p:ph idx="2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5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9" name="Google Shape;99;p25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0" name="Google Shape;100;p25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1" name="Google Shape;101;p25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2" name="Google Shape;102;p25"/>
          <p:cNvSpPr txBox="1"/>
          <p:nvPr>
            <p:ph idx="4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5" name="Google Shape;105;p26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6" name="Google Shape;106;p26"/>
          <p:cNvSpPr txBox="1"/>
          <p:nvPr>
            <p:ph idx="2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07" name="Google Shape;107;p26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6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504000" y="72300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447360" y="7230060"/>
            <a:ext cx="3195000" cy="521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FFFFFF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title"/>
          </p:nvPr>
        </p:nvSpPr>
        <p:spPr>
          <a:xfrm>
            <a:off x="504000" y="645660"/>
            <a:ext cx="9071640" cy="1259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9" name="Google Shape;59;p14"/>
          <p:cNvSpPr txBox="1"/>
          <p:nvPr>
            <p:ph idx="1" type="body"/>
          </p:nvPr>
        </p:nvSpPr>
        <p:spPr>
          <a:xfrm>
            <a:off x="504000" y="2106900"/>
            <a:ext cx="9071640" cy="4988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504000" y="7349940"/>
            <a:ext cx="2351880" cy="402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>
            <a:off x="3443760" y="7349940"/>
            <a:ext cx="3191400" cy="402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40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000000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29452" y="1906374"/>
            <a:ext cx="6364300" cy="601345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7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2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Galactic Rotation</a:t>
            </a:r>
            <a:endParaRPr b="0" i="0" sz="35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7"/>
          <p:cNvSpPr txBox="1"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9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0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24</a:t>
            </a:r>
          </a:p>
        </p:txBody>
      </p:sp>
      <p:sp>
        <p:nvSpPr>
          <p:cNvPr id="121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22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23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4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8"/>
          <p:cNvSpPr txBox="1"/>
          <p:nvPr/>
        </p:nvSpPr>
        <p:spPr>
          <a:xfrm>
            <a:off x="503280" y="64386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52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Galactic Coordinates Review</a:t>
            </a:r>
            <a:endParaRPr b="0" i="0" sz="352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8"/>
          <p:cNvSpPr txBox="1"/>
          <p:nvPr/>
        </p:nvSpPr>
        <p:spPr>
          <a:xfrm>
            <a:off x="503280" y="211158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67320" y="1805580"/>
            <a:ext cx="6362280" cy="5767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24</a:t>
            </a:r>
          </a:p>
        </p:txBody>
      </p:sp>
      <p:sp>
        <p:nvSpPr>
          <p:cNvPr id="12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2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3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000000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9"/>
          <p:cNvSpPr txBox="1"/>
          <p:nvPr/>
        </p:nvSpPr>
        <p:spPr>
          <a:xfrm>
            <a:off x="503280" y="64386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52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9"/>
          <p:cNvSpPr txBox="1"/>
          <p:nvPr/>
        </p:nvSpPr>
        <p:spPr>
          <a:xfrm>
            <a:off x="503280" y="211158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9" name="Google Shape;129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0920" y="343260"/>
            <a:ext cx="8018640" cy="757656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9"/>
          <p:cNvSpPr txBox="1"/>
          <p:nvPr/>
        </p:nvSpPr>
        <p:spPr>
          <a:xfrm>
            <a:off x="1371600" y="1070100"/>
            <a:ext cx="2442240" cy="627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8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Quadrant 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9"/>
          <p:cNvSpPr txBox="1"/>
          <p:nvPr/>
        </p:nvSpPr>
        <p:spPr>
          <a:xfrm>
            <a:off x="8283600" y="1113300"/>
            <a:ext cx="579960" cy="56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8283960" y="6081300"/>
            <a:ext cx="605880" cy="56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1264320" y="6081300"/>
            <a:ext cx="464040" cy="56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7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8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24</a:t>
            </a:r>
          </a:p>
        </p:txBody>
      </p:sp>
      <p:sp>
        <p:nvSpPr>
          <p:cNvPr id="139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0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4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2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000000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503280" y="64386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52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503280" y="211158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0" name="Google Shape;14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" y="775620"/>
            <a:ext cx="10079640" cy="671508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30"/>
          <p:cNvSpPr/>
          <p:nvPr/>
        </p:nvSpPr>
        <p:spPr>
          <a:xfrm>
            <a:off x="5762160" y="7015860"/>
            <a:ext cx="4207320" cy="6638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30"/>
          <p:cNvSpPr/>
          <p:nvPr/>
        </p:nvSpPr>
        <p:spPr>
          <a:xfrm>
            <a:off x="2835360" y="775620"/>
            <a:ext cx="4207320" cy="6638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24</a:t>
            </a:r>
          </a:p>
        </p:txBody>
      </p:sp>
      <p:sp>
        <p:nvSpPr>
          <p:cNvPr id="14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4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5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000000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1"/>
          <p:cNvSpPr txBox="1"/>
          <p:nvPr/>
        </p:nvSpPr>
        <p:spPr>
          <a:xfrm>
            <a:off x="503280" y="64386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52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1"/>
          <p:cNvSpPr txBox="1"/>
          <p:nvPr/>
        </p:nvSpPr>
        <p:spPr>
          <a:xfrm>
            <a:off x="503280" y="211158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" y="775620"/>
            <a:ext cx="10079640" cy="6715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31"/>
          <p:cNvSpPr/>
          <p:nvPr/>
        </p:nvSpPr>
        <p:spPr>
          <a:xfrm>
            <a:off x="5762160" y="7015860"/>
            <a:ext cx="4207320" cy="6638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31"/>
          <p:cNvSpPr/>
          <p:nvPr/>
        </p:nvSpPr>
        <p:spPr>
          <a:xfrm>
            <a:off x="2835360" y="775620"/>
            <a:ext cx="4207320" cy="663840"/>
          </a:xfrm>
          <a:prstGeom prst="rect">
            <a:avLst/>
          </a:prstGeom>
          <a:solidFill>
            <a:srgbClr val="0000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1"/>
          <p:cNvSpPr txBox="1"/>
          <p:nvPr/>
        </p:nvSpPr>
        <p:spPr>
          <a:xfrm>
            <a:off x="3975840" y="2445300"/>
            <a:ext cx="217008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4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Positive Latitudes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31"/>
          <p:cNvSpPr txBox="1"/>
          <p:nvPr/>
        </p:nvSpPr>
        <p:spPr>
          <a:xfrm>
            <a:off x="3975840" y="5644620"/>
            <a:ext cx="22806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4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Negative Latitudes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31"/>
          <p:cNvSpPr txBox="1"/>
          <p:nvPr/>
        </p:nvSpPr>
        <p:spPr>
          <a:xfrm>
            <a:off x="4207320" y="3999060"/>
            <a:ext cx="1909800" cy="356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 deg. Longitude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31"/>
          <p:cNvSpPr txBox="1"/>
          <p:nvPr/>
        </p:nvSpPr>
        <p:spPr>
          <a:xfrm>
            <a:off x="8554320" y="3816180"/>
            <a:ext cx="1207080" cy="6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180 deg.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Longitude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1"/>
          <p:cNvSpPr txBox="1"/>
          <p:nvPr/>
        </p:nvSpPr>
        <p:spPr>
          <a:xfrm>
            <a:off x="0" y="3762900"/>
            <a:ext cx="1207080" cy="6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180 deg.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Longitude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24</a:t>
            </a:r>
          </a:p>
        </p:txBody>
      </p:sp>
      <p:sp>
        <p:nvSpPr>
          <p:cNvPr id="162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63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6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5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2"/>
          <p:cNvSpPr txBox="1"/>
          <p:nvPr/>
        </p:nvSpPr>
        <p:spPr>
          <a:xfrm>
            <a:off x="503280" y="64386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32"/>
          <p:cNvSpPr txBox="1"/>
          <p:nvPr/>
        </p:nvSpPr>
        <p:spPr>
          <a:xfrm>
            <a:off x="503280" y="211158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3" name="Google Shape;16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65400" y="342900"/>
            <a:ext cx="11725920" cy="781452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2"/>
          <p:cNvSpPr txBox="1"/>
          <p:nvPr/>
        </p:nvSpPr>
        <p:spPr>
          <a:xfrm>
            <a:off x="7720045" y="3176100"/>
            <a:ext cx="217008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4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Positive Latitudes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2"/>
          <p:cNvSpPr txBox="1"/>
          <p:nvPr/>
        </p:nvSpPr>
        <p:spPr>
          <a:xfrm>
            <a:off x="4220640" y="5623740"/>
            <a:ext cx="22806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4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Negative Latitudes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32"/>
          <p:cNvSpPr txBox="1"/>
          <p:nvPr/>
        </p:nvSpPr>
        <p:spPr>
          <a:xfrm>
            <a:off x="6676920" y="4639140"/>
            <a:ext cx="3204360" cy="356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3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 deg. Longitude, 0deg. Latitude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24</a:t>
            </a:r>
          </a:p>
        </p:txBody>
      </p:sp>
      <p:sp>
        <p:nvSpPr>
          <p:cNvPr id="172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73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7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5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3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Relevant Motions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33"/>
          <p:cNvSpPr txBox="1"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we learned in the first lecture, everything is in motion!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magnitude of the velocity shifts we measure depend on: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004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○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direction of that motion with respect to the source’s location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004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○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maximum magnitude of the relative velocity</a:t>
            </a:r>
            <a:endParaRPr sz="2560"/>
          </a:p>
          <a:p>
            <a:pPr indent="-320040" lvl="1" marL="9144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○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(so you can imagine there are lots of sines and cosines involved)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24</a:t>
            </a:r>
          </a:p>
        </p:txBody>
      </p:sp>
      <p:sp>
        <p:nvSpPr>
          <p:cNvPr id="17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7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8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Relevant Motions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34"/>
          <p:cNvSpPr txBox="1"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only care about </a:t>
            </a:r>
            <a:r>
              <a:rPr b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radial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motions!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If θ is the angle between the motion of velocity </a:t>
            </a:r>
            <a:r>
              <a:rPr b="0" i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and the source, we are interested in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baseline="-2500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rad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cos θ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tangential component (which we cannot measure) is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i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baseline="-2500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tan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= </a:t>
            </a:r>
            <a:r>
              <a:rPr b="0" i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sin θ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[but of course we actually</a:t>
            </a:r>
            <a:r>
              <a:rPr lang="en-US" sz="2560"/>
              <a:t> 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angles, the other one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60"/>
              <a:t>going into the screen</a:t>
            </a: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….]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9" name="Google Shape;179;p34"/>
          <p:cNvCxnSpPr/>
          <p:nvPr/>
        </p:nvCxnSpPr>
        <p:spPr>
          <a:xfrm>
            <a:off x="6035040" y="7109460"/>
            <a:ext cx="283464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34"/>
          <p:cNvCxnSpPr/>
          <p:nvPr/>
        </p:nvCxnSpPr>
        <p:spPr>
          <a:xfrm flipH="1" rot="10800000">
            <a:off x="6035040" y="5829300"/>
            <a:ext cx="2834640" cy="128016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34"/>
          <p:cNvSpPr txBox="1"/>
          <p:nvPr/>
        </p:nvSpPr>
        <p:spPr>
          <a:xfrm>
            <a:off x="6492240" y="6652260"/>
            <a:ext cx="838440" cy="543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431999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θ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34"/>
          <p:cNvSpPr txBox="1"/>
          <p:nvPr/>
        </p:nvSpPr>
        <p:spPr>
          <a:xfrm>
            <a:off x="8412480" y="5372100"/>
            <a:ext cx="369720" cy="506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4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34"/>
          <p:cNvSpPr/>
          <p:nvPr/>
        </p:nvSpPr>
        <p:spPr>
          <a:xfrm>
            <a:off x="8917560" y="6931260"/>
            <a:ext cx="365760" cy="365760"/>
          </a:xfrm>
          <a:custGeom>
            <a:pathLst>
              <a:path extrusionOk="0" h="21600" w="21600">
                <a:moveTo>
                  <a:pt x="10797" y="0"/>
                </a:moveTo>
                <a:lnTo>
                  <a:pt x="8278" y="8256"/>
                </a:lnTo>
                <a:lnTo>
                  <a:pt x="0" y="8256"/>
                </a:lnTo>
                <a:lnTo>
                  <a:pt x="6722" y="13405"/>
                </a:lnTo>
                <a:lnTo>
                  <a:pt x="4198" y="21600"/>
                </a:lnTo>
                <a:lnTo>
                  <a:pt x="10797" y="16580"/>
                </a:lnTo>
                <a:lnTo>
                  <a:pt x="17401" y="21600"/>
                </a:lnTo>
                <a:lnTo>
                  <a:pt x="14878" y="13405"/>
                </a:lnTo>
                <a:lnTo>
                  <a:pt x="21600" y="8256"/>
                </a:lnTo>
                <a:lnTo>
                  <a:pt x="13321" y="8256"/>
                </a:lnTo>
                <a:lnTo>
                  <a:pt x="10797" y="0"/>
                </a:lnTo>
                <a:close/>
              </a:path>
            </a:pathLst>
          </a:custGeom>
          <a:solidFill>
            <a:srgbClr val="FFFF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34"/>
          <p:cNvSpPr/>
          <p:nvPr/>
        </p:nvSpPr>
        <p:spPr>
          <a:xfrm>
            <a:off x="5633280" y="6907140"/>
            <a:ext cx="365760" cy="365760"/>
          </a:xfrm>
          <a:prstGeom prst="smileyFace">
            <a:avLst>
              <a:gd fmla="val 18520" name="adj"/>
            </a:avLst>
          </a:prstGeom>
          <a:solidFill>
            <a:srgbClr val="729FC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34"/>
          <p:cNvSpPr txBox="1"/>
          <p:nvPr/>
        </p:nvSpPr>
        <p:spPr>
          <a:xfrm>
            <a:off x="7295760" y="7112340"/>
            <a:ext cx="1146960" cy="447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9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19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cos θ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6" name="Google Shape;186;p34"/>
          <p:cNvCxnSpPr/>
          <p:nvPr/>
        </p:nvCxnSpPr>
        <p:spPr>
          <a:xfrm>
            <a:off x="8869680" y="5829300"/>
            <a:ext cx="0" cy="128016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" name="Google Shape;187;p34"/>
          <p:cNvSpPr txBox="1"/>
          <p:nvPr/>
        </p:nvSpPr>
        <p:spPr>
          <a:xfrm>
            <a:off x="8915760" y="6104700"/>
            <a:ext cx="1061640" cy="447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9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  <a:r>
              <a:rPr b="0" lang="en-US" sz="19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sin θ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1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2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24</a:t>
            </a:r>
          </a:p>
        </p:txBody>
      </p:sp>
      <p:sp>
        <p:nvSpPr>
          <p:cNvPr id="193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94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9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6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5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Relevant Motions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5"/>
          <p:cNvSpPr txBox="1"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4000" lvl="0" marL="432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1) Earth rotation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1" marL="864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</a:pPr>
            <a:r>
              <a:rPr lang="en-US" sz="2240"/>
              <a:t>r = 6371km</a:t>
            </a:r>
            <a:endParaRPr sz="2240"/>
          </a:p>
          <a:p>
            <a:pPr indent="-361950" lvl="2" marL="1371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■"/>
            </a:pPr>
            <a:r>
              <a:rPr lang="en-US" sz="2240"/>
              <a:t>&lt;|0.5|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km/s</a:t>
            </a:r>
            <a:endParaRPr b="0" i="0" sz="22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0" marL="431999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2) Earth revolution around Sun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849" lvl="1" marL="864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Noto Sans Symbols"/>
              <a:buChar char="−"/>
            </a:pPr>
            <a:r>
              <a:rPr lang="en-US" sz="2560"/>
              <a:t>r = 1AU = 1.5e8km</a:t>
            </a:r>
            <a:endParaRPr sz="2560"/>
          </a:p>
          <a:p>
            <a:pPr indent="-431800" lvl="2" marL="1371600" marR="0" rtl="0" algn="l">
              <a:spcBef>
                <a:spcPts val="0"/>
              </a:spcBef>
              <a:spcAft>
                <a:spcPts val="0"/>
              </a:spcAft>
              <a:buSzPts val="3200"/>
              <a:buChar char="■"/>
            </a:pPr>
            <a:r>
              <a:rPr lang="en-US" sz="2240"/>
              <a:t>&lt;|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30| km/s</a:t>
            </a:r>
            <a:endParaRPr b="0" i="0" sz="22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0" marL="431999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3) Sun non-circular motion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93849" lvl="1" marL="8640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Noto Sans Symbols"/>
              <a:buChar char="−"/>
            </a:pPr>
            <a:r>
              <a:rPr lang="en-US" sz="2560"/>
              <a:t>Found from observations of nearby stars/gas</a:t>
            </a:r>
            <a:endParaRPr sz="2560"/>
          </a:p>
          <a:p>
            <a:pPr indent="-431800" lvl="2" marL="1371600" marR="0" rtl="0" algn="l">
              <a:spcBef>
                <a:spcPts val="0"/>
              </a:spcBef>
              <a:spcAft>
                <a:spcPts val="0"/>
              </a:spcAft>
              <a:buSzPts val="3200"/>
              <a:buChar char="■"/>
            </a:pP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~|</a:t>
            </a:r>
            <a:r>
              <a:rPr lang="en-US" sz="2240"/>
              <a:t>2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r>
              <a:rPr lang="en-US" sz="2240"/>
              <a:t>|</a:t>
            </a:r>
            <a:r>
              <a:rPr b="0" i="0" lang="en-US" sz="224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km/s</a:t>
            </a:r>
            <a:endParaRPr b="0" i="0" sz="224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999" lvl="0" marL="431999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4) Sun (circular) motion around Galactic center </a:t>
            </a:r>
            <a:r>
              <a:rPr b="1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relative to circular motion of source</a:t>
            </a:r>
            <a:endParaRPr sz="2560"/>
          </a:p>
          <a:p>
            <a:pPr indent="-320039" lvl="2" marL="13716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■"/>
            </a:pPr>
            <a:r>
              <a:rPr b="0" lang="en-US" sz="256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generally &lt;|100| km/s</a:t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7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8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24</a:t>
            </a:r>
          </a:p>
        </p:txBody>
      </p:sp>
      <p:sp>
        <p:nvSpPr>
          <p:cNvPr id="199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00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0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2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6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But First, Definitions: </a:t>
            </a:r>
            <a:r>
              <a:rPr lang="en-US" sz="3040"/>
              <a:t>Blue and Red Shifts</a:t>
            </a:r>
            <a:endParaRPr sz="3040"/>
          </a:p>
        </p:txBody>
      </p:sp>
      <p:sp>
        <p:nvSpPr>
          <p:cNvPr id="199" name="Google Shape;199;p36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Blue-shifted means the object is moving toward the observer.  We define this as having a negative radial velocity.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Redshifted means the object is moving away from the observer.  We define this as having a positive radial velocity.</a:t>
            </a:r>
            <a:endParaRPr sz="2240"/>
          </a:p>
        </p:txBody>
      </p:sp>
      <p:sp>
        <p:nvSpPr>
          <p:cNvPr id="201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3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4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24</a:t>
            </a:r>
          </a:p>
        </p:txBody>
      </p:sp>
      <p:sp>
        <p:nvSpPr>
          <p:cNvPr id="205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06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07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8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7996" y="2295446"/>
            <a:ext cx="2743200" cy="274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37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Earth Rotation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37"/>
          <p:cNvSpPr/>
          <p:nvPr/>
        </p:nvSpPr>
        <p:spPr>
          <a:xfrm>
            <a:off x="9052560" y="3223260"/>
            <a:ext cx="822960" cy="731538"/>
          </a:xfrm>
          <a:custGeom>
            <a:pathLst>
              <a:path extrusionOk="0" h="21600" w="21600">
                <a:moveTo>
                  <a:pt x="10797" y="0"/>
                </a:moveTo>
                <a:lnTo>
                  <a:pt x="8278" y="8256"/>
                </a:lnTo>
                <a:lnTo>
                  <a:pt x="0" y="8256"/>
                </a:lnTo>
                <a:lnTo>
                  <a:pt x="6722" y="13405"/>
                </a:lnTo>
                <a:lnTo>
                  <a:pt x="4198" y="21600"/>
                </a:lnTo>
                <a:lnTo>
                  <a:pt x="10797" y="16580"/>
                </a:lnTo>
                <a:lnTo>
                  <a:pt x="17401" y="21600"/>
                </a:lnTo>
                <a:lnTo>
                  <a:pt x="14878" y="13405"/>
                </a:lnTo>
                <a:lnTo>
                  <a:pt x="21600" y="8256"/>
                </a:lnTo>
                <a:lnTo>
                  <a:pt x="13321" y="8256"/>
                </a:lnTo>
                <a:lnTo>
                  <a:pt x="10797" y="0"/>
                </a:lnTo>
                <a:close/>
              </a:path>
            </a:pathLst>
          </a:custGeom>
          <a:solidFill>
            <a:srgbClr val="FFFF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p37"/>
          <p:cNvSpPr/>
          <p:nvPr/>
        </p:nvSpPr>
        <p:spPr>
          <a:xfrm>
            <a:off x="1036325" y="2618851"/>
            <a:ext cx="2903756" cy="2662997"/>
          </a:xfrm>
          <a:custGeom>
            <a:pathLst>
              <a:path extrusionOk="0" h="6414" w="6174">
                <a:moveTo>
                  <a:pt x="1645" y="1444"/>
                </a:moveTo>
                <a:lnTo>
                  <a:pt x="1611" y="1616"/>
                </a:lnTo>
                <a:lnTo>
                  <a:pt x="1586" y="1789"/>
                </a:lnTo>
                <a:lnTo>
                  <a:pt x="1569" y="1964"/>
                </a:lnTo>
                <a:lnTo>
                  <a:pt x="1561" y="2139"/>
                </a:lnTo>
                <a:lnTo>
                  <a:pt x="1561" y="2314"/>
                </a:lnTo>
                <a:lnTo>
                  <a:pt x="1570" y="2489"/>
                </a:lnTo>
                <a:lnTo>
                  <a:pt x="1587" y="2664"/>
                </a:lnTo>
                <a:lnTo>
                  <a:pt x="1613" y="2837"/>
                </a:lnTo>
                <a:lnTo>
                  <a:pt x="1647" y="3009"/>
                </a:lnTo>
                <a:lnTo>
                  <a:pt x="1689" y="3179"/>
                </a:lnTo>
                <a:lnTo>
                  <a:pt x="1739" y="3346"/>
                </a:lnTo>
                <a:lnTo>
                  <a:pt x="1798" y="3511"/>
                </a:lnTo>
                <a:lnTo>
                  <a:pt x="1864" y="3672"/>
                </a:lnTo>
                <a:lnTo>
                  <a:pt x="1938" y="3830"/>
                </a:lnTo>
                <a:lnTo>
                  <a:pt x="2020" y="3983"/>
                </a:lnTo>
                <a:lnTo>
                  <a:pt x="2108" y="4132"/>
                </a:lnTo>
                <a:lnTo>
                  <a:pt x="2204" y="4277"/>
                </a:lnTo>
                <a:lnTo>
                  <a:pt x="2307" y="4416"/>
                </a:lnTo>
                <a:lnTo>
                  <a:pt x="2417" y="4549"/>
                </a:lnTo>
                <a:lnTo>
                  <a:pt x="2533" y="4677"/>
                </a:lnTo>
                <a:lnTo>
                  <a:pt x="2654" y="4798"/>
                </a:lnTo>
                <a:lnTo>
                  <a:pt x="2782" y="4913"/>
                </a:lnTo>
                <a:lnTo>
                  <a:pt x="2915" y="5021"/>
                </a:lnTo>
                <a:lnTo>
                  <a:pt x="3053" y="5122"/>
                </a:lnTo>
                <a:lnTo>
                  <a:pt x="3195" y="5216"/>
                </a:lnTo>
                <a:lnTo>
                  <a:pt x="3343" y="5302"/>
                </a:lnTo>
                <a:lnTo>
                  <a:pt x="3494" y="5380"/>
                </a:lnTo>
                <a:lnTo>
                  <a:pt x="3648" y="5450"/>
                </a:lnTo>
                <a:lnTo>
                  <a:pt x="3806" y="5512"/>
                </a:lnTo>
                <a:lnTo>
                  <a:pt x="3967" y="5566"/>
                </a:lnTo>
                <a:lnTo>
                  <a:pt x="4130" y="5611"/>
                </a:lnTo>
                <a:lnTo>
                  <a:pt x="4295" y="5648"/>
                </a:lnTo>
                <a:lnTo>
                  <a:pt x="4461" y="5676"/>
                </a:lnTo>
                <a:lnTo>
                  <a:pt x="4629" y="5695"/>
                </a:lnTo>
                <a:lnTo>
                  <a:pt x="4797" y="5706"/>
                </a:lnTo>
                <a:lnTo>
                  <a:pt x="4966" y="5708"/>
                </a:lnTo>
                <a:lnTo>
                  <a:pt x="5135" y="5700"/>
                </a:lnTo>
                <a:lnTo>
                  <a:pt x="5303" y="5684"/>
                </a:lnTo>
                <a:lnTo>
                  <a:pt x="5470" y="5660"/>
                </a:lnTo>
                <a:lnTo>
                  <a:pt x="5636" y="5626"/>
                </a:lnTo>
                <a:lnTo>
                  <a:pt x="5799" y="5584"/>
                </a:lnTo>
                <a:lnTo>
                  <a:pt x="5961" y="5534"/>
                </a:lnTo>
                <a:lnTo>
                  <a:pt x="6173" y="6204"/>
                </a:lnTo>
                <a:lnTo>
                  <a:pt x="6077" y="6235"/>
                </a:lnTo>
                <a:lnTo>
                  <a:pt x="5981" y="6264"/>
                </a:lnTo>
                <a:lnTo>
                  <a:pt x="5884" y="6290"/>
                </a:lnTo>
                <a:lnTo>
                  <a:pt x="5786" y="6314"/>
                </a:lnTo>
                <a:lnTo>
                  <a:pt x="5688" y="6335"/>
                </a:lnTo>
                <a:lnTo>
                  <a:pt x="5589" y="6354"/>
                </a:lnTo>
                <a:lnTo>
                  <a:pt x="5490" y="6370"/>
                </a:lnTo>
                <a:lnTo>
                  <a:pt x="5391" y="6384"/>
                </a:lnTo>
                <a:lnTo>
                  <a:pt x="5291" y="6395"/>
                </a:lnTo>
                <a:lnTo>
                  <a:pt x="5191" y="6403"/>
                </a:lnTo>
                <a:lnTo>
                  <a:pt x="5091" y="6409"/>
                </a:lnTo>
                <a:lnTo>
                  <a:pt x="4991" y="6412"/>
                </a:lnTo>
                <a:lnTo>
                  <a:pt x="4891" y="6413"/>
                </a:lnTo>
                <a:lnTo>
                  <a:pt x="4790" y="6411"/>
                </a:lnTo>
                <a:lnTo>
                  <a:pt x="4690" y="6407"/>
                </a:lnTo>
                <a:lnTo>
                  <a:pt x="4590" y="6399"/>
                </a:lnTo>
                <a:lnTo>
                  <a:pt x="4490" y="6390"/>
                </a:lnTo>
                <a:lnTo>
                  <a:pt x="4391" y="6378"/>
                </a:lnTo>
                <a:lnTo>
                  <a:pt x="4292" y="6363"/>
                </a:lnTo>
                <a:lnTo>
                  <a:pt x="4193" y="6345"/>
                </a:lnTo>
                <a:lnTo>
                  <a:pt x="4094" y="6326"/>
                </a:lnTo>
                <a:lnTo>
                  <a:pt x="3996" y="6303"/>
                </a:lnTo>
                <a:lnTo>
                  <a:pt x="3899" y="6278"/>
                </a:lnTo>
                <a:lnTo>
                  <a:pt x="3802" y="6251"/>
                </a:lnTo>
                <a:lnTo>
                  <a:pt x="3706" y="6221"/>
                </a:lnTo>
                <a:lnTo>
                  <a:pt x="3611" y="6188"/>
                </a:lnTo>
                <a:lnTo>
                  <a:pt x="3516" y="6153"/>
                </a:lnTo>
                <a:lnTo>
                  <a:pt x="3423" y="6116"/>
                </a:lnTo>
                <a:lnTo>
                  <a:pt x="3330" y="6076"/>
                </a:lnTo>
                <a:lnTo>
                  <a:pt x="3238" y="6034"/>
                </a:lnTo>
                <a:lnTo>
                  <a:pt x="3148" y="5990"/>
                </a:lnTo>
                <a:lnTo>
                  <a:pt x="3058" y="5943"/>
                </a:lnTo>
                <a:lnTo>
                  <a:pt x="2970" y="5894"/>
                </a:lnTo>
                <a:lnTo>
                  <a:pt x="2882" y="5842"/>
                </a:lnTo>
                <a:lnTo>
                  <a:pt x="2796" y="5789"/>
                </a:lnTo>
                <a:lnTo>
                  <a:pt x="2712" y="5733"/>
                </a:lnTo>
                <a:lnTo>
                  <a:pt x="2628" y="5675"/>
                </a:lnTo>
                <a:lnTo>
                  <a:pt x="2547" y="5615"/>
                </a:lnTo>
                <a:lnTo>
                  <a:pt x="2466" y="5553"/>
                </a:lnTo>
                <a:lnTo>
                  <a:pt x="2387" y="5488"/>
                </a:lnTo>
                <a:lnTo>
                  <a:pt x="2310" y="5422"/>
                </a:lnTo>
                <a:lnTo>
                  <a:pt x="2234" y="5354"/>
                </a:lnTo>
                <a:lnTo>
                  <a:pt x="2160" y="5284"/>
                </a:lnTo>
                <a:lnTo>
                  <a:pt x="2088" y="5212"/>
                </a:lnTo>
                <a:lnTo>
                  <a:pt x="2017" y="5138"/>
                </a:lnTo>
                <a:lnTo>
                  <a:pt x="1948" y="5062"/>
                </a:lnTo>
                <a:lnTo>
                  <a:pt x="1881" y="4984"/>
                </a:lnTo>
                <a:lnTo>
                  <a:pt x="1816" y="4905"/>
                </a:lnTo>
                <a:lnTo>
                  <a:pt x="1753" y="4824"/>
                </a:lnTo>
                <a:lnTo>
                  <a:pt x="1691" y="4742"/>
                </a:lnTo>
                <a:lnTo>
                  <a:pt x="1632" y="4658"/>
                </a:lnTo>
                <a:lnTo>
                  <a:pt x="1575" y="4572"/>
                </a:lnTo>
                <a:lnTo>
                  <a:pt x="1520" y="4485"/>
                </a:lnTo>
                <a:lnTo>
                  <a:pt x="1467" y="4397"/>
                </a:lnTo>
                <a:lnTo>
                  <a:pt x="1416" y="4307"/>
                </a:lnTo>
                <a:lnTo>
                  <a:pt x="1367" y="4216"/>
                </a:lnTo>
                <a:lnTo>
                  <a:pt x="1320" y="4124"/>
                </a:lnTo>
                <a:lnTo>
                  <a:pt x="1276" y="4030"/>
                </a:lnTo>
                <a:lnTo>
                  <a:pt x="1234" y="3936"/>
                </a:lnTo>
                <a:lnTo>
                  <a:pt x="1194" y="3840"/>
                </a:lnTo>
                <a:lnTo>
                  <a:pt x="1156" y="3744"/>
                </a:lnTo>
                <a:lnTo>
                  <a:pt x="1121" y="3646"/>
                </a:lnTo>
                <a:lnTo>
                  <a:pt x="1088" y="3548"/>
                </a:lnTo>
                <a:lnTo>
                  <a:pt x="1058" y="3448"/>
                </a:lnTo>
                <a:lnTo>
                  <a:pt x="1029" y="3348"/>
                </a:lnTo>
                <a:lnTo>
                  <a:pt x="1004" y="3248"/>
                </a:lnTo>
                <a:lnTo>
                  <a:pt x="980" y="3146"/>
                </a:lnTo>
                <a:lnTo>
                  <a:pt x="959" y="3044"/>
                </a:lnTo>
                <a:lnTo>
                  <a:pt x="941" y="2942"/>
                </a:lnTo>
                <a:lnTo>
                  <a:pt x="925" y="2839"/>
                </a:lnTo>
                <a:lnTo>
                  <a:pt x="911" y="2736"/>
                </a:lnTo>
                <a:lnTo>
                  <a:pt x="900" y="2632"/>
                </a:lnTo>
                <a:lnTo>
                  <a:pt x="892" y="2528"/>
                </a:lnTo>
                <a:lnTo>
                  <a:pt x="886" y="2424"/>
                </a:lnTo>
                <a:lnTo>
                  <a:pt x="882" y="2320"/>
                </a:lnTo>
                <a:lnTo>
                  <a:pt x="881" y="2216"/>
                </a:lnTo>
                <a:lnTo>
                  <a:pt x="882" y="2112"/>
                </a:lnTo>
                <a:lnTo>
                  <a:pt x="886" y="2008"/>
                </a:lnTo>
                <a:lnTo>
                  <a:pt x="893" y="1904"/>
                </a:lnTo>
                <a:lnTo>
                  <a:pt x="901" y="1800"/>
                </a:lnTo>
                <a:lnTo>
                  <a:pt x="913" y="1696"/>
                </a:lnTo>
                <a:lnTo>
                  <a:pt x="927" y="1593"/>
                </a:lnTo>
                <a:lnTo>
                  <a:pt x="943" y="1490"/>
                </a:lnTo>
                <a:lnTo>
                  <a:pt x="962" y="1388"/>
                </a:lnTo>
                <a:lnTo>
                  <a:pt x="983" y="1286"/>
                </a:lnTo>
                <a:lnTo>
                  <a:pt x="0" y="1053"/>
                </a:lnTo>
                <a:lnTo>
                  <a:pt x="1614" y="0"/>
                </a:lnTo>
                <a:lnTo>
                  <a:pt x="2627" y="1678"/>
                </a:lnTo>
                <a:lnTo>
                  <a:pt x="1645" y="1444"/>
                </a:lnTo>
              </a:path>
            </a:pathLst>
          </a:custGeom>
          <a:solidFill>
            <a:srgbClr val="0000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cxnSp>
        <p:nvCxnSpPr>
          <p:cNvPr id="208" name="Google Shape;208;p37"/>
          <p:cNvCxnSpPr/>
          <p:nvPr/>
        </p:nvCxnSpPr>
        <p:spPr>
          <a:xfrm>
            <a:off x="4297680" y="3634740"/>
            <a:ext cx="246888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09" name="Google Shape;209;p37"/>
          <p:cNvCxnSpPr/>
          <p:nvPr/>
        </p:nvCxnSpPr>
        <p:spPr>
          <a:xfrm>
            <a:off x="4023360" y="2903220"/>
            <a:ext cx="2743200" cy="36576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10" name="Google Shape;210;p37"/>
          <p:cNvCxnSpPr/>
          <p:nvPr/>
        </p:nvCxnSpPr>
        <p:spPr>
          <a:xfrm flipH="1" rot="10800000">
            <a:off x="3931920" y="4000500"/>
            <a:ext cx="2834640" cy="457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11" name="Google Shape;211;p37"/>
          <p:cNvSpPr txBox="1"/>
          <p:nvPr/>
        </p:nvSpPr>
        <p:spPr>
          <a:xfrm>
            <a:off x="3916600" y="1940175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Blueshifted</a:t>
            </a:r>
            <a:endParaRPr sz="2240"/>
          </a:p>
        </p:txBody>
      </p:sp>
      <p:sp>
        <p:nvSpPr>
          <p:cNvPr id="212" name="Google Shape;212;p37"/>
          <p:cNvSpPr txBox="1"/>
          <p:nvPr/>
        </p:nvSpPr>
        <p:spPr>
          <a:xfrm>
            <a:off x="3992800" y="4607175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Redshifted</a:t>
            </a:r>
            <a:endParaRPr sz="2240"/>
          </a:p>
        </p:txBody>
      </p:sp>
      <p:sp>
        <p:nvSpPr>
          <p:cNvPr id="21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1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24</a:t>
            </a:r>
          </a:p>
        </p:txBody>
      </p:sp>
      <p:sp>
        <p:nvSpPr>
          <p:cNvPr id="21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1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2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8"/>
          <p:cNvSpPr txBox="1"/>
          <p:nvPr/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Earth Revolution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38"/>
          <p:cNvSpPr txBox="1"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8"/>
          <p:cNvSpPr txBox="1"/>
          <p:nvPr/>
        </p:nvSpPr>
        <p:spPr>
          <a:xfrm>
            <a:off x="50436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256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8"/>
          <p:cNvSpPr/>
          <p:nvPr/>
        </p:nvSpPr>
        <p:spPr>
          <a:xfrm>
            <a:off x="9052920" y="3223260"/>
            <a:ext cx="822960" cy="731538"/>
          </a:xfrm>
          <a:custGeom>
            <a:pathLst>
              <a:path extrusionOk="0" h="21600" w="21600">
                <a:moveTo>
                  <a:pt x="10797" y="0"/>
                </a:moveTo>
                <a:lnTo>
                  <a:pt x="8278" y="8256"/>
                </a:lnTo>
                <a:lnTo>
                  <a:pt x="0" y="8256"/>
                </a:lnTo>
                <a:lnTo>
                  <a:pt x="6722" y="13405"/>
                </a:lnTo>
                <a:lnTo>
                  <a:pt x="4198" y="21600"/>
                </a:lnTo>
                <a:lnTo>
                  <a:pt x="10797" y="16580"/>
                </a:lnTo>
                <a:lnTo>
                  <a:pt x="17401" y="21600"/>
                </a:lnTo>
                <a:lnTo>
                  <a:pt x="14878" y="13405"/>
                </a:lnTo>
                <a:lnTo>
                  <a:pt x="21600" y="8256"/>
                </a:lnTo>
                <a:lnTo>
                  <a:pt x="13321" y="8256"/>
                </a:lnTo>
                <a:lnTo>
                  <a:pt x="10797" y="0"/>
                </a:lnTo>
                <a:close/>
              </a:path>
            </a:pathLst>
          </a:custGeom>
          <a:solidFill>
            <a:srgbClr val="FFFF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38"/>
          <p:cNvSpPr/>
          <p:nvPr/>
        </p:nvSpPr>
        <p:spPr>
          <a:xfrm>
            <a:off x="2103480" y="2537460"/>
            <a:ext cx="2194560" cy="2194560"/>
          </a:xfrm>
          <a:prstGeom prst="ellipse">
            <a:avLst/>
          </a:prstGeom>
          <a:noFill/>
          <a:ln cap="flat" cmpd="sng" w="381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38"/>
          <p:cNvSpPr/>
          <p:nvPr/>
        </p:nvSpPr>
        <p:spPr>
          <a:xfrm>
            <a:off x="1112875" y="2684101"/>
            <a:ext cx="2903756" cy="2597750"/>
          </a:xfrm>
          <a:custGeom>
            <a:pathLst>
              <a:path extrusionOk="0" h="6414" w="6174">
                <a:moveTo>
                  <a:pt x="1645" y="1444"/>
                </a:moveTo>
                <a:lnTo>
                  <a:pt x="1611" y="1616"/>
                </a:lnTo>
                <a:lnTo>
                  <a:pt x="1586" y="1789"/>
                </a:lnTo>
                <a:lnTo>
                  <a:pt x="1569" y="1964"/>
                </a:lnTo>
                <a:lnTo>
                  <a:pt x="1561" y="2139"/>
                </a:lnTo>
                <a:lnTo>
                  <a:pt x="1561" y="2314"/>
                </a:lnTo>
                <a:lnTo>
                  <a:pt x="1570" y="2489"/>
                </a:lnTo>
                <a:lnTo>
                  <a:pt x="1587" y="2664"/>
                </a:lnTo>
                <a:lnTo>
                  <a:pt x="1613" y="2837"/>
                </a:lnTo>
                <a:lnTo>
                  <a:pt x="1647" y="3009"/>
                </a:lnTo>
                <a:lnTo>
                  <a:pt x="1689" y="3179"/>
                </a:lnTo>
                <a:lnTo>
                  <a:pt x="1739" y="3346"/>
                </a:lnTo>
                <a:lnTo>
                  <a:pt x="1798" y="3511"/>
                </a:lnTo>
                <a:lnTo>
                  <a:pt x="1864" y="3672"/>
                </a:lnTo>
                <a:lnTo>
                  <a:pt x="1938" y="3830"/>
                </a:lnTo>
                <a:lnTo>
                  <a:pt x="2020" y="3983"/>
                </a:lnTo>
                <a:lnTo>
                  <a:pt x="2108" y="4132"/>
                </a:lnTo>
                <a:lnTo>
                  <a:pt x="2204" y="4277"/>
                </a:lnTo>
                <a:lnTo>
                  <a:pt x="2307" y="4416"/>
                </a:lnTo>
                <a:lnTo>
                  <a:pt x="2417" y="4549"/>
                </a:lnTo>
                <a:lnTo>
                  <a:pt x="2533" y="4677"/>
                </a:lnTo>
                <a:lnTo>
                  <a:pt x="2654" y="4798"/>
                </a:lnTo>
                <a:lnTo>
                  <a:pt x="2782" y="4913"/>
                </a:lnTo>
                <a:lnTo>
                  <a:pt x="2915" y="5021"/>
                </a:lnTo>
                <a:lnTo>
                  <a:pt x="3053" y="5122"/>
                </a:lnTo>
                <a:lnTo>
                  <a:pt x="3195" y="5216"/>
                </a:lnTo>
                <a:lnTo>
                  <a:pt x="3343" y="5302"/>
                </a:lnTo>
                <a:lnTo>
                  <a:pt x="3494" y="5380"/>
                </a:lnTo>
                <a:lnTo>
                  <a:pt x="3648" y="5450"/>
                </a:lnTo>
                <a:lnTo>
                  <a:pt x="3806" y="5512"/>
                </a:lnTo>
                <a:lnTo>
                  <a:pt x="3967" y="5566"/>
                </a:lnTo>
                <a:lnTo>
                  <a:pt x="4130" y="5611"/>
                </a:lnTo>
                <a:lnTo>
                  <a:pt x="4295" y="5648"/>
                </a:lnTo>
                <a:lnTo>
                  <a:pt x="4461" y="5676"/>
                </a:lnTo>
                <a:lnTo>
                  <a:pt x="4629" y="5695"/>
                </a:lnTo>
                <a:lnTo>
                  <a:pt x="4797" y="5706"/>
                </a:lnTo>
                <a:lnTo>
                  <a:pt x="4966" y="5708"/>
                </a:lnTo>
                <a:lnTo>
                  <a:pt x="5135" y="5700"/>
                </a:lnTo>
                <a:lnTo>
                  <a:pt x="5303" y="5684"/>
                </a:lnTo>
                <a:lnTo>
                  <a:pt x="5470" y="5660"/>
                </a:lnTo>
                <a:lnTo>
                  <a:pt x="5636" y="5626"/>
                </a:lnTo>
                <a:lnTo>
                  <a:pt x="5799" y="5584"/>
                </a:lnTo>
                <a:lnTo>
                  <a:pt x="5961" y="5534"/>
                </a:lnTo>
                <a:lnTo>
                  <a:pt x="6173" y="6204"/>
                </a:lnTo>
                <a:lnTo>
                  <a:pt x="6077" y="6235"/>
                </a:lnTo>
                <a:lnTo>
                  <a:pt x="5981" y="6264"/>
                </a:lnTo>
                <a:lnTo>
                  <a:pt x="5884" y="6290"/>
                </a:lnTo>
                <a:lnTo>
                  <a:pt x="5786" y="6314"/>
                </a:lnTo>
                <a:lnTo>
                  <a:pt x="5688" y="6335"/>
                </a:lnTo>
                <a:lnTo>
                  <a:pt x="5589" y="6354"/>
                </a:lnTo>
                <a:lnTo>
                  <a:pt x="5490" y="6370"/>
                </a:lnTo>
                <a:lnTo>
                  <a:pt x="5391" y="6384"/>
                </a:lnTo>
                <a:lnTo>
                  <a:pt x="5291" y="6395"/>
                </a:lnTo>
                <a:lnTo>
                  <a:pt x="5191" y="6403"/>
                </a:lnTo>
                <a:lnTo>
                  <a:pt x="5091" y="6409"/>
                </a:lnTo>
                <a:lnTo>
                  <a:pt x="4991" y="6412"/>
                </a:lnTo>
                <a:lnTo>
                  <a:pt x="4891" y="6413"/>
                </a:lnTo>
                <a:lnTo>
                  <a:pt x="4790" y="6411"/>
                </a:lnTo>
                <a:lnTo>
                  <a:pt x="4690" y="6407"/>
                </a:lnTo>
                <a:lnTo>
                  <a:pt x="4590" y="6399"/>
                </a:lnTo>
                <a:lnTo>
                  <a:pt x="4490" y="6390"/>
                </a:lnTo>
                <a:lnTo>
                  <a:pt x="4391" y="6378"/>
                </a:lnTo>
                <a:lnTo>
                  <a:pt x="4292" y="6363"/>
                </a:lnTo>
                <a:lnTo>
                  <a:pt x="4193" y="6345"/>
                </a:lnTo>
                <a:lnTo>
                  <a:pt x="4094" y="6326"/>
                </a:lnTo>
                <a:lnTo>
                  <a:pt x="3996" y="6303"/>
                </a:lnTo>
                <a:lnTo>
                  <a:pt x="3899" y="6278"/>
                </a:lnTo>
                <a:lnTo>
                  <a:pt x="3802" y="6251"/>
                </a:lnTo>
                <a:lnTo>
                  <a:pt x="3706" y="6221"/>
                </a:lnTo>
                <a:lnTo>
                  <a:pt x="3611" y="6188"/>
                </a:lnTo>
                <a:lnTo>
                  <a:pt x="3516" y="6153"/>
                </a:lnTo>
                <a:lnTo>
                  <a:pt x="3423" y="6116"/>
                </a:lnTo>
                <a:lnTo>
                  <a:pt x="3330" y="6076"/>
                </a:lnTo>
                <a:lnTo>
                  <a:pt x="3238" y="6034"/>
                </a:lnTo>
                <a:lnTo>
                  <a:pt x="3148" y="5990"/>
                </a:lnTo>
                <a:lnTo>
                  <a:pt x="3058" y="5943"/>
                </a:lnTo>
                <a:lnTo>
                  <a:pt x="2970" y="5894"/>
                </a:lnTo>
                <a:lnTo>
                  <a:pt x="2882" y="5842"/>
                </a:lnTo>
                <a:lnTo>
                  <a:pt x="2796" y="5789"/>
                </a:lnTo>
                <a:lnTo>
                  <a:pt x="2712" y="5733"/>
                </a:lnTo>
                <a:lnTo>
                  <a:pt x="2628" y="5675"/>
                </a:lnTo>
                <a:lnTo>
                  <a:pt x="2547" y="5615"/>
                </a:lnTo>
                <a:lnTo>
                  <a:pt x="2466" y="5553"/>
                </a:lnTo>
                <a:lnTo>
                  <a:pt x="2387" y="5488"/>
                </a:lnTo>
                <a:lnTo>
                  <a:pt x="2310" y="5422"/>
                </a:lnTo>
                <a:lnTo>
                  <a:pt x="2234" y="5354"/>
                </a:lnTo>
                <a:lnTo>
                  <a:pt x="2160" y="5284"/>
                </a:lnTo>
                <a:lnTo>
                  <a:pt x="2088" y="5212"/>
                </a:lnTo>
                <a:lnTo>
                  <a:pt x="2017" y="5138"/>
                </a:lnTo>
                <a:lnTo>
                  <a:pt x="1948" y="5062"/>
                </a:lnTo>
                <a:lnTo>
                  <a:pt x="1881" y="4984"/>
                </a:lnTo>
                <a:lnTo>
                  <a:pt x="1816" y="4905"/>
                </a:lnTo>
                <a:lnTo>
                  <a:pt x="1753" y="4824"/>
                </a:lnTo>
                <a:lnTo>
                  <a:pt x="1691" y="4742"/>
                </a:lnTo>
                <a:lnTo>
                  <a:pt x="1632" y="4658"/>
                </a:lnTo>
                <a:lnTo>
                  <a:pt x="1575" y="4572"/>
                </a:lnTo>
                <a:lnTo>
                  <a:pt x="1520" y="4485"/>
                </a:lnTo>
                <a:lnTo>
                  <a:pt x="1467" y="4397"/>
                </a:lnTo>
                <a:lnTo>
                  <a:pt x="1416" y="4307"/>
                </a:lnTo>
                <a:lnTo>
                  <a:pt x="1367" y="4216"/>
                </a:lnTo>
                <a:lnTo>
                  <a:pt x="1320" y="4124"/>
                </a:lnTo>
                <a:lnTo>
                  <a:pt x="1276" y="4030"/>
                </a:lnTo>
                <a:lnTo>
                  <a:pt x="1234" y="3936"/>
                </a:lnTo>
                <a:lnTo>
                  <a:pt x="1194" y="3840"/>
                </a:lnTo>
                <a:lnTo>
                  <a:pt x="1156" y="3744"/>
                </a:lnTo>
                <a:lnTo>
                  <a:pt x="1121" y="3646"/>
                </a:lnTo>
                <a:lnTo>
                  <a:pt x="1088" y="3548"/>
                </a:lnTo>
                <a:lnTo>
                  <a:pt x="1058" y="3448"/>
                </a:lnTo>
                <a:lnTo>
                  <a:pt x="1029" y="3348"/>
                </a:lnTo>
                <a:lnTo>
                  <a:pt x="1004" y="3248"/>
                </a:lnTo>
                <a:lnTo>
                  <a:pt x="980" y="3146"/>
                </a:lnTo>
                <a:lnTo>
                  <a:pt x="959" y="3044"/>
                </a:lnTo>
                <a:lnTo>
                  <a:pt x="941" y="2942"/>
                </a:lnTo>
                <a:lnTo>
                  <a:pt x="925" y="2839"/>
                </a:lnTo>
                <a:lnTo>
                  <a:pt x="911" y="2736"/>
                </a:lnTo>
                <a:lnTo>
                  <a:pt x="900" y="2632"/>
                </a:lnTo>
                <a:lnTo>
                  <a:pt x="892" y="2528"/>
                </a:lnTo>
                <a:lnTo>
                  <a:pt x="886" y="2424"/>
                </a:lnTo>
                <a:lnTo>
                  <a:pt x="882" y="2320"/>
                </a:lnTo>
                <a:lnTo>
                  <a:pt x="881" y="2216"/>
                </a:lnTo>
                <a:lnTo>
                  <a:pt x="882" y="2112"/>
                </a:lnTo>
                <a:lnTo>
                  <a:pt x="886" y="2008"/>
                </a:lnTo>
                <a:lnTo>
                  <a:pt x="893" y="1904"/>
                </a:lnTo>
                <a:lnTo>
                  <a:pt x="901" y="1800"/>
                </a:lnTo>
                <a:lnTo>
                  <a:pt x="913" y="1696"/>
                </a:lnTo>
                <a:lnTo>
                  <a:pt x="927" y="1593"/>
                </a:lnTo>
                <a:lnTo>
                  <a:pt x="943" y="1490"/>
                </a:lnTo>
                <a:lnTo>
                  <a:pt x="962" y="1388"/>
                </a:lnTo>
                <a:lnTo>
                  <a:pt x="983" y="1286"/>
                </a:lnTo>
                <a:lnTo>
                  <a:pt x="0" y="1053"/>
                </a:lnTo>
                <a:lnTo>
                  <a:pt x="1614" y="0"/>
                </a:lnTo>
                <a:lnTo>
                  <a:pt x="2627" y="1678"/>
                </a:lnTo>
                <a:lnTo>
                  <a:pt x="1645" y="1444"/>
                </a:lnTo>
              </a:path>
            </a:pathLst>
          </a:custGeom>
          <a:solidFill>
            <a:srgbClr val="000000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cxnSp>
        <p:nvCxnSpPr>
          <p:cNvPr id="223" name="Google Shape;223;p38"/>
          <p:cNvCxnSpPr/>
          <p:nvPr/>
        </p:nvCxnSpPr>
        <p:spPr>
          <a:xfrm>
            <a:off x="4298040" y="3634740"/>
            <a:ext cx="2468880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24" name="Google Shape;224;p38"/>
          <p:cNvCxnSpPr/>
          <p:nvPr/>
        </p:nvCxnSpPr>
        <p:spPr>
          <a:xfrm>
            <a:off x="4023720" y="2903220"/>
            <a:ext cx="2743200" cy="36576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25" name="Google Shape;225;p38"/>
          <p:cNvCxnSpPr/>
          <p:nvPr/>
        </p:nvCxnSpPr>
        <p:spPr>
          <a:xfrm flipH="1" rot="10800000">
            <a:off x="3932280" y="4000500"/>
            <a:ext cx="2834640" cy="45720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6" name="Google Shape;226;p38"/>
          <p:cNvSpPr/>
          <p:nvPr/>
        </p:nvSpPr>
        <p:spPr>
          <a:xfrm>
            <a:off x="3053520" y="3523860"/>
            <a:ext cx="274320" cy="274320"/>
          </a:xfrm>
          <a:custGeom>
            <a:pathLst>
              <a:path extrusionOk="0" h="764" w="764">
                <a:moveTo>
                  <a:pt x="0" y="381"/>
                </a:moveTo>
                <a:lnTo>
                  <a:pt x="90" y="417"/>
                </a:lnTo>
                <a:lnTo>
                  <a:pt x="12" y="480"/>
                </a:lnTo>
                <a:lnTo>
                  <a:pt x="109" y="491"/>
                </a:lnTo>
                <a:lnTo>
                  <a:pt x="51" y="572"/>
                </a:lnTo>
                <a:lnTo>
                  <a:pt x="147" y="557"/>
                </a:lnTo>
                <a:lnTo>
                  <a:pt x="111" y="651"/>
                </a:lnTo>
                <a:lnTo>
                  <a:pt x="200" y="612"/>
                </a:lnTo>
                <a:lnTo>
                  <a:pt x="190" y="711"/>
                </a:lnTo>
                <a:lnTo>
                  <a:pt x="266" y="651"/>
                </a:lnTo>
                <a:lnTo>
                  <a:pt x="282" y="750"/>
                </a:lnTo>
                <a:lnTo>
                  <a:pt x="340" y="671"/>
                </a:lnTo>
                <a:lnTo>
                  <a:pt x="381" y="763"/>
                </a:lnTo>
                <a:lnTo>
                  <a:pt x="417" y="672"/>
                </a:lnTo>
                <a:lnTo>
                  <a:pt x="480" y="750"/>
                </a:lnTo>
                <a:lnTo>
                  <a:pt x="491" y="653"/>
                </a:lnTo>
                <a:lnTo>
                  <a:pt x="572" y="711"/>
                </a:lnTo>
                <a:lnTo>
                  <a:pt x="557" y="615"/>
                </a:lnTo>
                <a:lnTo>
                  <a:pt x="651" y="651"/>
                </a:lnTo>
                <a:lnTo>
                  <a:pt x="612" y="562"/>
                </a:lnTo>
                <a:lnTo>
                  <a:pt x="711" y="572"/>
                </a:lnTo>
                <a:lnTo>
                  <a:pt x="651" y="496"/>
                </a:lnTo>
                <a:lnTo>
                  <a:pt x="750" y="480"/>
                </a:lnTo>
                <a:lnTo>
                  <a:pt x="671" y="422"/>
                </a:lnTo>
                <a:lnTo>
                  <a:pt x="763" y="381"/>
                </a:lnTo>
                <a:lnTo>
                  <a:pt x="672" y="345"/>
                </a:lnTo>
                <a:lnTo>
                  <a:pt x="750" y="282"/>
                </a:lnTo>
                <a:lnTo>
                  <a:pt x="653" y="271"/>
                </a:lnTo>
                <a:lnTo>
                  <a:pt x="711" y="190"/>
                </a:lnTo>
                <a:lnTo>
                  <a:pt x="615" y="205"/>
                </a:lnTo>
                <a:lnTo>
                  <a:pt x="651" y="111"/>
                </a:lnTo>
                <a:lnTo>
                  <a:pt x="562" y="150"/>
                </a:lnTo>
                <a:lnTo>
                  <a:pt x="572" y="51"/>
                </a:lnTo>
                <a:lnTo>
                  <a:pt x="496" y="111"/>
                </a:lnTo>
                <a:lnTo>
                  <a:pt x="480" y="12"/>
                </a:lnTo>
                <a:lnTo>
                  <a:pt x="422" y="91"/>
                </a:lnTo>
                <a:lnTo>
                  <a:pt x="381" y="0"/>
                </a:lnTo>
                <a:lnTo>
                  <a:pt x="345" y="90"/>
                </a:lnTo>
                <a:lnTo>
                  <a:pt x="282" y="12"/>
                </a:lnTo>
                <a:lnTo>
                  <a:pt x="271" y="109"/>
                </a:lnTo>
                <a:lnTo>
                  <a:pt x="190" y="51"/>
                </a:lnTo>
                <a:lnTo>
                  <a:pt x="205" y="147"/>
                </a:lnTo>
                <a:lnTo>
                  <a:pt x="111" y="111"/>
                </a:lnTo>
                <a:lnTo>
                  <a:pt x="150" y="200"/>
                </a:lnTo>
                <a:lnTo>
                  <a:pt x="51" y="190"/>
                </a:lnTo>
                <a:lnTo>
                  <a:pt x="111" y="266"/>
                </a:lnTo>
                <a:lnTo>
                  <a:pt x="12" y="282"/>
                </a:lnTo>
                <a:lnTo>
                  <a:pt x="91" y="340"/>
                </a:lnTo>
                <a:lnTo>
                  <a:pt x="0" y="381"/>
                </a:lnTo>
              </a:path>
            </a:pathLst>
          </a:custGeom>
          <a:solidFill>
            <a:srgbClr val="FFFF00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38"/>
          <p:cNvSpPr txBox="1"/>
          <p:nvPr/>
        </p:nvSpPr>
        <p:spPr>
          <a:xfrm>
            <a:off x="3916600" y="1940175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Blueshifted</a:t>
            </a:r>
            <a:endParaRPr sz="2240"/>
          </a:p>
        </p:txBody>
      </p:sp>
      <p:sp>
        <p:nvSpPr>
          <p:cNvPr id="228" name="Google Shape;228;p38"/>
          <p:cNvSpPr txBox="1"/>
          <p:nvPr/>
        </p:nvSpPr>
        <p:spPr>
          <a:xfrm>
            <a:off x="3992800" y="4607175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Redshifted</a:t>
            </a:r>
            <a:endParaRPr sz="2240"/>
          </a:p>
        </p:txBody>
      </p:sp>
      <p:sp>
        <p:nvSpPr>
          <p:cNvPr id="230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2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3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24</a:t>
            </a:r>
          </a:p>
        </p:txBody>
      </p:sp>
      <p:sp>
        <p:nvSpPr>
          <p:cNvPr id="234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35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3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7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9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The Heliocentric Reference Frame</a:t>
            </a:r>
            <a:endParaRPr sz="3040"/>
          </a:p>
        </p:txBody>
      </p:sp>
      <p:sp>
        <p:nvSpPr>
          <p:cNvPr id="234" name="Google Shape;234;p39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Correction for earth rotation and revolution puts us into the Heliocentric velocity frame.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Measurements in this velocity frame are what one would measure from the center of the Sun.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A related reference frame is “barycentric,” which instead uses the center of mass of the Solar System (essentially the same as Heliocentric).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These are frequently used for extragalactic observations, but we need to go one step further.</a:t>
            </a:r>
            <a:endParaRPr sz="2240"/>
          </a:p>
        </p:txBody>
      </p:sp>
      <p:sp>
        <p:nvSpPr>
          <p:cNvPr id="236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8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9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24</a:t>
            </a:r>
          </a:p>
        </p:txBody>
      </p:sp>
      <p:sp>
        <p:nvSpPr>
          <p:cNvPr id="240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41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4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3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0"/>
          <p:cNvSpPr txBox="1"/>
          <p:nvPr/>
        </p:nvSpPr>
        <p:spPr>
          <a:xfrm>
            <a:off x="504000" y="621540"/>
            <a:ext cx="9071640" cy="1307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 strike="noStrike">
                <a:solidFill>
                  <a:srgbClr val="000000"/>
                </a:solidFill>
              </a:rPr>
              <a:t>3. Sun Motion wrt Local Material</a:t>
            </a:r>
            <a:endParaRPr sz="3040" strike="noStrike">
              <a:solidFill>
                <a:srgbClr val="000000"/>
              </a:solidFill>
            </a:endParaRPr>
          </a:p>
        </p:txBody>
      </p:sp>
      <p:pic>
        <p:nvPicPr>
          <p:cNvPr id="240" name="Google Shape;240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3120" y="2106180"/>
            <a:ext cx="8211960" cy="498888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4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5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24</a:t>
            </a:r>
          </a:p>
        </p:txBody>
      </p:sp>
      <p:sp>
        <p:nvSpPr>
          <p:cNvPr id="246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47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4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9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1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Local Standard of Rest (LSR)</a:t>
            </a:r>
            <a:endParaRPr sz="3040"/>
          </a:p>
        </p:txBody>
      </p:sp>
      <p:sp>
        <p:nvSpPr>
          <p:cNvPr id="246" name="Google Shape;246;p41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We correct for these three effects so our measurements are in the local standard of rest (LSR) frame.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The LSR is the mean motion of the Sun about the Galactic center with respect to nearby material (stars and gas).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The goal of the LSR is to ensure that our measurements are comparable to those made at other times.</a:t>
            </a:r>
            <a:endParaRPr sz="2240"/>
          </a:p>
        </p:txBody>
      </p:sp>
      <p:sp>
        <p:nvSpPr>
          <p:cNvPr id="24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5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24</a:t>
            </a:r>
          </a:p>
        </p:txBody>
      </p:sp>
      <p:sp>
        <p:nvSpPr>
          <p:cNvPr id="252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53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5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5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2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040">
                <a:solidFill>
                  <a:schemeClr val="dk1"/>
                </a:solidFill>
              </a:rPr>
              <a:t>Local Standard of Rest (LSR)</a:t>
            </a:r>
            <a:endParaRPr sz="304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42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The LSR frame therefore depends on:</a:t>
            </a:r>
            <a:endParaRPr sz="2240"/>
          </a:p>
          <a:p>
            <a:pPr indent="-406400" lvl="0" marL="457200" rtl="0">
              <a:spcBef>
                <a:spcPts val="0"/>
              </a:spcBef>
              <a:spcAft>
                <a:spcPts val="0"/>
              </a:spcAft>
              <a:buSzPts val="2800"/>
              <a:buAutoNum type="arabicParenR"/>
            </a:pPr>
            <a:r>
              <a:rPr lang="en-US" sz="2240"/>
              <a:t>The direction you are pointing your telescope</a:t>
            </a:r>
            <a:endParaRPr sz="2240"/>
          </a:p>
          <a:p>
            <a:pPr indent="-406400" lvl="0" marL="457200" rtl="0">
              <a:spcBef>
                <a:spcPts val="0"/>
              </a:spcBef>
              <a:spcAft>
                <a:spcPts val="0"/>
              </a:spcAft>
              <a:buSzPts val="2800"/>
              <a:buAutoNum type="arabicParenR"/>
            </a:pPr>
            <a:r>
              <a:rPr lang="en-US" sz="2240"/>
              <a:t>Your latitude on Earth</a:t>
            </a:r>
            <a:endParaRPr sz="2240"/>
          </a:p>
          <a:p>
            <a:pPr indent="-406400" lvl="0" marL="457200" rtl="0">
              <a:spcBef>
                <a:spcPts val="0"/>
              </a:spcBef>
              <a:spcAft>
                <a:spcPts val="0"/>
              </a:spcAft>
              <a:buSzPts val="2800"/>
              <a:buAutoNum type="arabicParenR"/>
            </a:pPr>
            <a:r>
              <a:rPr lang="en-US" sz="2240"/>
              <a:t>The time of day</a:t>
            </a:r>
            <a:endParaRPr sz="2240"/>
          </a:p>
          <a:p>
            <a:pPr indent="0" lvl="0" marL="91440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These three combine to correct for the Earth’s rotation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4) The time of year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		This allows us to correct for the Earth’s revolution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We can use the direction and the components of Solar rotation to correct to the LSR frame</a:t>
            </a:r>
            <a:endParaRPr sz="224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http://www.gb.nrao.edu/GBT/setups/radvelcalc.html</a:t>
            </a:r>
            <a:endParaRPr sz="2240"/>
          </a:p>
        </p:txBody>
      </p:sp>
      <p:sp>
        <p:nvSpPr>
          <p:cNvPr id="25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5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24</a:t>
            </a:r>
          </a:p>
        </p:txBody>
      </p:sp>
      <p:sp>
        <p:nvSpPr>
          <p:cNvPr id="25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5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6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rgbClr val="000000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3"/>
          <p:cNvSpPr txBox="1"/>
          <p:nvPr/>
        </p:nvSpPr>
        <p:spPr>
          <a:xfrm>
            <a:off x="504000" y="644220"/>
            <a:ext cx="90717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4) </a:t>
            </a:r>
            <a:r>
              <a:rPr lang="en-US" sz="3520">
                <a:solidFill>
                  <a:srgbClr val="FFFFFF"/>
                </a:solidFill>
              </a:rPr>
              <a:t>LSR</a:t>
            </a:r>
            <a:r>
              <a:rPr b="0" lang="en-US" sz="352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wrt Source Motion</a:t>
            </a:r>
            <a:endParaRPr b="0" sz="352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20">
                <a:solidFill>
                  <a:srgbClr val="FFFFFF"/>
                </a:solidFill>
              </a:rPr>
              <a:t>THIS IS WHAT WE MEASURE IN THE LSR FRAME</a:t>
            </a:r>
            <a:endParaRPr sz="3520">
              <a:solidFill>
                <a:srgbClr val="FFFFFF"/>
              </a:solidFill>
            </a:endParaRPr>
          </a:p>
        </p:txBody>
      </p:sp>
      <p:pic>
        <p:nvPicPr>
          <p:cNvPr id="258" name="Google Shape;258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19440" y="2797380"/>
            <a:ext cx="4640040" cy="438444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43"/>
          <p:cNvSpPr txBox="1"/>
          <p:nvPr/>
        </p:nvSpPr>
        <p:spPr>
          <a:xfrm>
            <a:off x="365760" y="3025140"/>
            <a:ext cx="2442300" cy="6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8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Quadrant 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43"/>
          <p:cNvSpPr txBox="1"/>
          <p:nvPr/>
        </p:nvSpPr>
        <p:spPr>
          <a:xfrm>
            <a:off x="8123400" y="2940900"/>
            <a:ext cx="579900" cy="5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43"/>
          <p:cNvSpPr txBox="1"/>
          <p:nvPr/>
        </p:nvSpPr>
        <p:spPr>
          <a:xfrm>
            <a:off x="8283960" y="6843300"/>
            <a:ext cx="606000" cy="5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43"/>
          <p:cNvSpPr txBox="1"/>
          <p:nvPr/>
        </p:nvSpPr>
        <p:spPr>
          <a:xfrm>
            <a:off x="1264320" y="6843300"/>
            <a:ext cx="464100" cy="5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560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  <a:endParaRPr b="0" sz="1440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43"/>
          <p:cNvSpPr/>
          <p:nvPr/>
        </p:nvSpPr>
        <p:spPr>
          <a:xfrm rot="-5632199">
            <a:off x="2474598" y="2361199"/>
            <a:ext cx="5233493" cy="4990101"/>
          </a:xfrm>
          <a:custGeom>
            <a:pathLst>
              <a:path extrusionOk="0" h="12175" w="11645">
                <a:moveTo>
                  <a:pt x="9813" y="3457"/>
                </a:moveTo>
                <a:lnTo>
                  <a:pt x="9751" y="3345"/>
                </a:lnTo>
                <a:lnTo>
                  <a:pt x="9687" y="3233"/>
                </a:lnTo>
                <a:lnTo>
                  <a:pt x="9620" y="3122"/>
                </a:lnTo>
                <a:lnTo>
                  <a:pt x="9551" y="3014"/>
                </a:lnTo>
                <a:lnTo>
                  <a:pt x="9478" y="2908"/>
                </a:lnTo>
                <a:lnTo>
                  <a:pt x="9404" y="2804"/>
                </a:lnTo>
                <a:lnTo>
                  <a:pt x="9328" y="2702"/>
                </a:lnTo>
                <a:lnTo>
                  <a:pt x="9249" y="2602"/>
                </a:lnTo>
                <a:lnTo>
                  <a:pt x="9167" y="2503"/>
                </a:lnTo>
                <a:lnTo>
                  <a:pt x="9085" y="2408"/>
                </a:lnTo>
                <a:lnTo>
                  <a:pt x="8999" y="2314"/>
                </a:lnTo>
                <a:lnTo>
                  <a:pt x="8912" y="2223"/>
                </a:lnTo>
                <a:lnTo>
                  <a:pt x="8822" y="2134"/>
                </a:lnTo>
                <a:lnTo>
                  <a:pt x="8731" y="2048"/>
                </a:lnTo>
                <a:lnTo>
                  <a:pt x="8637" y="1963"/>
                </a:lnTo>
                <a:lnTo>
                  <a:pt x="8542" y="1882"/>
                </a:lnTo>
                <a:lnTo>
                  <a:pt x="8444" y="1804"/>
                </a:lnTo>
                <a:lnTo>
                  <a:pt x="8346" y="1727"/>
                </a:lnTo>
                <a:lnTo>
                  <a:pt x="8245" y="1654"/>
                </a:lnTo>
                <a:lnTo>
                  <a:pt x="8143" y="1583"/>
                </a:lnTo>
                <a:lnTo>
                  <a:pt x="8039" y="1514"/>
                </a:lnTo>
                <a:lnTo>
                  <a:pt x="7933" y="1450"/>
                </a:lnTo>
                <a:lnTo>
                  <a:pt x="7827" y="1387"/>
                </a:lnTo>
                <a:lnTo>
                  <a:pt x="7719" y="1328"/>
                </a:lnTo>
                <a:lnTo>
                  <a:pt x="7610" y="1270"/>
                </a:lnTo>
                <a:lnTo>
                  <a:pt x="7499" y="1217"/>
                </a:lnTo>
                <a:lnTo>
                  <a:pt x="7387" y="1166"/>
                </a:lnTo>
                <a:lnTo>
                  <a:pt x="7274" y="1118"/>
                </a:lnTo>
                <a:lnTo>
                  <a:pt x="7160" y="1074"/>
                </a:lnTo>
                <a:lnTo>
                  <a:pt x="7046" y="1032"/>
                </a:lnTo>
                <a:lnTo>
                  <a:pt x="6930" y="994"/>
                </a:lnTo>
                <a:lnTo>
                  <a:pt x="6814" y="959"/>
                </a:lnTo>
                <a:lnTo>
                  <a:pt x="6696" y="926"/>
                </a:lnTo>
                <a:lnTo>
                  <a:pt x="6578" y="898"/>
                </a:lnTo>
                <a:lnTo>
                  <a:pt x="6459" y="871"/>
                </a:lnTo>
                <a:lnTo>
                  <a:pt x="6340" y="849"/>
                </a:lnTo>
                <a:lnTo>
                  <a:pt x="6221" y="829"/>
                </a:lnTo>
                <a:lnTo>
                  <a:pt x="6101" y="813"/>
                </a:lnTo>
                <a:lnTo>
                  <a:pt x="5980" y="801"/>
                </a:lnTo>
                <a:lnTo>
                  <a:pt x="5860" y="790"/>
                </a:lnTo>
                <a:lnTo>
                  <a:pt x="5739" y="784"/>
                </a:lnTo>
                <a:lnTo>
                  <a:pt x="5619" y="781"/>
                </a:lnTo>
                <a:lnTo>
                  <a:pt x="5498" y="781"/>
                </a:lnTo>
                <a:lnTo>
                  <a:pt x="5377" y="784"/>
                </a:lnTo>
                <a:lnTo>
                  <a:pt x="5257" y="791"/>
                </a:lnTo>
                <a:lnTo>
                  <a:pt x="5136" y="800"/>
                </a:lnTo>
                <a:lnTo>
                  <a:pt x="5016" y="813"/>
                </a:lnTo>
                <a:lnTo>
                  <a:pt x="4897" y="830"/>
                </a:lnTo>
                <a:lnTo>
                  <a:pt x="4777" y="849"/>
                </a:lnTo>
                <a:lnTo>
                  <a:pt x="4658" y="872"/>
                </a:lnTo>
                <a:lnTo>
                  <a:pt x="4539" y="898"/>
                </a:lnTo>
                <a:lnTo>
                  <a:pt x="4422" y="927"/>
                </a:lnTo>
                <a:lnTo>
                  <a:pt x="4305" y="960"/>
                </a:lnTo>
                <a:lnTo>
                  <a:pt x="4189" y="995"/>
                </a:lnTo>
                <a:lnTo>
                  <a:pt x="4074" y="1033"/>
                </a:lnTo>
                <a:lnTo>
                  <a:pt x="3960" y="1075"/>
                </a:lnTo>
                <a:lnTo>
                  <a:pt x="3847" y="1119"/>
                </a:lnTo>
                <a:lnTo>
                  <a:pt x="3735" y="1167"/>
                </a:lnTo>
                <a:lnTo>
                  <a:pt x="3623" y="1218"/>
                </a:lnTo>
                <a:lnTo>
                  <a:pt x="3513" y="1271"/>
                </a:lnTo>
                <a:lnTo>
                  <a:pt x="3405" y="1328"/>
                </a:lnTo>
                <a:lnTo>
                  <a:pt x="3298" y="1388"/>
                </a:lnTo>
                <a:lnTo>
                  <a:pt x="3192" y="1451"/>
                </a:lnTo>
                <a:lnTo>
                  <a:pt x="3088" y="1516"/>
                </a:lnTo>
                <a:lnTo>
                  <a:pt x="2984" y="1584"/>
                </a:lnTo>
                <a:lnTo>
                  <a:pt x="2884" y="1655"/>
                </a:lnTo>
                <a:lnTo>
                  <a:pt x="2783" y="1729"/>
                </a:lnTo>
                <a:lnTo>
                  <a:pt x="2686" y="1805"/>
                </a:lnTo>
                <a:lnTo>
                  <a:pt x="2590" y="1884"/>
                </a:lnTo>
                <a:lnTo>
                  <a:pt x="2496" y="1966"/>
                </a:lnTo>
                <a:lnTo>
                  <a:pt x="2403" y="2049"/>
                </a:lnTo>
                <a:lnTo>
                  <a:pt x="2313" y="2136"/>
                </a:lnTo>
                <a:lnTo>
                  <a:pt x="2225" y="2225"/>
                </a:lnTo>
                <a:lnTo>
                  <a:pt x="2139" y="2316"/>
                </a:lnTo>
                <a:lnTo>
                  <a:pt x="2055" y="2409"/>
                </a:lnTo>
                <a:lnTo>
                  <a:pt x="1972" y="2506"/>
                </a:lnTo>
                <a:lnTo>
                  <a:pt x="1892" y="2604"/>
                </a:lnTo>
                <a:lnTo>
                  <a:pt x="1815" y="2704"/>
                </a:lnTo>
                <a:lnTo>
                  <a:pt x="1740" y="2806"/>
                </a:lnTo>
                <a:lnTo>
                  <a:pt x="1668" y="2911"/>
                </a:lnTo>
                <a:lnTo>
                  <a:pt x="1597" y="3017"/>
                </a:lnTo>
                <a:lnTo>
                  <a:pt x="1529" y="3125"/>
                </a:lnTo>
                <a:lnTo>
                  <a:pt x="1463" y="3235"/>
                </a:lnTo>
                <a:lnTo>
                  <a:pt x="1401" y="3347"/>
                </a:lnTo>
                <a:lnTo>
                  <a:pt x="1340" y="3461"/>
                </a:lnTo>
                <a:lnTo>
                  <a:pt x="1283" y="3575"/>
                </a:lnTo>
                <a:lnTo>
                  <a:pt x="1227" y="3691"/>
                </a:lnTo>
                <a:lnTo>
                  <a:pt x="1175" y="3809"/>
                </a:lnTo>
                <a:lnTo>
                  <a:pt x="1125" y="3929"/>
                </a:lnTo>
                <a:lnTo>
                  <a:pt x="1078" y="4050"/>
                </a:lnTo>
                <a:lnTo>
                  <a:pt x="1034" y="4172"/>
                </a:lnTo>
                <a:lnTo>
                  <a:pt x="993" y="4295"/>
                </a:lnTo>
                <a:lnTo>
                  <a:pt x="955" y="4419"/>
                </a:lnTo>
                <a:lnTo>
                  <a:pt x="919" y="4545"/>
                </a:lnTo>
                <a:lnTo>
                  <a:pt x="886" y="4671"/>
                </a:lnTo>
                <a:lnTo>
                  <a:pt x="856" y="4798"/>
                </a:lnTo>
                <a:lnTo>
                  <a:pt x="829" y="4925"/>
                </a:lnTo>
                <a:lnTo>
                  <a:pt x="805" y="5054"/>
                </a:lnTo>
                <a:lnTo>
                  <a:pt x="784" y="5183"/>
                </a:lnTo>
                <a:lnTo>
                  <a:pt x="766" y="5313"/>
                </a:lnTo>
                <a:lnTo>
                  <a:pt x="751" y="5443"/>
                </a:lnTo>
                <a:lnTo>
                  <a:pt x="738" y="5574"/>
                </a:lnTo>
                <a:lnTo>
                  <a:pt x="729" y="5705"/>
                </a:lnTo>
                <a:lnTo>
                  <a:pt x="722" y="5836"/>
                </a:lnTo>
                <a:lnTo>
                  <a:pt x="719" y="5968"/>
                </a:lnTo>
                <a:lnTo>
                  <a:pt x="719" y="6099"/>
                </a:lnTo>
                <a:lnTo>
                  <a:pt x="722" y="6230"/>
                </a:lnTo>
                <a:lnTo>
                  <a:pt x="727" y="6362"/>
                </a:lnTo>
                <a:lnTo>
                  <a:pt x="735" y="6493"/>
                </a:lnTo>
                <a:lnTo>
                  <a:pt x="747" y="6624"/>
                </a:lnTo>
                <a:lnTo>
                  <a:pt x="762" y="6755"/>
                </a:lnTo>
                <a:lnTo>
                  <a:pt x="779" y="6885"/>
                </a:lnTo>
                <a:lnTo>
                  <a:pt x="800" y="7015"/>
                </a:lnTo>
                <a:lnTo>
                  <a:pt x="823" y="7143"/>
                </a:lnTo>
                <a:lnTo>
                  <a:pt x="849" y="7272"/>
                </a:lnTo>
                <a:lnTo>
                  <a:pt x="879" y="7400"/>
                </a:lnTo>
                <a:lnTo>
                  <a:pt x="912" y="7527"/>
                </a:lnTo>
                <a:lnTo>
                  <a:pt x="946" y="7653"/>
                </a:lnTo>
                <a:lnTo>
                  <a:pt x="984" y="7777"/>
                </a:lnTo>
                <a:lnTo>
                  <a:pt x="1025" y="7902"/>
                </a:lnTo>
                <a:lnTo>
                  <a:pt x="1068" y="8025"/>
                </a:lnTo>
                <a:lnTo>
                  <a:pt x="1115" y="8147"/>
                </a:lnTo>
                <a:lnTo>
                  <a:pt x="1164" y="8267"/>
                </a:lnTo>
                <a:lnTo>
                  <a:pt x="1215" y="8386"/>
                </a:lnTo>
                <a:lnTo>
                  <a:pt x="1270" y="8504"/>
                </a:lnTo>
                <a:lnTo>
                  <a:pt x="1327" y="8620"/>
                </a:lnTo>
                <a:lnTo>
                  <a:pt x="1387" y="8735"/>
                </a:lnTo>
                <a:lnTo>
                  <a:pt x="1449" y="8848"/>
                </a:lnTo>
                <a:lnTo>
                  <a:pt x="1514" y="8959"/>
                </a:lnTo>
                <a:lnTo>
                  <a:pt x="1581" y="9069"/>
                </a:lnTo>
                <a:lnTo>
                  <a:pt x="1652" y="9177"/>
                </a:lnTo>
                <a:lnTo>
                  <a:pt x="1724" y="9283"/>
                </a:lnTo>
                <a:lnTo>
                  <a:pt x="1798" y="9387"/>
                </a:lnTo>
                <a:lnTo>
                  <a:pt x="1875" y="9489"/>
                </a:lnTo>
                <a:lnTo>
                  <a:pt x="1954" y="9588"/>
                </a:lnTo>
                <a:lnTo>
                  <a:pt x="2036" y="9686"/>
                </a:lnTo>
                <a:lnTo>
                  <a:pt x="2119" y="9782"/>
                </a:lnTo>
                <a:lnTo>
                  <a:pt x="2205" y="9875"/>
                </a:lnTo>
                <a:lnTo>
                  <a:pt x="2293" y="9966"/>
                </a:lnTo>
                <a:lnTo>
                  <a:pt x="2382" y="10054"/>
                </a:lnTo>
                <a:lnTo>
                  <a:pt x="2474" y="10140"/>
                </a:lnTo>
                <a:lnTo>
                  <a:pt x="2568" y="10224"/>
                </a:lnTo>
                <a:lnTo>
                  <a:pt x="2664" y="10305"/>
                </a:lnTo>
                <a:lnTo>
                  <a:pt x="2762" y="10383"/>
                </a:lnTo>
                <a:lnTo>
                  <a:pt x="2861" y="10459"/>
                </a:lnTo>
                <a:lnTo>
                  <a:pt x="2962" y="10532"/>
                </a:lnTo>
                <a:lnTo>
                  <a:pt x="3064" y="10603"/>
                </a:lnTo>
                <a:lnTo>
                  <a:pt x="3168" y="10671"/>
                </a:lnTo>
                <a:lnTo>
                  <a:pt x="3273" y="10735"/>
                </a:lnTo>
                <a:lnTo>
                  <a:pt x="3381" y="10797"/>
                </a:lnTo>
                <a:lnTo>
                  <a:pt x="3489" y="10856"/>
                </a:lnTo>
                <a:lnTo>
                  <a:pt x="3598" y="10912"/>
                </a:lnTo>
                <a:lnTo>
                  <a:pt x="3709" y="10965"/>
                </a:lnTo>
                <a:lnTo>
                  <a:pt x="3821" y="11016"/>
                </a:lnTo>
                <a:lnTo>
                  <a:pt x="3934" y="11062"/>
                </a:lnTo>
                <a:lnTo>
                  <a:pt x="4048" y="11107"/>
                </a:lnTo>
                <a:lnTo>
                  <a:pt x="4163" y="11148"/>
                </a:lnTo>
                <a:lnTo>
                  <a:pt x="4279" y="11186"/>
                </a:lnTo>
                <a:lnTo>
                  <a:pt x="4396" y="11221"/>
                </a:lnTo>
                <a:lnTo>
                  <a:pt x="4513" y="11252"/>
                </a:lnTo>
                <a:lnTo>
                  <a:pt x="4631" y="11281"/>
                </a:lnTo>
                <a:lnTo>
                  <a:pt x="4750" y="11306"/>
                </a:lnTo>
                <a:lnTo>
                  <a:pt x="4869" y="11329"/>
                </a:lnTo>
                <a:lnTo>
                  <a:pt x="4989" y="11347"/>
                </a:lnTo>
                <a:lnTo>
                  <a:pt x="5109" y="11363"/>
                </a:lnTo>
                <a:lnTo>
                  <a:pt x="5229" y="11376"/>
                </a:lnTo>
                <a:lnTo>
                  <a:pt x="5350" y="11384"/>
                </a:lnTo>
                <a:lnTo>
                  <a:pt x="5471" y="11391"/>
                </a:lnTo>
                <a:lnTo>
                  <a:pt x="5591" y="11393"/>
                </a:lnTo>
                <a:lnTo>
                  <a:pt x="5712" y="11392"/>
                </a:lnTo>
                <a:lnTo>
                  <a:pt x="5832" y="11389"/>
                </a:lnTo>
                <a:lnTo>
                  <a:pt x="5953" y="11382"/>
                </a:lnTo>
                <a:lnTo>
                  <a:pt x="6006" y="12161"/>
                </a:lnTo>
                <a:lnTo>
                  <a:pt x="5867" y="12169"/>
                </a:lnTo>
                <a:lnTo>
                  <a:pt x="5729" y="12174"/>
                </a:lnTo>
                <a:lnTo>
                  <a:pt x="5591" y="12174"/>
                </a:lnTo>
                <a:lnTo>
                  <a:pt x="5452" y="12171"/>
                </a:lnTo>
                <a:lnTo>
                  <a:pt x="5314" y="12164"/>
                </a:lnTo>
                <a:lnTo>
                  <a:pt x="5176" y="12154"/>
                </a:lnTo>
                <a:lnTo>
                  <a:pt x="5037" y="12140"/>
                </a:lnTo>
                <a:lnTo>
                  <a:pt x="4900" y="12122"/>
                </a:lnTo>
                <a:lnTo>
                  <a:pt x="4762" y="12100"/>
                </a:lnTo>
                <a:lnTo>
                  <a:pt x="4626" y="12074"/>
                </a:lnTo>
                <a:lnTo>
                  <a:pt x="4490" y="12045"/>
                </a:lnTo>
                <a:lnTo>
                  <a:pt x="4354" y="12013"/>
                </a:lnTo>
                <a:lnTo>
                  <a:pt x="4219" y="11976"/>
                </a:lnTo>
                <a:lnTo>
                  <a:pt x="4085" y="11937"/>
                </a:lnTo>
                <a:lnTo>
                  <a:pt x="3952" y="11893"/>
                </a:lnTo>
                <a:lnTo>
                  <a:pt x="3821" y="11846"/>
                </a:lnTo>
                <a:lnTo>
                  <a:pt x="3690" y="11795"/>
                </a:lnTo>
                <a:lnTo>
                  <a:pt x="3560" y="11741"/>
                </a:lnTo>
                <a:lnTo>
                  <a:pt x="3432" y="11683"/>
                </a:lnTo>
                <a:lnTo>
                  <a:pt x="3304" y="11622"/>
                </a:lnTo>
                <a:lnTo>
                  <a:pt x="3179" y="11558"/>
                </a:lnTo>
                <a:lnTo>
                  <a:pt x="3054" y="11490"/>
                </a:lnTo>
                <a:lnTo>
                  <a:pt x="2932" y="11420"/>
                </a:lnTo>
                <a:lnTo>
                  <a:pt x="2811" y="11345"/>
                </a:lnTo>
                <a:lnTo>
                  <a:pt x="2691" y="11268"/>
                </a:lnTo>
                <a:lnTo>
                  <a:pt x="2573" y="11187"/>
                </a:lnTo>
                <a:lnTo>
                  <a:pt x="2458" y="11103"/>
                </a:lnTo>
                <a:lnTo>
                  <a:pt x="2344" y="11016"/>
                </a:lnTo>
                <a:lnTo>
                  <a:pt x="2233" y="10926"/>
                </a:lnTo>
                <a:lnTo>
                  <a:pt x="2122" y="10832"/>
                </a:lnTo>
                <a:lnTo>
                  <a:pt x="2016" y="10737"/>
                </a:lnTo>
                <a:lnTo>
                  <a:pt x="1910" y="10638"/>
                </a:lnTo>
                <a:lnTo>
                  <a:pt x="1807" y="10536"/>
                </a:lnTo>
                <a:lnTo>
                  <a:pt x="1705" y="10432"/>
                </a:lnTo>
                <a:lnTo>
                  <a:pt x="1608" y="10325"/>
                </a:lnTo>
                <a:lnTo>
                  <a:pt x="1511" y="10216"/>
                </a:lnTo>
                <a:lnTo>
                  <a:pt x="1418" y="10103"/>
                </a:lnTo>
                <a:lnTo>
                  <a:pt x="1328" y="9989"/>
                </a:lnTo>
                <a:lnTo>
                  <a:pt x="1239" y="9873"/>
                </a:lnTo>
                <a:lnTo>
                  <a:pt x="1153" y="9753"/>
                </a:lnTo>
                <a:lnTo>
                  <a:pt x="1070" y="9631"/>
                </a:lnTo>
                <a:lnTo>
                  <a:pt x="990" y="9507"/>
                </a:lnTo>
                <a:lnTo>
                  <a:pt x="913" y="9382"/>
                </a:lnTo>
                <a:lnTo>
                  <a:pt x="839" y="9255"/>
                </a:lnTo>
                <a:lnTo>
                  <a:pt x="767" y="9125"/>
                </a:lnTo>
                <a:lnTo>
                  <a:pt x="699" y="8993"/>
                </a:lnTo>
                <a:lnTo>
                  <a:pt x="633" y="8860"/>
                </a:lnTo>
                <a:lnTo>
                  <a:pt x="571" y="8725"/>
                </a:lnTo>
                <a:lnTo>
                  <a:pt x="511" y="8588"/>
                </a:lnTo>
                <a:lnTo>
                  <a:pt x="455" y="8449"/>
                </a:lnTo>
                <a:lnTo>
                  <a:pt x="402" y="8310"/>
                </a:lnTo>
                <a:lnTo>
                  <a:pt x="352" y="8169"/>
                </a:lnTo>
                <a:lnTo>
                  <a:pt x="305" y="8027"/>
                </a:lnTo>
                <a:lnTo>
                  <a:pt x="262" y="7883"/>
                </a:lnTo>
                <a:lnTo>
                  <a:pt x="221" y="7738"/>
                </a:lnTo>
                <a:lnTo>
                  <a:pt x="184" y="7593"/>
                </a:lnTo>
                <a:lnTo>
                  <a:pt x="151" y="7447"/>
                </a:lnTo>
                <a:lnTo>
                  <a:pt x="120" y="7299"/>
                </a:lnTo>
                <a:lnTo>
                  <a:pt x="93" y="7151"/>
                </a:lnTo>
                <a:lnTo>
                  <a:pt x="70" y="7002"/>
                </a:lnTo>
                <a:lnTo>
                  <a:pt x="50" y="6852"/>
                </a:lnTo>
                <a:lnTo>
                  <a:pt x="33" y="6703"/>
                </a:lnTo>
                <a:lnTo>
                  <a:pt x="20" y="6553"/>
                </a:lnTo>
                <a:lnTo>
                  <a:pt x="11" y="6402"/>
                </a:lnTo>
                <a:lnTo>
                  <a:pt x="3" y="6252"/>
                </a:lnTo>
                <a:lnTo>
                  <a:pt x="0" y="6101"/>
                </a:lnTo>
                <a:lnTo>
                  <a:pt x="1" y="5951"/>
                </a:lnTo>
                <a:lnTo>
                  <a:pt x="5" y="5800"/>
                </a:lnTo>
                <a:lnTo>
                  <a:pt x="12" y="5649"/>
                </a:lnTo>
                <a:lnTo>
                  <a:pt x="23" y="5499"/>
                </a:lnTo>
                <a:lnTo>
                  <a:pt x="36" y="5348"/>
                </a:lnTo>
                <a:lnTo>
                  <a:pt x="54" y="5200"/>
                </a:lnTo>
                <a:lnTo>
                  <a:pt x="75" y="5051"/>
                </a:lnTo>
                <a:lnTo>
                  <a:pt x="100" y="4903"/>
                </a:lnTo>
                <a:lnTo>
                  <a:pt x="128" y="4754"/>
                </a:lnTo>
                <a:lnTo>
                  <a:pt x="158" y="4608"/>
                </a:lnTo>
                <a:lnTo>
                  <a:pt x="193" y="4462"/>
                </a:lnTo>
                <a:lnTo>
                  <a:pt x="230" y="4318"/>
                </a:lnTo>
                <a:lnTo>
                  <a:pt x="271" y="4174"/>
                </a:lnTo>
                <a:lnTo>
                  <a:pt x="315" y="4031"/>
                </a:lnTo>
                <a:lnTo>
                  <a:pt x="363" y="3890"/>
                </a:lnTo>
                <a:lnTo>
                  <a:pt x="413" y="3750"/>
                </a:lnTo>
                <a:lnTo>
                  <a:pt x="467" y="3612"/>
                </a:lnTo>
                <a:lnTo>
                  <a:pt x="524" y="3474"/>
                </a:lnTo>
                <a:lnTo>
                  <a:pt x="584" y="3339"/>
                </a:lnTo>
                <a:lnTo>
                  <a:pt x="647" y="3206"/>
                </a:lnTo>
                <a:lnTo>
                  <a:pt x="713" y="3074"/>
                </a:lnTo>
                <a:lnTo>
                  <a:pt x="783" y="2943"/>
                </a:lnTo>
                <a:lnTo>
                  <a:pt x="855" y="2815"/>
                </a:lnTo>
                <a:lnTo>
                  <a:pt x="930" y="2689"/>
                </a:lnTo>
                <a:lnTo>
                  <a:pt x="1008" y="2565"/>
                </a:lnTo>
                <a:lnTo>
                  <a:pt x="1089" y="2443"/>
                </a:lnTo>
                <a:lnTo>
                  <a:pt x="1173" y="2324"/>
                </a:lnTo>
                <a:lnTo>
                  <a:pt x="1259" y="2206"/>
                </a:lnTo>
                <a:lnTo>
                  <a:pt x="1348" y="2092"/>
                </a:lnTo>
                <a:lnTo>
                  <a:pt x="1439" y="1979"/>
                </a:lnTo>
                <a:lnTo>
                  <a:pt x="1533" y="1869"/>
                </a:lnTo>
                <a:lnTo>
                  <a:pt x="1630" y="1761"/>
                </a:lnTo>
                <a:lnTo>
                  <a:pt x="1728" y="1657"/>
                </a:lnTo>
                <a:lnTo>
                  <a:pt x="1830" y="1554"/>
                </a:lnTo>
                <a:lnTo>
                  <a:pt x="1934" y="1456"/>
                </a:lnTo>
                <a:lnTo>
                  <a:pt x="2040" y="1359"/>
                </a:lnTo>
                <a:lnTo>
                  <a:pt x="2148" y="1266"/>
                </a:lnTo>
                <a:lnTo>
                  <a:pt x="2258" y="1175"/>
                </a:lnTo>
                <a:lnTo>
                  <a:pt x="2370" y="1087"/>
                </a:lnTo>
                <a:lnTo>
                  <a:pt x="2484" y="1003"/>
                </a:lnTo>
                <a:lnTo>
                  <a:pt x="2601" y="921"/>
                </a:lnTo>
                <a:lnTo>
                  <a:pt x="2719" y="844"/>
                </a:lnTo>
                <a:lnTo>
                  <a:pt x="2838" y="769"/>
                </a:lnTo>
                <a:lnTo>
                  <a:pt x="2959" y="697"/>
                </a:lnTo>
                <a:lnTo>
                  <a:pt x="3083" y="628"/>
                </a:lnTo>
                <a:lnTo>
                  <a:pt x="3207" y="563"/>
                </a:lnTo>
                <a:lnTo>
                  <a:pt x="3333" y="501"/>
                </a:lnTo>
                <a:lnTo>
                  <a:pt x="3460" y="443"/>
                </a:lnTo>
                <a:lnTo>
                  <a:pt x="3589" y="389"/>
                </a:lnTo>
                <a:lnTo>
                  <a:pt x="3719" y="337"/>
                </a:lnTo>
                <a:lnTo>
                  <a:pt x="3850" y="290"/>
                </a:lnTo>
                <a:lnTo>
                  <a:pt x="3982" y="245"/>
                </a:lnTo>
                <a:lnTo>
                  <a:pt x="4116" y="204"/>
                </a:lnTo>
                <a:lnTo>
                  <a:pt x="4249" y="168"/>
                </a:lnTo>
                <a:lnTo>
                  <a:pt x="4385" y="135"/>
                </a:lnTo>
                <a:lnTo>
                  <a:pt x="4520" y="105"/>
                </a:lnTo>
                <a:lnTo>
                  <a:pt x="4656" y="78"/>
                </a:lnTo>
                <a:lnTo>
                  <a:pt x="4793" y="56"/>
                </a:lnTo>
                <a:lnTo>
                  <a:pt x="4931" y="37"/>
                </a:lnTo>
                <a:lnTo>
                  <a:pt x="5068" y="22"/>
                </a:lnTo>
                <a:lnTo>
                  <a:pt x="5207" y="11"/>
                </a:lnTo>
                <a:lnTo>
                  <a:pt x="5345" y="4"/>
                </a:lnTo>
                <a:lnTo>
                  <a:pt x="5484" y="0"/>
                </a:lnTo>
                <a:lnTo>
                  <a:pt x="5622" y="0"/>
                </a:lnTo>
                <a:lnTo>
                  <a:pt x="5761" y="3"/>
                </a:lnTo>
                <a:lnTo>
                  <a:pt x="5899" y="11"/>
                </a:lnTo>
                <a:lnTo>
                  <a:pt x="6038" y="22"/>
                </a:lnTo>
                <a:lnTo>
                  <a:pt x="6175" y="38"/>
                </a:lnTo>
                <a:lnTo>
                  <a:pt x="6313" y="56"/>
                </a:lnTo>
                <a:lnTo>
                  <a:pt x="6450" y="78"/>
                </a:lnTo>
                <a:lnTo>
                  <a:pt x="6586" y="104"/>
                </a:lnTo>
                <a:lnTo>
                  <a:pt x="6723" y="133"/>
                </a:lnTo>
                <a:lnTo>
                  <a:pt x="6858" y="167"/>
                </a:lnTo>
                <a:lnTo>
                  <a:pt x="6993" y="204"/>
                </a:lnTo>
                <a:lnTo>
                  <a:pt x="7126" y="245"/>
                </a:lnTo>
                <a:lnTo>
                  <a:pt x="7259" y="288"/>
                </a:lnTo>
                <a:lnTo>
                  <a:pt x="7391" y="336"/>
                </a:lnTo>
                <a:lnTo>
                  <a:pt x="7522" y="387"/>
                </a:lnTo>
                <a:lnTo>
                  <a:pt x="7652" y="442"/>
                </a:lnTo>
                <a:lnTo>
                  <a:pt x="7780" y="500"/>
                </a:lnTo>
                <a:lnTo>
                  <a:pt x="7906" y="562"/>
                </a:lnTo>
                <a:lnTo>
                  <a:pt x="8032" y="626"/>
                </a:lnTo>
                <a:lnTo>
                  <a:pt x="8156" y="696"/>
                </a:lnTo>
                <a:lnTo>
                  <a:pt x="8278" y="767"/>
                </a:lnTo>
                <a:lnTo>
                  <a:pt x="8399" y="841"/>
                </a:lnTo>
                <a:lnTo>
                  <a:pt x="8518" y="920"/>
                </a:lnTo>
                <a:lnTo>
                  <a:pt x="8636" y="1001"/>
                </a:lnTo>
                <a:lnTo>
                  <a:pt x="8751" y="1086"/>
                </a:lnTo>
                <a:lnTo>
                  <a:pt x="8864" y="1173"/>
                </a:lnTo>
                <a:lnTo>
                  <a:pt x="8975" y="1263"/>
                </a:lnTo>
                <a:lnTo>
                  <a:pt x="9085" y="1356"/>
                </a:lnTo>
                <a:lnTo>
                  <a:pt x="9192" y="1453"/>
                </a:lnTo>
                <a:lnTo>
                  <a:pt x="9297" y="1553"/>
                </a:lnTo>
                <a:lnTo>
                  <a:pt x="9400" y="1655"/>
                </a:lnTo>
                <a:lnTo>
                  <a:pt x="9501" y="1760"/>
                </a:lnTo>
                <a:lnTo>
                  <a:pt x="9598" y="1867"/>
                </a:lnTo>
                <a:lnTo>
                  <a:pt x="9694" y="1976"/>
                </a:lnTo>
                <a:lnTo>
                  <a:pt x="9787" y="2089"/>
                </a:lnTo>
                <a:lnTo>
                  <a:pt x="9878" y="2204"/>
                </a:lnTo>
                <a:lnTo>
                  <a:pt x="9965" y="2322"/>
                </a:lnTo>
                <a:lnTo>
                  <a:pt x="10050" y="2441"/>
                </a:lnTo>
                <a:lnTo>
                  <a:pt x="10132" y="2562"/>
                </a:lnTo>
                <a:lnTo>
                  <a:pt x="10213" y="2687"/>
                </a:lnTo>
                <a:lnTo>
                  <a:pt x="10290" y="2812"/>
                </a:lnTo>
                <a:lnTo>
                  <a:pt x="10364" y="2940"/>
                </a:lnTo>
                <a:lnTo>
                  <a:pt x="10434" y="3071"/>
                </a:lnTo>
                <a:lnTo>
                  <a:pt x="11644" y="2317"/>
                </a:lnTo>
                <a:lnTo>
                  <a:pt x="11006" y="4925"/>
                </a:lnTo>
                <a:lnTo>
                  <a:pt x="8603" y="4211"/>
                </a:lnTo>
                <a:lnTo>
                  <a:pt x="9813" y="3457"/>
                </a:lnTo>
              </a:path>
            </a:pathLst>
          </a:custGeom>
          <a:solidFill>
            <a:srgbClr val="729FCF"/>
          </a:solidFill>
          <a:ln cap="flat" cmpd="sng" w="9525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67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8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24</a:t>
            </a:r>
          </a:p>
        </p:txBody>
      </p:sp>
      <p:sp>
        <p:nvSpPr>
          <p:cNvPr id="269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70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7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2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4"/>
          <p:cNvSpPr txBox="1"/>
          <p:nvPr/>
        </p:nvSpPr>
        <p:spPr>
          <a:xfrm>
            <a:off x="504000" y="645660"/>
            <a:ext cx="9071640" cy="1259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52" strike="noStrike">
              <a:solidFill>
                <a:srgbClr val="0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69" name="Google Shape;269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15640" y="443340"/>
            <a:ext cx="5364720" cy="3628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17240" y="4233780"/>
            <a:ext cx="5249520" cy="348552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44"/>
          <p:cNvSpPr txBox="1"/>
          <p:nvPr/>
        </p:nvSpPr>
        <p:spPr>
          <a:xfrm>
            <a:off x="403200" y="2560500"/>
            <a:ext cx="1380240" cy="387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Milky Way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44"/>
          <p:cNvSpPr txBox="1"/>
          <p:nvPr/>
        </p:nvSpPr>
        <p:spPr>
          <a:xfrm>
            <a:off x="504000" y="5282100"/>
            <a:ext cx="1651320" cy="387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Other galaxy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7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24</a:t>
            </a:r>
          </a:p>
        </p:txBody>
      </p:sp>
      <p:sp>
        <p:nvSpPr>
          <p:cNvPr id="27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7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8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5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80"/>
              <a:t>Radial Velocity Measurements</a:t>
            </a:r>
            <a:endParaRPr sz="2880"/>
          </a:p>
        </p:txBody>
      </p:sp>
      <p:sp>
        <p:nvSpPr>
          <p:cNvPr id="278" name="Google Shape;278;p45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Although the rotation curve is flat, the radial velocity (in the LSR frame) depends on the </a:t>
            </a:r>
            <a:r>
              <a:rPr b="1" lang="en-US" sz="2240"/>
              <a:t>radial velocity</a:t>
            </a:r>
            <a:r>
              <a:rPr lang="en-US" sz="2240"/>
              <a:t> of the source wrt to the radial velocity of the Sun.</a:t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V</a:t>
            </a:r>
            <a:r>
              <a:rPr baseline="-25000" lang="en-US" sz="2240"/>
              <a:t>rad</a:t>
            </a:r>
            <a:r>
              <a:rPr lang="en-US" sz="2240"/>
              <a:t>= (ω-ω</a:t>
            </a:r>
            <a:r>
              <a:rPr baseline="-25000" lang="en-US" sz="2240"/>
              <a:t>0</a:t>
            </a:r>
            <a:r>
              <a:rPr lang="en-US" sz="2240"/>
              <a:t>) R</a:t>
            </a:r>
            <a:r>
              <a:rPr baseline="-25000" lang="en-US" sz="2240"/>
              <a:t>0</a:t>
            </a:r>
            <a:r>
              <a:rPr lang="en-US" sz="2240"/>
              <a:t> sin l,</a:t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/>
              <a:t>where ω is the angular velocity defined as v/R, R is the distance from the center of the Galaxy, l is the Galactic longitude, and the “0” subscripts denote Solar quantities.  </a:t>
            </a:r>
            <a:r>
              <a:rPr lang="en-US" sz="2240">
                <a:solidFill>
                  <a:schemeClr val="dk1"/>
                </a:solidFill>
              </a:rPr>
              <a:t>R</a:t>
            </a:r>
            <a:r>
              <a:rPr baseline="-25000" lang="en-US" sz="2240">
                <a:solidFill>
                  <a:schemeClr val="dk1"/>
                </a:solidFill>
              </a:rPr>
              <a:t>0</a:t>
            </a:r>
            <a:r>
              <a:rPr lang="en-US" sz="2240">
                <a:solidFill>
                  <a:schemeClr val="dk1"/>
                </a:solidFill>
              </a:rPr>
              <a:t> = 8.3kpc and ω</a:t>
            </a:r>
            <a:r>
              <a:rPr baseline="-25000" lang="en-US" sz="2240">
                <a:solidFill>
                  <a:schemeClr val="dk1"/>
                </a:solidFill>
              </a:rPr>
              <a:t>0</a:t>
            </a:r>
            <a:r>
              <a:rPr lang="en-US" sz="2240">
                <a:solidFill>
                  <a:schemeClr val="dk1"/>
                </a:solidFill>
              </a:rPr>
              <a:t> = 29 (km/s)/kpc.</a:t>
            </a:r>
            <a:endParaRPr sz="224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chemeClr val="dk1"/>
                </a:solidFill>
              </a:rPr>
              <a:t>-&gt; We can use the measured radial velocity to determine R, the distance from the Galactic center to the source.</a:t>
            </a:r>
            <a:endParaRPr sz="224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40"/>
          </a:p>
        </p:txBody>
      </p:sp>
      <p:sp>
        <p:nvSpPr>
          <p:cNvPr id="280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2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83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24</a:t>
            </a:r>
          </a:p>
        </p:txBody>
      </p:sp>
      <p:sp>
        <p:nvSpPr>
          <p:cNvPr id="284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85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8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7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6"/>
          <p:cNvSpPr txBox="1"/>
          <p:nvPr/>
        </p:nvSpPr>
        <p:spPr>
          <a:xfrm>
            <a:off x="504000" y="645660"/>
            <a:ext cx="9071640" cy="1259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52" strike="noStrike">
              <a:solidFill>
                <a:srgbClr val="0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84" name="Google Shape;28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22040" y="617580"/>
            <a:ext cx="4032000" cy="724392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46"/>
          <p:cNvSpPr txBox="1"/>
          <p:nvPr/>
        </p:nvSpPr>
        <p:spPr>
          <a:xfrm>
            <a:off x="305280" y="5280300"/>
            <a:ext cx="2756520" cy="1577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Radial (solid) and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transverse (dashed)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velocities as a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function of </a:t>
            </a:r>
            <a:r>
              <a:rPr b="0" i="1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l.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Dependence is sin (2</a:t>
            </a:r>
            <a:r>
              <a:rPr b="0" i="1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</a:t>
            </a:r>
            <a:r>
              <a:rPr b="0" lang="en-US" sz="1592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sz="144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89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0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Supplemental</a:t>
            </a:r>
          </a:p>
        </p:txBody>
      </p:sp>
      <p:sp>
        <p:nvSpPr>
          <p:cNvPr id="291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92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93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4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495300"/>
            <a:ext cx="9673165" cy="7254874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7"/>
          <p:cNvSpPr txBox="1"/>
          <p:nvPr/>
        </p:nvSpPr>
        <p:spPr>
          <a:xfrm>
            <a:off x="6224975" y="1086825"/>
            <a:ext cx="6301500" cy="7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40">
                <a:solidFill>
                  <a:srgbClr val="FF0000"/>
                </a:solidFill>
              </a:rPr>
              <a:t>First Quadrant</a:t>
            </a:r>
            <a:endParaRPr sz="2240">
              <a:solidFill>
                <a:srgbClr val="FF0000"/>
              </a:solidFill>
            </a:endParaRPr>
          </a:p>
        </p:txBody>
      </p:sp>
      <p:sp>
        <p:nvSpPr>
          <p:cNvPr id="293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5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96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24</a:t>
            </a:r>
          </a:p>
        </p:txBody>
      </p:sp>
      <p:sp>
        <p:nvSpPr>
          <p:cNvPr id="297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98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9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0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8"/>
          <p:cNvSpPr txBox="1"/>
          <p:nvPr/>
        </p:nvSpPr>
        <p:spPr>
          <a:xfrm>
            <a:off x="504000" y="645660"/>
            <a:ext cx="9071640" cy="1259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752" strike="noStrike">
              <a:solidFill>
                <a:srgbClr val="000000"/>
              </a:solidFill>
              <a:latin typeface="Arial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3280" y="2434140"/>
            <a:ext cx="9071640" cy="433368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1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02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24</a:t>
            </a:r>
          </a:p>
        </p:txBody>
      </p:sp>
      <p:sp>
        <p:nvSpPr>
          <p:cNvPr id="303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04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05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6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9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Longitude-Velocity Diagram</a:t>
            </a:r>
            <a:endParaRPr sz="3040"/>
          </a:p>
        </p:txBody>
      </p:sp>
      <p:sp>
        <p:nvSpPr>
          <p:cNvPr id="303" name="Google Shape;303;p49"/>
          <p:cNvSpPr txBox="1"/>
          <p:nvPr>
            <p:ph idx="1" type="subTitle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4" name="Google Shape;30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9252" y="1555750"/>
            <a:ext cx="7304375" cy="6305375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8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09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24</a:t>
            </a:r>
          </a:p>
        </p:txBody>
      </p:sp>
      <p:sp>
        <p:nvSpPr>
          <p:cNvPr id="310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11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1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3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50"/>
          <p:cNvSpPr txBox="1"/>
          <p:nvPr/>
        </p:nvSpPr>
        <p:spPr>
          <a:xfrm>
            <a:off x="504000" y="620100"/>
            <a:ext cx="9071640" cy="1310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2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Doppler shift (images from Wikipedia)</a:t>
            </a:r>
            <a:endParaRPr b="0" sz="352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0" name="Google Shape;31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74720" y="3025980"/>
            <a:ext cx="3834360" cy="3809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91440" y="3543300"/>
            <a:ext cx="3128400" cy="2500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87880" y="3290220"/>
            <a:ext cx="1904760" cy="336204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24</a:t>
            </a:r>
          </a:p>
        </p:txBody>
      </p:sp>
      <p:sp>
        <p:nvSpPr>
          <p:cNvPr id="318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19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20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1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1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Doppler Shift</a:t>
            </a:r>
            <a:endParaRPr sz="3040"/>
          </a:p>
        </p:txBody>
      </p:sp>
      <p:sp>
        <p:nvSpPr>
          <p:cNvPr id="318" name="Google Shape;318;p51"/>
          <p:cNvSpPr txBox="1"/>
          <p:nvPr>
            <p:ph idx="1" type="body"/>
          </p:nvPr>
        </p:nvSpPr>
        <p:spPr>
          <a:xfrm>
            <a:off x="504000" y="20357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/>
              <a:t>We </a:t>
            </a:r>
            <a:r>
              <a:rPr b="1" lang="en-US" sz="1920"/>
              <a:t>measure</a:t>
            </a:r>
            <a:r>
              <a:rPr lang="en-US" sz="1920"/>
              <a:t> emission at a particular frequency.</a:t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/>
              <a:t>Due to the Doppler shift, we can convert frequency to velocity.  </a:t>
            </a:r>
            <a:r>
              <a:rPr lang="en-US" sz="1920">
                <a:solidFill>
                  <a:schemeClr val="dk1"/>
                </a:solidFill>
              </a:rPr>
              <a:t>Assume you are measuring a spectral line at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ν</a:t>
            </a:r>
            <a:r>
              <a:rPr baseline="-25000" lang="en-US" sz="1920">
                <a:solidFill>
                  <a:schemeClr val="dk1"/>
                </a:solidFill>
              </a:rPr>
              <a:t>0</a:t>
            </a:r>
            <a:r>
              <a:rPr lang="en-US" sz="1920">
                <a:solidFill>
                  <a:schemeClr val="dk1"/>
                </a:solidFill>
              </a:rPr>
              <a:t> = 1420.4MHz, but detect emission at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ν</a:t>
            </a:r>
            <a:r>
              <a:rPr lang="en-US" sz="1920">
                <a:solidFill>
                  <a:schemeClr val="dk1"/>
                </a:solidFill>
              </a:rPr>
              <a:t> = 1421.4MHz.  The Doppler shift equation is:</a:t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2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latin typeface="Arial"/>
                <a:ea typeface="Times New Roman"/>
                <a:cs typeface="Times New Roman"/>
                <a:sym typeface="Times New Roman"/>
              </a:rPr>
              <a:t>v = (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baseline="30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- ν)c/ν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 = </a:t>
            </a:r>
            <a:r>
              <a:rPr lang="en-US" sz="1920">
                <a:latin typeface="Arial"/>
                <a:ea typeface="Times New Roman"/>
                <a:cs typeface="Times New Roman"/>
                <a:sym typeface="Times New Roman"/>
              </a:rPr>
              <a:t>Δνc/ν</a:t>
            </a:r>
            <a:r>
              <a:rPr baseline="-25000" lang="en-US" sz="1920"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endParaRPr sz="1920">
              <a:latin typeface="Arial"/>
              <a:ea typeface="Times New Roman"/>
              <a:cs typeface="Times New Roman"/>
              <a:sym typeface="Times New Roman"/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/>
              <a:t>where v is the velocity, c is the speed of light (c=3e5km/s).</a:t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2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/>
              <a:t>Therefore, </a:t>
            </a:r>
            <a:r>
              <a:rPr lang="en-US" sz="1920">
                <a:solidFill>
                  <a:schemeClr val="dk1"/>
                </a:solidFill>
              </a:rPr>
              <a:t>Δν = 1MHz = 1e6Hz and v = 1e6Hz * 3e5 km/s / 1420e6 Hz = -211 km/s</a:t>
            </a:r>
            <a:endParaRPr sz="192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2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solidFill>
                  <a:schemeClr val="dk1"/>
                </a:solidFill>
              </a:rPr>
              <a:t>This assumes no reference frame - it’s just the relative radial velocity of the observatory wrt the source.</a:t>
            </a:r>
            <a:endParaRPr sz="1920">
              <a:solidFill>
                <a:schemeClr val="dk1"/>
              </a:solidFill>
            </a:endParaRPr>
          </a:p>
        </p:txBody>
      </p:sp>
      <p:sp>
        <p:nvSpPr>
          <p:cNvPr id="320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22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23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24</a:t>
            </a:r>
          </a:p>
        </p:txBody>
      </p:sp>
      <p:sp>
        <p:nvSpPr>
          <p:cNvPr id="324" name="WVU DSPIRA navy band"/>
          <p:cNvSpPr>
            <a:spLocks noGrp="1"/>
          </p:cNvSpPr>
          <p:nvPr/>
        </p:nvSpPr>
        <p:spPr>
          <a:xfrm>
            <a:off x="0" y="0"/>
            <a:ext cx="10080625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325" name="WVU DSPIRA gold rule"/>
          <p:cNvSpPr>
            <a:spLocks noGrp="1"/>
          </p:cNvSpPr>
          <p:nvPr/>
        </p:nvSpPr>
        <p:spPr>
          <a:xfrm>
            <a:off x="0" y="323850"/>
            <a:ext cx="10080625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2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7" name="WVU DSPIRA university"/>
          <p:cNvSpPr>
            <a:spLocks noGrp="1"/>
          </p:cNvSpPr>
          <p:nvPr/>
        </p:nvSpPr>
        <p:spPr>
          <a:xfrm>
            <a:off x="7223125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Galactic rotation (2018 edition)</dc:title>
  <cp:lastModifiedBy>WVU DSPIRA</cp:lastModifiedBy>
</cp:coreProperties>
</file>