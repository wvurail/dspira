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27bc7f58516466e" /><Relationship Type="http://schemas.openxmlformats.org/officeDocument/2006/relationships/extended-properties" Target="/docProps/app.xml" Id="R9e7e342b8f3e4eec" /><Relationship Type="http://schemas.openxmlformats.org/officeDocument/2006/relationships/officeDocument" Target="/ppt/presentation.xml" Id="R9490a6b9457b4dc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d0ef563d6334002"/>
  </p:sldMasterIdLst>
  <p:notesMasterIdLst>
    <p:notesMasterId xmlns:r="http://schemas.openxmlformats.org/officeDocument/2006/relationships" r:id="Re7cad31f0a234ed9"/>
  </p:notesMasterIdLst>
  <p:sldIdLst>
    <p:sldId xmlns:r="http://schemas.openxmlformats.org/officeDocument/2006/relationships" id="256" r:id="Raa7aaf14771e42a5"/>
    <p:sldId xmlns:r="http://schemas.openxmlformats.org/officeDocument/2006/relationships" id="257" r:id="R3c0c274e44a14ea4"/>
    <p:sldId xmlns:r="http://schemas.openxmlformats.org/officeDocument/2006/relationships" id="258" r:id="Raae5dcb95c7c4623"/>
    <p:sldId xmlns:r="http://schemas.openxmlformats.org/officeDocument/2006/relationships" id="259" r:id="R6ebeb082607746ba"/>
    <p:sldId xmlns:r="http://schemas.openxmlformats.org/officeDocument/2006/relationships" id="260" r:id="R9258805dd43b40da"/>
    <p:sldId xmlns:r="http://schemas.openxmlformats.org/officeDocument/2006/relationships" id="261" r:id="Ra3a33e2470ff4056"/>
    <p:sldId xmlns:r="http://schemas.openxmlformats.org/officeDocument/2006/relationships" id="262" r:id="Rdfd926a80a094f09"/>
    <p:sldId xmlns:r="http://schemas.openxmlformats.org/officeDocument/2006/relationships" id="263" r:id="R0adf40e1f1d84f83"/>
    <p:sldId xmlns:r="http://schemas.openxmlformats.org/officeDocument/2006/relationships" id="264" r:id="Ra4d9a63cdcc54704"/>
    <p:sldId xmlns:r="http://schemas.openxmlformats.org/officeDocument/2006/relationships" id="265" r:id="Rab0ed55600a243f2"/>
    <p:sldId xmlns:r="http://schemas.openxmlformats.org/officeDocument/2006/relationships" id="266" r:id="Rf5b98a5ece3f4bea"/>
    <p:sldId xmlns:r="http://schemas.openxmlformats.org/officeDocument/2006/relationships" id="267" r:id="R6e2845af1560484c"/>
    <p:sldId xmlns:r="http://schemas.openxmlformats.org/officeDocument/2006/relationships" id="268" r:id="R5f09cff8196c4a32"/>
    <p:sldId xmlns:r="http://schemas.openxmlformats.org/officeDocument/2006/relationships" id="269" r:id="R8465e40fafdf457a"/>
    <p:sldId xmlns:r="http://schemas.openxmlformats.org/officeDocument/2006/relationships" id="270" r:id="R02620a073bc0405c"/>
    <p:sldId xmlns:r="http://schemas.openxmlformats.org/officeDocument/2006/relationships" id="271" r:id="R98423cb3e884408d"/>
    <p:sldId xmlns:r="http://schemas.openxmlformats.org/officeDocument/2006/relationships" id="272" r:id="Raa7d9d425ed24c9e"/>
    <p:sldId xmlns:r="http://schemas.openxmlformats.org/officeDocument/2006/relationships" id="273" r:id="R3db8c3d384284756"/>
    <p:sldId xmlns:r="http://schemas.openxmlformats.org/officeDocument/2006/relationships" id="274" r:id="R0ba48ee029254109"/>
    <p:sldId xmlns:r="http://schemas.openxmlformats.org/officeDocument/2006/relationships" id="275" r:id="R53e8a33e203447e3"/>
    <p:sldId xmlns:r="http://schemas.openxmlformats.org/officeDocument/2006/relationships" id="276" r:id="Rfe631617ce434810"/>
    <p:sldId xmlns:r="http://schemas.openxmlformats.org/officeDocument/2006/relationships" id="277" r:id="R1636f8550a9f4145"/>
    <p:sldId xmlns:r="http://schemas.openxmlformats.org/officeDocument/2006/relationships" id="278" r:id="R08caee25b9504d96"/>
    <p:sldId xmlns:r="http://schemas.openxmlformats.org/officeDocument/2006/relationships" id="279" r:id="R0dfc6261c2ff4f51"/>
    <p:sldId xmlns:r="http://schemas.openxmlformats.org/officeDocument/2006/relationships" id="280" r:id="R24e2c7047e1e42f9"/>
    <p:sldId xmlns:r="http://schemas.openxmlformats.org/officeDocument/2006/relationships" id="281" r:id="R307ec1c56cd74b55"/>
    <p:sldId xmlns:r="http://schemas.openxmlformats.org/officeDocument/2006/relationships" id="282" r:id="Rfd9506ca0ee34dae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39a36bee4b94773" /><Relationship Type="http://schemas.openxmlformats.org/officeDocument/2006/relationships/slideMaster" Target="/ppt/slideMasters/slideMaster1.xml" Id="Rcd0ef563d6334002" /><Relationship Type="http://schemas.openxmlformats.org/officeDocument/2006/relationships/notesMaster" Target="/ppt/notesMasters/notesMaster1.xml" Id="Re7cad31f0a234ed9" /><Relationship Type="http://schemas.openxmlformats.org/officeDocument/2006/relationships/presProps" Target="/ppt/presProps.xml" Id="R62571883716a4546" /><Relationship Type="http://schemas.openxmlformats.org/officeDocument/2006/relationships/tableStyles" Target="/ppt/tableStyles.xml" Id="Ra24e9d7f0edc4403" /><Relationship Type="http://schemas.openxmlformats.org/officeDocument/2006/relationships/slide" Target="/ppt/slides/slide1.xml" Id="Raa7aaf14771e42a5" /><Relationship Type="http://schemas.openxmlformats.org/officeDocument/2006/relationships/slide" Target="/ppt/slides/slide2.xml" Id="R3c0c274e44a14ea4" /><Relationship Type="http://schemas.openxmlformats.org/officeDocument/2006/relationships/slide" Target="/ppt/slides/slide3.xml" Id="Raae5dcb95c7c4623" /><Relationship Type="http://schemas.openxmlformats.org/officeDocument/2006/relationships/slide" Target="/ppt/slides/slide4.xml" Id="R6ebeb082607746ba" /><Relationship Type="http://schemas.openxmlformats.org/officeDocument/2006/relationships/slide" Target="/ppt/slides/slide5.xml" Id="R9258805dd43b40da" /><Relationship Type="http://schemas.openxmlformats.org/officeDocument/2006/relationships/slide" Target="/ppt/slides/slide6.xml" Id="Ra3a33e2470ff4056" /><Relationship Type="http://schemas.openxmlformats.org/officeDocument/2006/relationships/slide" Target="/ppt/slides/slide7.xml" Id="Rdfd926a80a094f09" /><Relationship Type="http://schemas.openxmlformats.org/officeDocument/2006/relationships/slide" Target="/ppt/slides/slide8.xml" Id="R0adf40e1f1d84f83" /><Relationship Type="http://schemas.openxmlformats.org/officeDocument/2006/relationships/slide" Target="/ppt/slides/slide9.xml" Id="Ra4d9a63cdcc54704" /><Relationship Type="http://schemas.openxmlformats.org/officeDocument/2006/relationships/slide" Target="/ppt/slides/slide10.xml" Id="Rab0ed55600a243f2" /><Relationship Type="http://schemas.openxmlformats.org/officeDocument/2006/relationships/slide" Target="/ppt/slides/slide11.xml" Id="Rf5b98a5ece3f4bea" /><Relationship Type="http://schemas.openxmlformats.org/officeDocument/2006/relationships/slide" Target="/ppt/slides/slide12.xml" Id="R6e2845af1560484c" /><Relationship Type="http://schemas.openxmlformats.org/officeDocument/2006/relationships/slide" Target="/ppt/slides/slide13.xml" Id="R5f09cff8196c4a32" /><Relationship Type="http://schemas.openxmlformats.org/officeDocument/2006/relationships/slide" Target="/ppt/slides/slide14.xml" Id="R8465e40fafdf457a" /><Relationship Type="http://schemas.openxmlformats.org/officeDocument/2006/relationships/slide" Target="/ppt/slides/slide15.xml" Id="R02620a073bc0405c" /><Relationship Type="http://schemas.openxmlformats.org/officeDocument/2006/relationships/slide" Target="/ppt/slides/slide16.xml" Id="R98423cb3e884408d" /><Relationship Type="http://schemas.openxmlformats.org/officeDocument/2006/relationships/slide" Target="/ppt/slides/slide17.xml" Id="Raa7d9d425ed24c9e" /><Relationship Type="http://schemas.openxmlformats.org/officeDocument/2006/relationships/slide" Target="/ppt/slides/slide18.xml" Id="R3db8c3d384284756" /><Relationship Type="http://schemas.openxmlformats.org/officeDocument/2006/relationships/slide" Target="/ppt/slides/slide19.xml" Id="R0ba48ee029254109" /><Relationship Type="http://schemas.openxmlformats.org/officeDocument/2006/relationships/slide" Target="/ppt/slides/slide20.xml" Id="R53e8a33e203447e3" /><Relationship Type="http://schemas.openxmlformats.org/officeDocument/2006/relationships/slide" Target="/ppt/slides/slide21.xml" Id="Rfe631617ce434810" /><Relationship Type="http://schemas.openxmlformats.org/officeDocument/2006/relationships/slide" Target="/ppt/slides/slide22.xml" Id="R1636f8550a9f4145" /><Relationship Type="http://schemas.openxmlformats.org/officeDocument/2006/relationships/slide" Target="/ppt/slides/slide23.xml" Id="R08caee25b9504d96" /><Relationship Type="http://schemas.openxmlformats.org/officeDocument/2006/relationships/slide" Target="/ppt/slides/slide24.xml" Id="R0dfc6261c2ff4f51" /><Relationship Type="http://schemas.openxmlformats.org/officeDocument/2006/relationships/slide" Target="/ppt/slides/slide25.xml" Id="R24e2c7047e1e42f9" /><Relationship Type="http://schemas.openxmlformats.org/officeDocument/2006/relationships/slide" Target="/ppt/slides/slide26.xml" Id="R307ec1c56cd74b55" /><Relationship Type="http://schemas.openxmlformats.org/officeDocument/2006/relationships/slide" Target="/ppt/slides/slide27.xml" Id="Rfd9506ca0ee34d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ec578745f8d4f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b697cc3f5f432c" /><Relationship Type="http://schemas.openxmlformats.org/officeDocument/2006/relationships/notesMaster" Target="/ppt/notesMasters/notesMaster1.xml" Id="Rd0a2e2abd4f5476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becf39d29cc4273" /><Relationship Type="http://schemas.openxmlformats.org/officeDocument/2006/relationships/notesMaster" Target="/ppt/notesMasters/notesMaster1.xml" Id="R9dd411881eca4b8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1fba30a6bb4566" /><Relationship Type="http://schemas.openxmlformats.org/officeDocument/2006/relationships/notesMaster" Target="/ppt/notesMasters/notesMaster1.xml" Id="R9fb98992db27496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07db76b0df64f4e" /><Relationship Type="http://schemas.openxmlformats.org/officeDocument/2006/relationships/notesMaster" Target="/ppt/notesMasters/notesMaster1.xml" Id="R0f7a713ee819480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1d7552df4b24ba6" /><Relationship Type="http://schemas.openxmlformats.org/officeDocument/2006/relationships/notesMaster" Target="/ppt/notesMasters/notesMaster1.xml" Id="R137e0340ee8f4e1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1273ec2d9c4e80" /><Relationship Type="http://schemas.openxmlformats.org/officeDocument/2006/relationships/notesMaster" Target="/ppt/notesMasters/notesMaster1.xml" Id="Rcd6472074d3a472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8bfee0904994fd1" /><Relationship Type="http://schemas.openxmlformats.org/officeDocument/2006/relationships/notesMaster" Target="/ppt/notesMasters/notesMaster1.xml" Id="Rfe0d9bad1d76426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2cde6625cb40c8" /><Relationship Type="http://schemas.openxmlformats.org/officeDocument/2006/relationships/notesMaster" Target="/ppt/notesMasters/notesMaster1.xml" Id="R8465167a0a7a43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cc3bf3cc96c4605" /><Relationship Type="http://schemas.openxmlformats.org/officeDocument/2006/relationships/notesMaster" Target="/ppt/notesMasters/notesMaster1.xml" Id="R48c7286a2590435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074cf0296644a98" /><Relationship Type="http://schemas.openxmlformats.org/officeDocument/2006/relationships/notesMaster" Target="/ppt/notesMasters/notesMaster1.xml" Id="Re79655b7118540f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30896d1196042ef" /><Relationship Type="http://schemas.openxmlformats.org/officeDocument/2006/relationships/notesMaster" Target="/ppt/notesMasters/notesMaster1.xml" Id="R94f8157cbe7240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9d9633218fa4644" /><Relationship Type="http://schemas.openxmlformats.org/officeDocument/2006/relationships/notesMaster" Target="/ppt/notesMasters/notesMaster1.xml" Id="Rfa26276f1afa4a4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6721c12c2214720" /><Relationship Type="http://schemas.openxmlformats.org/officeDocument/2006/relationships/notesMaster" Target="/ppt/notesMasters/notesMaster1.xml" Id="R40b63a7bb22f4c1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edfbff90c1d47fc" /><Relationship Type="http://schemas.openxmlformats.org/officeDocument/2006/relationships/notesMaster" Target="/ppt/notesMasters/notesMaster1.xml" Id="Rcb4ab8bad2d6457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33d8f97315841b4" /><Relationship Type="http://schemas.openxmlformats.org/officeDocument/2006/relationships/notesMaster" Target="/ppt/notesMasters/notesMaster1.xml" Id="Ra8337077689443d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f7e845ee314627" /><Relationship Type="http://schemas.openxmlformats.org/officeDocument/2006/relationships/notesMaster" Target="/ppt/notesMasters/notesMaster1.xml" Id="R87206783ee294d33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2c403b65f14eae" /><Relationship Type="http://schemas.openxmlformats.org/officeDocument/2006/relationships/notesMaster" Target="/ppt/notesMasters/notesMaster1.xml" Id="R3a21a16e5ba84926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fccd2b6066148ed" /><Relationship Type="http://schemas.openxmlformats.org/officeDocument/2006/relationships/notesMaster" Target="/ppt/notesMasters/notesMaster1.xml" Id="R2effb092d682447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a49f72dc9104cb3" /><Relationship Type="http://schemas.openxmlformats.org/officeDocument/2006/relationships/notesMaster" Target="/ppt/notesMasters/notesMaster1.xml" Id="R8cecb5586fe8440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aaf5550cc9243de" /><Relationship Type="http://schemas.openxmlformats.org/officeDocument/2006/relationships/notesMaster" Target="/ppt/notesMasters/notesMaster1.xml" Id="Re6f8c854c56d416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392ac7a03224ffd" /><Relationship Type="http://schemas.openxmlformats.org/officeDocument/2006/relationships/notesMaster" Target="/ppt/notesMasters/notesMaster1.xml" Id="Rf4c9192a2a2a426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db041c46d9ab43b7" /><Relationship Type="http://schemas.openxmlformats.org/officeDocument/2006/relationships/notesMaster" Target="/ppt/notesMasters/notesMaster1.xml" Id="Rf2e72fa96b834115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8a2b6b8d48ec49a0" /><Relationship Type="http://schemas.openxmlformats.org/officeDocument/2006/relationships/notesMaster" Target="/ppt/notesMasters/notesMaster1.xml" Id="R88909fc3d2c847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4e54ac48346c459a" /><Relationship Type="http://schemas.openxmlformats.org/officeDocument/2006/relationships/notesMaster" Target="/ppt/notesMasters/notesMaster1.xml" Id="R0f0f0b09cacd4b23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4a27da65c65f44a4" /><Relationship Type="http://schemas.openxmlformats.org/officeDocument/2006/relationships/notesMaster" Target="/ppt/notesMasters/notesMaster1.xml" Id="Re89df7682244488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62de5ab3a4245da" /><Relationship Type="http://schemas.openxmlformats.org/officeDocument/2006/relationships/notesMaster" Target="/ppt/notesMasters/notesMaster1.xml" Id="Rcb3ef073e698456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e3c6d304b1174f8a" /><Relationship Type="http://schemas.openxmlformats.org/officeDocument/2006/relationships/notesMaster" Target="/ppt/notesMasters/notesMaster1.xml" Id="R1ad564f04cb44e9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assets/lessons/lectures/astronomy/all-galaxies-great-and-small.pdf,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4d6d5067764aa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c717ab3788743d8" /><Relationship Type="http://schemas.openxmlformats.org/officeDocument/2006/relationships/slideLayout" Target="/ppt/slideLayouts/slideLayout1.xml" Id="Rcf743c0695e14c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f743c0695e14c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ca5eaa1d04087" /><Relationship Type="http://schemas.openxmlformats.org/officeDocument/2006/relationships/image" Target="/ppt/media/image.png" Id="R6893b93fcd744472" /><Relationship Type="http://schemas.openxmlformats.org/officeDocument/2006/relationships/notesSlide" Target="/ppt/notesSlides/notesSlide1.xml" Id="Re3779749a0f94fb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3ae872464742c4" /><Relationship Type="http://schemas.openxmlformats.org/officeDocument/2006/relationships/image" Target="/ppt/media/image2.png" Id="Rcc5b4fc55fd448c1" /><Relationship Type="http://schemas.openxmlformats.org/officeDocument/2006/relationships/notesSlide" Target="/ppt/notesSlides/notesSlide2.xml" Id="R7f7c0a06cd17497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089689710b4df4" /><Relationship Type="http://schemas.openxmlformats.org/officeDocument/2006/relationships/image" Target="/ppt/media/image3.png" Id="R15fd7548fa1543e5" /><Relationship Type="http://schemas.openxmlformats.org/officeDocument/2006/relationships/notesSlide" Target="/ppt/notesSlides/notesSlide3.xml" Id="R53a5e580e33b46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8ee6d4e60e4c43" /><Relationship Type="http://schemas.openxmlformats.org/officeDocument/2006/relationships/image" Target="/ppt/media/image4.png" Id="R8aeede70f5274b85" /><Relationship Type="http://schemas.openxmlformats.org/officeDocument/2006/relationships/notesSlide" Target="/ppt/notesSlides/notesSlide4.xml" Id="Rc018e7b18bf7486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24fac2d57b415f" /><Relationship Type="http://schemas.openxmlformats.org/officeDocument/2006/relationships/image" Target="/ppt/media/image5.png" Id="R9d3c7d031f074b9d" /><Relationship Type="http://schemas.openxmlformats.org/officeDocument/2006/relationships/notesSlide" Target="/ppt/notesSlides/notesSlide5.xml" Id="Rf1bef67ead7d48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a78a3bef3e4fca" /><Relationship Type="http://schemas.openxmlformats.org/officeDocument/2006/relationships/image" Target="/ppt/media/image6.png" Id="Rf0af7393304d41e6" /><Relationship Type="http://schemas.openxmlformats.org/officeDocument/2006/relationships/notesSlide" Target="/ppt/notesSlides/notesSlide6.xml" Id="Ra917434c3340449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b798d57774ead" /><Relationship Type="http://schemas.openxmlformats.org/officeDocument/2006/relationships/image" Target="/ppt/media/image7.png" Id="R977360237c84442e" /><Relationship Type="http://schemas.openxmlformats.org/officeDocument/2006/relationships/notesSlide" Target="/ppt/notesSlides/notesSlide7.xml" Id="R2c7a8b4bf1dc43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1596b1f51a4ee4" /><Relationship Type="http://schemas.openxmlformats.org/officeDocument/2006/relationships/image" Target="/ppt/media/image8.png" Id="Rff83517f20934401" /><Relationship Type="http://schemas.openxmlformats.org/officeDocument/2006/relationships/notesSlide" Target="/ppt/notesSlides/notesSlide8.xml" Id="Rac0870753f9a4e6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65acf9849d4065" /><Relationship Type="http://schemas.openxmlformats.org/officeDocument/2006/relationships/image" Target="/ppt/media/image9.png" Id="Rd7ebf705da0a4e20" /><Relationship Type="http://schemas.openxmlformats.org/officeDocument/2006/relationships/notesSlide" Target="/ppt/notesSlides/notesSlide9.xml" Id="R905bced43a534f4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2880a41af437c" /><Relationship Type="http://schemas.openxmlformats.org/officeDocument/2006/relationships/image" Target="/ppt/media/image10.png" Id="R69f493e706094db3" /><Relationship Type="http://schemas.openxmlformats.org/officeDocument/2006/relationships/notesSlide" Target="/ppt/notesSlides/notesSlide10.xml" Id="R1650dd9587ef4f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eec644deaf43dd" /><Relationship Type="http://schemas.openxmlformats.org/officeDocument/2006/relationships/image" Target="/ppt/media/image11.png" Id="Rbda7396b77224bce" /><Relationship Type="http://schemas.openxmlformats.org/officeDocument/2006/relationships/notesSlide" Target="/ppt/notesSlides/notesSlide11.xml" Id="R57e8c3a46d1541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00bfefba34c05" /><Relationship Type="http://schemas.openxmlformats.org/officeDocument/2006/relationships/image" Target="/ppt/media/image12.png" Id="Redfbde5e5e684196" /><Relationship Type="http://schemas.openxmlformats.org/officeDocument/2006/relationships/notesSlide" Target="/ppt/notesSlides/notesSlide12.xml" Id="Rd9d65156328d424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c42abecfa4403c" /><Relationship Type="http://schemas.openxmlformats.org/officeDocument/2006/relationships/image" Target="/ppt/media/image13.png" Id="R52cca0e327404a2b" /><Relationship Type="http://schemas.openxmlformats.org/officeDocument/2006/relationships/notesSlide" Target="/ppt/notesSlides/notesSlide13.xml" Id="R65335226e2a74a0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b058597b0874b47" /><Relationship Type="http://schemas.openxmlformats.org/officeDocument/2006/relationships/image" Target="/ppt/media/image14.png" Id="R0b9c90ed530649ec" /><Relationship Type="http://schemas.openxmlformats.org/officeDocument/2006/relationships/notesSlide" Target="/ppt/notesSlides/notesSlide14.xml" Id="Re78e32c096674ad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e1e83fb2134612" /><Relationship Type="http://schemas.openxmlformats.org/officeDocument/2006/relationships/image" Target="/ppt/media/image15.png" Id="R73f51fafac594a8e" /><Relationship Type="http://schemas.openxmlformats.org/officeDocument/2006/relationships/notesSlide" Target="/ppt/notesSlides/notesSlide15.xml" Id="Rad7522eb208a4ed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9407de8d64e82" /><Relationship Type="http://schemas.openxmlformats.org/officeDocument/2006/relationships/image" Target="/ppt/media/image16.png" Id="R25085c8768e44500" /><Relationship Type="http://schemas.openxmlformats.org/officeDocument/2006/relationships/notesSlide" Target="/ppt/notesSlides/notesSlide16.xml" Id="R74949e84d586499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b2cfa184c74cca" /><Relationship Type="http://schemas.openxmlformats.org/officeDocument/2006/relationships/image" Target="/ppt/media/image17.png" Id="R881f627ae7f54fcb" /><Relationship Type="http://schemas.openxmlformats.org/officeDocument/2006/relationships/notesSlide" Target="/ppt/notesSlides/notesSlide17.xml" Id="R0b24e1f165914b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f8aa1e6353420f" /><Relationship Type="http://schemas.openxmlformats.org/officeDocument/2006/relationships/image" Target="/ppt/media/image18.png" Id="Ra3cd9eb735e245e8" /><Relationship Type="http://schemas.openxmlformats.org/officeDocument/2006/relationships/notesSlide" Target="/ppt/notesSlides/notesSlide18.xml" Id="Rab20e73f0d0948ae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3e47feee942b7" /><Relationship Type="http://schemas.openxmlformats.org/officeDocument/2006/relationships/image" Target="/ppt/media/image19.png" Id="Rac4b560c42434899" /><Relationship Type="http://schemas.openxmlformats.org/officeDocument/2006/relationships/notesSlide" Target="/ppt/notesSlides/notesSlide19.xml" Id="Rb120e2ed6c104c5d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767489716490c" /><Relationship Type="http://schemas.openxmlformats.org/officeDocument/2006/relationships/image" Target="/ppt/media/image20.png" Id="R4db1d03c17134742" /><Relationship Type="http://schemas.openxmlformats.org/officeDocument/2006/relationships/notesSlide" Target="/ppt/notesSlides/notesSlide20.xml" Id="R4cb9c8f6a22e4b5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588faa1cf04037" /><Relationship Type="http://schemas.openxmlformats.org/officeDocument/2006/relationships/image" Target="/ppt/media/image21.png" Id="R191ff3cdaad149d5" /><Relationship Type="http://schemas.openxmlformats.org/officeDocument/2006/relationships/notesSlide" Target="/ppt/notesSlides/notesSlide21.xml" Id="Rcd064f23d4d541f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b2528430c24758" /><Relationship Type="http://schemas.openxmlformats.org/officeDocument/2006/relationships/image" Target="/ppt/media/image22.png" Id="R932b19b2b82141da" /><Relationship Type="http://schemas.openxmlformats.org/officeDocument/2006/relationships/notesSlide" Target="/ppt/notesSlides/notesSlide22.xml" Id="R09ca6fa857184b8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6891735daf4677" /><Relationship Type="http://schemas.openxmlformats.org/officeDocument/2006/relationships/image" Target="/ppt/media/image23.png" Id="R36cebd47b9784302" /><Relationship Type="http://schemas.openxmlformats.org/officeDocument/2006/relationships/notesSlide" Target="/ppt/notesSlides/notesSlide23.xml" Id="Rda500cece18e49a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6f51de02f436f" /><Relationship Type="http://schemas.openxmlformats.org/officeDocument/2006/relationships/image" Target="/ppt/media/image24.png" Id="R68cb9de92a7649c8" /><Relationship Type="http://schemas.openxmlformats.org/officeDocument/2006/relationships/notesSlide" Target="/ppt/notesSlides/notesSlide24.xml" Id="R2b4d982f3f7b4f9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07bb93d6804101" /><Relationship Type="http://schemas.openxmlformats.org/officeDocument/2006/relationships/image" Target="/ppt/media/image25.png" Id="R3fdf79055cea42f4" /><Relationship Type="http://schemas.openxmlformats.org/officeDocument/2006/relationships/notesSlide" Target="/ppt/notesSlides/notesSlide25.xml" Id="Rffcdd859d7df45f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e2382d89d4d3d" /><Relationship Type="http://schemas.openxmlformats.org/officeDocument/2006/relationships/image" Target="/ppt/media/image26.png" Id="R29653d2a206c4d7c" /><Relationship Type="http://schemas.openxmlformats.org/officeDocument/2006/relationships/notesSlide" Target="/ppt/notesSlides/notesSlide26.xml" Id="R69e221b824b54f3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abf1d203a3403a" /><Relationship Type="http://schemas.openxmlformats.org/officeDocument/2006/relationships/image" Target="/ppt/media/image27.png" Id="Re606ce0434b242ac" /><Relationship Type="http://schemas.openxmlformats.org/officeDocument/2006/relationships/notesSlide" Target="/ppt/notesSlides/notesSlide27.xml" Id="R78ac0661dee948d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93b93fcd74447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C6A658-8229-44B9-886E-1A8CA5B3B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8524" y="3076058"/>
            <a:ext cx="7287458" cy="95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galaxies great and small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A45E8C-9A0B-4F86-A73B-FFBD4DC84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25" y="4770107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9061D-4AEF-427D-B94C-AA3B510D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352" y="5366981"/>
            <a:ext cx="197060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13, 2017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A637F8-3763-4C01-ABE1-0D465FA4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DBE784-1B3D-4D63-A05F-E25D350D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974414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5b4fc55fd448c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1309FE-1947-4008-9F6F-591B0BF0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6714" y="1123328"/>
            <a:ext cx="527082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Populations of stars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68D2BA-0ADB-43D6-91AA-3B79231F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80921"/>
            <a:ext cx="783961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galaxies can be divided into two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2E3D8-BA80-49F1-8C1C-271718E5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50847"/>
            <a:ext cx="23671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populations: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CEDCF9-4235-4507-8C1B-FA10F7237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387" y="3319410"/>
            <a:ext cx="2568794" cy="6886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Population 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BCEF63-1086-4239-A9DF-6D96B276C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387" y="3890878"/>
            <a:ext cx="2688575" cy="6886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 Population II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9F8EF-0CA0-426E-86E6-D3ED90BFC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4461046"/>
            <a:ext cx="541255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 I stars are in the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204DDB-ABE5-495E-9D90-9D18A18EF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6446" y="4461046"/>
            <a:ext cx="116699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BF9626-8B7F-4B14-B974-E4288E10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5630" y="4461046"/>
            <a:ext cx="186141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DEE76B-A20D-4669-AB08-1058B54B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7" y="4931562"/>
            <a:ext cx="6353666" cy="6899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younger, bluer and contain more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133C94-0158-45CC-8ED8-D37DE214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1134" y="4930990"/>
            <a:ext cx="143057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785E31-02DE-464B-87BE-FBB7FC735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02475"/>
            <a:ext cx="553233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Population II stars are in the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A1CA6F-0A78-4EA8-A26B-4A169DFF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6462" y="5502475"/>
            <a:ext cx="9745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3FC6B2-D1CA-4707-833C-8DC29BFF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2939" y="5502475"/>
            <a:ext cx="87825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695202-4940-4FA9-B1BD-4F49A7F2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064" y="5502475"/>
            <a:ext cx="109453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85DAEE-F508-4958-B246-699E1840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9561" y="5502475"/>
            <a:ext cx="3981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C68872-99B1-48AD-A705-DB5BCBAD0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2" y="5970101"/>
            <a:ext cx="8028423" cy="6876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older, redder, and contain fewer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B5AEA8-ED8A-4912-96A4-663AEE0E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42" y="6433822"/>
            <a:ext cx="143057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metals.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8691EBD-0590-4C20-A49B-33D65C90A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952F63-0FE6-4C97-97E3-E2352E9CE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27</a:t>
            </a:r>
          </a:p>
        </p:txBody>
      </p:sp>
      <p:sp>
        <p:nvSpPr>
          <p:cNvPr id="2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877001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fd7548fa1543e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8E910-66C5-4B35-A39F-9139D44C0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7100" y="7416965"/>
            <a:ext cx="661412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E4F24-D4D7-4818-9B2B-128270DE7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8528" y="7498246"/>
            <a:ext cx="1134659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stars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B5299-D6DE-4BF0-9AC8-072514751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8102" y="593686"/>
            <a:ext cx="2297982" cy="391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the bulge &amp; halo: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B3AF1B-41A3-47AA-8D9F-B5B6ADE7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203" y="885798"/>
            <a:ext cx="2311378" cy="391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they red or blue?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7D84FD-8A0C-449B-BE29-36BB74CD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2370" y="1178714"/>
            <a:ext cx="5326599" cy="3902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 stars lower or higher mass than the disk?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7B6228-1063-44C5-A57B-831605564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276" y="1475087"/>
            <a:ext cx="5435074" cy="3902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9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the stars younger or older than the disk stars?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46A78-E49B-48D7-ACB6-A2DF872C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AB171-90BF-41CA-916F-A4712A8AE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27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634543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ede70f5274b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BD8AB8-1BC0-4344-8257-4F4F7ADB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7308" y="1125805"/>
            <a:ext cx="5308983" cy="9509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AFD672-E7D5-4F87-A16B-E6FCC29B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25128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01569E-D261-4010-952E-24552B25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51281"/>
            <a:ext cx="670934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86CF78-5EE6-479E-995E-617DDD6D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2642802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601AA-9C8E-4BEF-87A6-A51890811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1" y="2643082"/>
            <a:ext cx="5757367" cy="4330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diameter of 30 kpc and 1 kpc thick near the Sun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40F62A-0314-44C0-A9CB-52E690F1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2964539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90D5FB-3B60-463E-B510-40057AF1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1" y="2965231"/>
            <a:ext cx="7008685" cy="4323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Sun is located 8.5 kpc from center of Milky Way in the disk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8EE882-EDD1-471F-9D63-456EE539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3290502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7F7B7F-68B8-413A-8B79-65803D4A2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3290502"/>
            <a:ext cx="331000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active star formation in disk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59553A-6664-4401-886D-D67B0045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1441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6D8F05-77DF-44BE-8A2B-361683B3C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14417"/>
            <a:ext cx="87003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2C33E3-B5AB-451E-B588-4B293B2C7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4005939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1B49E4-D2AD-4686-8C21-10754D7F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006315"/>
            <a:ext cx="6236467" cy="4328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diameter of 4 kpc located at the center of the galaxy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9DAADB-4123-455A-8C28-C4D2E7FC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4327670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005471-FC0F-4AA3-A3B5-0626877EA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327670"/>
            <a:ext cx="2969428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spherical than disk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FBC8D-A92F-41F9-B485-C1CEFAD8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4653639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14C1E9-8A17-4EBE-BBF8-753B98C0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4653793"/>
            <a:ext cx="6045586" cy="4332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 at the center (in nucleus)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1E17FA-E9B5-4F25-A486-97C8C4EB2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977549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64678-4620-41C4-B157-3DDAFA58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977549"/>
            <a:ext cx="54387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Bar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5EE5269-DF96-4D8A-99AE-120EE3746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6" y="5369070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4B6606-ADDB-4B66-9058-F14EE1A3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2" y="5369495"/>
            <a:ext cx="7468368" cy="4327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seen in stars and dust, extends 6 kpc through center of galaxy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9EB94B-8E95-4596-AA06-BF35D8CC9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569301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2959CF-B623-448B-8B61-5DA6DA5F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5693010"/>
            <a:ext cx="70776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59AF47-099E-484F-8A64-459BCB4F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3" y="6080270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F656EE-6412-462B-A63A-EFF9E8591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19" y="6081122"/>
            <a:ext cx="7110277" cy="4320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100s of kpc in diameter, only contains 2% of stars in galaxy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10513CE-503A-4DE6-A206-014B14811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13" y="6406238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BC33716-80B4-462E-BECF-5C569AE94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19" y="6406238"/>
            <a:ext cx="367725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includes globular clusters and 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87994C-62B6-4439-A0E1-EAA1E51EE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6444" y="6406238"/>
            <a:ext cx="140251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B33DCC-5064-467A-8676-037DCC0C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0859" y="6406238"/>
            <a:ext cx="245381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composing most of 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11C489-A0CA-4908-A599-F052C1F12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19" y="6666000"/>
            <a:ext cx="2345635" cy="430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of galaxy.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5ED627D-88F6-4361-B619-CC18E023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6D0C000-000C-4013-87AA-D2C00290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27</a:t>
            </a:r>
          </a:p>
        </p:txBody>
      </p:sp>
      <p:sp>
        <p:nvSpPr>
          <p:cNvPr id="3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890588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3c7d031f074b9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B3ED684-5C2C-4465-8EA1-E38391CB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688" y="1125287"/>
            <a:ext cx="7992389" cy="951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Ages of stars in the Milky 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F729B8-228A-4E18-9929-7D414A8CE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29689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EB2D57-0C1E-431A-92C9-9B439DCC1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0637"/>
            <a:ext cx="7480373" cy="6080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 stars:  0-10 billion years old, metal-rich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1997D-58EE-430D-BB80-DAB4CCF7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82658"/>
            <a:ext cx="229492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(Population I)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AB6B8E-DB6A-4403-9B4B-BC52A1483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90" y="3318045"/>
            <a:ext cx="21933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8260FCC-F85E-47B9-9C87-D0B4AF189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4" y="3318591"/>
            <a:ext cx="6599465" cy="5206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 arms have stars &lt; 100 million years old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E9B564-9653-44FB-B189-F5D39BA4E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90" y="3783708"/>
            <a:ext cx="21933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787483-44C7-479D-96B9-7DCC1924E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4" y="3784422"/>
            <a:ext cx="7256231" cy="520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the rest of the disk, 0.2-10 billion years old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0F7CE4-4183-444E-970C-D4CAF4411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2642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5D5FA6-5550-4805-AB70-BB67628D6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4265215"/>
            <a:ext cx="7862309" cy="608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Bulge stars:  2-10 billion years old, metal-poor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5A86E-AC9D-489D-9ABB-4400AE7EF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4717291"/>
            <a:ext cx="239962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(Population II)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16E877-86D3-41D2-93C3-68C4101D9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263406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0DEB37-86C4-4767-A36D-91BC1A91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264382"/>
            <a:ext cx="7839361" cy="607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Halo stars:  10-13 billion years old, very metal-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9BFF17-A370-4738-8185-A4609841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7" y="5716580"/>
            <a:ext cx="3263803" cy="6092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poor (Population II)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995B4F-1674-48C2-9D49-B2F51AC7E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8B1774-F579-4841-BD46-9EAA06486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27</a:t>
            </a:r>
          </a:p>
        </p:txBody>
      </p:sp>
      <p:sp>
        <p:nvSpPr>
          <p:cNvPr id="2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6206913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f7393304d41e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E42888-F175-4CC9-AB6A-BBF150A0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519" y="3756853"/>
            <a:ext cx="8050487" cy="9544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 what about other galaxies?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DF9320-91F9-4575-A7E9-43A7D69C9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76BE7-67DC-425F-8BBE-12F9455A8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27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3999174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7360237c84442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B09A69-2BCC-4AFA-A853-F340A53B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7849" y="3493972"/>
            <a:ext cx="7595005" cy="9516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 is just one of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8027F1-E142-4C67-B2C2-6146DF256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087" y="4203302"/>
            <a:ext cx="5465713" cy="95488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billions of galaxies…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5C987C-0AD7-4E07-AAF6-00FE92BED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BA12BF-1196-43CD-AE3F-DB9891AB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27</a:t>
            </a:r>
          </a:p>
        </p:txBody>
      </p:sp>
      <p:sp>
        <p:nvSpPr>
          <p:cNvPr id="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429163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83517f2093440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7CD349-9261-4E14-8DE9-9D21E8B1E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3690" y="1123328"/>
            <a:ext cx="4275320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Galaxy Zoo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02BA85-3931-4D63-8B83-BBD74C35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798" y="7102901"/>
            <a:ext cx="7035066" cy="4311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2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Galaxies come in all shapes and sizes.  To make sense of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99AAE0-AE71-4B9D-B036-4DF1C176D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45" y="7427763"/>
            <a:ext cx="7290871" cy="43299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them, astronomers classify them based on their appearance.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272437-3E5A-45F0-AF36-709162C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BE5D9A-55B5-4D6E-A114-F67958FF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27</a:t>
            </a:r>
          </a:p>
        </p:txBody>
      </p:sp>
      <p:sp>
        <p:nvSpPr>
          <p:cNvPr id="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115805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ebf705da0a4e2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0F79E-F1CC-484B-8DC9-0B418138F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7158" y="1123328"/>
            <a:ext cx="496933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Classifying objects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D5A78E-EB19-4F56-A564-C7597464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018"/>
            <a:ext cx="8232371" cy="6073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Before we try classifying galaxies, let’s start with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26F778-1E11-45A1-B45B-EBB261900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83170"/>
            <a:ext cx="5354354" cy="6087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something more down-to-Earth: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41E548-9F2F-4E92-A593-69C071FDA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241" y="3875571"/>
            <a:ext cx="8057320" cy="608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Imagine that you are an alien visiting Earth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4CC177-F0C4-4CE3-ABB9-2DAA107DE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698" y="4328974"/>
            <a:ext cx="8174975" cy="6076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want to learn about the human lifecycle, but you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681DF-7529-425F-853C-4DD38B14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569" y="4786402"/>
            <a:ext cx="7811265" cy="6073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have 10 minutes to do so.  So you take a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D4F039-F184-4CF0-8CD2-99D67593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2099" y="5239195"/>
            <a:ext cx="5323481" cy="6075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bunch of pictures to sort it out. 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1A5293-A690-48BA-823C-4FA23E11D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6976" y="5785200"/>
            <a:ext cx="7856290" cy="6078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conclusions can you divine just from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8526A3-001E-4AF3-93C8-BD84D1D72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144" y="6237970"/>
            <a:ext cx="5978738" cy="60808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looking at the following photos?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29FD19-0094-4924-B31A-FE335FAF5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620E92-83A4-4FD5-9F91-7F73DA92B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27</a:t>
            </a:r>
          </a:p>
        </p:txBody>
      </p:sp>
      <p:sp>
        <p:nvSpPr>
          <p:cNvPr id="15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6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7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48816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493e706094db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A04A04-7B4D-4059-8109-EFE1A613F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509901-58C8-4FF2-A3EC-8FA29319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27</a:t>
            </a:r>
          </a:p>
        </p:txBody>
      </p:sp>
      <p:sp>
        <p:nvSpPr>
          <p:cNvPr id="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9981231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a7396b77224bc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3A8E297-73AA-43C9-89DF-48469E83B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2477" y="1123356"/>
            <a:ext cx="5399281" cy="95499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Classifying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5FE76E-3E27-4FFF-A97D-B1B4C5767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072" y="2459952"/>
            <a:ext cx="838947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did you notice about the galaxies you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AFEDE1-6D13-431B-AAFD-8A041DAB8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5227" y="2980652"/>
            <a:ext cx="20310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looked at?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DECB3-6373-49D5-842B-CD3C1CAE5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087" y="3603007"/>
            <a:ext cx="81500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properties of galaxies can we see 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493466-D43C-4BB8-AE80-3D8672D93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919" y="4123652"/>
            <a:ext cx="81302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following slide that would be helpful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C18DB3-8116-4513-AD52-91F0FEBD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2528" y="4644381"/>
            <a:ext cx="27771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classify them?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ABD2FB-4A88-4817-AE78-CD3934E6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261" y="5266707"/>
            <a:ext cx="41414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properties are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50792-3750-448D-9CD2-72CAFAC2B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222" y="5266707"/>
            <a:ext cx="15035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intrinsic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05C3B8-9AF1-4324-A396-979B369FE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2670" y="5266707"/>
            <a:ext cx="296740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and which are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07974D-1940-4903-9990-B3C1E14D8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234" y="5783120"/>
            <a:ext cx="162289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extrinsic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4DAF60-1B4B-4E78-B586-6046EA9F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9025" y="5783120"/>
            <a:ext cx="284804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to the galaxy?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944838-D4C2-49ED-9043-0556A0E26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4849D-3B8C-462F-8010-E88AEE1F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27</a:t>
            </a:r>
          </a:p>
        </p:txBody>
      </p:sp>
      <p:sp>
        <p:nvSpPr>
          <p:cNvPr id="1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9361384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fbde5e5e68419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031A84-2E28-45FC-B84E-82D33E0C7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6636337"/>
            <a:ext cx="877336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Hubble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BBD9A9-F71B-47B5-BBB3-9B21B8B2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6928437"/>
            <a:ext cx="620261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Ultra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F54DB0-10FA-44A8-BFA7-D50F852D1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7220537"/>
            <a:ext cx="688027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Deep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6198B-C9EF-46AA-B4A8-12BB8446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937" y="7512637"/>
            <a:ext cx="567026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Field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D6B80B-D055-429D-B2B5-794021B5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37836B-79D7-4F3D-8BA3-E691AA3A9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27</a:t>
            </a:r>
          </a:p>
        </p:txBody>
      </p:sp>
      <p:sp>
        <p:nvSpPr>
          <p:cNvPr id="10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1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2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270012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ca0e327404a2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B23D4B-CCB2-4874-8E4B-9E153826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6053" y="1123328"/>
            <a:ext cx="477033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Properties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B15ED-3949-43B7-AFBB-1B95FE38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2329689"/>
            <a:ext cx="14515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Intrinsic: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C37D68-0490-4A0C-B888-573DC3A0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2875764"/>
            <a:ext cx="18525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4B5952-69EA-43FF-8171-451F15118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3421864"/>
            <a:ext cx="2230442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Physical size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5A236-9704-4147-A0A6-5821814E4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3963771"/>
            <a:ext cx="20239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morphology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44A55B-C872-451A-80D8-51C013AB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4509802"/>
            <a:ext cx="8616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CDD5DD-271D-45C8-BEB0-9678668A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5055971"/>
            <a:ext cx="94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CE9E80-6648-4916-AE3F-1BC5051CF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071" y="5602027"/>
            <a:ext cx="13043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39EDB0-25F3-43DF-8FA5-1832B34D3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8031" y="2329694"/>
            <a:ext cx="1576539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Extrinsic: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9ADC88-8E31-402A-9B03-1613BC93C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2875768"/>
            <a:ext cx="339387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brightness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6CCBFC-254B-4F57-AAD8-E1FE53BF6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3421868"/>
            <a:ext cx="231656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size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87DADF-429B-4479-AAD5-F6E4A224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3963776"/>
            <a:ext cx="145130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9D3FDD-CFD2-4473-BAB1-68986FD2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4509806"/>
            <a:ext cx="21282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environment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7973D-5E73-474E-AE23-F7F885196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5055976"/>
            <a:ext cx="107346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color?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7385FE-ECEB-42A3-8C40-66B2CE9F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5602032"/>
            <a:ext cx="2234568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morphology?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B98D13F-91B0-4B7C-A2AB-5BA96E80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474" y="6148132"/>
            <a:ext cx="130439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others?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82ECB7-760D-4A18-81D4-E40B26DB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0F44C3-0A7D-4D83-A23D-A6868002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27</a:t>
            </a:r>
          </a:p>
        </p:txBody>
      </p:sp>
      <p:sp>
        <p:nvSpPr>
          <p:cNvPr id="2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281913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9c90ed530649e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1C11D2-F3B5-4F4A-9D1E-B75C1022E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3922" y="939600"/>
            <a:ext cx="5236577" cy="9494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7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7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Hubble Tuning Fork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10FB9-F1D0-4A17-91E0-F1B4116F6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9456" y="3141295"/>
            <a:ext cx="268606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Irr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31E199-8A3E-4D5D-9F8A-CB18B0B2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648" y="6797383"/>
            <a:ext cx="139412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79187B-7515-4828-AA60-0B3E7CB76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803" y="6797383"/>
            <a:ext cx="1032552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224444-FB22-4305-905A-F65B0E86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5666" y="6797383"/>
            <a:ext cx="141113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A4A2D7-CF16-45DF-B428-3AA623209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647710-16B5-49D4-A7F8-7769E62C1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27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6238756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f51fafac594a8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21B82-7C37-4BF6-960C-51EAAD13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847" y="911754"/>
            <a:ext cx="4702276" cy="95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Elliptical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D5E527-8450-4D91-9A4A-842CEA638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47EE70-B94D-4E9B-9F91-1589C81F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27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9491169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085c8768e4450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AD383F-9519-4682-9D84-D53A8716F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847" y="830474"/>
            <a:ext cx="4702276" cy="95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DB0F99-6F9E-4459-8FEB-4AECAD2B5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87634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5B33C-0460-4566-8F2E-12B58C42E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51" y="4687634"/>
            <a:ext cx="753780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Spherical, Football-shaped (oblong), or flattened football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97B532-411D-42D9-872A-1FA977B66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59" y="5047491"/>
            <a:ext cx="371151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(triaxial) collections of stars.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DC9209-AEEA-44CE-9CE0-856859AC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540306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A18196-6788-493D-95BE-331EC4979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59" y="5403065"/>
            <a:ext cx="788434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Very little gas or dust.  Many have lots of X-ray emitting hot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2D6564-46B5-4DAA-B291-736395C1C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67" y="5758665"/>
            <a:ext cx="291698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gas.  Mostly old stars.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757DC0-0622-4140-A70A-3F6EDB08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2" y="6118526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9C7E35-CA19-4B2D-A2C7-6FC4036C5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66" y="6118526"/>
            <a:ext cx="394152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reside in galaxy clusters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570BC5-740E-4EDA-9744-9E064215D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2" y="647410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819549-096F-42F9-BD90-C1DB6EB25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66" y="6474101"/>
            <a:ext cx="235217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≥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83615C-CE95-40C2-839B-6E026BC1B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3507" y="6478653"/>
            <a:ext cx="258595" cy="31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05ACC1-890B-47BE-A944-A8C89AB83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089" y="6474101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48A585-FF36-4F1A-9B89-752498128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9237" y="6474101"/>
            <a:ext cx="157606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Mass ≥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C36803-21D1-4E9A-B2F9-1129ED72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7499" y="6478653"/>
            <a:ext cx="258596" cy="31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BA5B31-257A-4080-9D54-49A87D613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0082" y="6474101"/>
            <a:ext cx="28494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D86D0AE-5D06-489A-A573-63EBC8BA6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6058" y="6474101"/>
            <a:ext cx="303284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These represent the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BACA70-C0B7-4A12-94DD-E4439F0F3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71" y="6829701"/>
            <a:ext cx="653827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massive, luminous galaxies in the Universe.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87A419-F1B8-48BE-95CB-802163FE9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36" y="7189562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56FF2A-3EAF-40C1-8A47-F19471B7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671" y="7189562"/>
            <a:ext cx="268775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However, some are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1AB637B-A96B-4783-BE17-68C194A89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7064" y="7189562"/>
            <a:ext cx="99762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dwarfs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4A554-5ED1-4FAB-92CE-590D2A5DE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7209" y="7189562"/>
            <a:ext cx="426320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(much smaller than Milky Way). 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A0B2BA-1B9C-4710-B016-ED077E491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35A56-44F5-4C25-A029-897166BBB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27</a:t>
            </a:r>
          </a:p>
        </p:txBody>
      </p:sp>
      <p:sp>
        <p:nvSpPr>
          <p:cNvPr id="2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4866652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1f627ae7f54fc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EE4FAE-0E74-4423-8793-6F9543FC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1123328"/>
            <a:ext cx="404210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Spiral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77C621-BF00-4637-AAE5-27F6ACBEF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0A6FC8-73A7-4A08-841C-8A2AAAA3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27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617657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cd9eb735e245e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DB768D-0A19-47C0-93AF-D2F3F1446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0327" y="992949"/>
            <a:ext cx="4042104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24564-F2B7-4332-8964-67D679125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7916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4D2656-569E-41A9-B91E-6C6FBD8D5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679163"/>
            <a:ext cx="631395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Rotating, flattened disks of stars, gas, and dust.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A65652-BFC6-4E34-ABC1-5EB3E8C93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1096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FF1BB-180D-4B24-A751-4762B3A73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110963"/>
            <a:ext cx="528717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Have spiral arms and, sometimes, bars.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0833A-C6D1-42D6-95FC-ED3051F57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538570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41EB1B-D140-4E7E-B860-6D77328A3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96" y="5538570"/>
            <a:ext cx="775500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Also have bulges (some small) and halos (not visible here)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0805B6-0C4F-4892-B5BF-86848AF22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96606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4F8B9-4779-494E-B2DD-C2F5CA7BA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966069"/>
            <a:ext cx="806635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 at different angles from edge-on (left) to face-on (right). 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732A8E-FA4A-4472-ACE4-68882ECD0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393702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0381A8-34C1-4AF2-AC14-4CEF0A3C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393702"/>
            <a:ext cx="383071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Contain young and old stars.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F582FA-3550-4304-8C76-1D0A528D5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82120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9E8E4B-1E23-465B-B26C-7275DE151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821201"/>
            <a:ext cx="606311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and luminosities similar to Milky Way: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B37D8F-8775-494B-B6AC-8193A299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7243858"/>
            <a:ext cx="785469" cy="433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~ 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6AFF0B-D66C-4897-A205-9CEF8C550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739" y="7248483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34665B-D1E3-4559-ACA2-3EB6F38B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5716" y="7243605"/>
            <a:ext cx="56414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0D1619-35FC-472C-99BE-6F24B7A5B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1563" y="7250343"/>
            <a:ext cx="225721" cy="288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7E589C-2D3E-4B91-A7A0-8711B64D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2082" y="7243605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216773-F700-4D4F-8062-BFD57EC48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3118" y="7243605"/>
            <a:ext cx="1018743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 ~ 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DFDBE4-7C7D-4D84-8042-AD0CD4DC8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3548" y="7248483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D4B1F50-319E-49FC-B797-25C4DACD9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7525" y="7243605"/>
            <a:ext cx="564140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97A65E-339D-4A3E-8802-E2876AA2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3369" y="7250342"/>
            <a:ext cx="225721" cy="2881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1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1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38AF75-BF46-4853-A4B2-B4E0AD5A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893" y="7243605"/>
            <a:ext cx="26378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7A8FC3-0B5A-46A1-8EBB-5D6B199A3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A705D3-1277-4CE2-9772-9260623F9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27</a:t>
            </a:r>
          </a:p>
        </p:txBody>
      </p:sp>
      <p:sp>
        <p:nvSpPr>
          <p:cNvPr id="2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548411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4b560c4243489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C51835-DB70-4249-AAE2-3F9C9DE8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2944" y="1123328"/>
            <a:ext cx="4737793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F21E8E-CEC5-4B2A-9E6D-8018235D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4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D686D-F25D-4F80-B9AF-1531EAE53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1774"/>
            <a:ext cx="3394698" cy="5214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Fat-disks, but no spiral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A8CA00-7831-43E0-9706-61022226E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721210"/>
            <a:ext cx="296136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structure.  No bulge.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45B05E-6584-475A-9AF4-9612A9345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186878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6BF6B7-C466-4750-BF32-08ACC6F5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187081"/>
            <a:ext cx="3990771" cy="521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Dominated by young stars,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49C87B-93E9-4D7A-9FD4-5EE3511DD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578557"/>
            <a:ext cx="4270895" cy="5178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some old stars, but not many.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1AA225-885D-4F39-8EEB-3C5A959B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04201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EEF9C4-0C6F-4821-8600-883770560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042435"/>
            <a:ext cx="3300407" cy="5208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Often have lots of star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46E73D-66D2-4CF8-8D8E-A70120A25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431449"/>
            <a:ext cx="372191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(middle image).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870E33-82F5-46C2-BE09-5597E4329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90131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05B9F2-D03F-4933-88AD-1426940A7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3" y="4901521"/>
            <a:ext cx="4425058" cy="521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Along with spirals, they reside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356E1B-AAEF-496C-8E35-D80820918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290843"/>
            <a:ext cx="283912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all environments.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3967013-93E4-4ACB-B7DE-513571B6B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75651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A1C370-F111-430B-93C7-A71EF280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756516"/>
            <a:ext cx="3776851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and masses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A0F168-9533-4B07-A972-2E2AB3E9D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145950"/>
            <a:ext cx="265821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lower than spirals: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5EA85-DAE8-4ABD-8050-A13D06C0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448" y="6600962"/>
            <a:ext cx="77709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 ≤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DEE9EA3-48B5-4874-9B2B-1E53568B8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3285" y="6605844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A6525B-EB59-4ADC-8C74-5CB6D8D1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7395" y="6600962"/>
            <a:ext cx="18873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FF8AD2-AAA5-45A2-960B-2038E9EB4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8430" y="6600962"/>
            <a:ext cx="1010230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M ≤ 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DC25FC-99AA-46A5-AE1E-4F2572A31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0407" y="6605844"/>
            <a:ext cx="139310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1074FB-A4C5-42DB-B243-2D7D4E99A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4517" y="6600962"/>
            <a:ext cx="26378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1D4E-8BA4-4562-8A42-08ABA618E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75E6E5-0F83-4657-AAA1-E57A9C85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27</a:t>
            </a:r>
          </a:p>
        </p:txBody>
      </p:sp>
      <p:sp>
        <p:nvSpPr>
          <p:cNvPr id="2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12816994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1d03c1713474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3FFE87-DAB2-4BC4-88F9-84FBE154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0187" y="1123328"/>
            <a:ext cx="394296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00F2D3-B332-4D9F-8547-0BD95B89B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95982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6B3BF0-875D-4888-8191-145C42CEB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2959825"/>
            <a:ext cx="577996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that are much, much smaller than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6609BE-1699-40ED-9E24-1BF7467CA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386" y="2959825"/>
            <a:ext cx="6832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giant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34C3F-0D13-4CDB-BB29-6409D63FF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3503" y="2959825"/>
            <a:ext cx="129561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galaxies.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832D3E-C2A1-4198-878F-A2F1E4676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339162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83C9AE-067C-4103-AF4E-23132DEEC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8" y="3391625"/>
            <a:ext cx="342846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Luminosities as low as 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96A2F9-0B3F-43CD-870D-53CE33CE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365" y="3396181"/>
            <a:ext cx="148726" cy="3183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3296BC-0CB6-4BC8-A603-6523EEB2B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8067" y="3391625"/>
            <a:ext cx="2028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AF1DE4-34F4-488E-BD87-D5A45B4EE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1007" y="3463568"/>
            <a:ext cx="334919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(fainter than some stars)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07F4F1-94B2-4678-B381-9216300A1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3819232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B3C76FF-6EA0-4898-836C-B23738471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3819232"/>
            <a:ext cx="405959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as low as 100-1000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46E9AA-A230-453E-95E7-774AC092F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424673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E0F8EC-C41D-4941-BD07-79B7ED220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246731"/>
            <a:ext cx="702831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Sizes of ~ 1 kpc, but some as low as 10’s of parsecs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48B56-866E-41A3-A0BA-A8D3B088B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602421"/>
            <a:ext cx="750581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(compared to 10-100 kpc for giant spirals and ellipticals)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2A2D9C-0B0E-4A96-9CC1-EADED9A9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029963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A829B-21AA-4DD5-B0ED-7610C85D2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029963"/>
            <a:ext cx="344813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Found in all environments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4E6BA-A0FA-4CA2-9F04-AF02EC8C5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461724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B3B769-19F8-46E1-982C-1E43BFCE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461724"/>
            <a:ext cx="735899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 may have some gas and dust and star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EF853FF-7188-44C1-A264-9E601FBF5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817324"/>
            <a:ext cx="204309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formation (left).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504AA5-76E5-4007-8B6A-424045E6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6244937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32298-9CB3-46C0-A44D-910D73D3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244937"/>
            <a:ext cx="776600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spheroidals (or ellipticals) typically have no ongoing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A31170-E87E-41EE-BD77-395572414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604748"/>
            <a:ext cx="662887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 formation, and have fewer young stars (right).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EE8AFCA-24DD-4C5C-9F3F-CCFFD085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DC846F-2347-409C-9B11-91AFFDD0D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27</a:t>
            </a:r>
          </a:p>
        </p:txBody>
      </p:sp>
      <p:sp>
        <p:nvSpPr>
          <p:cNvPr id="29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30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1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2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5269074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91ff3cdaad149d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DE3B2E-7A18-435F-B6DD-D97896B34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4597" y="992963"/>
            <a:ext cx="736794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is correctly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249941-C54B-43FC-9CEB-3E8EFFDB0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288" y="1577163"/>
            <a:ext cx="817955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ordered by increasing average mass?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E7B59A-4289-4FC5-8F0A-41CF9E40B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4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B8CBEC-BE28-462F-A609-B6FBDD0C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2656547"/>
            <a:ext cx="7085647" cy="6067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elliptical, spiral, irregular, dwarf spheroidal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A41F5-DDDD-499C-9BA6-981D9172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7AA87A-A842-4044-85A4-FFE10882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3202499"/>
            <a:ext cx="7088021" cy="60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spheroidal, elliptical, irregular, spiral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F11B5E-53B6-4D4B-8081-BDFE518C7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F61787-869F-4F64-84B2-95E06C3B1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3750060"/>
            <a:ext cx="6702175" cy="6044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irregular, spiral, irregular, elliptical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9B5ACA-A083-4D8C-93C0-8F5749EF9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CADD30-7116-4198-B6C6-9009E899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8" y="4290507"/>
            <a:ext cx="7088020" cy="6069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spheroidal, irregular, spiral, elliptical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C85EB9-108D-441C-87E6-AC28CAE10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A50B3D-9D81-490A-89A0-39997B298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27</a:t>
            </a:r>
          </a:p>
        </p:txBody>
      </p:sp>
      <p:sp>
        <p:nvSpPr>
          <p:cNvPr id="16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7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8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9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27545628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2b19b2b82141d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0B1C1E1-35F5-41F6-A825-B15A3DE35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086" y="992963"/>
            <a:ext cx="796309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would appear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4BA86-DA12-4DC0-9A91-296CD34D3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206" y="1577163"/>
            <a:ext cx="301351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most red?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59BB48-7D36-4942-BCA1-59C4856E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24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08431E-631B-4301-8904-72A365BC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2654812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F8B0DF-FFEA-4E48-AD04-42B984CBB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2F30FE-5ED9-461C-BD33-8755211F9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3200887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815935-9D9C-428D-9967-881B4BDA8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CA26CF-971F-45EB-A5D4-D77C2BBB4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3746987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569A10-13EB-4D58-A5D7-638B88DD2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DE7469-BBBC-41EA-B58D-F12C0CEB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4288894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F1FD10-2A7A-47BA-A1F2-6CEDAFD14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0" y="4834924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CDFD29-1989-443A-A45E-9DBB1BC82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298" y="4835198"/>
            <a:ext cx="3792023" cy="6091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all the same.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02BA49-8006-4C28-B741-A142A1C1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43F732-3307-4FD1-BD23-D2BAA259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27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3826332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cebd47b978430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C679484-5552-400C-BA2F-126BA65D7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038" y="992963"/>
            <a:ext cx="801708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typically lacks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747077-CE1D-459D-8D9D-86FB80FD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862" y="1577163"/>
            <a:ext cx="282419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young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78C9CB-8220-45C9-9F1D-BFCB9A55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28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118DFC-1C21-407E-AD47-D557A3A1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2654812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FEFC5E-3F78-4242-85B0-E0CB1941D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7D4238-03EC-4DF6-8524-40CD4474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200887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26ED74-7D6F-4BBB-A803-967C1F6B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3C8145-9626-4BCE-B8D1-11B1DC9C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3746987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D9BEF6-B4A6-4952-A6D6-731226A56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826923-04A9-4211-8568-6B13D536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4288894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4F653E-6637-4AB2-80C3-B40BFBDD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4834924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6B9C82-A2D1-44DA-B336-09CF5772E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1" y="4835028"/>
            <a:ext cx="3138376" cy="6094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None of the above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00D3CD-45E6-4200-9804-774B8F77B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72DAF2-1560-48DC-B7AD-E39D2C53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27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418062741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cb9de92a7649c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92663F-D5CA-40AC-82E2-5F373E5F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368" y="992963"/>
            <a:ext cx="763852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contains old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CDE6E0-0A49-4BC4-8004-E9110F476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123" y="1577163"/>
            <a:ext cx="136360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2A6B17-06FE-4F25-9BB7-C1C4CE2BE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8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629057-58AF-487A-9699-99B7D16D6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2654812"/>
            <a:ext cx="164474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Irregulars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B9D2B5-ADC5-4B3E-80A4-F4012CF9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AD4A20-A460-4A65-9B0B-00BF61816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3200887"/>
            <a:ext cx="119961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Spirals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B42B89-F088-4038-A542-D3672846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C12AA5-A183-48B4-A705-60AE6A5EB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3746987"/>
            <a:ext cx="1620774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5B44BC-5609-4A85-8919-4E12C9E1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4288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AC50CB-ECB5-4F5D-ABAB-1C0128C2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4288894"/>
            <a:ext cx="271823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915042-DE67-4FF1-99D2-B4DC4858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4" y="4834924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0AB970-8104-4AE1-A404-7BC70664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2" y="4835579"/>
            <a:ext cx="5056261" cy="6085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all contain very old stars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004908-F328-4F2D-BB69-61F17DAA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1B795A-3163-4585-BE36-2DCD8EC61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27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836387030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df79055cea42f4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064268-1F0A-41EC-A147-2FA7BE34F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468" y="3919042"/>
            <a:ext cx="809839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which of the galaxies above would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63291-7B71-4016-9A80-E4B98509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562" y="4503242"/>
            <a:ext cx="785507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expect to see bright, blue stars?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10BFD1-8614-4A40-9BF4-C7F0A313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2" y="5223600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D51CD1-5687-4A29-8CEC-633AB0575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5226419"/>
            <a:ext cx="2357836" cy="60490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galaxy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6D3B805-1F46-4033-85F2-2086D0EB6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5769671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B00E3-8259-4C55-9C6E-FA0659519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5769671"/>
            <a:ext cx="237897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Only galaxy 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EBBA6B-36A3-4F99-B215-A1985C19D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6315771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B94C1C-1B8E-4DF0-818B-B6DFB8A67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6315771"/>
            <a:ext cx="231770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Both galaxies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0FC6E22-004F-4F36-B5DC-C5286227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6857678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7EC5A6-35BE-4F4A-8270-8CFA9AB8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5" y="6857678"/>
            <a:ext cx="246473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Neither galaxy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63EAC-9EC5-4627-98C4-E74FC3504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014" y="946735"/>
            <a:ext cx="215375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C2743-7E58-40E7-B0B9-0A0B6F4C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1858" y="946735"/>
            <a:ext cx="215375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C9D09C-5006-447C-BACA-93835FE7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89D0A6-845D-4746-919F-C6019936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27</a:t>
            </a:r>
          </a:p>
        </p:txBody>
      </p:sp>
      <p:sp>
        <p:nvSpPr>
          <p:cNvPr id="1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9881090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53d2a206c4d7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320CB68-E757-4D11-B9CC-11B05AE29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745" y="992963"/>
            <a:ext cx="777367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Why are the arms of spiral galaxies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F06E97C-6E9D-440C-9BBD-7AE79B480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1669" y="1577163"/>
            <a:ext cx="4798590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typically blue in color?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B0E73-7627-4128-BD46-2195A7BC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31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AFF3E-01C4-4BEF-9346-5BD03767E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2655675"/>
            <a:ext cx="7589005" cy="6081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are usually moving towards us and are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E986C2-C576-46C7-AF05-E7D0140F8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3108580"/>
            <a:ext cx="6154115" cy="60826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Doppler shifted to blue wavelengths.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F287CA-270C-4D59-A8DB-5A5A7E8B2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53896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6C6937-31CF-441A-A5F6-662BE1223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3654970"/>
            <a:ext cx="7627097" cy="607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gas and dust in the arms filter out all but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DA33A3-C187-493E-91A9-829E5339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107476"/>
            <a:ext cx="6071125" cy="608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blue light from stars in the arms.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9F9581-83AE-4902-9891-FDF30461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652894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07E31A-E727-4C02-A4DE-02AF5B2BA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4653664"/>
            <a:ext cx="8097746" cy="6083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are forming in the arms, so there are high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4CEF6E-C7CD-48C1-9AD2-85887778D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5111177"/>
            <a:ext cx="5620931" cy="6078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mass, hot, blue stars in the arms.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F81A4-91F5-44BA-A040-8064EDB43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65202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6790C0-B51F-4118-9230-8759F5A9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118" y="5653000"/>
            <a:ext cx="7818274" cy="607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Almost all the stars are in the arms of the disk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2E5CBD-E992-44BF-9F4D-C5B9FA4DC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6110394"/>
            <a:ext cx="7476885" cy="60763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galaxy and their light makes the arms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FF665-0804-4516-A618-CFDF8D77D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4" y="6562181"/>
            <a:ext cx="215021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appear blue.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AE1359-D8D6-421C-84C6-ABA02748F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7A6C514-7069-45B7-BEBD-554CD577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27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6184031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606ce0434b242a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3967F0-3594-4272-93FD-DEF299B19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390" y="994043"/>
            <a:ext cx="8342435" cy="7771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2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2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galaxy that appears to be populated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4486CB-7CC7-44B5-87C2-D5B663C1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5990" y="1577163"/>
            <a:ext cx="5609845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by mostly red stars, likely: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89C559-AD52-4D68-A93C-50D933F36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41" y="2654812"/>
            <a:ext cx="39608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BC649D-D790-4E47-A691-421DC713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2657447"/>
            <a:ext cx="5786773" cy="6052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7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7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had blue stars in the galaxy.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D554E-37D9-4786-8C57-2AAB3A1A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320088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267550-94D5-408C-9A85-575DA4BFC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3201839"/>
            <a:ext cx="6975579" cy="6080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had blue stars that are no longer present.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993B65-467D-4913-9C40-F7DA6F805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3746987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03D623-DE06-4910-A9A6-1E9BD45E2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3747958"/>
            <a:ext cx="8116665" cy="6079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been around long enough for the blue stars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BBE536-EFCE-4640-AE07-800125C26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4200714"/>
            <a:ext cx="7761203" cy="6083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all evolve into the red main sequence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96B193-BD98-4250-8F0A-37EFBD123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4652944"/>
            <a:ext cx="134576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see.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A7CEFE-D08A-47E4-9DDD-965E18ABE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5199059"/>
            <a:ext cx="41784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4B2D8AB-00BD-4DCA-807C-EE41DC8AD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5200100"/>
            <a:ext cx="8030333" cy="6078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never contained enough gas to have blue stars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0C04A8-4D2B-417F-9863-9413A904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5652012"/>
            <a:ext cx="1474163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develop.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FB25E7-ED10-44C1-988F-5C3258BFD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7" y="6198057"/>
            <a:ext cx="395897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863808-BC1A-4126-992D-892A2E7C5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6199225"/>
            <a:ext cx="7667997" cy="60765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has blue stars that are being blocked by dust.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F50856-7B42-4551-857B-597F15B2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C6DE8A-2EDE-4EF8-990F-3D5EB5BE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27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00584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0058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16338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All galaxies great and small</dc:title>
  <dcterms:created xsi:type="dcterms:W3CDTF">2026-09-26T20:03:04.7000000Z</dcterms:created>
  <dcterms:modified xsi:type="dcterms:W3CDTF">2026-09-26T20:03:04.7000000Z</dcterms:modified>
</coreProperties>
</file>