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a7c63d26f24802" /><Relationship Type="http://schemas.openxmlformats.org/officeDocument/2006/relationships/extended-properties" Target="/docProps/app.xml" Id="R5709fb72e6514dec" /><Relationship Type="http://schemas.openxmlformats.org/officeDocument/2006/relationships/officeDocument" Target="/ppt/presentation.xml" Id="R50b861a4718b4a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156697bef247b3"/>
  </p:sldMasterIdLst>
  <p:notesMasterIdLst>
    <p:notesMasterId xmlns:r="http://schemas.openxmlformats.org/officeDocument/2006/relationships" r:id="Rbe2b8e27b49c40d1"/>
  </p:notesMasterIdLst>
  <p:sldIdLst>
    <p:sldId xmlns:r="http://schemas.openxmlformats.org/officeDocument/2006/relationships" id="256" r:id="Re6eb868167734e64"/>
    <p:sldId xmlns:r="http://schemas.openxmlformats.org/officeDocument/2006/relationships" id="257" r:id="Re41665381d3d44fd"/>
    <p:sldId xmlns:r="http://schemas.openxmlformats.org/officeDocument/2006/relationships" id="258" r:id="R7d6737cd739f4a2e"/>
    <p:sldId xmlns:r="http://schemas.openxmlformats.org/officeDocument/2006/relationships" id="259" r:id="R8b684546dcbd4a92"/>
    <p:sldId xmlns:r="http://schemas.openxmlformats.org/officeDocument/2006/relationships" id="260" r:id="R42d16fc77cdf45e6"/>
    <p:sldId xmlns:r="http://schemas.openxmlformats.org/officeDocument/2006/relationships" id="261" r:id="R4722cb267dfa4db3"/>
    <p:sldId xmlns:r="http://schemas.openxmlformats.org/officeDocument/2006/relationships" id="262" r:id="R07c2d3d819f94853"/>
    <p:sldId xmlns:r="http://schemas.openxmlformats.org/officeDocument/2006/relationships" id="263" r:id="Rcbaf92eab66a4979"/>
    <p:sldId xmlns:r="http://schemas.openxmlformats.org/officeDocument/2006/relationships" id="264" r:id="R731171b415fb4499"/>
    <p:sldId xmlns:r="http://schemas.openxmlformats.org/officeDocument/2006/relationships" id="265" r:id="R75aebf16a79a480f"/>
    <p:sldId xmlns:r="http://schemas.openxmlformats.org/officeDocument/2006/relationships" id="266" r:id="R6046008b87674f8b"/>
    <p:sldId xmlns:r="http://schemas.openxmlformats.org/officeDocument/2006/relationships" id="267" r:id="R059feb9620534f0c"/>
    <p:sldId xmlns:r="http://schemas.openxmlformats.org/officeDocument/2006/relationships" id="268" r:id="R02ec6bc50c4d4eae"/>
    <p:sldId xmlns:r="http://schemas.openxmlformats.org/officeDocument/2006/relationships" id="269" r:id="R18d041bdbe114eb6"/>
    <p:sldId xmlns:r="http://schemas.openxmlformats.org/officeDocument/2006/relationships" id="270" r:id="Rf2b4b72d43ed4568"/>
    <p:sldId xmlns:r="http://schemas.openxmlformats.org/officeDocument/2006/relationships" id="271" r:id="R223c543f396f4f93"/>
    <p:sldId xmlns:r="http://schemas.openxmlformats.org/officeDocument/2006/relationships" id="272" r:id="Ra2c81ef875784ad2"/>
    <p:sldId xmlns:r="http://schemas.openxmlformats.org/officeDocument/2006/relationships" id="273" r:id="R6b7fae26008b4e6c"/>
    <p:sldId xmlns:r="http://schemas.openxmlformats.org/officeDocument/2006/relationships" id="274" r:id="Rdfea8234781c4d63"/>
    <p:sldId xmlns:r="http://schemas.openxmlformats.org/officeDocument/2006/relationships" id="275" r:id="Ra0062a57cea34123"/>
    <p:sldId xmlns:r="http://schemas.openxmlformats.org/officeDocument/2006/relationships" id="276" r:id="R7a5beecbc8474e44"/>
    <p:sldId xmlns:r="http://schemas.openxmlformats.org/officeDocument/2006/relationships" id="277" r:id="R52b911d1f188446f"/>
    <p:sldId xmlns:r="http://schemas.openxmlformats.org/officeDocument/2006/relationships" id="278" r:id="R769d631ef8c14b51"/>
    <p:sldId xmlns:r="http://schemas.openxmlformats.org/officeDocument/2006/relationships" id="279" r:id="R5359b26c4f024913"/>
    <p:sldId xmlns:r="http://schemas.openxmlformats.org/officeDocument/2006/relationships" id="280" r:id="R89e1e1ca9ce84462"/>
    <p:sldId xmlns:r="http://schemas.openxmlformats.org/officeDocument/2006/relationships" id="281" r:id="R061cd8cf2d8947dc"/>
    <p:sldId xmlns:r="http://schemas.openxmlformats.org/officeDocument/2006/relationships" id="282" r:id="Rbafb3bac461a4203"/>
  </p:sldIdLst>
  <p:sldSz cx="9144000" cy="7543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ba19391ace4989" /><Relationship Type="http://schemas.openxmlformats.org/officeDocument/2006/relationships/slideMaster" Target="/ppt/slideMasters/slideMaster1.xml" Id="Rcd156697bef247b3" /><Relationship Type="http://schemas.openxmlformats.org/officeDocument/2006/relationships/notesMaster" Target="/ppt/notesMasters/notesMaster1.xml" Id="Rbe2b8e27b49c40d1" /><Relationship Type="http://schemas.openxmlformats.org/officeDocument/2006/relationships/presProps" Target="/ppt/presProps.xml" Id="Rcebf9628d9c34ad1" /><Relationship Type="http://schemas.openxmlformats.org/officeDocument/2006/relationships/tableStyles" Target="/ppt/tableStyles.xml" Id="Rf1bef9ee3f2f4682" /><Relationship Type="http://schemas.openxmlformats.org/officeDocument/2006/relationships/slide" Target="/ppt/slides/slide1.xml" Id="Re6eb868167734e64" /><Relationship Type="http://schemas.openxmlformats.org/officeDocument/2006/relationships/slide" Target="/ppt/slides/slide2.xml" Id="Re41665381d3d44fd" /><Relationship Type="http://schemas.openxmlformats.org/officeDocument/2006/relationships/slide" Target="/ppt/slides/slide3.xml" Id="R7d6737cd739f4a2e" /><Relationship Type="http://schemas.openxmlformats.org/officeDocument/2006/relationships/slide" Target="/ppt/slides/slide4.xml" Id="R8b684546dcbd4a92" /><Relationship Type="http://schemas.openxmlformats.org/officeDocument/2006/relationships/slide" Target="/ppt/slides/slide5.xml" Id="R42d16fc77cdf45e6" /><Relationship Type="http://schemas.openxmlformats.org/officeDocument/2006/relationships/slide" Target="/ppt/slides/slide6.xml" Id="R4722cb267dfa4db3" /><Relationship Type="http://schemas.openxmlformats.org/officeDocument/2006/relationships/slide" Target="/ppt/slides/slide7.xml" Id="R07c2d3d819f94853" /><Relationship Type="http://schemas.openxmlformats.org/officeDocument/2006/relationships/slide" Target="/ppt/slides/slide8.xml" Id="Rcbaf92eab66a4979" /><Relationship Type="http://schemas.openxmlformats.org/officeDocument/2006/relationships/slide" Target="/ppt/slides/slide9.xml" Id="R731171b415fb4499" /><Relationship Type="http://schemas.openxmlformats.org/officeDocument/2006/relationships/slide" Target="/ppt/slides/slide10.xml" Id="R75aebf16a79a480f" /><Relationship Type="http://schemas.openxmlformats.org/officeDocument/2006/relationships/slide" Target="/ppt/slides/slide11.xml" Id="R6046008b87674f8b" /><Relationship Type="http://schemas.openxmlformats.org/officeDocument/2006/relationships/slide" Target="/ppt/slides/slide12.xml" Id="R059feb9620534f0c" /><Relationship Type="http://schemas.openxmlformats.org/officeDocument/2006/relationships/slide" Target="/ppt/slides/slide13.xml" Id="R02ec6bc50c4d4eae" /><Relationship Type="http://schemas.openxmlformats.org/officeDocument/2006/relationships/slide" Target="/ppt/slides/slide14.xml" Id="R18d041bdbe114eb6" /><Relationship Type="http://schemas.openxmlformats.org/officeDocument/2006/relationships/slide" Target="/ppt/slides/slide15.xml" Id="Rf2b4b72d43ed4568" /><Relationship Type="http://schemas.openxmlformats.org/officeDocument/2006/relationships/slide" Target="/ppt/slides/slide16.xml" Id="R223c543f396f4f93" /><Relationship Type="http://schemas.openxmlformats.org/officeDocument/2006/relationships/slide" Target="/ppt/slides/slide17.xml" Id="Ra2c81ef875784ad2" /><Relationship Type="http://schemas.openxmlformats.org/officeDocument/2006/relationships/slide" Target="/ppt/slides/slide18.xml" Id="R6b7fae26008b4e6c" /><Relationship Type="http://schemas.openxmlformats.org/officeDocument/2006/relationships/slide" Target="/ppt/slides/slide19.xml" Id="Rdfea8234781c4d63" /><Relationship Type="http://schemas.openxmlformats.org/officeDocument/2006/relationships/slide" Target="/ppt/slides/slide20.xml" Id="Ra0062a57cea34123" /><Relationship Type="http://schemas.openxmlformats.org/officeDocument/2006/relationships/slide" Target="/ppt/slides/slide21.xml" Id="R7a5beecbc8474e44" /><Relationship Type="http://schemas.openxmlformats.org/officeDocument/2006/relationships/slide" Target="/ppt/slides/slide22.xml" Id="R52b911d1f188446f" /><Relationship Type="http://schemas.openxmlformats.org/officeDocument/2006/relationships/slide" Target="/ppt/slides/slide23.xml" Id="R769d631ef8c14b51" /><Relationship Type="http://schemas.openxmlformats.org/officeDocument/2006/relationships/slide" Target="/ppt/slides/slide24.xml" Id="R5359b26c4f024913" /><Relationship Type="http://schemas.openxmlformats.org/officeDocument/2006/relationships/slide" Target="/ppt/slides/slide25.xml" Id="R89e1e1ca9ce84462" /><Relationship Type="http://schemas.openxmlformats.org/officeDocument/2006/relationships/slide" Target="/ppt/slides/slide26.xml" Id="R061cd8cf2d8947dc" /><Relationship Type="http://schemas.openxmlformats.org/officeDocument/2006/relationships/slide" Target="/ppt/slides/slide27.xml" Id="Rbafb3bac461a42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9a413ff07340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e823ab0f55418e" /><Relationship Type="http://schemas.openxmlformats.org/officeDocument/2006/relationships/notesMaster" Target="/ppt/notesMasters/notesMaster1.xml" Id="Rb9c9df171ac14d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1946a14a1a4074" /><Relationship Type="http://schemas.openxmlformats.org/officeDocument/2006/relationships/notesMaster" Target="/ppt/notesMasters/notesMaster1.xml" Id="Rae1fca47e1ae45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e9455a504f4827" /><Relationship Type="http://schemas.openxmlformats.org/officeDocument/2006/relationships/notesMaster" Target="/ppt/notesMasters/notesMaster1.xml" Id="R82f3ed0d67f34d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f73fc01aba4f8c" /><Relationship Type="http://schemas.openxmlformats.org/officeDocument/2006/relationships/notesMaster" Target="/ppt/notesMasters/notesMaster1.xml" Id="Ra12299d688ec4d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d4a41e8b2d41e1" /><Relationship Type="http://schemas.openxmlformats.org/officeDocument/2006/relationships/notesMaster" Target="/ppt/notesMasters/notesMaster1.xml" Id="Rdd7516763cf847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f0699ecb3549b2" /><Relationship Type="http://schemas.openxmlformats.org/officeDocument/2006/relationships/notesMaster" Target="/ppt/notesMasters/notesMaster1.xml" Id="R96818b4d53064a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2a72970c004034" /><Relationship Type="http://schemas.openxmlformats.org/officeDocument/2006/relationships/notesMaster" Target="/ppt/notesMasters/notesMaster1.xml" Id="R82b5cc65be394d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983ee9c8b04468" /><Relationship Type="http://schemas.openxmlformats.org/officeDocument/2006/relationships/notesMaster" Target="/ppt/notesMasters/notesMaster1.xml" Id="R034a00de2d3643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d907c3fb534c3e" /><Relationship Type="http://schemas.openxmlformats.org/officeDocument/2006/relationships/notesMaster" Target="/ppt/notesMasters/notesMaster1.xml" Id="Rb42c9d1753764b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e4ec5598d94b2f" /><Relationship Type="http://schemas.openxmlformats.org/officeDocument/2006/relationships/notesMaster" Target="/ppt/notesMasters/notesMaster1.xml" Id="R0956441217d94f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9ddaa335574673" /><Relationship Type="http://schemas.openxmlformats.org/officeDocument/2006/relationships/notesMaster" Target="/ppt/notesMasters/notesMaster1.xml" Id="R37f82cebba9140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447a8e4b45488b" /><Relationship Type="http://schemas.openxmlformats.org/officeDocument/2006/relationships/notesMaster" Target="/ppt/notesMasters/notesMaster1.xml" Id="Ra6c980b0d2f643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041c486de142dc" /><Relationship Type="http://schemas.openxmlformats.org/officeDocument/2006/relationships/notesMaster" Target="/ppt/notesMasters/notesMaster1.xml" Id="Rfada2e61c9c449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4b41edaca94a83" /><Relationship Type="http://schemas.openxmlformats.org/officeDocument/2006/relationships/notesMaster" Target="/ppt/notesMasters/notesMaster1.xml" Id="R7905055cbcb946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47abb42c344b33" /><Relationship Type="http://schemas.openxmlformats.org/officeDocument/2006/relationships/notesMaster" Target="/ppt/notesMasters/notesMaster1.xml" Id="Rebb4e28917074a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b18fa4bc80475f" /><Relationship Type="http://schemas.openxmlformats.org/officeDocument/2006/relationships/notesMaster" Target="/ppt/notesMasters/notesMaster1.xml" Id="R4c5d967dbe544a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38d1c5815e4a84" /><Relationship Type="http://schemas.openxmlformats.org/officeDocument/2006/relationships/notesMaster" Target="/ppt/notesMasters/notesMaster1.xml" Id="Rd2fb25cef84547e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4e5edba3b04ce0" /><Relationship Type="http://schemas.openxmlformats.org/officeDocument/2006/relationships/notesMaster" Target="/ppt/notesMasters/notesMaster1.xml" Id="R962e1079887d4c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8610d32d7d44f8" /><Relationship Type="http://schemas.openxmlformats.org/officeDocument/2006/relationships/notesMaster" Target="/ppt/notesMasters/notesMaster1.xml" Id="R1de558ac275941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edf7af73214aba" /><Relationship Type="http://schemas.openxmlformats.org/officeDocument/2006/relationships/notesMaster" Target="/ppt/notesMasters/notesMaster1.xml" Id="R574a2d8744fe49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dbae658c4a4920" /><Relationship Type="http://schemas.openxmlformats.org/officeDocument/2006/relationships/notesMaster" Target="/ppt/notesMasters/notesMaster1.xml" Id="R8cf2fe263c254c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bd04cc9c09a41a9" /><Relationship Type="http://schemas.openxmlformats.org/officeDocument/2006/relationships/notesMaster" Target="/ppt/notesMasters/notesMaster1.xml" Id="R5ae7dcae27ce4fc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774470111b34e5c" /><Relationship Type="http://schemas.openxmlformats.org/officeDocument/2006/relationships/notesMaster" Target="/ppt/notesMasters/notesMaster1.xml" Id="R54fea3619c194a2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e7e5987eb0041c5" /><Relationship Type="http://schemas.openxmlformats.org/officeDocument/2006/relationships/notesMaster" Target="/ppt/notesMasters/notesMaster1.xml" Id="R0c4dff03e294498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eceeccf2d9b4b7f" /><Relationship Type="http://schemas.openxmlformats.org/officeDocument/2006/relationships/notesMaster" Target="/ppt/notesMasters/notesMaster1.xml" Id="R254e4701bb144b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9e0103fdf8442f" /><Relationship Type="http://schemas.openxmlformats.org/officeDocument/2006/relationships/notesMaster" Target="/ppt/notesMasters/notesMaster1.xml" Id="R2b370f528b0a47e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00ebcdead7479c" /><Relationship Type="http://schemas.openxmlformats.org/officeDocument/2006/relationships/notesMaster" Target="/ppt/notesMasters/notesMaster1.xml" Id="Ra448dd0f31ba45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19.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20.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21.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22.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23.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24.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25.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26.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assets/lessons/lectures/astronomy/gravity.pdf, page 27.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2550b491642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fdc4cc8ada44e6" /><Relationship Type="http://schemas.openxmlformats.org/officeDocument/2006/relationships/slideLayout" Target="/ppt/slideLayouts/slideLayout1.xml" Id="R90be7467826f40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be7467826f40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bc49745f848d9" /><Relationship Type="http://schemas.openxmlformats.org/officeDocument/2006/relationships/image" Target="/ppt/media/image.png" Id="Rf2c8cd0ae9cf4621" /><Relationship Type="http://schemas.openxmlformats.org/officeDocument/2006/relationships/notesSlide" Target="/ppt/notesSlides/notesSlide1.xml" Id="R4c98f2cd0a1240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01a0afa744402" /><Relationship Type="http://schemas.openxmlformats.org/officeDocument/2006/relationships/image" Target="/ppt/media/image2.png" Id="R84cfe006167d4211" /><Relationship Type="http://schemas.openxmlformats.org/officeDocument/2006/relationships/notesSlide" Target="/ppt/notesSlides/notesSlide2.xml" Id="Re5be42bcad36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2bc881cdf4abc" /><Relationship Type="http://schemas.openxmlformats.org/officeDocument/2006/relationships/image" Target="/ppt/media/image3.png" Id="R9e6f5b8af2c04090" /><Relationship Type="http://schemas.openxmlformats.org/officeDocument/2006/relationships/notesSlide" Target="/ppt/notesSlides/notesSlide3.xml" Id="Re1ccb35753ce4c3a" 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af5b3956a104223"/><Relationship Type="http://schemas.openxmlformats.org/officeDocument/2006/relationships/image" Target="/ppt/media/image4.png" Id="Rfa89850660cf4a9d"/><Relationship Type="http://schemas.openxmlformats.org/officeDocument/2006/relationships/notesSlide" Target="/ppt/notesSlides/notesSlide4.xml" Id="R7c9a1a67ffa04467"/><Relationship Id="rIdDspiraLink1" Type="http://schemas.openxmlformats.org/officeDocument/2006/relationships/hyperlink" Target="http://www.solarsystemscope.com/" TargetMode="External"/><Relationship Id="rIdDspiraLink2" Type="http://schemas.openxmlformats.org/officeDocument/2006/relationships/hyperlink" Target="http://www.solarsystemscope.com/" TargetMode="External"/><Relationship Id="rIdDspiraLink3" Type="http://schemas.openxmlformats.org/officeDocument/2006/relationships/hyperlink" Target="http://astro.unl.edu/naap/pos/animations/" TargetMode="External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e87075ad246be" /><Relationship Type="http://schemas.openxmlformats.org/officeDocument/2006/relationships/image" Target="/ppt/media/image5.png" Id="Ra1814316deb74e0a" /><Relationship Type="http://schemas.openxmlformats.org/officeDocument/2006/relationships/notesSlide" Target="/ppt/notesSlides/notesSlide5.xml" Id="R936f1dc755dd49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f01f39cf741cf" /><Relationship Type="http://schemas.openxmlformats.org/officeDocument/2006/relationships/image" Target="/ppt/media/image6.png" Id="R5a25cdacd6b54411" /><Relationship Type="http://schemas.openxmlformats.org/officeDocument/2006/relationships/notesSlide" Target="/ppt/notesSlides/notesSlide6.xml" Id="R34f946731b934f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f416ea2cc48d1" /><Relationship Type="http://schemas.openxmlformats.org/officeDocument/2006/relationships/image" Target="/ppt/media/image7.png" Id="R5d358d8794e94c3f" /><Relationship Type="http://schemas.openxmlformats.org/officeDocument/2006/relationships/notesSlide" Target="/ppt/notesSlides/notesSlide7.xml" Id="Re3f30cbf52e145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2e12a8f994e4a" /><Relationship Type="http://schemas.openxmlformats.org/officeDocument/2006/relationships/image" Target="/ppt/media/image8.png" Id="Rdb384d87883843b2" /><Relationship Type="http://schemas.openxmlformats.org/officeDocument/2006/relationships/notesSlide" Target="/ppt/notesSlides/notesSlide8.xml" Id="R2941fbad78d64f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dea6603f94117" /><Relationship Type="http://schemas.openxmlformats.org/officeDocument/2006/relationships/image" Target="/ppt/media/image9.png" Id="Re09654b4394f454e" /><Relationship Type="http://schemas.openxmlformats.org/officeDocument/2006/relationships/notesSlide" Target="/ppt/notesSlides/notesSlide9.xml" Id="Rbe648eff565b4b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f62aba8604e5b" /><Relationship Type="http://schemas.openxmlformats.org/officeDocument/2006/relationships/image" Target="/ppt/media/image10.png" Id="Rc94c2b51fa9d45bb" /><Relationship Type="http://schemas.openxmlformats.org/officeDocument/2006/relationships/notesSlide" Target="/ppt/notesSlides/notesSlide10.xml" Id="R3bb2a3d6eff440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d3e2dbff14863" /><Relationship Type="http://schemas.openxmlformats.org/officeDocument/2006/relationships/image" Target="/ppt/media/image11.png" Id="R9d6d681f4943482f" /><Relationship Type="http://schemas.openxmlformats.org/officeDocument/2006/relationships/notesSlide" Target="/ppt/notesSlides/notesSlide11.xml" Id="Rbd203300818c45a8" 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09767c3922c4894"/><Relationship Type="http://schemas.openxmlformats.org/officeDocument/2006/relationships/image" Target="/ppt/media/image12.png" Id="R8f974fca84ed4e12"/><Relationship Type="http://schemas.openxmlformats.org/officeDocument/2006/relationships/notesSlide" Target="/ppt/notesSlides/notesSlide12.xml" Id="R98704e3e87e34511"/><Relationship Id="rIdDspiraLink1" Type="http://schemas.openxmlformats.org/officeDocument/2006/relationships/hyperlink" Target="http://www.youtube.com/watch?v=-4_rceVPVSY" TargetMode="External"/><Relationship Id="rIdDspiraLink2" Type="http://schemas.openxmlformats.org/officeDocument/2006/relationships/hyperlink" Target="http://www.youtube.com/watch?v=-4_rceVPVSY" TargetMode="External"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8e81630924d2c" /><Relationship Type="http://schemas.openxmlformats.org/officeDocument/2006/relationships/image" Target="/ppt/media/image13.png" Id="R7a76c635db8a4f0b" /><Relationship Type="http://schemas.openxmlformats.org/officeDocument/2006/relationships/notesSlide" Target="/ppt/notesSlides/notesSlide13.xml" Id="R60251c9c785f46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4aa03c9aa471e" /><Relationship Type="http://schemas.openxmlformats.org/officeDocument/2006/relationships/image" Target="/ppt/media/image14.png" Id="Rc6c0446051e14d54" /><Relationship Type="http://schemas.openxmlformats.org/officeDocument/2006/relationships/notesSlide" Target="/ppt/notesSlides/notesSlide14.xml" Id="R6aad043a46f249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58b78d68440f7" /><Relationship Type="http://schemas.openxmlformats.org/officeDocument/2006/relationships/image" Target="/ppt/media/image15.png" Id="R05b64ca4b85c4e35" /><Relationship Type="http://schemas.openxmlformats.org/officeDocument/2006/relationships/notesSlide" Target="/ppt/notesSlides/notesSlide15.xml" Id="Rc79f05eedf1943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afea82dc64913" /><Relationship Type="http://schemas.openxmlformats.org/officeDocument/2006/relationships/image" Target="/ppt/media/image16.png" Id="R39c30786e8de45cf" /><Relationship Type="http://schemas.openxmlformats.org/officeDocument/2006/relationships/notesSlide" Target="/ppt/notesSlides/notesSlide16.xml" Id="Rc976ac00ce5e49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a4ed14c344e00" /><Relationship Type="http://schemas.openxmlformats.org/officeDocument/2006/relationships/image" Target="/ppt/media/image17.png" Id="R8f5a827254a44b69" /><Relationship Type="http://schemas.openxmlformats.org/officeDocument/2006/relationships/notesSlide" Target="/ppt/notesSlides/notesSlide17.xml" Id="R4ebba38fadeb45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00cc226fb4b72" /><Relationship Type="http://schemas.openxmlformats.org/officeDocument/2006/relationships/image" Target="/ppt/media/image18.png" Id="R1494df8cb5834e0d" /><Relationship Type="http://schemas.openxmlformats.org/officeDocument/2006/relationships/notesSlide" Target="/ppt/notesSlides/notesSlide18.xml" Id="R2bd07e7162cb4a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5c03195304ffc" /><Relationship Type="http://schemas.openxmlformats.org/officeDocument/2006/relationships/image" Target="/ppt/media/image19.png" Id="R21d162b6b42a4256" /><Relationship Type="http://schemas.openxmlformats.org/officeDocument/2006/relationships/notesSlide" Target="/ppt/notesSlides/notesSlide19.xml" Id="R808e7db3b4d446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a8bf250514676" /><Relationship Type="http://schemas.openxmlformats.org/officeDocument/2006/relationships/image" Target="/ppt/media/image20.png" Id="R800732f2bc484e32" /><Relationship Type="http://schemas.openxmlformats.org/officeDocument/2006/relationships/notesSlide" Target="/ppt/notesSlides/notesSlide20.xml" Id="R0dbf92aae77d43f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a39bc92034f34" /><Relationship Type="http://schemas.openxmlformats.org/officeDocument/2006/relationships/image" Target="/ppt/media/image21.png" Id="Rd1c3f5a7aac64eeb" /><Relationship Type="http://schemas.openxmlformats.org/officeDocument/2006/relationships/notesSlide" Target="/ppt/notesSlides/notesSlide21.xml" Id="R29bb0b61e29343d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4e315700642b0" /><Relationship Type="http://schemas.openxmlformats.org/officeDocument/2006/relationships/image" Target="/ppt/media/image22.png" Id="Rfc51b8c24c504123" /><Relationship Type="http://schemas.openxmlformats.org/officeDocument/2006/relationships/notesSlide" Target="/ppt/notesSlides/notesSlide22.xml" Id="Ra7f86a33cd7d429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8d72a435d4f75" /><Relationship Type="http://schemas.openxmlformats.org/officeDocument/2006/relationships/image" Target="/ppt/media/image23.png" Id="R39024eed4e3e4dd1" /><Relationship Type="http://schemas.openxmlformats.org/officeDocument/2006/relationships/notesSlide" Target="/ppt/notesSlides/notesSlide23.xml" Id="R97991d92e38c457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e5870c98c4f38" /><Relationship Type="http://schemas.openxmlformats.org/officeDocument/2006/relationships/image" Target="/ppt/media/image24.png" Id="R22fff8b3a4e749ee" /><Relationship Type="http://schemas.openxmlformats.org/officeDocument/2006/relationships/notesSlide" Target="/ppt/notesSlides/notesSlide24.xml" Id="R7c7488eeef66415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99aac59be4f57" /><Relationship Type="http://schemas.openxmlformats.org/officeDocument/2006/relationships/image" Target="/ppt/media/image25.png" Id="Rbe5f6cfe07704806" /><Relationship Type="http://schemas.openxmlformats.org/officeDocument/2006/relationships/notesSlide" Target="/ppt/notesSlides/notesSlide25.xml" Id="R3ab552ecaf7b45e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70f3a73a74660" /><Relationship Type="http://schemas.openxmlformats.org/officeDocument/2006/relationships/image" Target="/ppt/media/image26.png" Id="R2c9dd253194e4ae6" /><Relationship Type="http://schemas.openxmlformats.org/officeDocument/2006/relationships/notesSlide" Target="/ppt/notesSlides/notesSlide26.xml" Id="R05ef7987ea854f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5145268264520" /><Relationship Type="http://schemas.openxmlformats.org/officeDocument/2006/relationships/image" Target="/ppt/media/image27.png" Id="R70dd933b443844d3" /><Relationship Type="http://schemas.openxmlformats.org/officeDocument/2006/relationships/notesSlide" Target="/ppt/notesSlides/notesSlide27.xml" Id="Rcd39f5a346bf4a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8cd0ae9cf4621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F0098-12C8-451A-A324-32E34060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5597"/>
            <a:ext cx="1718654" cy="780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40" b="1" i="0">
                <a:solidFill>
                  <a:srgbClr val="FF8080"/>
                </a:solidFill>
                <a:latin typeface="Arial"/>
                <a:ea typeface="Arial"/>
                <a:cs typeface="Arial"/>
              </a:defRPr>
            </a:pPr>
            <a:r>
              <a:rPr sz="3840" b="1" i="0">
                <a:solidFill>
                  <a:srgbClr val="FF8080"/>
                </a:solidFill>
                <a:latin typeface="Arial"/>
                <a:ea typeface="Arial"/>
                <a:cs typeface="Arial"/>
              </a:rPr>
              <a:t>Gravity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71C8A-11C7-4F47-A503-9CB89877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2C4A9-6067-462B-8DA1-413645C2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 of 27</a:t>
            </a:r>
          </a:p>
        </p:txBody>
      </p:sp>
      <p:sp>
        <p:nvSpPr>
          <p:cNvPr id="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479801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fe006167d4211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CB39B-029D-4017-9AA0-1C9FEF58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2630552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Kepler’s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61F2A-CECB-4D83-9AE0-9399558E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790" y="635356"/>
            <a:ext cx="320969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7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0BAF1-FEE4-4ADD-829B-081BBAD2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2435"/>
            <a:ext cx="1208641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Law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D38FD-20BF-4E42-8343-51FCD095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70" y="1315974"/>
            <a:ext cx="1221538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Law #1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04DDB-618E-4918-B310-CD305787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680" y="1315974"/>
            <a:ext cx="3135382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The orbits of the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3EBCA-7DAF-42A4-981C-8E16567C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70" y="1742694"/>
            <a:ext cx="4223871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planets are ellipses with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D1AF0-F1E6-426A-9B19-31BDEE89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70" y="2169414"/>
            <a:ext cx="3626828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Sun at one focus.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7E82E-AB64-43BC-92B9-692D3A67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931937"/>
            <a:ext cx="2522829" cy="442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7" b="1" i="0">
                <a:solidFill>
                  <a:srgbClr val="C0504D"/>
                </a:solidFill>
                <a:latin typeface="Arial"/>
                <a:ea typeface="Arial"/>
                <a:cs typeface="Arial"/>
              </a:defRPr>
            </a:pPr>
            <a:r>
              <a:rPr sz="2177" b="1" i="0">
                <a:solidFill>
                  <a:srgbClr val="C0504D"/>
                </a:solidFill>
                <a:latin typeface="Arial"/>
                <a:ea typeface="Arial"/>
                <a:cs typeface="Arial"/>
              </a:rPr>
              <a:t>Eccentricity e = c/a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B9A2F-B9AC-41F8-BD4D-8242CD8A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670" y="3371160"/>
            <a:ext cx="150876" cy="360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76" b="1" i="0">
                <a:solidFill>
                  <a:srgbClr val="C0504D"/>
                </a:solidFill>
                <a:latin typeface="Arial"/>
                <a:ea typeface="Arial"/>
                <a:cs typeface="Arial"/>
              </a:defRPr>
            </a:pPr>
            <a:r>
              <a:rPr sz="1776" b="1" i="0">
                <a:solidFill>
                  <a:srgbClr val="C0504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DFFC9-7037-4D7C-A3B7-00E80B8F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47A5D-933D-4867-8A4B-55C95AB4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 of 27</a:t>
            </a:r>
          </a:p>
        </p:txBody>
      </p:sp>
      <p:sp>
        <p:nvSpPr>
          <p:cNvPr id="15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6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7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8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062666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f5b8af2c04090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F9B46-0057-407C-822A-E74C8881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5957062"/>
            <a:ext cx="338938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42041-02B0-46F2-ADFC-BC179AF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" y="5998240"/>
            <a:ext cx="7425838" cy="440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6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Therefore, a planet travels faster when it is nearer to the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54EEB-FABE-4420-8EDA-1AAF6A14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70" y="6363460"/>
            <a:ext cx="6198707" cy="441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1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1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and slower when it is farther from the Sun.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BE768-2051-4C3A-BE2D-9BC6F6E9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2630552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Kepler’s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5734B-1AB8-4BCD-8C46-54DEECD2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790" y="635356"/>
            <a:ext cx="414031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7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1E3D1-BBF2-4BA7-BE49-B7AFDDD9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710" y="532435"/>
            <a:ext cx="1209995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Law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29955-2D76-4F78-9389-40351B08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3076"/>
            <a:ext cx="1575515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Law #2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CDC5A-B289-4147-91A9-41DDD56E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80" y="1243076"/>
            <a:ext cx="663074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A line from a planet to the sun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77977-0B0B-4568-BE98-D6DCB3FB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0756"/>
            <a:ext cx="697250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sweeps over equal areas in equal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DB9B3-7C04-456D-A78A-59E3F368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8436"/>
            <a:ext cx="349494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intervals of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A9C70-11DF-4797-B44B-FBC1DBA2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08046"/>
            <a:ext cx="773331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(When it’s closer to the Sun, a planet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AD753-AE9F-48ED-8D30-09A9B32F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95726"/>
            <a:ext cx="2852831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moves faster)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E05DC-60F2-4B11-9131-BB31F1DF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3A7E8-A79D-4C47-8886-7D1D59A0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 of 27</a:t>
            </a:r>
          </a:p>
        </p:txBody>
      </p:sp>
      <p:sp>
        <p:nvSpPr>
          <p:cNvPr id="1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76307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9850660cf4a9d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9E70D-0CF8-4D89-A4CA-4D6EE1F1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2630552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Kepler’s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FA6A0-93BB-43BA-81CE-30EBF515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790" y="635356"/>
            <a:ext cx="35593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7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CC658-B2E5-4209-9D81-7496FB88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560" y="532435"/>
            <a:ext cx="1208641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Law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1657E-E0CF-402D-968E-7104E6F3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3772"/>
            <a:ext cx="7015577" cy="64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19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19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 planet’s orbital period (P) squared is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26A57-ECB5-463B-BEFB-EED91EE9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0756"/>
            <a:ext cx="8086838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proportional to its average distance from the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AE92D-B424-4C92-99FE-97141A8A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8436"/>
            <a:ext cx="264027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sun (a) cubed: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08C27-48F9-4856-81E6-2B2157DA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08046"/>
            <a:ext cx="437479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1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Closer orbits go faster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9C608-2CED-45AC-BEFF-DB87016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080" y="4164802"/>
            <a:ext cx="255372" cy="5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15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715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A68BA-35B7-4372-A0ED-09EBA330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50" y="4387190"/>
            <a:ext cx="14097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2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25926-CE3D-40B7-BAA2-098C938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120" y="4191610"/>
            <a:ext cx="14097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2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16BD9-554A-4E0B-B728-8C1AF5ED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260" y="4172962"/>
            <a:ext cx="595680" cy="538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8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648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=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171D8-5F07-4DD7-88C7-86973E6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790" y="4387190"/>
            <a:ext cx="336217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2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E7F7E-E256-4E65-9861-7C824FD3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240" y="4191610"/>
            <a:ext cx="14097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2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D9FA0-2B3C-443E-861D-9F5AE9CF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350" y="4001646"/>
            <a:ext cx="325831" cy="480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6" b="1" i="0">
                <a:solidFill>
                  <a:srgbClr val="C0504D"/>
                </a:solidFill>
                <a:latin typeface="Arial"/>
                <a:ea typeface="Arial"/>
                <a:cs typeface="Arial"/>
              </a:defRPr>
            </a:pPr>
            <a:r>
              <a:rPr sz="2366" b="1" i="0">
                <a:solidFill>
                  <a:srgbClr val="C0504D"/>
                </a:solidFill>
                <a:latin typeface="Arial"/>
                <a:ea typeface="Arial"/>
                <a:cs typeface="Arial"/>
              </a:rPr>
              <a:t>(P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92FC9-52C0-4467-B8FC-CCAEB47A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370" y="4196791"/>
            <a:ext cx="126365" cy="282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0" b="1" i="0">
                <a:solidFill>
                  <a:srgbClr val="C0504D"/>
                </a:solidFill>
                <a:latin typeface="Arial"/>
                <a:ea typeface="Arial"/>
                <a:cs typeface="Arial"/>
              </a:defRPr>
            </a:pPr>
            <a:r>
              <a:rPr sz="1390" b="1" i="0">
                <a:solidFill>
                  <a:srgbClr val="C0504D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13144-7B25-44FB-9BA2-B4D103B4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70" y="4023441"/>
            <a:ext cx="2641708" cy="444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87" b="1" i="0">
                <a:solidFill>
                  <a:srgbClr val="C0504D"/>
                </a:solidFill>
                <a:latin typeface="Arial"/>
                <a:ea typeface="Arial"/>
                <a:cs typeface="Arial"/>
              </a:defRPr>
            </a:pPr>
            <a:r>
              <a:rPr sz="2187" b="1" i="0">
                <a:solidFill>
                  <a:srgbClr val="C0504D"/>
                </a:solidFill>
                <a:latin typeface="Arial"/>
                <a:ea typeface="Arial"/>
                <a:cs typeface="Arial"/>
              </a:rPr>
              <a:t> = period in years;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865F2-5523-4894-B03B-A94C180D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310" y="4196791"/>
            <a:ext cx="338555" cy="282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0" b="1" i="0">
                <a:solidFill>
                  <a:srgbClr val="C0504D"/>
                </a:solidFill>
                <a:latin typeface="Arial"/>
                <a:ea typeface="Arial"/>
                <a:cs typeface="Arial"/>
              </a:defRPr>
            </a:pPr>
            <a:r>
              <a:rPr sz="1390" b="1" i="0">
                <a:solidFill>
                  <a:srgbClr val="C0504D"/>
                </a:solidFill>
                <a:latin typeface="Arial"/>
                <a:ea typeface="Arial"/>
                <a:cs typeface="Arial"/>
              </a:rPr>
              <a:t>AU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D21FE-7551-453F-B37D-0C107CC6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350" y="4439124"/>
            <a:ext cx="2282949" cy="443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84" b="1" i="0">
                <a:solidFill>
                  <a:srgbClr val="C0504D"/>
                </a:solidFill>
                <a:latin typeface="Arial"/>
                <a:ea typeface="Arial"/>
                <a:cs typeface="Arial"/>
              </a:defRPr>
            </a:pPr>
            <a:r>
              <a:rPr sz="2184" b="1" i="0">
                <a:solidFill>
                  <a:srgbClr val="C0504D"/>
                </a:solidFill>
                <a:latin typeface="Arial"/>
                <a:ea typeface="Arial"/>
                <a:cs typeface="Arial"/>
              </a:rPr>
              <a:t>= distance in AU)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A6FEF-966F-414B-82E5-A2A9D01F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" y="5679969"/>
            <a:ext cx="4508137" cy="428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10" b="1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110" b="1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http://www.solarsystemscope.com/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B6F31-851F-4505-890B-A5444F3D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210" y="6110703"/>
            <a:ext cx="5417668" cy="441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http://astro.unl.edu/naap/pos/animations/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52218-C7DC-4A2E-980E-23D343A8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210" y="6471329"/>
            <a:ext cx="1524920" cy="449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1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1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kepler.html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3D34B-710D-4C76-9466-F4808FD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C93A0-A507-47A7-969F-CE343C05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 of 27</a:t>
            </a:r>
          </a:p>
        </p:txBody>
      </p:sp>
      <p:sp>
        <p:nvSpPr>
          <p:cNvPr id="27" name="Link 1">
            <ns0:hlinkClick xmlns:ns0="http://schemas.openxmlformats.org/drawingml/2006/main" xmlns:ns1="http://schemas.openxmlformats.org/officeDocument/2006/relationships" ns1:id="rIdDspiraLin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30" y="5726430"/>
            <a:ext cx="4509770" cy="276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28" name="Link 2">
            <ns0:hlinkClick xmlns:ns0="http://schemas.openxmlformats.org/drawingml/2006/main" xmlns:ns1="http://schemas.openxmlformats.org/officeDocument/2006/relationships" ns1:id="rIdDspiraLin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" y="5679969"/>
            <a:ext cx="4508137" cy="428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29" name="Link 3">
            <ns0:hlinkClick xmlns:ns0="http://schemas.openxmlformats.org/drawingml/2006/main" xmlns:ns1="http://schemas.openxmlformats.org/officeDocument/2006/relationships" ns1:id="rIdDspiraLink3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210" y="6110703"/>
            <a:ext cx="5417668" cy="441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3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3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3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3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908341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14316deb74e0a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7D0CC-C9AA-4C90-8259-D15476E9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406847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Concept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BA0B4-BD7B-4A0B-80C4-33362CDD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2873"/>
            <a:ext cx="7175212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Which planet will orbit in the smallest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57B53-6E8C-4515-824E-F3C8726B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88643"/>
            <a:ext cx="3103683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amount of time?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4F491-53BD-4BED-91CE-55A4AEB0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08073"/>
            <a:ext cx="7663442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a) Something with the mass of Jupiter at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E7982-2D99-48B7-9A4F-FB8676E7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2653843"/>
            <a:ext cx="5459685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orbital distance of Jupiter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1F4B3-FB50-4E48-A86D-D3C4F8E9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3273"/>
            <a:ext cx="8178621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Something with the mass of Earth at the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B135D-CFB3-4211-8106-ED169737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3619043"/>
            <a:ext cx="4731628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orbital distance of Jupiter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6A420-8FC7-4A34-B09C-7FCF136F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38473"/>
            <a:ext cx="385126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F186C-E1D6-43AF-B9F3-96021AFF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4138473"/>
            <a:ext cx="7709991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Something with the mass of Earth at the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D65C5-0AEB-4818-9B66-77BBBB1B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4584243"/>
            <a:ext cx="4516539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orbital distance of Earth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2F85F-6E76-4F53-875A-AB07662D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03673"/>
            <a:ext cx="7663442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d) Something with the mass of Jupiter at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CB4BC-479A-4603-BAA2-A334D967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5549443"/>
            <a:ext cx="5243119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orbital distance of Earth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6440D-A453-455E-BD96-D6F9213B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68873"/>
            <a:ext cx="5128939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e) c) and d) would be equal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BD2DA-6C3E-45B2-8677-5A992ABE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70408-2A35-4692-AC78-8AC35BC6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5 of 27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040662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5cdacd6b54411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49DB8-8B59-4ADD-B3CC-C418DC3B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406847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Concept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6B8CC-5523-476C-AA5A-5DA768CB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2873"/>
            <a:ext cx="7175212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Which planet will orbit in the smallest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44F5C-DF7E-4C53-AC10-D7C48465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88643"/>
            <a:ext cx="3103683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amount of time?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C4FFA-FF78-4D60-AA97-16E88DF1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08073"/>
            <a:ext cx="7663442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a) Something with the mass of Jupiter at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2A8F6-75D8-47D5-AAC0-AC6C4DEF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2653843"/>
            <a:ext cx="5459685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orbital distance of Jupiter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47D85-424F-447F-B74D-3A6B8E13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3273"/>
            <a:ext cx="8178621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Something with the mass of Earth at the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53E29-CF42-4CC5-8720-E24E7EA1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3619043"/>
            <a:ext cx="4731628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orbital distance of Jupiter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22F28-DA5A-41C1-8634-0CE6B1DE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38473"/>
            <a:ext cx="385126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AB5F3-22DB-4337-8413-C8D9DEA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4138473"/>
            <a:ext cx="7709991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Something with the mass of Earth at the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824CB-F23B-48C0-91D2-85E42294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4584243"/>
            <a:ext cx="4516539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orbital distance of Earth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DF5C2-5ECC-45D5-9C35-E36BF68D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03673"/>
            <a:ext cx="7663442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d) Something with the mass of Jupiter at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76785-2012-4B6C-A0C7-B0DA375A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5549443"/>
            <a:ext cx="5243119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orbital distance of Earth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080C6-9970-4729-9C30-898D0403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68873"/>
            <a:ext cx="5128939" cy="59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91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e) c) and d) would be equal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E786B-421F-4CC8-8D89-3FC7FC2F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6D2B8-16A8-4E1E-961D-B8AA0868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6 of 27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936033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58d8794e94c3f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F8F28-62AA-43F5-83F5-61C5B7DC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406847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Concept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4630B-0E01-4893-8F3F-39C1AF9E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3076"/>
            <a:ext cx="808199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How long does it take Mars to orbit the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2FAD9-0A78-4EC4-A521-32D6523F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0756"/>
            <a:ext cx="1025245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Sun?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FD4EC-A0FF-4090-B0A9-7198398A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99716"/>
            <a:ext cx="402757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a) More than a 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09241-09D6-4274-999B-DB7DDB2C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67406"/>
            <a:ext cx="391338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Less than a year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45792-AC7B-4C51-9192-534673DC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36366"/>
            <a:ext cx="41971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8C6C2-F3E1-47A5-BED1-6842A46D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3436366"/>
            <a:ext cx="190144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One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52274-7C6B-4B66-AB1F-48F7A632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6858A-F2B6-4897-AEA0-15390058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7 of 27</a:t>
            </a:r>
          </a:p>
        </p:txBody>
      </p:sp>
      <p:sp>
        <p:nvSpPr>
          <p:cNvPr id="13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4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5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6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334328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84d87883843b2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8A0D8-6BBA-43C0-9D40-E55D0DD6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406847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Concept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ED81B-AD83-4EFE-A340-6CB21707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3076"/>
            <a:ext cx="808199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How long does it take Mars to orbit the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86FAD-D891-4F35-B922-D8478812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0756"/>
            <a:ext cx="1025245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Sun?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8FDE2-EDB6-4D43-A587-B4BD64A9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99716"/>
            <a:ext cx="402757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a) More than a 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57775-BEFF-4423-8FBF-26D56CBF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67406"/>
            <a:ext cx="391338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Less than a year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D37CD-4071-40E8-9293-20580641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36366"/>
            <a:ext cx="41971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259F3-3A56-4EBF-9211-93D40CF9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3436366"/>
            <a:ext cx="190144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One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F4824-85EB-4EAB-80B7-1AFA455C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D456B-01C6-427B-9D71-49EA2358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8 of 27</a:t>
            </a:r>
          </a:p>
        </p:txBody>
      </p:sp>
      <p:sp>
        <p:nvSpPr>
          <p:cNvPr id="13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4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5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6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251329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654b4394f454e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8A1D4-C2C8-493D-BEFF-54B9467D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43"/>
            <a:ext cx="3454325" cy="720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47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47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Goals for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35C42-6B34-454A-8D87-D8F2F01B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16406"/>
            <a:ext cx="584708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1)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F876D-3F5C-466A-AD44-DDDF491B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10" y="1216406"/>
            <a:ext cx="333279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What is gravity?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D9922-094E-41A2-8CDA-68636E40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72666"/>
            <a:ext cx="544079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2) What is proportionality?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9D533-3755-4AE5-A808-7B6084B1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0196"/>
            <a:ext cx="707166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3) What is the inverse square law?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3FD25-8357-490D-B04B-84DEDD58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0DAC4-34B6-4F40-ADF8-B12EDB12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9 of 27</a:t>
            </a:r>
          </a:p>
        </p:txBody>
      </p:sp>
      <p:sp>
        <p:nvSpPr>
          <p:cNvPr id="11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2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3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4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558716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c2b51fa9d45bb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5C4B6-E090-4995-97F7-BE9E00D6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6312168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How do we describe motion?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02A4A-80B9-466E-B45C-852C20ED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110" y="2056892"/>
            <a:ext cx="1106119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Speed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F3938-17D1-4C1A-9F1A-38F4633F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56892"/>
            <a:ext cx="237743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: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68B96-69DB-4B2C-B849-53C2D2CE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958" y="2056892"/>
            <a:ext cx="290338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rate at which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44623-10A5-479D-B9ED-99F9DBEC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2422652"/>
            <a:ext cx="2559102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object moves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774FA-A39A-4FC8-B287-F1BF9EC9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2788412"/>
            <a:ext cx="2589885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10 m/s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D8D32-55C4-41CA-A9A9-5D9E978B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3519932"/>
            <a:ext cx="1408789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Velocity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87170-ABE7-4098-927E-FD93F20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920" y="3519932"/>
            <a:ext cx="236527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: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6AED3-40EC-42C3-A7CF-311C0B28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310" y="3519932"/>
            <a:ext cx="144353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Speed +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5F9B7-711D-4310-9A41-6E48EADC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3885692"/>
            <a:ext cx="1371293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1CFA6-2947-4D67-A3CD-6B2B238F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4251452"/>
            <a:ext cx="3748842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example: 10 m/s, due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A0622-A7A9-4603-8248-3DD8112B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4617212"/>
            <a:ext cx="690372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8070A-58CE-4C95-8ADD-0F719324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5348732"/>
            <a:ext cx="2188163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Acceleration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69B66-F04B-4ACF-896F-523BDE66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5348732"/>
            <a:ext cx="237743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: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311B4-70C0-4BC3-ABAC-C1AA450A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5348732"/>
            <a:ext cx="1935483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Any change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1F0EA-7312-46C1-AB93-6895974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5714492"/>
            <a:ext cx="3568298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velocity, including a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0E1AB-3F43-42F2-8BB3-E8F11A5F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6080252"/>
            <a:ext cx="3063853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 in direction.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0D3CD-1B8C-40E9-803F-B45B1F22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7813C-B59D-48D1-BD67-551C312A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10 of 27</a:t>
            </a:r>
          </a:p>
        </p:txBody>
      </p:sp>
      <p:sp>
        <p:nvSpPr>
          <p:cNvPr id="23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4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5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6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1240278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d681f4943482f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A1848-16B3-4D72-A485-0A5F0035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1142"/>
            <a:ext cx="6996448" cy="74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65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6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Gravity is an Acceleration!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512B5-DA73-4398-AE25-8E2A7FD6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78914"/>
            <a:ext cx="3015889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On Earth, speed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97A6D-7994-4F3D-A478-6443F9AF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92934"/>
            <a:ext cx="3155644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increases 10 m/s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AF6BE-DD33-413C-9500-8ABA4BFA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8224"/>
            <a:ext cx="1872646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with each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1BFB0-BFCA-4D15-BD6D-959B5159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22244"/>
            <a:ext cx="3073863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second of falling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CDBE0-E7D7-477D-9019-C8BE76CB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37535"/>
            <a:ext cx="951996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4382B-C8DE-421A-A72C-0F466DC0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66" y="4122674"/>
            <a:ext cx="2920059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This increase in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0093A-3D36-42D5-8125-60AF85E4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37964"/>
            <a:ext cx="2312166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speed is the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AE3C4-0640-49AB-9DF4-733541BC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51984"/>
            <a:ext cx="3119018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acceleration due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25150-4803-4159-AE1B-ED438404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67274"/>
            <a:ext cx="1754230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to gravity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3E785-F4AD-4D7E-B2B7-0D34F4AE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CB3DB-4483-45FA-905C-9FE93374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11 of 27</a:t>
            </a:r>
          </a:p>
        </p:txBody>
      </p:sp>
      <p:sp>
        <p:nvSpPr>
          <p:cNvPr id="1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4609291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74fca84ed4e12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A2959-D45E-42B7-9AD2-0DADEE9C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6042"/>
            <a:ext cx="8038783" cy="71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2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2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Acceleration due to Gravity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60C55-CF35-43FD-A7DE-1FCA3DE5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2568"/>
            <a:ext cx="3766171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Galileo showed that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68077-762D-47A0-8268-3D2862AB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9448"/>
            <a:ext cx="3280441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the gravitational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EFF1B-C361-419A-9D0A-6F93EDC2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15058"/>
            <a:ext cx="3506298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acceleration is the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6F780-42E1-426A-98DF-D294920B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51938"/>
            <a:ext cx="3524385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same for all falling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0FACB-4BE2-4252-ACF4-26499F61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87548"/>
            <a:ext cx="3589171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objects, regardless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FDABF-596E-4BF1-9DDC-4A75D68D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4428"/>
            <a:ext cx="2537724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of their mass.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411D3-01B6-465D-A607-BEEA0149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3698"/>
            <a:ext cx="3454899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Air resistance, not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3FEA9-E64B-4E3A-A224-7084E5B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69308"/>
            <a:ext cx="3739751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 object’s mass, is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F1B74-0DBA-4054-8F4B-4A239993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6188"/>
            <a:ext cx="352113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causes some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D2562-A150-498A-ADD1-083CBA9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41798"/>
            <a:ext cx="2610471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objects to fall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4AABA-9059-4234-B0AF-451A4E02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78678"/>
            <a:ext cx="3548649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slower than others.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619BC-903A-4478-B495-02186F70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13452"/>
            <a:ext cx="3318653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Apollo 15 demonstration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E8D05-69C2-4BA2-91AD-9BCF5213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60" y="6671606"/>
            <a:ext cx="6400180" cy="44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6" b="1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206" b="1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http://www.youtube.com/watch?v=-4_rceVPVSY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E8D95-1340-4372-B52A-F5E51615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E81AB8-277F-4F30-BE45-2AEBF5FF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12 of 27</a:t>
            </a:r>
          </a:p>
        </p:txBody>
      </p:sp>
      <p:sp>
        <p:nvSpPr>
          <p:cNvPr id="20" name="Link 1">
            <ns0:hlinkClick xmlns:ns0="http://schemas.openxmlformats.org/drawingml/2006/main" xmlns:ns1="http://schemas.openxmlformats.org/officeDocument/2006/relationships" ns1:id="rIdDspiraLin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729730"/>
            <a:ext cx="6398260" cy="276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21" name="Link 2">
            <ns0:hlinkClick xmlns:ns0="http://schemas.openxmlformats.org/drawingml/2006/main" xmlns:ns1="http://schemas.openxmlformats.org/officeDocument/2006/relationships" ns1:id="rIdDspiraLin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60" y="6671606"/>
            <a:ext cx="6400180" cy="448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22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3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4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5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619255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6c635db8a4f0b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1E17A-87A3-42B9-823B-79F90BCF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436"/>
            <a:ext cx="783652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Why are astronauts “weightless”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9370C-0D0A-4CCF-8CEF-2E54AF3C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1116"/>
            <a:ext cx="216763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in space?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4F27E-C3F4-41C8-8BB9-19356061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237" y="1243076"/>
            <a:ext cx="133105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There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E2403-940E-4D4A-9BF4-4CBE5684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570" y="1243076"/>
            <a:ext cx="36159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1">
                <a:solidFill>
                  <a:srgbClr val="262626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91E13-767E-4F57-B26D-AD26DCDB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420" y="1243076"/>
            <a:ext cx="1725075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gravity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FCE40-1D2B-473B-86A0-A201954F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1730756"/>
            <a:ext cx="1728721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 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8821E-A613-4F0B-90B9-1BF8DD24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299716"/>
            <a:ext cx="3296615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Weightlessness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4F1E2-5913-4CB3-8E3F-85F31C67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786126"/>
            <a:ext cx="230012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is due to a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E1BD1-3106-41DA-BE7D-27635A84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273806"/>
            <a:ext cx="3614015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constant state of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816F0-6968-499D-9F02-224FBB5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761486"/>
            <a:ext cx="160274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free-fall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B5EDF-5D39-434A-9DBC-4E89642E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527F9-546E-434E-A88B-B430BD4B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13 of 27</a:t>
            </a:r>
          </a:p>
        </p:txBody>
      </p:sp>
      <p:sp>
        <p:nvSpPr>
          <p:cNvPr id="1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17856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0446051e14d54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25CD6-B166-483A-AE5C-1E208331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6237"/>
            <a:ext cx="7909177" cy="678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4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34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Universal Law of Gravitation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BA76E-4021-468B-8DC8-644CB1C4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18540"/>
            <a:ext cx="6519214" cy="532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2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Every mass attracts every other mass.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751C0-00E1-4DF1-BF89-B5AE1390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5740"/>
            <a:ext cx="8158942" cy="532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2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Attraction is directly proportional to the product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0770B-5888-4C77-9408-37E7BD1E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65630"/>
            <a:ext cx="2717652" cy="532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2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of their masses.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86DA1-5295-47A0-8D25-11E40DDC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90" y="2512314"/>
            <a:ext cx="200508" cy="46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ECD03-8614-4E93-B6CA-B12726B8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8" y="2512314"/>
            <a:ext cx="7464824" cy="46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As the masses increase, so does the gravitational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91051-AF87-4386-979F-7C28057E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2853944"/>
            <a:ext cx="773605" cy="46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force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5C437-D8D9-4CD5-8652-3F7CF572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60700"/>
            <a:ext cx="7033958" cy="532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2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Attraction is inversely proportional to the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659AF-383A-4135-A69A-252B3C7E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0589"/>
            <a:ext cx="7679793" cy="532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2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square of the distance between their centers.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661B8-6019-4B56-9962-F55F2E59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90" y="4097274"/>
            <a:ext cx="200508" cy="46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0EBC4-9680-479A-8D95-2106BFD6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98" y="4097274"/>
            <a:ext cx="7471545" cy="46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As the distances decrease, the gravitational force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D3686-A39F-4799-B71B-4BEA84C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4438904"/>
            <a:ext cx="2549569" cy="46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increases quickly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DE51A-3552-4793-A0CC-9A369AFB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5A163-0A29-4A8D-B190-D7ACBE61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14 of 27</a:t>
            </a:r>
          </a:p>
        </p:txBody>
      </p:sp>
      <p:sp>
        <p:nvSpPr>
          <p:cNvPr id="1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7624644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64ca4b85c4e35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E80D0-AAF1-449F-AC9B-2BF6CEF1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898308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Proportionality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A9C26-142C-4104-BEE1-EDEFCDB9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3076"/>
            <a:ext cx="7621941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When two terms are proportional, as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AE283-7AAA-451A-A889-6FA7FE69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0756"/>
            <a:ext cx="779140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one increases the other one increases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E50FE-789F-4A0E-A756-FED19F9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42" y="2299716"/>
            <a:ext cx="816387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Terms can be inversely proportional: as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B309D-725C-4CED-B375-83852A7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6126"/>
            <a:ext cx="717367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one increases the other decreases.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F6BD0-91F6-4BBD-8213-A21F971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55086"/>
            <a:ext cx="2542341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Important!!!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C5E2E-D6CD-48A6-AAC6-EA86B257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C0DFC-2B9A-462F-8CAB-0C2F6A21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15 of 27</a:t>
            </a:r>
          </a:p>
        </p:txBody>
      </p:sp>
      <p:sp>
        <p:nvSpPr>
          <p:cNvPr id="12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3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4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5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9917953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30786e8de45cf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87175-5493-4BE2-9C83-1066BFB6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406847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Concept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5F5E2-29A1-4517-B4D4-14777436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42" y="1243076"/>
            <a:ext cx="7748111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force of gravity is proportional to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5F4FB-0413-499E-87EB-C4A75F6F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42" y="1730756"/>
            <a:ext cx="767659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__________ and inversely proportional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ED2CC-444F-4373-967E-0B0E8D67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36444"/>
            <a:ext cx="3151135" cy="620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to ____________.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40B34-C2FD-43C7-BC88-53356383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6126"/>
            <a:ext cx="704957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a) acceleration, distance between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50D87-EA04-465A-92E1-14314EAC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3273806"/>
            <a:ext cx="150154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objects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23772-1BFA-41C3-9C75-31A425DB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2766"/>
            <a:ext cx="769940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distance between objects, product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0B22E-EC05-42DF-8177-7A9E2428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4330446"/>
            <a:ext cx="346933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of object masses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ADF47-F500-4261-A2B3-4658F3EF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9406"/>
            <a:ext cx="41971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8F975-8B53-458E-B488-9FEB9282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4899406"/>
            <a:ext cx="541842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product of object masses,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7A80C-FD7D-4D40-8E42-C64DC225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5387086"/>
            <a:ext cx="254153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acceleration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4F62C-3CED-4E00-9A0B-7627C6A9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54776"/>
            <a:ext cx="778312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d) product of object masses, distance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DD27D-18C1-4985-AAE3-547F7A72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6442456"/>
            <a:ext cx="338562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between objects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3734D-C48C-4FB0-B744-915178C9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60B0D-BC60-45AA-A370-C0E8FA2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16 of 27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37732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a827254a44b69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F8E64-5C77-48B9-A7A6-248FB8D2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406847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Concept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D730C-A4F1-4180-9441-70163470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42" y="1243076"/>
            <a:ext cx="7748111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force of gravity is proportional to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AB1C7-7A26-4BA5-9816-E94F2BF4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42" y="1730756"/>
            <a:ext cx="767659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__________ and inversely proportional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5DC5B-85F7-46DD-B05D-88F6DD72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36444"/>
            <a:ext cx="3151135" cy="620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to ____________.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06B7C-5F8E-4E47-B983-95F9CA93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6126"/>
            <a:ext cx="704957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a) acceleration, distance between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AC0A7-02E7-4011-8070-F52FF687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3273806"/>
            <a:ext cx="150154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objects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C466B-62BB-469E-B52B-AB1CC9CC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2766"/>
            <a:ext cx="769940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distance between objects, product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D6AD3-FCCD-43A9-AA23-AC137B30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4330446"/>
            <a:ext cx="346933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of object masses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13080-7D92-4C79-8B58-5FC2DF03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9406"/>
            <a:ext cx="41971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1CA55-199D-4EA6-98C6-629B3E50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4899406"/>
            <a:ext cx="541842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product of object masses,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98A54-84A8-4743-826A-319AF45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5387086"/>
            <a:ext cx="254153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acceleration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36982-8EC8-4891-B6F6-261B2922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54776"/>
            <a:ext cx="778312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d) product of object masses, distance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592AF-5AF7-4B34-9227-07155144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6442456"/>
            <a:ext cx="338562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between objects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48701-913A-4887-B8C3-3FF53FED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05FD3-0700-4749-9112-B71292FE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17 of 27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3917246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4df8cb5834e0d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84BAC-FE66-4FC0-9AD5-083F8BD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5072011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Inverse Square Law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4D6F5-998A-4E0F-A822-48D4D362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0028"/>
            <a:ext cx="578307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CB81C-D594-4F1D-93B1-B72E8B10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1240028"/>
            <a:ext cx="3253588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inverse square law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419AB-B0B3-4953-9F12-790EA11A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80" y="1240028"/>
            <a:ext cx="3844656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is a relation where the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4ED7E-69C4-44D7-9698-7A56BF70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36268"/>
            <a:ext cx="7057161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quantity decreases with the square of the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58D25-C042-4C7A-B838-FAEAEDA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31238"/>
            <a:ext cx="1437161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436AA-1947-4CD8-94A9-FD5A077B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08758"/>
            <a:ext cx="7643939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OR: Intensity decreases with distance, quickly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C71D2-7B1D-4616-BD61-783E48AE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86278"/>
            <a:ext cx="5992276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Examples: Light, gravity, and sound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FC866-8B6C-483F-9CB4-1E8B9252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FBBB2-B455-4C2D-B383-814E3CB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18 of 27</a:t>
            </a:r>
          </a:p>
        </p:txBody>
      </p:sp>
      <p:sp>
        <p:nvSpPr>
          <p:cNvPr id="14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5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6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7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5548395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162b6b42a4256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40F91-1028-4F27-853F-C25F2C02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1142"/>
            <a:ext cx="3487837" cy="74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65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6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Concept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064B0-7FE8-413A-BA94-1790C614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3076"/>
            <a:ext cx="768494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If the Earth were moved to 2AU, how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BA079-73B3-4B30-AF12-3FBC2998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0756"/>
            <a:ext cx="768574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would the force of gravity between it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B2A09-93A1-4F82-9B1E-22EA967B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8436"/>
            <a:ext cx="433863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and the Sun change?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EA9ED-2704-4265-B3EE-3F1EBBC1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6126"/>
            <a:ext cx="446893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a) Impossible to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C33C5-A051-46A0-BE75-25B0892C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55086"/>
            <a:ext cx="569382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Decrease by a factor of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BC143-9A9E-45D5-8192-5CE8190A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24046"/>
            <a:ext cx="41971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63A93-DA2D-4A54-98AA-B42341A8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3924046"/>
            <a:ext cx="499252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Increase by a factor of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A7922-46A0-4339-B4BD-2F766983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93006"/>
            <a:ext cx="569382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d) Decrease by a factor of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6234D-7DB3-4613-AE07-29997CE1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C41EA-B33A-4405-9F00-F57E0FA7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19 of 27</a:t>
            </a:r>
          </a:p>
        </p:txBody>
      </p:sp>
      <p:sp>
        <p:nvSpPr>
          <p:cNvPr id="15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6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7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8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9970698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732f2bc484e32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940F3-0ECE-47F3-8AD5-56DBB5E7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406847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Concept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489C8-D4D1-41FD-8740-AD529FB0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3076"/>
            <a:ext cx="768494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If the Earth were moved to 2AU, how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84BD2-7EFC-464B-9719-49770940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0756"/>
            <a:ext cx="768574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would the force of gravity between it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8199E-959A-4F8F-9D9D-3E8AF0A6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8436"/>
            <a:ext cx="433863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and the Sun change?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DB251-B593-4C07-8FAF-86366EA3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6126"/>
            <a:ext cx="446893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a) Impossible to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91540-5B7F-4407-B9ED-55CEBF98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55086"/>
            <a:ext cx="569382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Decrease by a factor of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C395C-0073-46C0-ABFE-9213CFAF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24046"/>
            <a:ext cx="41971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9FE64-8E17-4BAB-96F9-CD7E488E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3924046"/>
            <a:ext cx="499252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Increase by a factor of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C74B3-81DA-481F-A0A8-7936B1BA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93006"/>
            <a:ext cx="569382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d) Decrease by a factor of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ECB79-F051-4434-96CC-C32490CC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42" y="5630926"/>
            <a:ext cx="719460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Twice as far away = 4 times less (2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BECE0-9E68-47DD-BA5E-64EA1696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85" y="5672379"/>
            <a:ext cx="188336" cy="37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6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6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8C728-BF39-4ED5-84B9-6935D862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5" y="5630926"/>
            <a:ext cx="19659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CA7EB-F483-4ACC-B6B0-613567C2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6681B-C4CE-486D-AA03-57E41AFF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20 of 27</a:t>
            </a:r>
          </a:p>
        </p:txBody>
      </p:sp>
      <p:sp>
        <p:nvSpPr>
          <p:cNvPr id="1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4978310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3f5a7aac64eeb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2B6EF-9204-4772-B78D-785B068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406847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Concept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92550-C603-4059-9BC1-C3508AA5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3076"/>
            <a:ext cx="807304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If the Earth were moved to 0.5AU, how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77518-9079-4679-975B-5DA4505D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0756"/>
            <a:ext cx="768574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would the force of gravity between it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D7B9F-0E1C-44F7-9BFC-146F55D7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8436"/>
            <a:ext cx="433863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and the Sun change?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DFF58-01B3-4117-AB78-B2CE859A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6126"/>
            <a:ext cx="446893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a) Impossible to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B278B-1651-4325-BF6C-ED17EB9A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55086"/>
            <a:ext cx="569382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Decrease by a factor of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195B3-C496-4E0D-9D20-68C708B4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24046"/>
            <a:ext cx="41971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3725F-7635-4AF6-9C99-30B2652C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3924046"/>
            <a:ext cx="499252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Increase by a factor of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44E2C-A8F1-450C-B371-6008121C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93006"/>
            <a:ext cx="569382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d) Decrease by a factor of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79358-1523-43E4-BF79-5DDDD24B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8189A-363C-443C-8647-C64EF974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21 of 27</a:t>
            </a:r>
          </a:p>
        </p:txBody>
      </p:sp>
      <p:sp>
        <p:nvSpPr>
          <p:cNvPr id="15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6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7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8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1364127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1b8c24c504123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2D493-B814-4A29-9583-2CCB9770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406847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Concept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04930-D150-4F7E-B29E-F3CCD51A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3076"/>
            <a:ext cx="807304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If the Earth were moved to 0.5AU, how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3C7D7-70F7-4697-8C3F-89BF8B3F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0756"/>
            <a:ext cx="7685747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would the force of gravity between it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E82C5-02CD-4EDA-8B31-84D1B1DB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8436"/>
            <a:ext cx="433863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and the Sun change?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A9ACB-EC20-4725-9C3E-950E6A4D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6126"/>
            <a:ext cx="446893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a) Impossible to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67C35-42FA-4D79-A6E9-65AB9AD3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55086"/>
            <a:ext cx="569382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Decrease by a factor of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0EA8C-787B-4FE4-8043-4A4ADAFC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24046"/>
            <a:ext cx="41971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E2CF8-26A8-44A0-97F0-3BE00A6D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" y="3924046"/>
            <a:ext cx="499252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Increase by a factor of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CF4D8-8E6B-4ADB-87DC-F19F557B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93006"/>
            <a:ext cx="5693829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d) Decrease by a factor of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72CAD-2C13-40C5-91BD-5B9912AE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30926"/>
            <a:ext cx="7198071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Half as far away = 4 times greater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EA4A1-89C2-4DE5-A960-B91C275D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18606"/>
            <a:ext cx="843181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(0.5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7707D-AFEF-4581-93BD-B154692A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090" y="6160059"/>
            <a:ext cx="273375" cy="37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6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6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B051F-2635-4271-92D8-961C50E3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" y="6118606"/>
            <a:ext cx="1054915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) =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6FC40-8575-476A-A8CF-A53514E8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9A905-3751-4A7E-A5EA-577F4B85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22 of 27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4395581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24eed4e3e4dd1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35B71-D402-4669-9E1D-6EE589EC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435"/>
            <a:ext cx="3982396" cy="72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6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56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Gravity and Orbits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173E7-18A4-4D67-A330-BED8761D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155" y="2002028"/>
            <a:ext cx="2081874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orbital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29E3E-105B-44F4-9987-C345BD7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316" y="2358898"/>
            <a:ext cx="1294513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energy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128F1-34CD-4E87-A895-56209854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316" y="2714498"/>
            <a:ext cx="2746734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(gravitational +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32BC5-78C0-4227-91B3-47D4AFA6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316" y="3071368"/>
            <a:ext cx="2345872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kinetic) stays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8B33E-F3CD-414C-974F-777006E8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316" y="3426968"/>
            <a:ext cx="1890858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constant if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53141-C4E2-4F32-AE36-263A0CF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316" y="3783838"/>
            <a:ext cx="1903068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 is no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6250D-B7EC-489E-9FE0-DACD25A5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316" y="4140708"/>
            <a:ext cx="2331345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A035C-C3B1-4D6B-85F9-994D44C9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316" y="4577588"/>
            <a:ext cx="2381205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Orbits cannot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06ECF-7D67-4914-A1ED-2098624D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316" y="4934458"/>
            <a:ext cx="1360225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C7B8B-6DDC-4BC2-8BD6-0E9D9DEB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316" y="5291328"/>
            <a:ext cx="2505688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spontaneously.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28FA5-2F26-4D65-85C1-EDD17863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" y="1696974"/>
            <a:ext cx="4748744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gravitational energy;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723F4-07EE-43FC-A8BC-0A24ADD7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" y="2123694"/>
            <a:ext cx="3456487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kinetic energy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63E74-1CC2-4810-AE47-97E7B8E2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650" y="5278374"/>
            <a:ext cx="4647045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gravitational energy;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DDC22-D282-4907-A129-664F1260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650" y="5705094"/>
            <a:ext cx="3558553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kinetic energy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46F72-F3B6-4C53-9EAD-67D7E0A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" y="6106922"/>
            <a:ext cx="532487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Total orbital energy stays constant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2D1FB-9CF1-4E95-9EEF-5C1D3A0A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87208-1080-4C0B-9D65-4947BCA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23 of 27</a:t>
            </a:r>
          </a:p>
        </p:txBody>
      </p:sp>
      <p:sp>
        <p:nvSpPr>
          <p:cNvPr id="22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3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4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5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6940459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ff8b3a4e749ee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11FE9-855C-4725-A823-F0F9EDEF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1B6EF-FBDF-4B59-AE6C-EE1B61B5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24 of 27</a:t>
            </a:r>
          </a:p>
        </p:txBody>
      </p:sp>
      <p:sp>
        <p:nvSpPr>
          <p:cNvPr id="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3122398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f6cfe07704806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D4FE2-DC95-42F0-AB21-5F2508E1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0380"/>
            <a:ext cx="4459231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0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Changing an Orbit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12596-B313-43EF-A1ED-780E9672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1455522"/>
            <a:ext cx="385317" cy="562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A803C-FE3B-41E3-985E-4AE2E1B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" y="1469543"/>
            <a:ext cx="4063882" cy="56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So what can make an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80B59-46C0-44C8-99C2-10B4F6E1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" y="1893723"/>
            <a:ext cx="3414408" cy="56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 gain or lose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4C4CA-9AAE-4C37-BB9B-34204478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" y="2316632"/>
            <a:ext cx="2701231" cy="56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orbital energy?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9EAC2-F24E-463B-B908-79218C33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2792832"/>
            <a:ext cx="161226" cy="562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F7AB0-4EBB-4488-8677-76FF5090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" y="2810662"/>
            <a:ext cx="4228571" cy="56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Friction or atmospheric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77C5E-A7DB-41F7-B27A-4846FC97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" y="3234842"/>
            <a:ext cx="847668" cy="56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B7AC8-4623-4C3D-8C5F-294F795F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" y="3700171"/>
            <a:ext cx="206157" cy="48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A0F5F-CCFB-4534-8B40-07FF0577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3717950"/>
            <a:ext cx="2591590" cy="48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Reduces velocity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ACB44-2624-41A5-A612-C35CF540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" y="4124350"/>
            <a:ext cx="206157" cy="48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29F55-0502-41BF-9AF6-6A06E44A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4140860"/>
            <a:ext cx="2809525" cy="48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Decreases kinetic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A6752-3121-48E9-A030-56F8AD49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4505350"/>
            <a:ext cx="1091479" cy="48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747C7-BD82-4CDE-BC6C-8A1DFC82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" y="4911750"/>
            <a:ext cx="206157" cy="48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B0B63-F43E-4759-B684-B68C92BE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4928260"/>
            <a:ext cx="3479025" cy="48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Orbit decreases in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6CBDC-F4ED-4725-AE90-0E1AA2E8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5345532"/>
            <a:ext cx="161226" cy="562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CF3E4-B905-439E-A041-1918CC48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" y="5364632"/>
            <a:ext cx="2741478" cy="56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gravitational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3B78E-04DC-4D27-B8D0-3FE82FF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" y="5787542"/>
            <a:ext cx="1919553" cy="56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encounter.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F0A00-D18A-4879-8FD0-0CB731B7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" y="6252870"/>
            <a:ext cx="206157" cy="48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0DB0F-0570-4FFB-893D-8AAE7EE6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6270650"/>
            <a:ext cx="3524072" cy="48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Energy can transfer to 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27C64-462C-4F26-9255-3032DBBD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6633871"/>
            <a:ext cx="2279659" cy="48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other body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973F8-759F-46A2-893C-588E4FA1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F597D-8642-4D9E-A5A3-3637EE28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25 of 27</a:t>
            </a:r>
          </a:p>
        </p:txBody>
      </p:sp>
      <p:sp>
        <p:nvSpPr>
          <p:cNvPr id="2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3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9293170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dd253194e4ae6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55CCD-9BBE-4437-AEB1-F0FCDE2A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1142"/>
            <a:ext cx="4115009" cy="74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65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6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Escape Velocity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160E5-26E6-4CB2-896A-14B94CC5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078228"/>
            <a:ext cx="2987113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If an object gains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12D0F-BDFB-42EB-8CF7-10771166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435098"/>
            <a:ext cx="4226560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enough orbital energy, it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71490-F01A-46CD-A26D-653CECFB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90698"/>
            <a:ext cx="3591043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may escape (change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4001C-DA99-491C-AE04-F6AB512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147568"/>
            <a:ext cx="2802207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a bound to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EBE06-EB0F-4E9F-9A58-593FECBE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504438"/>
            <a:ext cx="2502388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unbound orbit)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0F6C7-4F14-440E-9BFF-42472AB4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462018"/>
            <a:ext cx="2914800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Escape velocity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C08C0-ECE0-4682-B217-535F4E53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130" y="4462018"/>
            <a:ext cx="1015822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from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DC0E7-C851-41CF-9CCB-B884FEA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817618"/>
            <a:ext cx="3708942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Earth ≈ 11 km/s from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0B901-F2F7-4A43-8DAD-5BACA2D0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174488"/>
            <a:ext cx="4060605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sea level (about 40,000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5F6D2-CBF2-46E4-BB6F-07EDA6B9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530088"/>
            <a:ext cx="1137343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km/hr)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605FD-1899-48A1-9BB7-265BBFD1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B2087-50FD-446C-A357-9AB28135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26 of 27</a:t>
            </a:r>
          </a:p>
        </p:txBody>
      </p:sp>
      <p:sp>
        <p:nvSpPr>
          <p:cNvPr id="1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1393011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d933b443844d3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4E15D-6E28-44E9-A4C4-3D7FF816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1142"/>
            <a:ext cx="6168082" cy="74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650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6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What have we learned?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3AF39-18F3-4B92-A3BB-363B6700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17168"/>
            <a:ext cx="3469367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 What is gravity?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8855E-AAE3-4EF4-8C95-A4C695E9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" y="1704289"/>
            <a:ext cx="5929469" cy="505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9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9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Gravity is an acceleration due to the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1A8A2-256A-4329-9672-9327F24E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" y="2072589"/>
            <a:ext cx="3042914" cy="505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9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9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gravitational force.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D625C-8182-4B7B-BA29-50BABF50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3838"/>
            <a:ext cx="4865042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2) What is proportionality?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8E3EC-DDB9-4616-B683-4C87B670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5" y="3000959"/>
            <a:ext cx="7701470" cy="505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9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9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Two terms are proportional if an increase in one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3008A-7650-4FEE-8B2B-AC96A62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39" y="3369259"/>
            <a:ext cx="7751271" cy="505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9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9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quantity leads to an increase in the other.  They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85D75-DBF3-436C-9424-FC31D491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39" y="3738829"/>
            <a:ext cx="7526120" cy="505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9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9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are inversely proportional if an increase in one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B628F-6024-4DB2-9AE1-06F6E9CF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39" y="4107129"/>
            <a:ext cx="6580594" cy="505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9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9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quantity leads to a decrease in the other.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5C9E7-277A-4ABB-A80C-1418F01A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48378"/>
            <a:ext cx="6179998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3) What is an inverse square law?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1FE98-CD01-4587-AE30-CDAEA316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" y="5035499"/>
            <a:ext cx="7284501" cy="505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9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9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An inverse square law is a relation where the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C9649-FB2D-4F8D-9747-CFACB79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" y="5403799"/>
            <a:ext cx="6763052" cy="505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9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9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quantity decreases with the square of the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AB9DC-D7C9-401D-95CA-AE264881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" y="5772099"/>
            <a:ext cx="1378918" cy="505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9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9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B881C-1C95-4A33-9C78-04DA1B2D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E0EDC-F659-47C3-8646-2743BD8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27 of 27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688778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WVU DSPIRA</dc:creator>
  <lastModifiedBy>WVU DSPIRA</lastModifiedBy>
  <dc:title>Gravity</dc:title>
  <dcterms:created xsi:type="dcterms:W3CDTF">2026-09-26T20:03:13.8510000Z</dcterms:created>
  <dcterms:modified xsi:type="dcterms:W3CDTF">2026-09-26T20:03:13.8510000Z</dcterms:modified>
</coreProperties>
</file>