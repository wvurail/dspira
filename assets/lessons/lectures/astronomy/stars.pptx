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52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5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3d458ec9c744b63" /><Relationship Type="http://schemas.openxmlformats.org/officeDocument/2006/relationships/extended-properties" Target="/docProps/app.xml" Id="R0fc8111a69c44467" /><Relationship Type="http://schemas.openxmlformats.org/officeDocument/2006/relationships/officeDocument" Target="/ppt/presentation.xml" Id="Rc11960aaeb93411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6c440a5af5047be"/>
  </p:sldMasterIdLst>
  <p:notesMasterIdLst>
    <p:notesMasterId xmlns:r="http://schemas.openxmlformats.org/officeDocument/2006/relationships" r:id="R19cad71775594ec3"/>
  </p:notesMasterIdLst>
  <p:sldIdLst>
    <p:sldId xmlns:r="http://schemas.openxmlformats.org/officeDocument/2006/relationships" id="256" r:id="R0db799bf214e40c8"/>
    <p:sldId xmlns:r="http://schemas.openxmlformats.org/officeDocument/2006/relationships" id="257" r:id="Rcfb87480521d44b6"/>
    <p:sldId xmlns:r="http://schemas.openxmlformats.org/officeDocument/2006/relationships" id="258" r:id="Re1bf9980eb1440a9"/>
    <p:sldId xmlns:r="http://schemas.openxmlformats.org/officeDocument/2006/relationships" id="259" r:id="R90718871f38c49fa"/>
    <p:sldId xmlns:r="http://schemas.openxmlformats.org/officeDocument/2006/relationships" id="260" r:id="Rb50cd53f9a674a8f"/>
    <p:sldId xmlns:r="http://schemas.openxmlformats.org/officeDocument/2006/relationships" id="261" r:id="Rbeef4fc3119c4b77"/>
    <p:sldId xmlns:r="http://schemas.openxmlformats.org/officeDocument/2006/relationships" id="262" r:id="R894e9f4108254b67"/>
    <p:sldId xmlns:r="http://schemas.openxmlformats.org/officeDocument/2006/relationships" id="263" r:id="Rbfa4641cdedb496f"/>
    <p:sldId xmlns:r="http://schemas.openxmlformats.org/officeDocument/2006/relationships" id="264" r:id="Rfddf3f8d4b7c4829"/>
    <p:sldId xmlns:r="http://schemas.openxmlformats.org/officeDocument/2006/relationships" id="265" r:id="R87cb38219328486c"/>
    <p:sldId xmlns:r="http://schemas.openxmlformats.org/officeDocument/2006/relationships" id="266" r:id="Rffc4bb3e1e624534"/>
    <p:sldId xmlns:r="http://schemas.openxmlformats.org/officeDocument/2006/relationships" id="267" r:id="R1cc04d3555734638"/>
    <p:sldId xmlns:r="http://schemas.openxmlformats.org/officeDocument/2006/relationships" id="268" r:id="R60d162da15b647b2"/>
    <p:sldId xmlns:r="http://schemas.openxmlformats.org/officeDocument/2006/relationships" id="269" r:id="Re004e32eca2945e4"/>
    <p:sldId xmlns:r="http://schemas.openxmlformats.org/officeDocument/2006/relationships" id="270" r:id="R96769e4b23664c3a"/>
    <p:sldId xmlns:r="http://schemas.openxmlformats.org/officeDocument/2006/relationships" id="271" r:id="R26b4235a4be84327"/>
    <p:sldId xmlns:r="http://schemas.openxmlformats.org/officeDocument/2006/relationships" id="272" r:id="R92378d1f39674075"/>
    <p:sldId xmlns:r="http://schemas.openxmlformats.org/officeDocument/2006/relationships" id="273" r:id="R2b259c0c6ecf408e"/>
    <p:sldId xmlns:r="http://schemas.openxmlformats.org/officeDocument/2006/relationships" id="274" r:id="Rd648e723143045e9"/>
    <p:sldId xmlns:r="http://schemas.openxmlformats.org/officeDocument/2006/relationships" id="275" r:id="R343de01cb8a34464"/>
    <p:sldId xmlns:r="http://schemas.openxmlformats.org/officeDocument/2006/relationships" id="276" r:id="R1019ddc5865b4eff"/>
    <p:sldId xmlns:r="http://schemas.openxmlformats.org/officeDocument/2006/relationships" id="277" r:id="Rc41b7bc0a8224c9e"/>
    <p:sldId xmlns:r="http://schemas.openxmlformats.org/officeDocument/2006/relationships" id="278" r:id="R327c1ae306664845"/>
    <p:sldId xmlns:r="http://schemas.openxmlformats.org/officeDocument/2006/relationships" id="279" r:id="R158a1fd8129043c0"/>
    <p:sldId xmlns:r="http://schemas.openxmlformats.org/officeDocument/2006/relationships" id="280" r:id="Rb0e5a473728f4428"/>
    <p:sldId xmlns:r="http://schemas.openxmlformats.org/officeDocument/2006/relationships" id="281" r:id="R3b3a947fd308460e"/>
    <p:sldId xmlns:r="http://schemas.openxmlformats.org/officeDocument/2006/relationships" id="282" r:id="R879cac4bb7c94940"/>
    <p:sldId xmlns:r="http://schemas.openxmlformats.org/officeDocument/2006/relationships" id="283" r:id="Ref448d012b9149d6"/>
    <p:sldId xmlns:r="http://schemas.openxmlformats.org/officeDocument/2006/relationships" id="284" r:id="R7929e49daf7745d5"/>
    <p:sldId xmlns:r="http://schemas.openxmlformats.org/officeDocument/2006/relationships" id="285" r:id="R5841c08e4f9d4183"/>
    <p:sldId xmlns:r="http://schemas.openxmlformats.org/officeDocument/2006/relationships" id="286" r:id="Rb669ca0c61d54e9c"/>
    <p:sldId xmlns:r="http://schemas.openxmlformats.org/officeDocument/2006/relationships" id="287" r:id="R5ea4033e2cbc4836"/>
    <p:sldId xmlns:r="http://schemas.openxmlformats.org/officeDocument/2006/relationships" id="288" r:id="Rf26a892edaad4f19"/>
    <p:sldId xmlns:r="http://schemas.openxmlformats.org/officeDocument/2006/relationships" id="289" r:id="Ra92cdcb4b418437e"/>
    <p:sldId xmlns:r="http://schemas.openxmlformats.org/officeDocument/2006/relationships" id="290" r:id="R508776cd864a4390"/>
    <p:sldId xmlns:r="http://schemas.openxmlformats.org/officeDocument/2006/relationships" id="291" r:id="R8a3e8b1d7bdc4796"/>
    <p:sldId xmlns:r="http://schemas.openxmlformats.org/officeDocument/2006/relationships" id="292" r:id="R39e7d818874a4004"/>
    <p:sldId xmlns:r="http://schemas.openxmlformats.org/officeDocument/2006/relationships" id="293" r:id="R2f96fe25f2804d3f"/>
    <p:sldId xmlns:r="http://schemas.openxmlformats.org/officeDocument/2006/relationships" id="294" r:id="Rcd21a4b72bc04f9a"/>
    <p:sldId xmlns:r="http://schemas.openxmlformats.org/officeDocument/2006/relationships" id="295" r:id="R9b1c5a0490104cab"/>
    <p:sldId xmlns:r="http://schemas.openxmlformats.org/officeDocument/2006/relationships" id="296" r:id="Raa4683cb432b4e15"/>
    <p:sldId xmlns:r="http://schemas.openxmlformats.org/officeDocument/2006/relationships" id="297" r:id="R80715594d55a4024"/>
    <p:sldId xmlns:r="http://schemas.openxmlformats.org/officeDocument/2006/relationships" id="298" r:id="Rba327dc4fa994a78"/>
    <p:sldId xmlns:r="http://schemas.openxmlformats.org/officeDocument/2006/relationships" id="299" r:id="Rcfff1a53760a4581"/>
    <p:sldId xmlns:r="http://schemas.openxmlformats.org/officeDocument/2006/relationships" id="300" r:id="Rc347319dc10d466b"/>
    <p:sldId xmlns:r="http://schemas.openxmlformats.org/officeDocument/2006/relationships" id="301" r:id="R7ce86fc5598c457e"/>
    <p:sldId xmlns:r="http://schemas.openxmlformats.org/officeDocument/2006/relationships" id="302" r:id="R0c4ee687c556423b"/>
    <p:sldId xmlns:r="http://schemas.openxmlformats.org/officeDocument/2006/relationships" id="303" r:id="R3e7d396c02d34e91"/>
    <p:sldId xmlns:r="http://schemas.openxmlformats.org/officeDocument/2006/relationships" id="304" r:id="Rd2f252c6eada4df7"/>
    <p:sldId xmlns:r="http://schemas.openxmlformats.org/officeDocument/2006/relationships" id="305" r:id="Rcf13178365914dae"/>
    <p:sldId xmlns:r="http://schemas.openxmlformats.org/officeDocument/2006/relationships" id="306" r:id="R8505448b4cf842f4"/>
    <p:sldId xmlns:r="http://schemas.openxmlformats.org/officeDocument/2006/relationships" id="307" r:id="Ree20a762b5204759"/>
    <p:sldId xmlns:r="http://schemas.openxmlformats.org/officeDocument/2006/relationships" id="308" r:id="R28500e202a0948a1"/>
  </p:sldIdLst>
  <p:sldSz cx="10058400" cy="84582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5469e64805b4b0f" /><Relationship Type="http://schemas.openxmlformats.org/officeDocument/2006/relationships/slideMaster" Target="/ppt/slideMasters/slideMaster1.xml" Id="R06c440a5af5047be" /><Relationship Type="http://schemas.openxmlformats.org/officeDocument/2006/relationships/notesMaster" Target="/ppt/notesMasters/notesMaster1.xml" Id="R19cad71775594ec3" /><Relationship Type="http://schemas.openxmlformats.org/officeDocument/2006/relationships/presProps" Target="/ppt/presProps.xml" Id="Recd3aad31c4344f9" /><Relationship Type="http://schemas.openxmlformats.org/officeDocument/2006/relationships/tableStyles" Target="/ppt/tableStyles.xml" Id="Rc9203761f20047da" /><Relationship Type="http://schemas.openxmlformats.org/officeDocument/2006/relationships/slide" Target="/ppt/slides/slide1.xml" Id="R0db799bf214e40c8" /><Relationship Type="http://schemas.openxmlformats.org/officeDocument/2006/relationships/slide" Target="/ppt/slides/slide2.xml" Id="Rcfb87480521d44b6" /><Relationship Type="http://schemas.openxmlformats.org/officeDocument/2006/relationships/slide" Target="/ppt/slides/slide3.xml" Id="Re1bf9980eb1440a9" /><Relationship Type="http://schemas.openxmlformats.org/officeDocument/2006/relationships/slide" Target="/ppt/slides/slide4.xml" Id="R90718871f38c49fa" /><Relationship Type="http://schemas.openxmlformats.org/officeDocument/2006/relationships/slide" Target="/ppt/slides/slide5.xml" Id="Rb50cd53f9a674a8f" /><Relationship Type="http://schemas.openxmlformats.org/officeDocument/2006/relationships/slide" Target="/ppt/slides/slide6.xml" Id="Rbeef4fc3119c4b77" /><Relationship Type="http://schemas.openxmlformats.org/officeDocument/2006/relationships/slide" Target="/ppt/slides/slide7.xml" Id="R894e9f4108254b67" /><Relationship Type="http://schemas.openxmlformats.org/officeDocument/2006/relationships/slide" Target="/ppt/slides/slide8.xml" Id="Rbfa4641cdedb496f" /><Relationship Type="http://schemas.openxmlformats.org/officeDocument/2006/relationships/slide" Target="/ppt/slides/slide9.xml" Id="Rfddf3f8d4b7c4829" /><Relationship Type="http://schemas.openxmlformats.org/officeDocument/2006/relationships/slide" Target="/ppt/slides/slide10.xml" Id="R87cb38219328486c" /><Relationship Type="http://schemas.openxmlformats.org/officeDocument/2006/relationships/slide" Target="/ppt/slides/slide11.xml" Id="Rffc4bb3e1e624534" /><Relationship Type="http://schemas.openxmlformats.org/officeDocument/2006/relationships/slide" Target="/ppt/slides/slide12.xml" Id="R1cc04d3555734638" /><Relationship Type="http://schemas.openxmlformats.org/officeDocument/2006/relationships/slide" Target="/ppt/slides/slide13.xml" Id="R60d162da15b647b2" /><Relationship Type="http://schemas.openxmlformats.org/officeDocument/2006/relationships/slide" Target="/ppt/slides/slide14.xml" Id="Re004e32eca2945e4" /><Relationship Type="http://schemas.openxmlformats.org/officeDocument/2006/relationships/slide" Target="/ppt/slides/slide15.xml" Id="R96769e4b23664c3a" /><Relationship Type="http://schemas.openxmlformats.org/officeDocument/2006/relationships/slide" Target="/ppt/slides/slide16.xml" Id="R26b4235a4be84327" /><Relationship Type="http://schemas.openxmlformats.org/officeDocument/2006/relationships/slide" Target="/ppt/slides/slide17.xml" Id="R92378d1f39674075" /><Relationship Type="http://schemas.openxmlformats.org/officeDocument/2006/relationships/slide" Target="/ppt/slides/slide18.xml" Id="R2b259c0c6ecf408e" /><Relationship Type="http://schemas.openxmlformats.org/officeDocument/2006/relationships/slide" Target="/ppt/slides/slide19.xml" Id="Rd648e723143045e9" /><Relationship Type="http://schemas.openxmlformats.org/officeDocument/2006/relationships/slide" Target="/ppt/slides/slide20.xml" Id="R343de01cb8a34464" /><Relationship Type="http://schemas.openxmlformats.org/officeDocument/2006/relationships/slide" Target="/ppt/slides/slide21.xml" Id="R1019ddc5865b4eff" /><Relationship Type="http://schemas.openxmlformats.org/officeDocument/2006/relationships/slide" Target="/ppt/slides/slide22.xml" Id="Rc41b7bc0a8224c9e" /><Relationship Type="http://schemas.openxmlformats.org/officeDocument/2006/relationships/slide" Target="/ppt/slides/slide23.xml" Id="R327c1ae306664845" /><Relationship Type="http://schemas.openxmlformats.org/officeDocument/2006/relationships/slide" Target="/ppt/slides/slide24.xml" Id="R158a1fd8129043c0" /><Relationship Type="http://schemas.openxmlformats.org/officeDocument/2006/relationships/slide" Target="/ppt/slides/slide25.xml" Id="Rb0e5a473728f4428" /><Relationship Type="http://schemas.openxmlformats.org/officeDocument/2006/relationships/slide" Target="/ppt/slides/slide26.xml" Id="R3b3a947fd308460e" /><Relationship Type="http://schemas.openxmlformats.org/officeDocument/2006/relationships/slide" Target="/ppt/slides/slide27.xml" Id="R879cac4bb7c94940" /><Relationship Type="http://schemas.openxmlformats.org/officeDocument/2006/relationships/slide" Target="/ppt/slides/slide28.xml" Id="Ref448d012b9149d6" /><Relationship Type="http://schemas.openxmlformats.org/officeDocument/2006/relationships/slide" Target="/ppt/slides/slide29.xml" Id="R7929e49daf7745d5" /><Relationship Type="http://schemas.openxmlformats.org/officeDocument/2006/relationships/slide" Target="/ppt/slides/slide30.xml" Id="R5841c08e4f9d4183" /><Relationship Type="http://schemas.openxmlformats.org/officeDocument/2006/relationships/slide" Target="/ppt/slides/slide31.xml" Id="Rb669ca0c61d54e9c" /><Relationship Type="http://schemas.openxmlformats.org/officeDocument/2006/relationships/slide" Target="/ppt/slides/slide32.xml" Id="R5ea4033e2cbc4836" /><Relationship Type="http://schemas.openxmlformats.org/officeDocument/2006/relationships/slide" Target="/ppt/slides/slide33.xml" Id="Rf26a892edaad4f19" /><Relationship Type="http://schemas.openxmlformats.org/officeDocument/2006/relationships/slide" Target="/ppt/slides/slide34.xml" Id="Ra92cdcb4b418437e" /><Relationship Type="http://schemas.openxmlformats.org/officeDocument/2006/relationships/slide" Target="/ppt/slides/slide35.xml" Id="R508776cd864a4390" /><Relationship Type="http://schemas.openxmlformats.org/officeDocument/2006/relationships/slide" Target="/ppt/slides/slide36.xml" Id="R8a3e8b1d7bdc4796" /><Relationship Type="http://schemas.openxmlformats.org/officeDocument/2006/relationships/slide" Target="/ppt/slides/slide37.xml" Id="R39e7d818874a4004" /><Relationship Type="http://schemas.openxmlformats.org/officeDocument/2006/relationships/slide" Target="/ppt/slides/slide38.xml" Id="R2f96fe25f2804d3f" /><Relationship Type="http://schemas.openxmlformats.org/officeDocument/2006/relationships/slide" Target="/ppt/slides/slide39.xml" Id="Rcd21a4b72bc04f9a" /><Relationship Type="http://schemas.openxmlformats.org/officeDocument/2006/relationships/slide" Target="/ppt/slides/slide40.xml" Id="R9b1c5a0490104cab" /><Relationship Type="http://schemas.openxmlformats.org/officeDocument/2006/relationships/slide" Target="/ppt/slides/slide41.xml" Id="Raa4683cb432b4e15" /><Relationship Type="http://schemas.openxmlformats.org/officeDocument/2006/relationships/slide" Target="/ppt/slides/slide42.xml" Id="R80715594d55a4024" /><Relationship Type="http://schemas.openxmlformats.org/officeDocument/2006/relationships/slide" Target="/ppt/slides/slide43.xml" Id="Rba327dc4fa994a78" /><Relationship Type="http://schemas.openxmlformats.org/officeDocument/2006/relationships/slide" Target="/ppt/slides/slide44.xml" Id="Rcfff1a53760a4581" /><Relationship Type="http://schemas.openxmlformats.org/officeDocument/2006/relationships/slide" Target="/ppt/slides/slide45.xml" Id="Rc347319dc10d466b" /><Relationship Type="http://schemas.openxmlformats.org/officeDocument/2006/relationships/slide" Target="/ppt/slides/slide46.xml" Id="R7ce86fc5598c457e" /><Relationship Type="http://schemas.openxmlformats.org/officeDocument/2006/relationships/slide" Target="/ppt/slides/slide47.xml" Id="R0c4ee687c556423b" /><Relationship Type="http://schemas.openxmlformats.org/officeDocument/2006/relationships/slide" Target="/ppt/slides/slide48.xml" Id="R3e7d396c02d34e91" /><Relationship Type="http://schemas.openxmlformats.org/officeDocument/2006/relationships/slide" Target="/ppt/slides/slide49.xml" Id="Rd2f252c6eada4df7" /><Relationship Type="http://schemas.openxmlformats.org/officeDocument/2006/relationships/slide" Target="/ppt/slides/slide50.xml" Id="Rcf13178365914dae" /><Relationship Type="http://schemas.openxmlformats.org/officeDocument/2006/relationships/slide" Target="/ppt/slides/slide51.xml" Id="R8505448b4cf842f4" /><Relationship Type="http://schemas.openxmlformats.org/officeDocument/2006/relationships/slide" Target="/ppt/slides/slide52.xml" Id="Ree20a762b5204759" /><Relationship Type="http://schemas.openxmlformats.org/officeDocument/2006/relationships/slide" Target="/ppt/slides/slide53.xml" Id="R28500e202a0948a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2082af1da9e475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942a2b2bac741d7" /><Relationship Type="http://schemas.openxmlformats.org/officeDocument/2006/relationships/notesMaster" Target="/ppt/notesMasters/notesMaster1.xml" Id="R5024cd7ebfdc4dc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99d240aee1a4767" /><Relationship Type="http://schemas.openxmlformats.org/officeDocument/2006/relationships/notesMaster" Target="/ppt/notesMasters/notesMaster1.xml" Id="R35182cb082c747f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49e7fb96c5c48af" /><Relationship Type="http://schemas.openxmlformats.org/officeDocument/2006/relationships/notesMaster" Target="/ppt/notesMasters/notesMaster1.xml" Id="R8c7a99f6433a4b3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146cbb4c2644242" /><Relationship Type="http://schemas.openxmlformats.org/officeDocument/2006/relationships/notesMaster" Target="/ppt/notesMasters/notesMaster1.xml" Id="R8629a10eaa4d4a8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d5aa1b424364f8b" /><Relationship Type="http://schemas.openxmlformats.org/officeDocument/2006/relationships/notesMaster" Target="/ppt/notesMasters/notesMaster1.xml" Id="Rf2a1c310b58b486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dad1eafc8f647b8" /><Relationship Type="http://schemas.openxmlformats.org/officeDocument/2006/relationships/notesMaster" Target="/ppt/notesMasters/notesMaster1.xml" Id="R13139490e27f466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34f23d1cac6439f" /><Relationship Type="http://schemas.openxmlformats.org/officeDocument/2006/relationships/notesMaster" Target="/ppt/notesMasters/notesMaster1.xml" Id="Rd6a2128f60f5449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4cf10f3a4044306" /><Relationship Type="http://schemas.openxmlformats.org/officeDocument/2006/relationships/notesMaster" Target="/ppt/notesMasters/notesMaster1.xml" Id="R00f545a8baea40d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821d27a2c794b87" /><Relationship Type="http://schemas.openxmlformats.org/officeDocument/2006/relationships/notesMaster" Target="/ppt/notesMasters/notesMaster1.xml" Id="Rc6d4363c0d414eb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4642d6b098e432e" /><Relationship Type="http://schemas.openxmlformats.org/officeDocument/2006/relationships/notesMaster" Target="/ppt/notesMasters/notesMaster1.xml" Id="Rd450e1512af7482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6a57e2394ad4709" /><Relationship Type="http://schemas.openxmlformats.org/officeDocument/2006/relationships/notesMaster" Target="/ppt/notesMasters/notesMaster1.xml" Id="Rcb8f645063a94fe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d6b041725fc4efa" /><Relationship Type="http://schemas.openxmlformats.org/officeDocument/2006/relationships/notesMaster" Target="/ppt/notesMasters/notesMaster1.xml" Id="R26058aee488d43e6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8c3fb4f6d5374234" /><Relationship Type="http://schemas.openxmlformats.org/officeDocument/2006/relationships/notesMaster" Target="/ppt/notesMasters/notesMaster1.xml" Id="R748a92c335e04bd5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d4ecb06c48a143eb" /><Relationship Type="http://schemas.openxmlformats.org/officeDocument/2006/relationships/notesMaster" Target="/ppt/notesMasters/notesMaster1.xml" Id="Rdb02b4ee59d34ea9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e34ae82dea3f429f" /><Relationship Type="http://schemas.openxmlformats.org/officeDocument/2006/relationships/notesMaster" Target="/ppt/notesMasters/notesMaster1.xml" Id="Rbd30c9b0d11649a8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f0030a31355f47b1" /><Relationship Type="http://schemas.openxmlformats.org/officeDocument/2006/relationships/notesMaster" Target="/ppt/notesMasters/notesMaster1.xml" Id="Re8791ce1af514252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0850726b28074f24" /><Relationship Type="http://schemas.openxmlformats.org/officeDocument/2006/relationships/notesMaster" Target="/ppt/notesMasters/notesMaster1.xml" Id="R428654a0088b40f4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f8803ea28bdc4079" /><Relationship Type="http://schemas.openxmlformats.org/officeDocument/2006/relationships/notesMaster" Target="/ppt/notesMasters/notesMaster1.xml" Id="Raa6d1dc303a74847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06587d87ffcd41ad" /><Relationship Type="http://schemas.openxmlformats.org/officeDocument/2006/relationships/notesMaster" Target="/ppt/notesMasters/notesMaster1.xml" Id="R9ba76959f4304db5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f458f79774534b81" /><Relationship Type="http://schemas.openxmlformats.org/officeDocument/2006/relationships/notesMaster" Target="/ppt/notesMasters/notesMaster1.xml" Id="Rf2a5a76eb6084e8f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afd798de7d6b486b" /><Relationship Type="http://schemas.openxmlformats.org/officeDocument/2006/relationships/notesMaster" Target="/ppt/notesMasters/notesMaster1.xml" Id="R7898a31b7d8147ac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d0394b2a1e424e4f" /><Relationship Type="http://schemas.openxmlformats.org/officeDocument/2006/relationships/notesMaster" Target="/ppt/notesMasters/notesMaster1.xml" Id="R653f757bd28d4aac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cb3f53f71e27422a" /><Relationship Type="http://schemas.openxmlformats.org/officeDocument/2006/relationships/notesMaster" Target="/ppt/notesMasters/notesMaster1.xml" Id="R010b5df7c50b4cd6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46e69ce594dc4e09" /><Relationship Type="http://schemas.openxmlformats.org/officeDocument/2006/relationships/notesMaster" Target="/ppt/notesMasters/notesMaster1.xml" Id="Rc0b83f4ea9d44095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11d6f454969644d0" /><Relationship Type="http://schemas.openxmlformats.org/officeDocument/2006/relationships/notesMaster" Target="/ppt/notesMasters/notesMaster1.xml" Id="R554327908f324b59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f210ac2129e04f76" /><Relationship Type="http://schemas.openxmlformats.org/officeDocument/2006/relationships/notesMaster" Target="/ppt/notesMasters/notesMaster1.xml" Id="R0f0d4dd5bc724dcd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d1c296fe85a64385" /><Relationship Type="http://schemas.openxmlformats.org/officeDocument/2006/relationships/notesMaster" Target="/ppt/notesMasters/notesMaster1.xml" Id="Rf6bfa10305b94d84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d82f285d04c744e8" /><Relationship Type="http://schemas.openxmlformats.org/officeDocument/2006/relationships/notesMaster" Target="/ppt/notesMasters/notesMaster1.xml" Id="Rd40d82eb03124ecc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9223d725f77b4afa" /><Relationship Type="http://schemas.openxmlformats.org/officeDocument/2006/relationships/notesMaster" Target="/ppt/notesMasters/notesMaster1.xml" Id="Rdd8c1488fc0a422b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a9ec571a92f34fee" /><Relationship Type="http://schemas.openxmlformats.org/officeDocument/2006/relationships/notesMaster" Target="/ppt/notesMasters/notesMaster1.xml" Id="R47104a4b1bee4bea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f3479012cea14be9" /><Relationship Type="http://schemas.openxmlformats.org/officeDocument/2006/relationships/notesMaster" Target="/ppt/notesMasters/notesMaster1.xml" Id="Re2c78f0ec8d04e5e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06110202adc5485c" /><Relationship Type="http://schemas.openxmlformats.org/officeDocument/2006/relationships/notesMaster" Target="/ppt/notesMasters/notesMaster1.xml" Id="Raece4d5d082e4661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b6e9a2a2544d4c81" /><Relationship Type="http://schemas.openxmlformats.org/officeDocument/2006/relationships/notesMaster" Target="/ppt/notesMasters/notesMaster1.xml" Id="R0b0d685fbc9e4dde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1ccdb46aad5540fa" /><Relationship Type="http://schemas.openxmlformats.org/officeDocument/2006/relationships/notesMaster" Target="/ppt/notesMasters/notesMaster1.xml" Id="Rd3108c2c914f468b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0214e7b598174e23" /><Relationship Type="http://schemas.openxmlformats.org/officeDocument/2006/relationships/notesMaster" Target="/ppt/notesMasters/notesMaster1.xml" Id="R0a84b9c013dc45d7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dd53d4b5a90042f8" /><Relationship Type="http://schemas.openxmlformats.org/officeDocument/2006/relationships/notesMaster" Target="/ppt/notesMasters/notesMaster1.xml" Id="R443633d0d91f44bd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0f143a4c104d4ce3" /><Relationship Type="http://schemas.openxmlformats.org/officeDocument/2006/relationships/notesMaster" Target="/ppt/notesMasters/notesMaster1.xml" Id="Ra9874c2872e8429a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cbef64764f1a4446" /><Relationship Type="http://schemas.openxmlformats.org/officeDocument/2006/relationships/notesMaster" Target="/ppt/notesMasters/notesMaster1.xml" Id="Rd8f61248f9874184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1c8c0650d48b48ba" /><Relationship Type="http://schemas.openxmlformats.org/officeDocument/2006/relationships/notesMaster" Target="/ppt/notesMasters/notesMaster1.xml" Id="Ra6980ea6b01f4290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f61ea70579e845db" /><Relationship Type="http://schemas.openxmlformats.org/officeDocument/2006/relationships/notesMaster" Target="/ppt/notesMasters/notesMaster1.xml" Id="R07a6811537f943bd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ba1db0dd6bb444a8" /><Relationship Type="http://schemas.openxmlformats.org/officeDocument/2006/relationships/notesMaster" Target="/ppt/notesMasters/notesMaster1.xml" Id="R544bbf6843db4d12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b6b0b03b174840f1" /><Relationship Type="http://schemas.openxmlformats.org/officeDocument/2006/relationships/notesMaster" Target="/ppt/notesMasters/notesMaster1.xml" Id="R72906de25ed9437e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14cf1ddc58fa4a51" /><Relationship Type="http://schemas.openxmlformats.org/officeDocument/2006/relationships/notesMaster" Target="/ppt/notesMasters/notesMaster1.xml" Id="R858ce7026de04c62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ed06f65ec18b4873" /><Relationship Type="http://schemas.openxmlformats.org/officeDocument/2006/relationships/notesMaster" Target="/ppt/notesMasters/notesMaster1.xml" Id="R988b5f96caaa4369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fcc91597e51f4d11" /><Relationship Type="http://schemas.openxmlformats.org/officeDocument/2006/relationships/notesMaster" Target="/ppt/notesMasters/notesMaster1.xml" Id="R5811867b1ae847b4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59e52defec2d4c8a" /><Relationship Type="http://schemas.openxmlformats.org/officeDocument/2006/relationships/notesMaster" Target="/ppt/notesMasters/notesMaster1.xml" Id="Re216a3079a3c4c05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e47c93933df24016" /><Relationship Type="http://schemas.openxmlformats.org/officeDocument/2006/relationships/notesMaster" Target="/ppt/notesMasters/notesMaster1.xml" Id="Rc9784c8b664a4cf3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f7f8d08eba5d415d" /><Relationship Type="http://schemas.openxmlformats.org/officeDocument/2006/relationships/notesMaster" Target="/ppt/notesMasters/notesMaster1.xml" Id="Rbb664d7e693c456d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20b23bdc39734957" /><Relationship Type="http://schemas.openxmlformats.org/officeDocument/2006/relationships/notesMaster" Target="/ppt/notesMasters/notesMaster1.xml" Id="Reae7af3e18c14659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5907b461a9e44e19" /><Relationship Type="http://schemas.openxmlformats.org/officeDocument/2006/relationships/notesMaster" Target="/ppt/notesMasters/notesMaster1.xml" Id="R800c85e30c9b4ab8" /></Relationships>
</file>

<file path=ppt/notesSlides/_rels/notesSlide51.xml.rels>&#65279;<?xml version="1.0" encoding="utf-8"?><Relationships xmlns="http://schemas.openxmlformats.org/package/2006/relationships"><Relationship Type="http://schemas.openxmlformats.org/officeDocument/2006/relationships/slide" Target="/ppt/slides/slide51.xml" Id="R319022b10ff545c0" /><Relationship Type="http://schemas.openxmlformats.org/officeDocument/2006/relationships/notesMaster" Target="/ppt/notesMasters/notesMaster1.xml" Id="Ra6c3754d166445ab" /></Relationships>
</file>

<file path=ppt/notesSlides/_rels/notesSlide52.xml.rels>&#65279;<?xml version="1.0" encoding="utf-8"?><Relationships xmlns="http://schemas.openxmlformats.org/package/2006/relationships"><Relationship Type="http://schemas.openxmlformats.org/officeDocument/2006/relationships/slide" Target="/ppt/slides/slide52.xml" Id="R3c7344f1676d4176" /><Relationship Type="http://schemas.openxmlformats.org/officeDocument/2006/relationships/notesMaster" Target="/ppt/notesMasters/notesMaster1.xml" Id="R1e03aefd8ea3455b" /></Relationships>
</file>

<file path=ppt/notesSlides/_rels/notesSlide53.xml.rels>&#65279;<?xml version="1.0" encoding="utf-8"?><Relationships xmlns="http://schemas.openxmlformats.org/package/2006/relationships"><Relationship Type="http://schemas.openxmlformats.org/officeDocument/2006/relationships/slide" Target="/ppt/slides/slide53.xml" Id="Rc9f40bc170624e5d" /><Relationship Type="http://schemas.openxmlformats.org/officeDocument/2006/relationships/notesMaster" Target="/ppt/notesMasters/notesMaster1.xml" Id="R5341bc7748a8475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1.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2.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3.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4.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5.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6.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7.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8.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9.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10.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11.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12.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13.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14.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15.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16.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17.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18.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19.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20.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21.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22.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23.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24.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25.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26.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27.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28.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29.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30.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31.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32.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33.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34.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35.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36.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37.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38.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39.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40.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41.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42.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43.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44.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45.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46.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47.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48.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49.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50.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51.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52.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53.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debdadf0017434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e3d9e2e1e77435f" /><Relationship Type="http://schemas.openxmlformats.org/officeDocument/2006/relationships/slideLayout" Target="/ppt/slideLayouts/slideLayout1.xml" Id="Rc66d94320b4449f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66d94320b4449f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300f01560049cd" /><Relationship Type="http://schemas.openxmlformats.org/officeDocument/2006/relationships/image" Target="/ppt/media/image.png" Id="Rb9ee8d3aa9324e3f" /><Relationship Type="http://schemas.openxmlformats.org/officeDocument/2006/relationships/notesSlide" Target="/ppt/notesSlides/notesSlide1.xml" Id="R1a0b5a218316477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22cf938ce949f1" /><Relationship Type="http://schemas.openxmlformats.org/officeDocument/2006/relationships/image" Target="/ppt/media/image2.png" Id="R9eb23c624b2b4edb" /><Relationship Type="http://schemas.openxmlformats.org/officeDocument/2006/relationships/notesSlide" Target="/ppt/notesSlides/notesSlide2.xml" Id="R68f6f19c2ea74ba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862ebd739e44a5" /><Relationship Type="http://schemas.openxmlformats.org/officeDocument/2006/relationships/image" Target="/ppt/media/image3.png" Id="Rb174997289874b79" /><Relationship Type="http://schemas.openxmlformats.org/officeDocument/2006/relationships/notesSlide" Target="/ppt/notesSlides/notesSlide3.xml" Id="R86e2b1ded9ce41c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34d7db1c304e8e" /><Relationship Type="http://schemas.openxmlformats.org/officeDocument/2006/relationships/image" Target="/ppt/media/image4.png" Id="Ra70e3f070ba74315" /><Relationship Type="http://schemas.openxmlformats.org/officeDocument/2006/relationships/notesSlide" Target="/ppt/notesSlides/notesSlide4.xml" Id="Red33f3fdae6f453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44c05b9bd84e83" /><Relationship Type="http://schemas.openxmlformats.org/officeDocument/2006/relationships/image" Target="/ppt/media/image5.png" Id="R87f8191638a24aa1" /><Relationship Type="http://schemas.openxmlformats.org/officeDocument/2006/relationships/notesSlide" Target="/ppt/notesSlides/notesSlide5.xml" Id="Rc58c41dd45354a3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69fdc70d804d57" /><Relationship Type="http://schemas.openxmlformats.org/officeDocument/2006/relationships/image" Target="/ppt/media/image6.png" Id="Re3ff8aac94064269" /><Relationship Type="http://schemas.openxmlformats.org/officeDocument/2006/relationships/notesSlide" Target="/ppt/notesSlides/notesSlide6.xml" Id="R6275b37f63bd449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f0a7920c654692" /><Relationship Type="http://schemas.openxmlformats.org/officeDocument/2006/relationships/image" Target="/ppt/media/image7.png" Id="R050b7537e7034d9c" /><Relationship Type="http://schemas.openxmlformats.org/officeDocument/2006/relationships/notesSlide" Target="/ppt/notesSlides/notesSlide7.xml" Id="Re345f3e6853f406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9e6af9a0204c4d" /><Relationship Type="http://schemas.openxmlformats.org/officeDocument/2006/relationships/image" Target="/ppt/media/image8.png" Id="R18e53f145afa4ac3" /><Relationship Type="http://schemas.openxmlformats.org/officeDocument/2006/relationships/notesSlide" Target="/ppt/notesSlides/notesSlide8.xml" Id="Ree6093670e50407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f66fe94b9a441c" /><Relationship Type="http://schemas.openxmlformats.org/officeDocument/2006/relationships/image" Target="/ppt/media/image9.png" Id="R97170f2dd0184d95" /><Relationship Type="http://schemas.openxmlformats.org/officeDocument/2006/relationships/notesSlide" Target="/ppt/notesSlides/notesSlide9.xml" Id="Rbb5dff1ca8034d2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3bef9dcc3f4348" /><Relationship Type="http://schemas.openxmlformats.org/officeDocument/2006/relationships/image" Target="/ppt/media/image10.png" Id="R72e3aa6c109f43f0" /><Relationship Type="http://schemas.openxmlformats.org/officeDocument/2006/relationships/notesSlide" Target="/ppt/notesSlides/notesSlide10.xml" Id="Ra19f8235648b4ce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a4943435124254" /><Relationship Type="http://schemas.openxmlformats.org/officeDocument/2006/relationships/image" Target="/ppt/media/image11.png" Id="R4bc1127ab7ca4136" /><Relationship Type="http://schemas.openxmlformats.org/officeDocument/2006/relationships/notesSlide" Target="/ppt/notesSlides/notesSlide11.xml" Id="Rb63ff900a647489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96005b30824df8" /><Relationship Type="http://schemas.openxmlformats.org/officeDocument/2006/relationships/image" Target="/ppt/media/image12.png" Id="Rc51f0347980a404f" /><Relationship Type="http://schemas.openxmlformats.org/officeDocument/2006/relationships/notesSlide" Target="/ppt/notesSlides/notesSlide12.xml" Id="Rde76b107f4e146cb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133df19ef1417e" /><Relationship Type="http://schemas.openxmlformats.org/officeDocument/2006/relationships/image" Target="/ppt/media/image13.png" Id="R81b5242be4ce4a79" /><Relationship Type="http://schemas.openxmlformats.org/officeDocument/2006/relationships/notesSlide" Target="/ppt/notesSlides/notesSlide13.xml" Id="Rebbb9a2f660048b3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815afd64b74d17" /><Relationship Type="http://schemas.openxmlformats.org/officeDocument/2006/relationships/image" Target="/ppt/media/image14.png" Id="R57b0d0f1dfcc4937" /><Relationship Type="http://schemas.openxmlformats.org/officeDocument/2006/relationships/notesSlide" Target="/ppt/notesSlides/notesSlide14.xml" Id="Rac43dc5e4bb6498b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45d3fad7d543e7" /><Relationship Type="http://schemas.openxmlformats.org/officeDocument/2006/relationships/image" Target="/ppt/media/image15.png" Id="R41581e8b15584bc8" /><Relationship Type="http://schemas.openxmlformats.org/officeDocument/2006/relationships/notesSlide" Target="/ppt/notesSlides/notesSlide15.xml" Id="Rcadf8d3c85404e2b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bd4c38b94943e3" /><Relationship Type="http://schemas.openxmlformats.org/officeDocument/2006/relationships/image" Target="/ppt/media/image16.png" Id="R1361d5a850d7491d" /><Relationship Type="http://schemas.openxmlformats.org/officeDocument/2006/relationships/notesSlide" Target="/ppt/notesSlides/notesSlide16.xml" Id="Rd413c5846faa4c75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9fb6b4a9e84706" /><Relationship Type="http://schemas.openxmlformats.org/officeDocument/2006/relationships/image" Target="/ppt/media/image17.png" Id="Rcdf70094a2cd4734" /><Relationship Type="http://schemas.openxmlformats.org/officeDocument/2006/relationships/notesSlide" Target="/ppt/notesSlides/notesSlide17.xml" Id="R5af8c272730e421e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027eb1c7b74d23" /><Relationship Type="http://schemas.openxmlformats.org/officeDocument/2006/relationships/image" Target="/ppt/media/image18.png" Id="Rf199015a93df4f4a" /><Relationship Type="http://schemas.openxmlformats.org/officeDocument/2006/relationships/notesSlide" Target="/ppt/notesSlides/notesSlide18.xml" Id="R602f9b925c414098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5c120896cd4ae4" /><Relationship Type="http://schemas.openxmlformats.org/officeDocument/2006/relationships/image" Target="/ppt/media/image19.png" Id="Raeb18c2f30ea4417" /><Relationship Type="http://schemas.openxmlformats.org/officeDocument/2006/relationships/notesSlide" Target="/ppt/notesSlides/notesSlide19.xml" Id="R67e6792fe3ce44dc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fe17eb1a3e470d" /><Relationship Type="http://schemas.openxmlformats.org/officeDocument/2006/relationships/image" Target="/ppt/media/image20.png" Id="R714ee5ca60894e9f" /><Relationship Type="http://schemas.openxmlformats.org/officeDocument/2006/relationships/notesSlide" Target="/ppt/notesSlides/notesSlide20.xml" Id="Rc169dc486fc94e24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22443a6e544b00" /><Relationship Type="http://schemas.openxmlformats.org/officeDocument/2006/relationships/image" Target="/ppt/media/image21.png" Id="Raabdb41b841742a1" /><Relationship Type="http://schemas.openxmlformats.org/officeDocument/2006/relationships/notesSlide" Target="/ppt/notesSlides/notesSlide21.xml" Id="Rd7c7396f1e64421c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0a7e0a50a445a4" /><Relationship Type="http://schemas.openxmlformats.org/officeDocument/2006/relationships/image" Target="/ppt/media/image22.png" Id="R3519001428494901" /><Relationship Type="http://schemas.openxmlformats.org/officeDocument/2006/relationships/notesSlide" Target="/ppt/notesSlides/notesSlide22.xml" Id="Rdc1c7339a44e4505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8e3ad69be345ef" /><Relationship Type="http://schemas.openxmlformats.org/officeDocument/2006/relationships/image" Target="/ppt/media/image23.png" Id="R7067a5c98e8748aa" /><Relationship Type="http://schemas.openxmlformats.org/officeDocument/2006/relationships/notesSlide" Target="/ppt/notesSlides/notesSlide23.xml" Id="Rec1ba7f7b2eb4819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409bf60ca54a7a" /><Relationship Type="http://schemas.openxmlformats.org/officeDocument/2006/relationships/image" Target="/ppt/media/image24.png" Id="Ra5568750d9754318" /><Relationship Type="http://schemas.openxmlformats.org/officeDocument/2006/relationships/notesSlide" Target="/ppt/notesSlides/notesSlide24.xml" Id="Rb73a6113595b4240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6df33afcae4667" /><Relationship Type="http://schemas.openxmlformats.org/officeDocument/2006/relationships/image" Target="/ppt/media/image25.png" Id="R808704051f6c4e3e" /><Relationship Type="http://schemas.openxmlformats.org/officeDocument/2006/relationships/notesSlide" Target="/ppt/notesSlides/notesSlide25.xml" Id="R419a2ab3085442a7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e4ee4c27614482" /><Relationship Type="http://schemas.openxmlformats.org/officeDocument/2006/relationships/image" Target="/ppt/media/image26.png" Id="R4e1a23c4b60a4285" /><Relationship Type="http://schemas.openxmlformats.org/officeDocument/2006/relationships/notesSlide" Target="/ppt/notesSlides/notesSlide26.xml" Id="R121863a1083643cf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0b0a0733864f36" /><Relationship Type="http://schemas.openxmlformats.org/officeDocument/2006/relationships/image" Target="/ppt/media/image27.png" Id="R4fb69ee5e68b4cff" /><Relationship Type="http://schemas.openxmlformats.org/officeDocument/2006/relationships/notesSlide" Target="/ppt/notesSlides/notesSlide27.xml" Id="Re5dcc1a2d9e442bb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cd62dc5c154091" /><Relationship Type="http://schemas.openxmlformats.org/officeDocument/2006/relationships/image" Target="/ppt/media/image28.png" Id="R76bbf806ca8a4a40" /><Relationship Type="http://schemas.openxmlformats.org/officeDocument/2006/relationships/notesSlide" Target="/ppt/notesSlides/notesSlide28.xml" Id="R0c5f9745c6504d9e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32315f6be14c22" /><Relationship Type="http://schemas.openxmlformats.org/officeDocument/2006/relationships/image" Target="/ppt/media/image29.png" Id="R37f5ba5e62c74e69" /><Relationship Type="http://schemas.openxmlformats.org/officeDocument/2006/relationships/notesSlide" Target="/ppt/notesSlides/notesSlide29.xml" Id="Re0cb1e7438384d2a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c762f1c03c4ed1" /><Relationship Type="http://schemas.openxmlformats.org/officeDocument/2006/relationships/image" Target="/ppt/media/image30.png" Id="Rf2168436d1584d92" /><Relationship Type="http://schemas.openxmlformats.org/officeDocument/2006/relationships/notesSlide" Target="/ppt/notesSlides/notesSlide30.xml" Id="Radb6ee5832d54579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e97e75841e45a6" /><Relationship Type="http://schemas.openxmlformats.org/officeDocument/2006/relationships/image" Target="/ppt/media/image31.png" Id="R017c667931394eac" /><Relationship Type="http://schemas.openxmlformats.org/officeDocument/2006/relationships/notesSlide" Target="/ppt/notesSlides/notesSlide31.xml" Id="R1755006ddb9a4af3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f2dec602d3420c" /><Relationship Type="http://schemas.openxmlformats.org/officeDocument/2006/relationships/image" Target="/ppt/media/image32.png" Id="R7c9f9d6e674e4060" /><Relationship Type="http://schemas.openxmlformats.org/officeDocument/2006/relationships/notesSlide" Target="/ppt/notesSlides/notesSlide32.xml" Id="R52480c5ac4b7465a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1687ac47c0434b" /><Relationship Type="http://schemas.openxmlformats.org/officeDocument/2006/relationships/image" Target="/ppt/media/image33.png" Id="R3f1b7d6cf2fd4607" /><Relationship Type="http://schemas.openxmlformats.org/officeDocument/2006/relationships/notesSlide" Target="/ppt/notesSlides/notesSlide33.xml" Id="Rf08773dabb8a483a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b85f37ae69439b" /><Relationship Type="http://schemas.openxmlformats.org/officeDocument/2006/relationships/image" Target="/ppt/media/image34.png" Id="R856aec216523493e" /><Relationship Type="http://schemas.openxmlformats.org/officeDocument/2006/relationships/notesSlide" Target="/ppt/notesSlides/notesSlide34.xml" Id="R2941faab131f4300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b9b863005a4c0b" /><Relationship Type="http://schemas.openxmlformats.org/officeDocument/2006/relationships/image" Target="/ppt/media/image35.png" Id="R7560fcbc3a654cf8" /><Relationship Type="http://schemas.openxmlformats.org/officeDocument/2006/relationships/notesSlide" Target="/ppt/notesSlides/notesSlide35.xml" Id="Re687f9f1ec294920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b6b4d7cd00460c" /><Relationship Type="http://schemas.openxmlformats.org/officeDocument/2006/relationships/image" Target="/ppt/media/image36.png" Id="Rf4757e5bf9d949ad" /><Relationship Type="http://schemas.openxmlformats.org/officeDocument/2006/relationships/notesSlide" Target="/ppt/notesSlides/notesSlide36.xml" Id="R49b1625873ab48fd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72527937f24c90" /><Relationship Type="http://schemas.openxmlformats.org/officeDocument/2006/relationships/image" Target="/ppt/media/image37.png" Id="Rb8529825623344fe" /><Relationship Type="http://schemas.openxmlformats.org/officeDocument/2006/relationships/notesSlide" Target="/ppt/notesSlides/notesSlide37.xml" Id="R4609fcd7fa664753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ca346338364b5b" /><Relationship Type="http://schemas.openxmlformats.org/officeDocument/2006/relationships/image" Target="/ppt/media/image38.png" Id="R805e9a77847d476f" /><Relationship Type="http://schemas.openxmlformats.org/officeDocument/2006/relationships/notesSlide" Target="/ppt/notesSlides/notesSlide38.xml" Id="R85be230836f046d8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e4d14800c14c7f" /><Relationship Type="http://schemas.openxmlformats.org/officeDocument/2006/relationships/image" Target="/ppt/media/image39.png" Id="R068464c5f1c842aa" /><Relationship Type="http://schemas.openxmlformats.org/officeDocument/2006/relationships/notesSlide" Target="/ppt/notesSlides/notesSlide39.xml" Id="R08bf92f25dca45c4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f849bd80b0488e" /><Relationship Type="http://schemas.openxmlformats.org/officeDocument/2006/relationships/image" Target="/ppt/media/image40.png" Id="Rdd762d920a644172" /><Relationship Type="http://schemas.openxmlformats.org/officeDocument/2006/relationships/notesSlide" Target="/ppt/notesSlides/notesSlide40.xml" Id="R590896ef674d42f6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2a50e8fbb14bd9" /><Relationship Type="http://schemas.openxmlformats.org/officeDocument/2006/relationships/image" Target="/ppt/media/image41.png" Id="R28966b8d91864684" /><Relationship Type="http://schemas.openxmlformats.org/officeDocument/2006/relationships/notesSlide" Target="/ppt/notesSlides/notesSlide41.xml" Id="R70cedb4b89d74f39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0f0fae9eaa4141" /><Relationship Type="http://schemas.openxmlformats.org/officeDocument/2006/relationships/image" Target="/ppt/media/image42.png" Id="Rfc9b5968d5994e17" /><Relationship Type="http://schemas.openxmlformats.org/officeDocument/2006/relationships/notesSlide" Target="/ppt/notesSlides/notesSlide42.xml" Id="Ra5f05e6f67854912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1ef3701c9c4adb" /><Relationship Type="http://schemas.openxmlformats.org/officeDocument/2006/relationships/image" Target="/ppt/media/image43.png" Id="R6b68ce59e1194180" /><Relationship Type="http://schemas.openxmlformats.org/officeDocument/2006/relationships/notesSlide" Target="/ppt/notesSlides/notesSlide43.xml" Id="Re2abf9d9f7204f8a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a856c87040492d" /><Relationship Type="http://schemas.openxmlformats.org/officeDocument/2006/relationships/image" Target="/ppt/media/image44.png" Id="Rcb81239207b8447c" /><Relationship Type="http://schemas.openxmlformats.org/officeDocument/2006/relationships/notesSlide" Target="/ppt/notesSlides/notesSlide44.xml" Id="Rbb734c9bfbc44cb6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36f140ffbe4661" /><Relationship Type="http://schemas.openxmlformats.org/officeDocument/2006/relationships/image" Target="/ppt/media/image45.png" Id="R95b6b68e243c417c" /><Relationship Type="http://schemas.openxmlformats.org/officeDocument/2006/relationships/notesSlide" Target="/ppt/notesSlides/notesSlide45.xml" Id="R0eccb8f15c8c42ab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1fe054ca374d9a" /><Relationship Type="http://schemas.openxmlformats.org/officeDocument/2006/relationships/image" Target="/ppt/media/image46.png" Id="R74cd49968d534385" /><Relationship Type="http://schemas.openxmlformats.org/officeDocument/2006/relationships/notesSlide" Target="/ppt/notesSlides/notesSlide46.xml" Id="Rf1c6d4390f2242a9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2cb81c2fda4db3" /><Relationship Type="http://schemas.openxmlformats.org/officeDocument/2006/relationships/image" Target="/ppt/media/image47.png" Id="R7d080c9b7ffe4d61" /><Relationship Type="http://schemas.openxmlformats.org/officeDocument/2006/relationships/notesSlide" Target="/ppt/notesSlides/notesSlide47.xml" Id="R7c975b24d6924ccb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f3c2b582f74103" /><Relationship Type="http://schemas.openxmlformats.org/officeDocument/2006/relationships/image" Target="/ppt/media/image48.png" Id="R3c0f75b6b1f14b1d" /><Relationship Type="http://schemas.openxmlformats.org/officeDocument/2006/relationships/notesSlide" Target="/ppt/notesSlides/notesSlide48.xml" Id="R4f2f3e225b374276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50520c880d40dc" /><Relationship Type="http://schemas.openxmlformats.org/officeDocument/2006/relationships/image" Target="/ppt/media/image49.png" Id="R8a612e22bd51406c" /><Relationship Type="http://schemas.openxmlformats.org/officeDocument/2006/relationships/notesSlide" Target="/ppt/notesSlides/notesSlide49.xml" Id="Rdf887ae151a74694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ad18daa2474a36" /><Relationship Type="http://schemas.openxmlformats.org/officeDocument/2006/relationships/image" Target="/ppt/media/image50.png" Id="Ra5a83b3f58394f31" /><Relationship Type="http://schemas.openxmlformats.org/officeDocument/2006/relationships/notesSlide" Target="/ppt/notesSlides/notesSlide50.xml" Id="Rc4d813d0e59f451e" /></Relationships>
</file>

<file path=ppt/slides/_rels/slide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f9ea1154ab4191" /><Relationship Type="http://schemas.openxmlformats.org/officeDocument/2006/relationships/image" Target="/ppt/media/image51.png" Id="R9b3d92a8506046b4" /><Relationship Type="http://schemas.openxmlformats.org/officeDocument/2006/relationships/notesSlide" Target="/ppt/notesSlides/notesSlide51.xml" Id="R1ba2851be03f4230" /></Relationships>
</file>

<file path=ppt/slides/_rels/slide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5bf1f1ad7246ff" /><Relationship Type="http://schemas.openxmlformats.org/officeDocument/2006/relationships/image" Target="/ppt/media/image52.png" Id="R9617f3ab162446d1" /><Relationship Type="http://schemas.openxmlformats.org/officeDocument/2006/relationships/notesSlide" Target="/ppt/notesSlides/notesSlide52.xml" Id="Rdddbc322ceeb4627" /></Relationships>
</file>

<file path=ppt/slides/_rels/slide5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70a80bf019468e" /><Relationship Type="http://schemas.openxmlformats.org/officeDocument/2006/relationships/image" Target="/ppt/media/image53.png" Id="R4fda217c27cd49af" /><Relationship Type="http://schemas.openxmlformats.org/officeDocument/2006/relationships/notesSlide" Target="/ppt/notesSlides/notesSlide53.xml" Id="R348d49e2edef494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ee8d3aa9324e3f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FEC7C16-F31D-46F3-9EE7-CC1E60CF2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7423" y="3075749"/>
            <a:ext cx="1428881" cy="95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7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7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Stars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0C8513-C2E3-4273-9D3F-B0EC705BE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7928" y="4770107"/>
            <a:ext cx="2249781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D.J. Pisano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6680A3-F3DF-4806-8314-611FAC125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0607" y="5368587"/>
            <a:ext cx="6423567" cy="5188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5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5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Associate Professor of Physics &amp; Astronomy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E38D49-8088-4DAA-9E02-449E3326B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7824" y="5832650"/>
            <a:ext cx="1789740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July 9, 2017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32C47B-AECF-4DEF-8F4C-8633C9110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EF8F47E-DDC9-463B-AE69-74FFCE6CC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5650852-C4C1-4E71-86FE-429795705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 of 53</a:t>
            </a:r>
          </a:p>
        </p:txBody>
      </p:sp>
    </p:spTree>
    <p:extLst>
      <p:ext uri="{BB962C8B-B14F-4D97-AF65-F5344CB8AC3E}">
        <p14:creationId xmlns:p14="http://schemas.microsoft.com/office/powerpoint/2010/main" val="10278159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b23c624b2b4edb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482CCDB-F768-45BB-A339-3A0DC35BC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651" y="803298"/>
            <a:ext cx="8116037" cy="9544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69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69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For thousands of nearby stars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7527742-6857-4145-A61B-124FCB23B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3207" y="1514202"/>
            <a:ext cx="3216780" cy="95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7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7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we can find: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8E4883-604F-4510-8B60-0267D9E19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013" y="2576043"/>
            <a:ext cx="227753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3008CA-A37D-4005-BD4B-AC7E3DFE3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138" y="2576043"/>
            <a:ext cx="4520642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total luminosity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47BF552-5FB4-4333-9C8B-80B62128E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013" y="3354985"/>
            <a:ext cx="227753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CDDEA7-AE59-4F59-BBD5-E6276C22E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138" y="3354985"/>
            <a:ext cx="8193419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temperature (color or spectral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62D6335-48ED-47BC-96CF-DB7C5BE25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138" y="4006937"/>
            <a:ext cx="1392229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type)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CDC871B-47BD-4662-B4F3-E532D86BD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013" y="4785848"/>
            <a:ext cx="227753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1D4364-0F97-41C4-A5B9-4A7B55CFD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138" y="4785848"/>
            <a:ext cx="3888394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size (radius)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33FA655-E222-46C6-B41A-9BE7EB15C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013" y="5564790"/>
            <a:ext cx="227753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8F725E4-17F4-40FE-AD7C-3907DC649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138" y="5564790"/>
            <a:ext cx="2234048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mass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52E286C-6E4C-42A6-A65A-02FA482CD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184" y="6481779"/>
            <a:ext cx="8244838" cy="6538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18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218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CAN WE FIND ANY RHYME, REASON, OR 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F153D8A-58F4-4D42-A20C-DC05AFFA5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3158" y="7084995"/>
            <a:ext cx="3417453" cy="6222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62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62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RELATIONSHIPS?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C1897B8-BF5B-4702-A1B3-6FCC7D4F0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77BF381-4541-4EA4-8675-875EFAD48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00A70B4-FD71-44EF-A2DD-7A34764B0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 of 53</a:t>
            </a:r>
          </a:p>
        </p:txBody>
      </p:sp>
    </p:spTree>
    <p:extLst>
      <p:ext uri="{BB962C8B-B14F-4D97-AF65-F5344CB8AC3E}">
        <p14:creationId xmlns:p14="http://schemas.microsoft.com/office/powerpoint/2010/main" val="90852030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74997289874b79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F46154-57EA-4296-954C-6AD70209D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7270" y="1089306"/>
            <a:ext cx="5310095" cy="10423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5129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129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H-R Diagram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6372EC-BA11-4915-BF3B-CBA90EB20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289" y="2334253"/>
            <a:ext cx="208492" cy="7789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8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8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92996B-1859-4B06-8F0C-E8B2EFD22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3414" y="2334253"/>
            <a:ext cx="6204877" cy="7789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8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8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done independently by Enjar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5057383-E87C-49EF-8901-7FA72F77C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3414" y="2918453"/>
            <a:ext cx="8368471" cy="7789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8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8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Hertzsprung and Henry Norris Russell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FA99BE-2CD7-45C4-9A1B-3B94A7077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3414" y="3502653"/>
            <a:ext cx="2905351" cy="7789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8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8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around 1910.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3657A9-82B6-4B49-9CA7-C5EB3102D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289" y="4201193"/>
            <a:ext cx="208492" cy="7789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8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8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2BEB6A1-3EC0-4474-866B-50EFEF349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3414" y="4201193"/>
            <a:ext cx="6962317" cy="7789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8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8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graph of luminosity (or absolute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46FF9FA-CFBB-4A26-9F35-8B56A49ED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3414" y="4785393"/>
            <a:ext cx="7800749" cy="7789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8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8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magnitude)  versus temperature (or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B3A974-C703-4FD4-9042-96FDE1A34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3414" y="5369593"/>
            <a:ext cx="3148331" cy="7789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8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8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spectral class)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DA9B424-6A5D-4BDF-9AD3-3F937B575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765718C-4C3D-4038-B199-F284BA99A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A55B49E-9C4E-44CE-89D1-9AEE32C51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3 of 53</a:t>
            </a:r>
          </a:p>
        </p:txBody>
      </p:sp>
    </p:spTree>
    <p:extLst>
      <p:ext uri="{BB962C8B-B14F-4D97-AF65-F5344CB8AC3E}">
        <p14:creationId xmlns:p14="http://schemas.microsoft.com/office/powerpoint/2010/main" val="166718813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0e3f070ba74315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75E5A6-3BE4-43AE-9C0D-0F86DD49E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0698" y="1123328"/>
            <a:ext cx="4702630" cy="95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7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7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H-R Diagram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B868F9-51CD-4B8A-A234-5D8182C53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2329689"/>
            <a:ext cx="280198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Hertzprung-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FE427D1-8A08-4466-9FAE-EA5DEF3B5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2782778"/>
            <a:ext cx="3898306" cy="6093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Russell (H-R) diagram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E437B0-1D70-4089-B359-3A487FE14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3240012"/>
            <a:ext cx="3899442" cy="6093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shows the relationship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52AEDB9-EB38-4F5D-8A29-F335B9A9D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3692992"/>
            <a:ext cx="3369868" cy="6093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between luminosity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7F2F08-C8E5-4DE0-ACEC-4C6313C65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4145785"/>
            <a:ext cx="292913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and temperature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74BF973-98E9-4C24-9B8B-3F56897F9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4602985"/>
            <a:ext cx="3584548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(absolute magnitude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1D258DA-1D63-4311-8879-84F86DF55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5056479"/>
            <a:ext cx="3852591" cy="6087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and spectral class) for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0F5FE48-8A90-4DB6-9203-9135EA212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5508922"/>
            <a:ext cx="965648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stars.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A5B60CF-D3E5-4CEF-BFD1-92C19F682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42E1B82-248C-4C75-ADAC-42C467FE8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349DB20-17CE-4C9D-9716-A1D1101A9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4 of 53</a:t>
            </a:r>
          </a:p>
        </p:txBody>
      </p:sp>
    </p:spTree>
    <p:extLst>
      <p:ext uri="{BB962C8B-B14F-4D97-AF65-F5344CB8AC3E}">
        <p14:creationId xmlns:p14="http://schemas.microsoft.com/office/powerpoint/2010/main" val="199170951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f8191638a24aa1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462B6CC-D290-48FE-B4BC-60420900C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0698" y="1123328"/>
            <a:ext cx="4702630" cy="95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7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7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H-R Diagram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75DD9F-4B00-443A-B5A9-117659E11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2329689"/>
            <a:ext cx="3054819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H-R diagram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6206FB-3D8F-4A3E-8C07-E1F41E5BF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2783045"/>
            <a:ext cx="3621740" cy="60895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shows that there is a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BD352C-B4A8-4F8C-B664-470A2DBB8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3239923"/>
            <a:ext cx="3413610" cy="6094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definite relationship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44F5BC-5F5C-43CA-B188-ACEA58164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3692821"/>
            <a:ext cx="2210788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between the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DAB7B3A-F9D9-4768-8DE1-0B949BAA2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4145820"/>
            <a:ext cx="3497974" cy="609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luminosity (absolute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1F28295-2EF7-40B3-8EA6-5A89AE309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4603226"/>
            <a:ext cx="3517393" cy="6091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magnitude) of a star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AA4ED9C-4C74-494F-9D33-70ACCD0C1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5056152"/>
            <a:ext cx="3412007" cy="6092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and its temperature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4E866AD-390E-41B6-877A-8592F9AA6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5508922"/>
            <a:ext cx="2588897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(spectral class)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5437281-B1E0-4D4F-AB7D-515074E78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5DD23FC-6259-4282-A0F9-42C81D312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B4A9E2D-AF2C-4588-A84E-7A672A99B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5 of 53</a:t>
            </a:r>
          </a:p>
        </p:txBody>
      </p:sp>
    </p:spTree>
    <p:extLst>
      <p:ext uri="{BB962C8B-B14F-4D97-AF65-F5344CB8AC3E}">
        <p14:creationId xmlns:p14="http://schemas.microsoft.com/office/powerpoint/2010/main" val="22975672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ff8aac94064269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0B3A45-D7CD-472C-A53A-D606D9372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4880" y="994688"/>
            <a:ext cx="5352742" cy="11708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5762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762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Main Sequence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FF2F1A-7779-4352-8A65-739E295D9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142" y="2106147"/>
            <a:ext cx="227754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15D5FD-5776-4B1D-81DD-7FE354045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7267" y="2106147"/>
            <a:ext cx="4673322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Goes from top left (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56E7F46-B390-44D7-8992-9C1C4F12C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0633" y="2106142"/>
            <a:ext cx="1993752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3366FF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3366FF"/>
                </a:solidFill>
                <a:latin typeface="Arial"/>
                <a:ea typeface="Arial"/>
                <a:cs typeface="Arial"/>
              </a:rPr>
              <a:t>hot and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4771B5-9281-44D4-A3C3-42C9208F3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7267" y="2690342"/>
            <a:ext cx="1392496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3366FF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3366FF"/>
                </a:solidFill>
                <a:latin typeface="Arial"/>
                <a:ea typeface="Arial"/>
                <a:cs typeface="Arial"/>
              </a:rPr>
              <a:t>bright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FF6DF4-66FB-4C75-9BF1-E0DB0616F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1265" y="2690342"/>
            <a:ext cx="4159751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) to bottom right (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B157FB9-20E8-42D0-B85D-ECC472037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4142" y="2690342"/>
            <a:ext cx="2233634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cool and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967735-A440-4FC4-AA23-591D2B881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7267" y="3274542"/>
            <a:ext cx="910289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dim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9FD7550-9E9C-435C-9342-B77B3E17D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9503" y="3274542"/>
            <a:ext cx="369614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).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5AAF289-0832-46B8-B5FF-A7009C87A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130" y="3989984"/>
            <a:ext cx="227753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44DA4E1-5D09-4EFE-9063-0ABC0E294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7256" y="3989984"/>
            <a:ext cx="7829929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90% of the stars are in the Main 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780236C-60DC-4E01-8B91-C4CA1FF08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7255" y="4574184"/>
            <a:ext cx="6987518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Sequence stage of their lives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0F606B0-C318-4F0F-8923-E5A13BEFA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130" y="5285364"/>
            <a:ext cx="227753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0FB2EB8-AFD9-47A5-B1DB-2043CD223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7256" y="5285364"/>
            <a:ext cx="4249814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Includes our Sun.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B87C829-1329-4D7C-93E9-06CF712CA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E45FCAE-1E6A-42CF-9ABA-CB091597E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0FA9602-C945-49EF-B6E5-83E6EC15B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6 of 53</a:t>
            </a:r>
          </a:p>
        </p:txBody>
      </p:sp>
    </p:spTree>
    <p:extLst>
      <p:ext uri="{BB962C8B-B14F-4D97-AF65-F5344CB8AC3E}">
        <p14:creationId xmlns:p14="http://schemas.microsoft.com/office/powerpoint/2010/main" val="32076641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0b7537e7034d9c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43EF66-7DE6-4ED5-942C-FCE006A87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4668" y="1123328"/>
            <a:ext cx="4372561" cy="95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7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7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Main Sequence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6CE39C-DB45-47A6-8D28-0394FD443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3010731"/>
            <a:ext cx="3540495" cy="6094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Main Sequence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AA6700B-0A17-48F9-AEFE-59EF77744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3463694"/>
            <a:ext cx="3391379" cy="6094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runs from the lower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964867-AD93-41F7-B3A9-828C3AB62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3921107"/>
            <a:ext cx="3411352" cy="60911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right to upper left of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746EEE-8966-434E-8B59-92F1F08CF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4373781"/>
            <a:ext cx="2928037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H-R diagram.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1F2F8D-5DAE-4A9B-B6B4-C63CE7CAF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5466236"/>
            <a:ext cx="3855721" cy="60913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Hotter main sequence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BC00AA-5305-4D3F-8870-2FAA32346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5921335"/>
            <a:ext cx="3201934" cy="6056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8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8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stars are brighter. 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C01494E-BB34-4503-852F-2D071B60F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3624C7D-7AAC-4F62-B5DD-4EB7C7655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706ACC-1218-414E-B1CF-4A5F70425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7 of 53</a:t>
            </a:r>
          </a:p>
        </p:txBody>
      </p:sp>
    </p:spTree>
    <p:extLst>
      <p:ext uri="{BB962C8B-B14F-4D97-AF65-F5344CB8AC3E}">
        <p14:creationId xmlns:p14="http://schemas.microsoft.com/office/powerpoint/2010/main" val="69230961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8e53f145afa4ac3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0789AB-82D5-459F-B8E2-B38F7F885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0868" y="993470"/>
            <a:ext cx="4321804" cy="1300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6400" b="1" i="0">
                <a:solidFill>
                  <a:srgbClr val="FF3300"/>
                </a:solidFill>
                <a:latin typeface="Arial"/>
                <a:ea typeface="Arial"/>
                <a:cs typeface="Arial"/>
              </a:defRPr>
            </a:pPr>
            <a:r>
              <a:rPr sz="6400" b="1" i="0">
                <a:solidFill>
                  <a:srgbClr val="FF3300"/>
                </a:solidFill>
                <a:latin typeface="Arial"/>
                <a:ea typeface="Arial"/>
                <a:cs typeface="Arial"/>
              </a:rPr>
              <a:t>Red Giants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63135E-7778-4086-B4D1-D10C265DD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292" y="2332202"/>
            <a:ext cx="227753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FF3300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FF33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90EBD9F-FA7F-4411-9012-F3E8F786B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3417" y="2334300"/>
            <a:ext cx="6894224" cy="8634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49" b="0" i="0">
                <a:solidFill>
                  <a:srgbClr val="FF3300"/>
                </a:solidFill>
                <a:latin typeface="Arial"/>
                <a:ea typeface="Arial"/>
                <a:cs typeface="Arial"/>
              </a:defRPr>
            </a:pPr>
            <a:r>
              <a:rPr sz="4249" b="0" i="0">
                <a:solidFill>
                  <a:srgbClr val="FF3300"/>
                </a:solidFill>
                <a:latin typeface="Arial"/>
                <a:ea typeface="Arial"/>
                <a:cs typeface="Arial"/>
              </a:rPr>
              <a:t>Really Big, Not Very Hot but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B710CAC-3E86-4E2B-8224-89353D7FD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3417" y="2986494"/>
            <a:ext cx="3831979" cy="8630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47" b="0" i="0">
                <a:solidFill>
                  <a:srgbClr val="FF3300"/>
                </a:solidFill>
                <a:latin typeface="Arial"/>
                <a:ea typeface="Arial"/>
                <a:cs typeface="Arial"/>
              </a:defRPr>
            </a:pPr>
            <a:r>
              <a:rPr sz="4247" b="0" i="0">
                <a:solidFill>
                  <a:srgbClr val="FF3300"/>
                </a:solidFill>
                <a:latin typeface="Arial"/>
                <a:ea typeface="Arial"/>
                <a:cs typeface="Arial"/>
              </a:rPr>
              <a:t>VERY BRIGHT!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4C75DEB-6920-4DFC-8DB9-B4EE00A9C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292" y="3763073"/>
            <a:ext cx="227753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FF3300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FF33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26DA11-D70F-4735-9BA9-8CE7E2DA6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3417" y="3763073"/>
            <a:ext cx="7318590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FF3300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FF3300"/>
                </a:solidFill>
                <a:latin typeface="Arial"/>
                <a:ea typeface="Arial"/>
                <a:cs typeface="Arial"/>
              </a:rPr>
              <a:t>Betelgeuse: 3500 K , 100,000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0F643E9-424E-40BA-8ECD-B11A40B2F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3417" y="4410761"/>
            <a:ext cx="8161562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FF3300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FF3300"/>
                </a:solidFill>
                <a:latin typeface="Arial"/>
                <a:ea typeface="Arial"/>
                <a:cs typeface="Arial"/>
              </a:rPr>
              <a:t>times more luminous than the sun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F0D31B3-F249-45D4-8DD2-15CCC7FFD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292" y="5189702"/>
            <a:ext cx="227753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FF3300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FF33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074B4B1-FCBF-4AD4-BF52-61BED79FC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3417" y="5189793"/>
            <a:ext cx="8126865" cy="86683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6" b="0" i="0">
                <a:solidFill>
                  <a:srgbClr val="FF3300"/>
                </a:solidFill>
                <a:latin typeface="Arial"/>
                <a:ea typeface="Arial"/>
                <a:cs typeface="Arial"/>
              </a:defRPr>
            </a:pPr>
            <a:r>
              <a:rPr sz="4266" b="0" i="0">
                <a:solidFill>
                  <a:srgbClr val="FF3300"/>
                </a:solidFill>
                <a:latin typeface="Arial"/>
                <a:ea typeface="Arial"/>
                <a:cs typeface="Arial"/>
              </a:rPr>
              <a:t>radius must be 1000x that of Sun!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1CD4C9-8C7F-47D4-B8B7-27D63D3D5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092E7D1-7364-4FF0-B954-E02A393DE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A328A9B-985F-4C07-B7CB-DE0E35F86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8 of 53</a:t>
            </a:r>
          </a:p>
        </p:txBody>
      </p:sp>
    </p:spTree>
    <p:extLst>
      <p:ext uri="{BB962C8B-B14F-4D97-AF65-F5344CB8AC3E}">
        <p14:creationId xmlns:p14="http://schemas.microsoft.com/office/powerpoint/2010/main" val="24714506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170f2dd0184d95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A74D8E-637C-45B6-A097-A80FC0A6A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6FE71A6-4411-417E-99E1-760ED8927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96306F-71FC-4F1B-B0B7-04FDA717B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9 of 53</a:t>
            </a:r>
          </a:p>
        </p:txBody>
      </p:sp>
    </p:spTree>
    <p:extLst>
      <p:ext uri="{BB962C8B-B14F-4D97-AF65-F5344CB8AC3E}">
        <p14:creationId xmlns:p14="http://schemas.microsoft.com/office/powerpoint/2010/main" val="138304586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e3aa6c109f43f0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127966B-0AE3-4C65-B533-57696D6DC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0527" y="1123328"/>
            <a:ext cx="3181796" cy="95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7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7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Red Giants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A5D2BEC-8DFF-4B38-8997-43D00B727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3556851"/>
            <a:ext cx="1851018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Red Giant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73539C-EC8E-473A-B5F5-A5F876D2D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9715" y="3556851"/>
            <a:ext cx="777926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and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0C190B-1A23-4C06-9AF8-79627DF91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4009819"/>
            <a:ext cx="1981208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Supergiant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526898-701D-4018-8B1B-D0BB7CF85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8189" y="4009819"/>
            <a:ext cx="1620056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stars are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64BFE1-0C2E-4F4C-B4DD-980CE6B10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4467195"/>
            <a:ext cx="3667152" cy="6093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located above and to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62DEECF-3934-481F-A90F-69136DF41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4920018"/>
            <a:ext cx="3498386" cy="6095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right of the Main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735CB72-1DB8-4320-BB13-57F0E27D5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5372956"/>
            <a:ext cx="1854257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Sequence.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DED39F5-74F7-4F0F-84E3-24771D217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D88A33-9FB9-4FB1-9110-F952379BF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C33BA9E-3C61-4449-A511-E253DE904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10 of 53</a:t>
            </a:r>
          </a:p>
        </p:txBody>
      </p:sp>
    </p:spTree>
    <p:extLst>
      <p:ext uri="{BB962C8B-B14F-4D97-AF65-F5344CB8AC3E}">
        <p14:creationId xmlns:p14="http://schemas.microsoft.com/office/powerpoint/2010/main" val="205010106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c1127ab7ca4136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3CE821-9CB1-47FD-A37B-2EF1F3745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2345" y="993470"/>
            <a:ext cx="5179145" cy="1300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64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64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White Dwarfs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134289-475B-45AB-AC9B-4E722D7DC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292" y="2186254"/>
            <a:ext cx="247015" cy="95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7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7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EF77280-A41B-478E-B6BD-AD57DF420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3417" y="2192174"/>
            <a:ext cx="6657021" cy="9451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65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65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Very Small, Very Hot but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0B6781-AF61-4482-81FF-5430E09A6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3417" y="2766313"/>
            <a:ext cx="4042231" cy="9478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66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66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Not Very Bright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1F8FBB8-5921-4F6B-95CF-156CF1A87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292" y="3477476"/>
            <a:ext cx="247015" cy="95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7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7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20A6C8-DBB9-45D1-A35E-D925F105F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3417" y="3477476"/>
            <a:ext cx="2089346" cy="95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7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7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Sirius B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4C12FC6-6868-4890-B77F-9F5562A28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3867" y="3477476"/>
            <a:ext cx="5637321" cy="95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7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7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: 27,000 K, but gives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9BF121D-AB1E-4291-A138-6A6980134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3417" y="4045996"/>
            <a:ext cx="7738706" cy="9528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68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68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off 1000 times less light than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8D414A6-5E44-46FA-821B-FAE90EBD1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3417" y="4616145"/>
            <a:ext cx="2093226" cy="95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7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7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Sun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114710C-BA3A-4D6C-B1A7-97C486395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292" y="5331600"/>
            <a:ext cx="247015" cy="95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7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7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8D217B-888F-46A8-BB59-12D98FD13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3417" y="5332076"/>
            <a:ext cx="7185742" cy="9542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69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69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100 times smaller than the 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E89E0B0-9491-4D15-8D31-1CBBE075F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3417" y="5903150"/>
            <a:ext cx="1098793" cy="95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7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7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Sun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08502F6-EA24-40F2-A531-FEDF19E2F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14E3FFE-A0CD-4324-922C-AD57D8356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CFE155C-E930-4589-9104-B99AE1DDF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11 of 53</a:t>
            </a:r>
          </a:p>
        </p:txBody>
      </p:sp>
    </p:spTree>
    <p:extLst>
      <p:ext uri="{BB962C8B-B14F-4D97-AF65-F5344CB8AC3E}">
        <p14:creationId xmlns:p14="http://schemas.microsoft.com/office/powerpoint/2010/main" val="32993931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51f0347980a404f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4BDAF7-61A0-4560-B762-C4AB7FD91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30134C-6266-4066-A21B-EB6854687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0C691F-954C-494D-B54E-817FECC9F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12 of 53</a:t>
            </a:r>
          </a:p>
        </p:txBody>
      </p:sp>
    </p:spTree>
    <p:extLst>
      <p:ext uri="{BB962C8B-B14F-4D97-AF65-F5344CB8AC3E}">
        <p14:creationId xmlns:p14="http://schemas.microsoft.com/office/powerpoint/2010/main" val="192790123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b5242be4ce4a79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3203C9-C9E3-4A9B-A32F-7A83934F1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6964" y="1123328"/>
            <a:ext cx="3808244" cy="95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7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7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White Dwarfs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169B12-E3CA-4160-AD2C-58369BCB6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3786166"/>
            <a:ext cx="847117" cy="606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8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8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Tiny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D49ED1-57FA-4138-A6DF-542AC088C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5148" y="3784435"/>
            <a:ext cx="1957579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white dwarf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0B8015-74D5-463E-8CD9-3EB156A6C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4627" y="3784435"/>
            <a:ext cx="1069572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stars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942B44D-C6F2-4C26-A37A-3527F038E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9" y="4237475"/>
            <a:ext cx="3053646" cy="6094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are located in the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CE9BFB-BA27-40D7-97EC-002F73A85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9" y="4695194"/>
            <a:ext cx="3746226" cy="6086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bottom left of the H-R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DD9B6D6-E7E2-420C-AF63-2C0479AD8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9" y="5147572"/>
            <a:ext cx="1411832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diagram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E988FDB-F59E-4488-AC36-F9DF9FA62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B1F9650-7DC5-4976-AF73-A102BB5A6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6F729A-45E9-4853-AFE4-2BBCD10EA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13 of 53</a:t>
            </a:r>
          </a:p>
        </p:txBody>
      </p:sp>
    </p:spTree>
    <p:extLst>
      <p:ext uri="{BB962C8B-B14F-4D97-AF65-F5344CB8AC3E}">
        <p14:creationId xmlns:p14="http://schemas.microsoft.com/office/powerpoint/2010/main" val="20104878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7b0d0f1dfcc4937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EC1845D-2ED9-4A15-8BE8-53562B033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659" y="993570"/>
            <a:ext cx="8978092" cy="6240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7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7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Determining the Sizes of Stars from an HR Diagram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FAAD480-E6D8-48E0-B10A-C028A52BE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777" y="1793223"/>
            <a:ext cx="200432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CF2372-02BB-4936-95B9-77A43875D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903" y="1826620"/>
            <a:ext cx="3504761" cy="46588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9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9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Smallest stars are the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82DF340-9274-412C-BF78-0898E629A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902" y="2161518"/>
            <a:ext cx="3064969" cy="4862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9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9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tiny White Dwarf stars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2B0384-E67C-47E0-91F2-633D4BA66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902" y="2514272"/>
            <a:ext cx="2800675" cy="48403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8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8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and are found in the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C6F0678-6F48-4F71-94D5-1FDC06282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902" y="2858306"/>
            <a:ext cx="3179695" cy="49618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4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4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lower left corner of the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BFE91CF-48FE-4196-9293-2DB316395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902" y="3230756"/>
            <a:ext cx="1643163" cy="4611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7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7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HR diagram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0C0E664-73FB-43E0-8E4C-40D0B309B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777" y="3622024"/>
            <a:ext cx="200432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71AFDAB-0F1A-4773-8EC2-61516C581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903" y="3653897"/>
            <a:ext cx="3524298" cy="4684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0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0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Main sequence stars span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7765DF4-FA13-4B09-AC5E-C706C739A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902" y="4002821"/>
            <a:ext cx="3358234" cy="472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2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2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 range of sizes from the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177CF7-0E1A-48F2-8910-108934084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902" y="4344942"/>
            <a:ext cx="3313627" cy="4879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small found in the lower 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7B42644-1BF5-4E63-B473-203AFADE6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902" y="4690793"/>
            <a:ext cx="3498495" cy="4899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1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right to the large found in 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1AD9263-1ECC-418F-8D83-5BD0710E6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902" y="5037095"/>
            <a:ext cx="1930863" cy="4985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5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5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upper left 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4F9F9E5-2AD0-48B5-96DE-4839B0372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777" y="5450824"/>
            <a:ext cx="200432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502944F-7B71-42C3-B362-2EA25A0EB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903" y="5481980"/>
            <a:ext cx="3288156" cy="4696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1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1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largest stars are the 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21A1E92-0412-4F67-8DE7-05CF1E009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902" y="5833488"/>
            <a:ext cx="3597318" cy="4694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1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1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Giant and Supergiant stars 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25A4745-8A6B-4CEE-A28B-463DC390A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902" y="6174365"/>
            <a:ext cx="3087175" cy="4868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9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9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which are found in the 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2276AA4-2B2E-4668-B5C3-B46309DA7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902" y="6522096"/>
            <a:ext cx="2457625" cy="4930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2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2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upper right corner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4BE26CC-2266-4329-9850-BCB157304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9536" y="6734725"/>
            <a:ext cx="572774" cy="35025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2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Small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B597FA8-B38B-449A-BBC8-466AE57C1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3856" y="2593503"/>
            <a:ext cx="574470" cy="343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9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9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Large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A060784-C728-4D0F-8E24-3A3208D5A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0EE7B50-07A1-47AD-B0A2-C6E417CE0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6D199AB-F1AA-4E34-86D1-D13FA9377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14 of 53</a:t>
            </a:r>
          </a:p>
        </p:txBody>
      </p:sp>
    </p:spTree>
    <p:extLst>
      <p:ext uri="{BB962C8B-B14F-4D97-AF65-F5344CB8AC3E}">
        <p14:creationId xmlns:p14="http://schemas.microsoft.com/office/powerpoint/2010/main" val="330466773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1581e8b15584bc8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A0C1C3F-06C4-436B-B87B-A323C38B8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4561" y="5222617"/>
            <a:ext cx="183549" cy="30340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93" b="1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93" b="1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8E63F0-A34C-4943-9567-999D1C47B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6643" y="3747702"/>
            <a:ext cx="183549" cy="3034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93" b="1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93" b="1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55A858-FA8D-4DCF-B19A-EB8F13733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6425" y="6767149"/>
            <a:ext cx="1634872" cy="3218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84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84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Temperature (K)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5E55A0-B8F0-4FF1-9556-126D3748B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8878" y="1682973"/>
            <a:ext cx="1350025" cy="3100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26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26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Spectral Type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8FE5E1-3D57-44F9-84B8-234CB0731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6043" y="6442480"/>
            <a:ext cx="670793" cy="3095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2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2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20,000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8E0ECDD-9ADB-4914-B5C3-8AB84459E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6505" y="6442450"/>
            <a:ext cx="670897" cy="30955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2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2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10,000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12859E-ED80-4557-8D35-48259A52B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8950" y="6441686"/>
            <a:ext cx="565511" cy="310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3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3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5,000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384764-057E-4F90-870E-32C2599B1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2124" y="1978029"/>
            <a:ext cx="297006" cy="2696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32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2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O5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5C3CA65-2EBA-45E5-A95A-CEADF92CC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1015" y="1971781"/>
            <a:ext cx="288598" cy="2800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37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7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B5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1D215D-91EE-4E7C-8E22-194D8B20C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3236" y="1971781"/>
            <a:ext cx="294928" cy="2800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37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7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A5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57D97BA-EB66-4653-9668-EAFA4DF19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9251" y="1971781"/>
            <a:ext cx="662463" cy="2800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37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7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F5 G5 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B66FB06-2193-4ABE-8730-D2B80F4A0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5744" y="1971781"/>
            <a:ext cx="296863" cy="2800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37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7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K5 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93E5F68-52D5-4C33-BBFD-28DE0A1C2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4752" y="1971781"/>
            <a:ext cx="326598" cy="2800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37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7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M5 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74C9332-6B7F-46DC-B321-F85A36536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344" y="2435428"/>
            <a:ext cx="523375" cy="2604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8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8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10,000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8F0FADD-2228-4CF8-89F3-2436CCD40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8940" y="2846976"/>
            <a:ext cx="434966" cy="2618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8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8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1,000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6FF8233-AF8A-44AE-9953-E380B047F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823" y="3258809"/>
            <a:ext cx="302445" cy="2656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30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0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47F9A31-5C51-492C-BF88-F15577BF3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0410" y="3669352"/>
            <a:ext cx="214038" cy="2713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33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3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9BB2ADF-E25C-44D3-9A8F-863AF44F5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88993" y="4078614"/>
            <a:ext cx="125631" cy="2800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37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7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601DF21-457F-47E4-A02F-6FD9B0FC3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4692" y="4494591"/>
            <a:ext cx="169747" cy="2769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36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6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.1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EC5EFB0-8F21-4313-9ACC-E6BC27CD0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6109" y="4912378"/>
            <a:ext cx="258153" cy="2678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31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1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.01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6177BAC-554C-4DCC-9A57-C5EAB7EE4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7522" y="5328649"/>
            <a:ext cx="346562" cy="2640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9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.001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F25301A-1D38-48BA-8F5A-7458EF6F3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8940" y="5744391"/>
            <a:ext cx="434970" cy="2618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8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8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.0001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E2595A8-26AE-458D-93CF-7745B6958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5876" y="2460693"/>
            <a:ext cx="196219" cy="32771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13" b="1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13" b="1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 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C75CC0A-F8C8-48EA-9F3C-DD3A9E964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9833" y="3060285"/>
            <a:ext cx="196393" cy="3078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15" b="1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15" b="1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b 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AA6E33F-FC0C-4F61-94D7-7FB02FD1E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3140" y="2658657"/>
            <a:ext cx="196219" cy="307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14" b="1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14" b="1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 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FB7B82F-D5B5-47D8-9451-0EEFD082B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0985" y="4904447"/>
            <a:ext cx="160603" cy="337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60" b="1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60" b="1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f 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248065E-7931-48D2-A7C5-11663A8A7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167" y="2476366"/>
            <a:ext cx="265891" cy="3297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2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2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-5 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8942D71-7B31-457C-B8A2-B43EDA88F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178" y="3295238"/>
            <a:ext cx="196393" cy="328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1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1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 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4D6BDC4-8A95-4337-A0C0-133A4EAA7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720" y="4128054"/>
            <a:ext cx="196393" cy="328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1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1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5 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B8534E2-F693-4D3F-A355-ED691943F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4682" y="4947781"/>
            <a:ext cx="301604" cy="3179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6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6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10 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B732651-B873-4CA6-9750-71BB0F5DE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8286" y="5765575"/>
            <a:ext cx="301783" cy="3181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6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6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15 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DFC3A3B-725E-4FEA-8CD2-070A75952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218" y="3775861"/>
            <a:ext cx="536072" cy="3341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4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4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Main 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9CFE2A3-44A6-4B43-8881-E2AA7B2DD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218" y="4050611"/>
            <a:ext cx="896630" cy="2915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3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3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Sequence 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3628B30-2857-47C5-9C00-2C211890B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2949" y="2452132"/>
            <a:ext cx="1103182" cy="3103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27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27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Red Giants 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81706AB-B041-4DCB-AFED-2203474ED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3518" y="5463437"/>
            <a:ext cx="1352048" cy="32103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8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8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White Dwarfs 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B428E34-9C08-4E7A-97E7-95D998C8C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37B59A6-0079-43A0-98B0-EF190BFB0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ABD35D2-804C-46E7-966D-FA9C6F646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15 of 53</a:t>
            </a:r>
          </a:p>
        </p:txBody>
      </p:sp>
    </p:spTree>
    <p:extLst>
      <p:ext uri="{BB962C8B-B14F-4D97-AF65-F5344CB8AC3E}">
        <p14:creationId xmlns:p14="http://schemas.microsoft.com/office/powerpoint/2010/main" val="270754576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61d5a850d7491d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59194C-266F-4549-9BFC-DD4420AD1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245" y="1365521"/>
            <a:ext cx="8298605" cy="6044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7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7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How does the size of star A compare with star D?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D3DC90C-FDDA-41C5-9944-2C02BD602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736" y="3221761"/>
            <a:ext cx="348121" cy="528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61E08A-C268-4CCA-83F5-9E23D0CAA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6870" y="3230477"/>
            <a:ext cx="2149059" cy="5137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2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2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Star A is larger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DB5EE8-2077-4E3E-94F3-F23FB15A4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897" y="3623860"/>
            <a:ext cx="347960" cy="528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26F61B-2D4C-47A0-B273-EC07C3B8E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6871" y="3627923"/>
            <a:ext cx="2203501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Star D is larger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18A8162-2DAD-4767-9C20-2A00C1928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897" y="4026028"/>
            <a:ext cx="366550" cy="528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D0D81E-B8EF-4E82-B538-C2D13B2E0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6871" y="4030299"/>
            <a:ext cx="3501623" cy="5212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They are the same size.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0913067-874A-44D9-99FE-581BEB4B1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897" y="4428236"/>
            <a:ext cx="366550" cy="528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AD366B7-6DCD-4108-8CD4-1EBF0BB43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6871" y="4432825"/>
            <a:ext cx="2919222" cy="5206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There is insufficient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55DA9F-B2D0-4FE2-B6DE-2B65EDF4C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6871" y="4821767"/>
            <a:ext cx="3632206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information to determine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4FDD33C-0F60-4D2C-910A-61C53ACD9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6871" y="5211236"/>
            <a:ext cx="634031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this.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E89ECAA-9705-422C-8660-ACC7FF1B2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1527" y="4990808"/>
            <a:ext cx="124663" cy="1904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37" b="1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37" b="1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 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D475AAC-9EE1-41FE-A575-347FF6B6E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2796" y="4112992"/>
            <a:ext cx="124668" cy="1904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37" b="1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37" b="1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 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F5D038C-BBA1-49F3-AE52-6A0C002DC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7085" y="5915356"/>
            <a:ext cx="988438" cy="192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48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48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Temperature (K) 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EAB7CA2-AA85-42B9-A9A2-27A6C602B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9958" y="2889334"/>
            <a:ext cx="818898" cy="1857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14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14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Spectral Type 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217A739-D464-40C1-9007-CA5B534BB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6461" y="5721260"/>
            <a:ext cx="414658" cy="1866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1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1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20,000 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A071C67-F9F7-4E76-AB79-D1D7F381B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2317" y="5721243"/>
            <a:ext cx="414717" cy="1866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1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1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10,000 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9E3AAF7-D7CC-414E-AA1E-81F059A55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1744" y="5720492"/>
            <a:ext cx="351997" cy="18795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2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5,000 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09032C6-DD0C-49BA-ABEA-4E176F1EC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3464" y="3062604"/>
            <a:ext cx="192190" cy="1655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81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1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O5 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45543D0-205C-47BA-87B0-05F8F4C74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8183" y="3061947"/>
            <a:ext cx="187185" cy="1666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82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2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B5 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D9DC67B-73CD-4714-ACFD-DCCAB5E12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9863" y="3061947"/>
            <a:ext cx="190954" cy="1666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82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2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A5 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399E675-93B4-42E4-A941-8B92EA22A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4101" y="3061947"/>
            <a:ext cx="409701" cy="1666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82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2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F5 G5 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82C6477-1E40-424C-A384-50107E510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5518" y="3061947"/>
            <a:ext cx="192105" cy="1666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82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2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K5 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7EF3A90-61FD-438F-B453-C058FF0C7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5834" y="3061947"/>
            <a:ext cx="209807" cy="1666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82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2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M5 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1B4E8A1-2F0E-48AA-9F19-B1198737D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3891" y="3336280"/>
            <a:ext cx="326920" cy="1577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77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77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10,000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0D409D8-ACA8-4562-943E-90BB122BA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6608" y="3581031"/>
            <a:ext cx="301405" cy="158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78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78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1,000 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41CEF63-A899-40EA-BC23-6F54F5514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5695" y="3825672"/>
            <a:ext cx="222318" cy="16188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79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79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100 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1066E3F-B9E9-4FD6-A6C2-4DE2ADBC0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8420" y="4069590"/>
            <a:ext cx="169593" cy="16596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81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1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10 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47CC128-0641-4B4D-8C3A-FAAB2A1E4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1139" y="4315846"/>
            <a:ext cx="116873" cy="1666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82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2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 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413D259-4FAA-42A2-A1FA-96F63BA87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4777" y="4562315"/>
            <a:ext cx="143235" cy="1666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82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2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.1 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002A127-01F6-4458-B30D-A52D5B465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2052" y="4808520"/>
            <a:ext cx="169070" cy="1653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81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1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.01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392420B-2B90-4D56-86C9-4C83C1E3C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9339" y="5057288"/>
            <a:ext cx="221685" cy="1613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79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79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.001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191B504-5622-4B6A-8A0D-C7977FEB9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6619" y="5305288"/>
            <a:ext cx="274301" cy="1591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78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78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.0001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BA034C9-198C-4C84-8789-B534D6F2B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8745" y="3349481"/>
            <a:ext cx="132209" cy="2007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88" b="1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88" b="1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 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6116F13-4628-4645-A8B6-33A1B62D9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881" y="3704227"/>
            <a:ext cx="132307" cy="192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47" b="1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47" b="1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b 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ABF626E-BC40-41E0-A1CC-EE0E507B2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3575" y="3465193"/>
            <a:ext cx="132208" cy="1923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46" b="1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46" b="1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 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8E2458F-745F-4E12-AFEC-D6EDBB6C9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9545" y="4807364"/>
            <a:ext cx="111013" cy="2007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88" b="1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88" b="1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f 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28102EC-4804-4256-A446-32C91E30C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8658" y="3359526"/>
            <a:ext cx="173672" cy="2007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8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8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-5 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158DEE1-9A70-4C39-877B-166504290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1276" y="3846279"/>
            <a:ext cx="132307" cy="2007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8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8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 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E37ADBC-923E-474B-8BC6-86EB3C644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944" y="4341948"/>
            <a:ext cx="132307" cy="2007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8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8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5 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06CB2EE-2274-4F21-92CF-FDE7A0EA5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1229" y="4829606"/>
            <a:ext cx="194924" cy="195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6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6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10 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4765821-0D5A-4864-B641-D076B62D8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41231" y="5316321"/>
            <a:ext cx="195033" cy="1952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6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6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15 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BEA4F2D-AC47-4FC6-A2CB-EE6D84450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9808" y="4134519"/>
            <a:ext cx="334474" cy="2007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8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8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Main 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F2A890E-3571-403B-9A34-3C43658B4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9808" y="4298161"/>
            <a:ext cx="549063" cy="1752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86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Sequence 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30A35F1-0FBC-4A82-8699-E96DE4E0C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9597" y="3346932"/>
            <a:ext cx="671996" cy="18618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16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16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Red Giants 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7EDC745-A75F-4F1F-B5B5-023DF83AD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1418" y="5139300"/>
            <a:ext cx="820115" cy="1923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46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46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White Dwarfs 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B835BCF-256C-4FD8-BD1E-88B15AE9D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F74643A5-6C59-4B21-9B6D-4595B26C8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0EC017B8-C30A-4E05-981E-FB79DDBD0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16 of 53</a:t>
            </a:r>
          </a:p>
        </p:txBody>
      </p:sp>
    </p:spTree>
    <p:extLst>
      <p:ext uri="{BB962C8B-B14F-4D97-AF65-F5344CB8AC3E}">
        <p14:creationId xmlns:p14="http://schemas.microsoft.com/office/powerpoint/2010/main" val="1563110076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f70094a2cd4734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F04C35-1D84-44FE-9377-319D2F6C8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943" y="1481073"/>
            <a:ext cx="7384768" cy="9543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69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69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What about stellar masses?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483497-FC14-4242-A09B-2F034E2DF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452" y="2738107"/>
            <a:ext cx="189230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41E4E2-5EA2-4CBC-8A52-123E39BB0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6577" y="2738107"/>
            <a:ext cx="7864306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We can determine the masses of stars if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46BB42-8715-46CD-8013-0D23E70DA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6577" y="3258807"/>
            <a:ext cx="6776253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they have companions.  These are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EF6ACC-E63D-4EE0-888B-EA356A9C1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6577" y="3779532"/>
            <a:ext cx="1287557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called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5DA6DD7-5CDC-4153-ABD9-82566B5FC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5776" y="3779532"/>
            <a:ext cx="2270465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binary stars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D7D241D-C245-44C6-B7B8-0B8ED6AEE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8791" y="3779532"/>
            <a:ext cx="398135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. 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1B5DDBA-233F-4768-8CB5-7A342BF1D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453" y="4401793"/>
            <a:ext cx="189230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E0C2B86-C86F-4C14-AA4E-13C9A00B5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6578" y="4401793"/>
            <a:ext cx="7023243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We can measure the mass by using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4FF91DA-3095-431C-A3AB-399B1C446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6578" y="4922532"/>
            <a:ext cx="7633236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Newton’s Laws and Kepler’s Laws, just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F176071-60C5-4F73-951B-AC823DED3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6578" y="5439040"/>
            <a:ext cx="4554479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like in our solar system.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8D02A91-5F22-487A-B0EE-DB02DDD2E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6A911AD-8D35-447C-8104-72225AE02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A50C8DD-D516-464B-A225-394CD2DDF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17 of 53</a:t>
            </a:r>
          </a:p>
        </p:txBody>
      </p:sp>
    </p:spTree>
    <p:extLst>
      <p:ext uri="{BB962C8B-B14F-4D97-AF65-F5344CB8AC3E}">
        <p14:creationId xmlns:p14="http://schemas.microsoft.com/office/powerpoint/2010/main" val="1618583642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199015a93df4f4a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C04153-0715-4A92-A582-76F611A38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625" y="627202"/>
            <a:ext cx="2660658" cy="7789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8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8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What about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4D78FC-1FC0-4996-8EBD-0339A2B77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9086" y="1211402"/>
            <a:ext cx="1985673" cy="7789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8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8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masses?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94F9D6-69E4-479D-9794-688414C6E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497" y="2218292"/>
            <a:ext cx="152188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2DB1BC-C31B-44AF-8FA6-9A6D1AF99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622" y="2218292"/>
            <a:ext cx="2489723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Main Sequence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EA148A-76EE-4E96-A523-1E335EC62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8697" y="2218292"/>
            <a:ext cx="831828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stars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8431EA-6CB4-4637-BE74-F86941DF1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622" y="2607755"/>
            <a:ext cx="2907980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range in mass from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1EE91F-5083-485E-8C18-7A2971FF3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622" y="2997224"/>
            <a:ext cx="760995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0.1M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8C80290-CB46-420D-BCEE-94BD03A79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1786" y="3073424"/>
            <a:ext cx="1302230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to 100M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198654-887B-49E3-B333-449A7743A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7552" y="2997224"/>
            <a:ext cx="128719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FCFB1FE-B0C3-47DD-AAD6-0B332CC1A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492" y="3462897"/>
            <a:ext cx="152188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4C9C222-B203-44FE-BEE7-F55CF7309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618" y="3462897"/>
            <a:ext cx="2256334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masses of 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EF25AEE-BDE8-4DCC-A1A1-E42CE7AB6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5419" y="3462897"/>
            <a:ext cx="886007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main 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7C09E78-4FBE-41EA-97F5-A691FFD92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617" y="3852355"/>
            <a:ext cx="1626603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sequence 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6FBD370-056F-46A7-8E3B-E8E6566BA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4902" y="3852355"/>
            <a:ext cx="831828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stars 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11F674F-4FEE-4D0D-9860-DC2422AFA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617" y="4241824"/>
            <a:ext cx="2025848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increase with 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E8D3A4E-2BCB-42FC-8276-6796F8E9F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617" y="4634326"/>
            <a:ext cx="1639907" cy="5164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4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4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luminosity, 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033A1AF-80E9-49EA-AD3F-668DE9F33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617" y="5020760"/>
            <a:ext cx="3269008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temperature, and size.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394E8E0-DEE6-408A-BF67-E358FF1A8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492" y="5486429"/>
            <a:ext cx="152188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ACD94E2-8A70-42F0-977B-2A9B01801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618" y="5486429"/>
            <a:ext cx="3123131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Mass increases from 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D39F04D-151E-4D8F-BB00-E6AF5C734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617" y="5875868"/>
            <a:ext cx="2910190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lower right to upper 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5200547-D745-455D-89D6-42769533A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617" y="6265336"/>
            <a:ext cx="561601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left.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93E28A6-70FE-44FD-99BF-689A469DB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6656" y="4946571"/>
            <a:ext cx="572773" cy="35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2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Small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E1E2B29-0B26-42F7-A230-E996050E5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51856" y="1583731"/>
            <a:ext cx="574470" cy="343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9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9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Large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FAF1580-4127-489C-B732-BAA5C17E3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80A4982-1B44-45F5-A8EB-822DD9CC0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61DBB94-9FD4-4D4F-B465-89E5B4536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18 of 53</a:t>
            </a:r>
          </a:p>
        </p:txBody>
      </p:sp>
    </p:spTree>
    <p:extLst>
      <p:ext uri="{BB962C8B-B14F-4D97-AF65-F5344CB8AC3E}">
        <p14:creationId xmlns:p14="http://schemas.microsoft.com/office/powerpoint/2010/main" val="600282940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b18c2f30ea4417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9B6720E-2766-4C7F-88E7-59FEB2648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0246" y="966521"/>
            <a:ext cx="5121748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What about masses?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F4D6725-A8DE-43F2-954C-2143462EC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496" y="1893170"/>
            <a:ext cx="152188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18B317-AC0A-40D4-A9F1-834E2DBA4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621" y="1893170"/>
            <a:ext cx="2781630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There is no simple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10AD75-C0DF-41B1-9880-1422333D1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621" y="2282633"/>
            <a:ext cx="2801326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relationship for the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5A9863-CEC9-4123-A476-6B8111A76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621" y="2672102"/>
            <a:ext cx="3052884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masses of non-main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335D29-616C-4423-9F9E-B4DBD073A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621" y="3061570"/>
            <a:ext cx="2331015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sequence stars.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1754DD8-F7A5-4343-AE6B-806D59943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496" y="3527239"/>
            <a:ext cx="152188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69A146-5449-4BF3-B154-30532EEAA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621" y="3527239"/>
            <a:ext cx="2385127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Red Giants and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A6128C-3F0B-4C61-8A74-DDF4E64E8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621" y="3916702"/>
            <a:ext cx="2784361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Supergiants range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6D4BD40-4792-49B2-8BA3-7B39442AD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621" y="4306171"/>
            <a:ext cx="2221550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from about 1 M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E9F76DF-7A51-4136-AD3E-CEC71DF74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280" y="4382371"/>
            <a:ext cx="489070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to 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FD4F242-6F20-4A46-AE6C-348869399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610" y="4695634"/>
            <a:ext cx="671373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20M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106E7E2-CD8F-4F31-9F41-049B78AE7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2519" y="4695634"/>
            <a:ext cx="128719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72D9CBC-B8A7-4AF5-BD24-0CFB09FEF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485" y="5161307"/>
            <a:ext cx="152188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602DB5C-E505-401B-B1F3-913DB6CE2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610" y="5161307"/>
            <a:ext cx="2617343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White Dwarfs are 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D084D4C-26C8-4F79-8650-FC6C85A56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610" y="5550746"/>
            <a:ext cx="1482765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about 1 M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89079AE-A431-4132-AA4F-78C7772B0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3913" y="5550746"/>
            <a:ext cx="128719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9AFE61A-65C1-4F11-A5F6-ECB079B90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3860C14-BD0A-48A5-B65C-4EAECF4B7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C4F1F1D-01BA-4892-ACAB-B30FE8C27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19 of 53</a:t>
            </a:r>
          </a:p>
        </p:txBody>
      </p:sp>
    </p:spTree>
    <p:extLst>
      <p:ext uri="{BB962C8B-B14F-4D97-AF65-F5344CB8AC3E}">
        <p14:creationId xmlns:p14="http://schemas.microsoft.com/office/powerpoint/2010/main" val="1778000979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4ee5ca60894e9f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E80FF8-7DC4-4A85-AF62-6D5168748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1918" y="3492102"/>
            <a:ext cx="5464419" cy="9548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69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69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Why is there a Main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DC66F2-CDB0-404C-9296-4744EA764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5153" y="4203211"/>
            <a:ext cx="3054241" cy="95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7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7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Sequence?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A57ED2-4E2C-40ED-83CA-6644AEEC2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05745B-8039-467B-8CDA-92BDCC313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EC8A98F-4FE4-455C-BAF8-4FEF84EBA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20 of 53</a:t>
            </a:r>
          </a:p>
        </p:txBody>
      </p:sp>
    </p:spTree>
    <p:extLst>
      <p:ext uri="{BB962C8B-B14F-4D97-AF65-F5344CB8AC3E}">
        <p14:creationId xmlns:p14="http://schemas.microsoft.com/office/powerpoint/2010/main" val="1203000160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bdb41b841742a1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5DF6A3A-E83A-4F77-A357-8379EAEAB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8492" y="824319"/>
            <a:ext cx="6267055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How to generate energy: 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C5721C0-F203-417F-8EB1-9DB2C354C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0574" y="1480472"/>
            <a:ext cx="6380634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Nuclear Fusion vs. Fission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64E496-CB92-43D3-9CD4-AB686AC4A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7" y="2296699"/>
            <a:ext cx="141817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C9F8AA-DF59-4817-A6FD-22CB63362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2" y="2296699"/>
            <a:ext cx="2819034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Nuclear fusion is the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633292D-3B3F-45C4-87A2-BD9AC15DD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2" y="2618430"/>
            <a:ext cx="1726017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combination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333E51D-C153-41C4-988E-E990DB693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1448" y="2618430"/>
            <a:ext cx="2139412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of two atoms to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CB07F6-3845-402F-9A10-CD08458BD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2" y="2940097"/>
            <a:ext cx="3565793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form a more massive atom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6BD5B7-62C2-425F-BE3B-0C649E75C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7" y="3329581"/>
            <a:ext cx="141817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38AD8A3-5D8A-46A9-A6A1-4BDE702E8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2" y="3329581"/>
            <a:ext cx="2867780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Nuclear fission is the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C6A0A8-5166-43E2-9C66-2265C42FA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2467" y="3329581"/>
            <a:ext cx="1045640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splitting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4EF1E50-1669-44D0-B36B-0474C2196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2" y="3651297"/>
            <a:ext cx="3861407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of one atom to form two less 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EEFBB7A-AA3C-4183-B862-B47AA2AE9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2" y="3973099"/>
            <a:ext cx="2105459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massive atoms.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A58882C-328B-4794-8ED5-8C715DA39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7" y="4366773"/>
            <a:ext cx="141817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8513C3D-850E-4987-9010-3AB1C2698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2" y="4366773"/>
            <a:ext cx="4110661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For light atoms, like hydrogen, 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A38EACA-637C-42D1-8ED4-C093FE664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2" y="4688465"/>
            <a:ext cx="3893988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fusion produces energy.  For 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76A9AE0-F96D-4844-B130-A76121EF2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2" y="5010267"/>
            <a:ext cx="3347856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heavy atoms, it does not.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23B12F7-51C7-42AE-9E41-EFF201176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7" y="5403941"/>
            <a:ext cx="141817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1A12E2A-CFAD-4B50-8342-4DF5825DE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2" y="5403941"/>
            <a:ext cx="2951395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For heavy atoms, like 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D3062F3-8B5B-4D7B-A429-CBC96777E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2" y="5725699"/>
            <a:ext cx="3414228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uranium, fission releases 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8598DD4-814D-465D-95DB-E9890B933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2" y="6043173"/>
            <a:ext cx="3541964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energy.  For light atoms, it 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FCC0941-0DAF-42E8-8CEC-1EA78A57E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2" y="6364865"/>
            <a:ext cx="1262844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does not.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3E1552F-9188-4CA7-BF10-ED1D28158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9BA0D0F-BC9E-4542-83BA-BD71472C8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715E445-3A12-4916-9269-EAA885A01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21 of 53</a:t>
            </a:r>
          </a:p>
        </p:txBody>
      </p:sp>
    </p:spTree>
    <p:extLst>
      <p:ext uri="{BB962C8B-B14F-4D97-AF65-F5344CB8AC3E}">
        <p14:creationId xmlns:p14="http://schemas.microsoft.com/office/powerpoint/2010/main" val="750407571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519001428494901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C61AEA7-746F-4848-AB45-AC609046A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0327" y="992949"/>
            <a:ext cx="4042648" cy="95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7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7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Nuclear Fusion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2FA815-BC40-4DE7-A959-E242AA5B8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065" y="2086808"/>
            <a:ext cx="8031893" cy="6080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centers of stars are hot enough and dense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F3CCEE-B501-42DB-BC53-83EE6CA47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9596" y="2539616"/>
            <a:ext cx="6281553" cy="6082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enough to fuse hydrogen into helium.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7B7391-F4F2-442B-88D9-C02DBFEB3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171" y="5326525"/>
            <a:ext cx="551174" cy="45869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5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 H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9495B94-0A7F-48C6-BEA7-FA501AE2D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190" y="5213947"/>
            <a:ext cx="1019945" cy="4508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1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1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1 He +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87A7D6-5146-458A-ADAA-69A4BA388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0068" y="5590062"/>
            <a:ext cx="1044360" cy="4730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2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2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Energy!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6AB7E4F-D42C-4E86-AD7A-068033AE1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62B3000-329B-4B2C-972B-CE4E101F0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3571F47-08AD-4580-92E1-BA8CAEB79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22 of 53</a:t>
            </a:r>
          </a:p>
        </p:txBody>
      </p:sp>
    </p:spTree>
    <p:extLst>
      <p:ext uri="{BB962C8B-B14F-4D97-AF65-F5344CB8AC3E}">
        <p14:creationId xmlns:p14="http://schemas.microsoft.com/office/powerpoint/2010/main" val="1044115113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67a5c98e8748aa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63B641-048F-450D-B0EB-C8F2331FE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0327" y="992949"/>
            <a:ext cx="4042648" cy="95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7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7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Nuclear Fusion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240F9E-913A-4C28-8DD1-21B090D78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941" y="1924416"/>
            <a:ext cx="8132619" cy="60773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hotter the core, the more fusion that occurs.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AE476B1-B5C0-40D4-8156-3756B71B9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0649" y="2470308"/>
            <a:ext cx="6721233" cy="60803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This is just one possible fusion process.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F67855-5CBB-4D6B-8AE1-DDBC3AB56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171" y="5326525"/>
            <a:ext cx="551174" cy="45869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5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 H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1A542A-9E90-4B84-8E02-D0E22068D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190" y="5213947"/>
            <a:ext cx="1019945" cy="4508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1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1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1 He +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F0283D-7E4D-4A35-B99A-F7588860A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0068" y="5590062"/>
            <a:ext cx="1044360" cy="4730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2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2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Energy!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E143BA-B3C1-41B3-A217-92293A418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2219BCF-D6F1-4A02-BDFF-1A050E03F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388551D-A536-4504-8D0F-F180CF0F2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23 of 53</a:t>
            </a:r>
          </a:p>
        </p:txBody>
      </p:sp>
    </p:spTree>
    <p:extLst>
      <p:ext uri="{BB962C8B-B14F-4D97-AF65-F5344CB8AC3E}">
        <p14:creationId xmlns:p14="http://schemas.microsoft.com/office/powerpoint/2010/main" val="225969983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568750d9754318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77519C9-0750-4513-BD4F-97694BE25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0327" y="992949"/>
            <a:ext cx="4042648" cy="95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7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7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Nuclear Fusion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1D70D7-F26F-4652-8A70-D9DD02A23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184" y="2087061"/>
            <a:ext cx="8511388" cy="6075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How do we know this happens in the center of the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044A1F-AE2C-4033-A890-1908FAFED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896" y="2538823"/>
            <a:ext cx="924802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Sun?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95F1AA-FF15-43C1-8F31-4FFF86E40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5258" y="5256648"/>
            <a:ext cx="1661852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Photons (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3535AC-8203-43CB-9B35-B6785DB72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8038" y="5256648"/>
            <a:ext cx="2286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γ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ED1929A-5D24-4641-BF36-807004719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7362" y="5257542"/>
            <a:ext cx="5920172" cy="60810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) take 10,000 years to escape Sun.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6B14A1-F50A-4DFC-9EE0-2756A7F94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6715" y="5802678"/>
            <a:ext cx="1663676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Neutrinos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53725EF-D6E5-4A3D-AEBF-EC03FBE17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2292" y="5802678"/>
            <a:ext cx="268667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(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2F80D0-DC39-437F-B158-A507A9128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2762" y="5802678"/>
            <a:ext cx="2286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ν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D697875-EFE1-495A-8493-9460BC887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2086" y="5803530"/>
            <a:ext cx="5708717" cy="6081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) flow freely from Sun and can be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1223CA9-A80B-4FC8-A671-46ABEFE4F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2510" y="6264455"/>
            <a:ext cx="3136467" cy="6090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detected on Earth.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FD38DA5-002D-4145-8249-D7116583B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42CB24A-CDC7-406A-ABAA-3EEE78271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8FC6E1E-3449-4DBD-86CA-521776EFA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24 of 53</a:t>
            </a:r>
          </a:p>
        </p:txBody>
      </p:sp>
    </p:spTree>
    <p:extLst>
      <p:ext uri="{BB962C8B-B14F-4D97-AF65-F5344CB8AC3E}">
        <p14:creationId xmlns:p14="http://schemas.microsoft.com/office/powerpoint/2010/main" val="1915344257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08704051f6c4e3e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FA8456-5797-4404-B00B-BBD57F568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8037" y="1123328"/>
            <a:ext cx="2587109" cy="95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7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7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Neutrinos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AB4041-C3D9-40E3-AF48-F123DEB68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2290386"/>
            <a:ext cx="161079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8EAB3E-D0AF-418C-BFAF-F9D38C64C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2" y="2290386"/>
            <a:ext cx="7458274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Neutrinos have almost no mass and no electric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649D74-70D0-478B-BAD4-CFC7B68B6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1" y="2667125"/>
            <a:ext cx="1213009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charge.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923EB5-3E94-4AC0-85E5-B70BC3449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3132809"/>
            <a:ext cx="161079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CCAD58-B601-40BE-AF09-363201970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2" y="3132809"/>
            <a:ext cx="7681335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Neutrinos only weakly interact with matter.  They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6EF0463-4119-4127-8F75-7C1B4938E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1" y="3513824"/>
            <a:ext cx="7322971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could pass through 1 light-year of lead without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B56725-CFC7-48B9-AF2B-2F288219C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1" y="3894824"/>
            <a:ext cx="4207723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interacting with any atoms.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5FDDC2-1025-4F20-8266-8087F4424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4356240"/>
            <a:ext cx="161079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24B7D55-FA54-44F3-AC3C-32853DD98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2" y="4356240"/>
            <a:ext cx="527976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65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8AF6D0A-891C-4714-8A80-EBEFD5210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2956" y="4356240"/>
            <a:ext cx="936408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67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billion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98A9D77-3460-493C-BEB9-3AE70B948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1264" y="4356240"/>
            <a:ext cx="6815010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solar neutrinos pass through every square 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D687742-A2D0-4F1B-9EAB-3B6979661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37" y="4737255"/>
            <a:ext cx="6010596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centimeter of your body every second.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10A80B2-56BF-435C-A731-DB7119156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2" y="5198648"/>
            <a:ext cx="161078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D3FB62B-23EC-46AB-88B3-BB79BEB0E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38" y="5198648"/>
            <a:ext cx="8161877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number of solar neutrinos we can detect match 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D38FEA9-979C-4D14-8214-D20B87D0D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37" y="5579687"/>
            <a:ext cx="8006605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what is predicted to come from the reactions in the 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94AC823-AB9C-455B-9C9A-FAF00C645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37" y="5960687"/>
            <a:ext cx="8089042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core of the Sun providing evidence that our models 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73A4237-91DB-4F88-8960-C1C4BDC5B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37" y="6341687"/>
            <a:ext cx="1817813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are correct.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CAF8D22-9A3E-459B-BCD0-F79E301DE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AE5ADA4-528C-4A9F-A614-69942BF42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C8FF30C-5DEB-4D40-86B0-22506AF5D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25 of 53</a:t>
            </a:r>
          </a:p>
        </p:txBody>
      </p:sp>
    </p:spTree>
    <p:extLst>
      <p:ext uri="{BB962C8B-B14F-4D97-AF65-F5344CB8AC3E}">
        <p14:creationId xmlns:p14="http://schemas.microsoft.com/office/powerpoint/2010/main" val="1965162259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1a23c4b60a4285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FF7DEA-9D22-4A51-8B29-EA0058F5C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011" y="1123571"/>
            <a:ext cx="5795214" cy="95463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69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69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Why are stars stable?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5B92DB-7E23-433D-A99D-516DA4DB9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2331702"/>
            <a:ext cx="189230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107B4C-16F3-4449-8FF9-7B8B00BE4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1" y="2331702"/>
            <a:ext cx="4839811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Why don’t they collapse?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0A0FC3-C0F7-41AB-9C5E-187888B7F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2958219"/>
            <a:ext cx="189230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F3705FA-FE33-4CFB-8289-A743B1908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1" y="2958219"/>
            <a:ext cx="4670196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Why don’t they expand?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AF90086-786A-40C2-AED8-BF549DF56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905892-3CF0-48F1-8B6C-FDEAE057F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FA71E5-4406-47CE-BF07-A919902D8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26 of 53</a:t>
            </a:r>
          </a:p>
        </p:txBody>
      </p:sp>
    </p:spTree>
    <p:extLst>
      <p:ext uri="{BB962C8B-B14F-4D97-AF65-F5344CB8AC3E}">
        <p14:creationId xmlns:p14="http://schemas.microsoft.com/office/powerpoint/2010/main" val="1221075614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b69ee5e68b4cff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41508B-D71A-4EF4-ACBF-7B2E42CA6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5814" y="1123328"/>
            <a:ext cx="2191119" cy="95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7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7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Balance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5A870B-31BB-4476-AD15-288D18D54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2284142"/>
            <a:ext cx="180340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BAE2A1-5523-497C-98B1-0E2EEA7D8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542" y="2284387"/>
            <a:ext cx="5578761" cy="6498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19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19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All main sequence stars are in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17492C-1E1D-4E95-A036-BEEF41B4D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1" y="2720360"/>
            <a:ext cx="4179971" cy="6500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199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199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hydrostatic equilibrium.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D27607E-32F9-40BD-961C-583FCB0E3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7" y="3257817"/>
            <a:ext cx="180340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007F00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007F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A88640-E1D9-4F16-A172-EAE3C3A6A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3" y="3257817"/>
            <a:ext cx="1435551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007F00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007F00"/>
                </a:solidFill>
                <a:latin typeface="Arial"/>
                <a:ea typeface="Arial"/>
                <a:cs typeface="Arial"/>
              </a:rPr>
              <a:t>Gravity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B2F8FF6-BED7-4AC4-846A-55A35FBBD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0693" y="3257817"/>
            <a:ext cx="3439130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is pushing the star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AA28A7B-CFD7-47CF-B9D3-B3AF6FC6B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1" y="3693888"/>
            <a:ext cx="1569099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inward. 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3F1093-FD47-4599-8C8C-C8F9E7281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4234" y="3693884"/>
            <a:ext cx="1028496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0000FF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0000FF"/>
                </a:solidFill>
                <a:latin typeface="Arial"/>
                <a:ea typeface="Arial"/>
                <a:cs typeface="Arial"/>
              </a:rPr>
              <a:t>Light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BBF0F55-7CA1-43F7-8EAB-4A81501A6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4809" y="3693884"/>
            <a:ext cx="3078049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generated in the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D3996C-F34D-4F1B-9B8B-0A0E7605A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1" y="4134170"/>
            <a:ext cx="4316775" cy="6501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core generates thermal 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0FF304-97D3-4B88-9537-033A4F5F6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1" y="4570465"/>
            <a:ext cx="5127124" cy="6497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19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19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pressure pushing outwards. 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B8F7EAD-3ABE-4D70-987A-98AFAC860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5107776"/>
            <a:ext cx="180340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94B2922-944D-4ABD-A7BD-D88C599D7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1" y="5108093"/>
            <a:ext cx="5599936" cy="6497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19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19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During hydrostatic equilibrium, 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8BB96C9-24E8-4159-8200-098019D8C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1" y="5544356"/>
            <a:ext cx="4921464" cy="64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19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19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these forces are balanced. 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ADE09C8-572C-4DA7-BDEC-27666BC0B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6081445"/>
            <a:ext cx="180340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BAF22DF-4E18-46B8-B7B7-0D9EAC013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1" y="6081703"/>
            <a:ext cx="5352697" cy="6498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19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19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This balance is why the Main 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D30FB88-6268-4EA2-B9C5-9D1B71A45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1" y="6517521"/>
            <a:ext cx="3124105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Sequence exists.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62F433E-A747-48B1-B485-075CE33DF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9E12021-8A0B-40FD-9B6C-8FB52F668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96646EE-2078-4EF2-8F9A-D7FED481E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27 of 53</a:t>
            </a:r>
          </a:p>
        </p:txBody>
      </p:sp>
    </p:spTree>
    <p:extLst>
      <p:ext uri="{BB962C8B-B14F-4D97-AF65-F5344CB8AC3E}">
        <p14:creationId xmlns:p14="http://schemas.microsoft.com/office/powerpoint/2010/main" val="1376781791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6bbf806ca8a4a40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A52A19-60DA-4B69-890D-D0DC07C02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5814" y="1123328"/>
            <a:ext cx="2191119" cy="95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7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7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Balance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76D2F9C-31A8-42E4-894C-F26A6093C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2281689"/>
            <a:ext cx="5583789" cy="6896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39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39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In a main sequence star, the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037912-2856-4393-8293-90B34FB3B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2750847"/>
            <a:ext cx="5655080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energy generated by nuclear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70556A-3012-446F-8F93-8140877DA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3216421"/>
            <a:ext cx="5320044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fusion is producing enough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ACB9FB-94D0-4051-884C-EAB8AF2A9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7" y="3682149"/>
            <a:ext cx="3374834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FF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FF"/>
                </a:solidFill>
                <a:latin typeface="Arial"/>
                <a:ea typeface="Arial"/>
                <a:cs typeface="Arial"/>
              </a:rPr>
              <a:t>outward pressure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F2279E-58C3-4E1B-A1A6-01C02CA73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4351" y="3682149"/>
            <a:ext cx="2271011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to balance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A0AB44-8D91-4125-B522-B23162B88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4152049"/>
            <a:ext cx="758213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03EE1E-54D1-416D-A4B9-5DE0944CC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719" y="4152049"/>
            <a:ext cx="3112261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7F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7F00"/>
                </a:solidFill>
                <a:latin typeface="Arial"/>
                <a:ea typeface="Arial"/>
                <a:cs typeface="Arial"/>
              </a:rPr>
              <a:t>inward pressure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F62878B-AE87-4119-80DE-4B367A148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1879" y="4152049"/>
            <a:ext cx="1861068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from the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0934D9-8C26-4AB1-8BF3-083AD614A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4619084"/>
            <a:ext cx="3206572" cy="68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38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38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mass of the star.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AEEA123-194A-45BD-956E-350C57EDC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073" y="5189856"/>
            <a:ext cx="5297340" cy="6897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395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395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more massive a star, 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EED754D-79F9-445D-9F01-DD35907A5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2901" y="5654886"/>
            <a:ext cx="5057080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more energy it must 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7335F47-8A7C-497D-B700-4E9252D20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0287" y="6124786"/>
            <a:ext cx="1861980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produce.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DBAD87E-6A00-4144-BACC-1F3C64699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8DA1468-8784-4879-9849-30A6AE543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9228954-391C-4293-BF92-5EA054A34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28 of 53</a:t>
            </a:r>
          </a:p>
        </p:txBody>
      </p:sp>
    </p:spTree>
    <p:extLst>
      <p:ext uri="{BB962C8B-B14F-4D97-AF65-F5344CB8AC3E}">
        <p14:creationId xmlns:p14="http://schemas.microsoft.com/office/powerpoint/2010/main" val="1448274328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f5ba5e62c74e69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2B96D0-A484-4BE1-8490-BB48AB04F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4754" y="1123910"/>
            <a:ext cx="6852202" cy="9540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69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69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Mass-Luminosity Relation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282CFB-4BBC-49CD-BF6B-257A68E4A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7734" y="2331702"/>
            <a:ext cx="7141910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Because main sequence stars are in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491FC7-9E5A-4227-9EB5-FA159B247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486" y="2852402"/>
            <a:ext cx="4576140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hydrostatic equilibrium,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B662F67-FEF1-4603-9674-236A30BDD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9199" y="2852402"/>
            <a:ext cx="3040911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more massive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D81DA6-18C3-48C3-B14F-F10603927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1504" y="3373128"/>
            <a:ext cx="5059850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stars are more luminous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821C80E-8AAA-4B7D-A4C5-F385D90E8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1980" y="3373128"/>
            <a:ext cx="398136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. 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7E3350-504A-45CF-AE62-C610ECA8B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A8C07AF-05DA-4599-9B96-41B649980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79A252A-5B93-4378-9E02-32051C6F8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29 of 53</a:t>
            </a:r>
          </a:p>
        </p:txBody>
      </p:sp>
    </p:spTree>
    <p:extLst>
      <p:ext uri="{BB962C8B-B14F-4D97-AF65-F5344CB8AC3E}">
        <p14:creationId xmlns:p14="http://schemas.microsoft.com/office/powerpoint/2010/main" val="1841023699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168436d1584d92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C79547-2255-4D42-9239-B666ADD2F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4754" y="1123910"/>
            <a:ext cx="6852202" cy="9540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69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69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Mass-Luminosity Relation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A9E3E47-34B5-447C-AAE3-3DE5DC869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2262" y="2332219"/>
            <a:ext cx="7336426" cy="6900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39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39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If you increase the mass of a star, the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C53A91E-181E-41B8-9D31-FE0CF9B97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0548" y="2852402"/>
            <a:ext cx="5202222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inward pressure increases.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8113EF-5673-435D-BB09-946BBB88E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63BCC3-A591-4FFC-8807-9E739A0C0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D8DE996-949F-46AB-BC4A-68AF72A9A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30 of 53</a:t>
            </a:r>
          </a:p>
        </p:txBody>
      </p:sp>
    </p:spTree>
    <p:extLst>
      <p:ext uri="{BB962C8B-B14F-4D97-AF65-F5344CB8AC3E}">
        <p14:creationId xmlns:p14="http://schemas.microsoft.com/office/powerpoint/2010/main" val="1720748474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7c667931394eac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F4C12A4-B413-4F65-BF8A-DAA475A1A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4754" y="1123910"/>
            <a:ext cx="6852202" cy="9540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69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69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Mass-Luminosity Relation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BB8CE5-5BF9-4EEF-9B61-0384C77AE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465" y="2331702"/>
            <a:ext cx="8220323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This causes the core of the star to heat up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76B1E47-31F2-443D-98C4-EBE9520E3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5556" y="2854006"/>
            <a:ext cx="5070599" cy="6882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38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38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and produce more energy.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B75ED3-78A5-4EC3-A25B-DFC12B554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A5F43D-ED1B-4082-A594-D3601F668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665153-1E03-4188-B47F-F08B4BB73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31 of 53</a:t>
            </a:r>
          </a:p>
        </p:txBody>
      </p:sp>
    </p:spTree>
    <p:extLst>
      <p:ext uri="{BB962C8B-B14F-4D97-AF65-F5344CB8AC3E}">
        <p14:creationId xmlns:p14="http://schemas.microsoft.com/office/powerpoint/2010/main" val="499178797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9f9d6e674e4060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7BB26D-D7E4-4CFE-813F-886633136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4754" y="1123910"/>
            <a:ext cx="6852202" cy="9540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69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69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Mass-Luminosity Relation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0202E18-BB09-4887-9BEE-8FC3A6547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7602" y="2331702"/>
            <a:ext cx="8460974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Which increases the outward pressure, and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02F475-E729-4DCB-9D49-B617B13EC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7811" y="2852754"/>
            <a:ext cx="6427595" cy="6902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39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39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stabilizes the more luminous star.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3BFF4AE-75E7-4F49-85D1-CCE96596F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D31F9A-1BB1-43F6-9DDE-61D1C2F11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BEE3A8-0649-4D91-9339-7CAD6692D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32 of 53</a:t>
            </a:r>
          </a:p>
        </p:txBody>
      </p:sp>
    </p:spTree>
    <p:extLst>
      <p:ext uri="{BB962C8B-B14F-4D97-AF65-F5344CB8AC3E}">
        <p14:creationId xmlns:p14="http://schemas.microsoft.com/office/powerpoint/2010/main" val="1379471442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1b7d6cf2fd4607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3B46113-8D1A-4E74-9C14-6B60967AD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056" y="895591"/>
            <a:ext cx="6826879" cy="7789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8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8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Implication of Mass-Luminosity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2A0F1F-A48D-4D8A-9EB2-B08BAB1E1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9215" y="1479791"/>
            <a:ext cx="1823024" cy="7789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8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8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Relation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5E7090-2E58-4461-BE0F-1BF11E6D2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9200" y="2332671"/>
            <a:ext cx="7539555" cy="51999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5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5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More mass = More Luminosity = faster rate of fusion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BC0C09-33E6-4DA4-A736-537F4EEA2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9367" y="2797414"/>
            <a:ext cx="318041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=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423D1D-14FC-4FC4-ABFE-8B50B8D73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8286" y="2798251"/>
            <a:ext cx="5462652" cy="5201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0" b="1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0" b="1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Shorter lifetime on Main Sequence!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4DCC389-44DF-4546-8CAD-31E153E0C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385350C-6FC3-4C2D-995D-B484F1C72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CA8EA32-F92D-4005-8D54-A244B678D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33 of 53</a:t>
            </a:r>
          </a:p>
        </p:txBody>
      </p:sp>
    </p:spTree>
    <p:extLst>
      <p:ext uri="{BB962C8B-B14F-4D97-AF65-F5344CB8AC3E}">
        <p14:creationId xmlns:p14="http://schemas.microsoft.com/office/powerpoint/2010/main" val="1065570272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56aec216523493e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3BE711B-9275-413B-85F4-3EAA18511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056" y="895591"/>
            <a:ext cx="6826879" cy="7789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8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8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Implication of Mass-Luminosity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5C4FA6-0562-440B-8B68-B0FAE1235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9215" y="1479791"/>
            <a:ext cx="1823024" cy="7789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8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8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Relation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7DC5C6-B8B3-4D03-AFDA-C33D590B6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6518" y="2330465"/>
            <a:ext cx="5561194" cy="6083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More mass = More Luminosity =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BD7409-60A5-4117-82FD-0165986FD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9036" y="2329689"/>
            <a:ext cx="2165686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1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1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Shorter life!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58F112-F1A4-482A-B359-1F2D3182E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235" y="4789061"/>
            <a:ext cx="2906073" cy="3912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2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2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 Stars are very massive,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3772C0-0B61-4E8E-B29A-6F92DA31D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5844" y="5139569"/>
            <a:ext cx="1675262" cy="3925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3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3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very luminous,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3C9D81D-468C-45A1-9FF7-900A5D8A6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3777" y="5491574"/>
            <a:ext cx="2229165" cy="391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2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2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and very short-lived.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4955A0-FDED-4985-AD45-0EB6A38E9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F633B15-CB02-4446-BEB9-A20FE7AF6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E507D04-B9CD-43A7-9599-155F84950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34 of 53</a:t>
            </a:r>
          </a:p>
        </p:txBody>
      </p:sp>
    </p:spTree>
    <p:extLst>
      <p:ext uri="{BB962C8B-B14F-4D97-AF65-F5344CB8AC3E}">
        <p14:creationId xmlns:p14="http://schemas.microsoft.com/office/powerpoint/2010/main" val="858481852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60fcbc3a654cf8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C67FA5-3373-4665-9E57-69E9F8480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056" y="895591"/>
            <a:ext cx="6826879" cy="7789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8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8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Implication of Mass-Luminosity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A9A060-0490-4726-ABCB-C53F5D1F5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9215" y="1479791"/>
            <a:ext cx="1823024" cy="7789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8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8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Relation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46BC7DA-9DD2-4237-AFC3-4D01ABF1D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6518" y="2330465"/>
            <a:ext cx="5561194" cy="6083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More mass = More Luminosity =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C9281A-BB21-4C5C-B192-30D0A2A96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9036" y="2329689"/>
            <a:ext cx="2165686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1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1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Shorter life!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9832A59-5E82-4480-8252-CE4945A89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1290" y="5139846"/>
            <a:ext cx="1931750" cy="3920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3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3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 stars (Sun-like)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9DC9448-ABB0-45D5-8DF4-EFCD82F4D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2071" y="5491541"/>
            <a:ext cx="2419721" cy="391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2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2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are not very massive,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39722C-C530-447D-85EA-65119E41E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0149" y="5838445"/>
            <a:ext cx="2081525" cy="3919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2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2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not very luminous,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3251062-1D73-47BF-B7B8-506AF593F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2321" y="6189564"/>
            <a:ext cx="1620622" cy="3924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3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3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and long-lived.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599D527-2509-4BFA-9D5A-EA847CE4C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3E4C2FF-1F2E-4C1C-8CA1-995BCDEAB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EAC3568-6189-44AD-AB7B-CDD2E5EE7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35 of 53</a:t>
            </a:r>
          </a:p>
        </p:txBody>
      </p:sp>
    </p:spTree>
    <p:extLst>
      <p:ext uri="{BB962C8B-B14F-4D97-AF65-F5344CB8AC3E}">
        <p14:creationId xmlns:p14="http://schemas.microsoft.com/office/powerpoint/2010/main" val="833874041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4757e5bf9d949ad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93EF16-22E4-4DF4-A8BD-709ED7EE9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056" y="895591"/>
            <a:ext cx="6826879" cy="7789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8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8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Implication of Mass-Luminosity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02C823-7FB2-498F-B420-0B039EA21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9215" y="1479791"/>
            <a:ext cx="1823024" cy="7789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8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8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Relation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C2C754-4EFA-4A13-8626-A63361400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6518" y="2330465"/>
            <a:ext cx="5561194" cy="6083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More mass = More Luminosity =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7F9CEB-9D54-44AA-9D14-772FEF3A6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9036" y="2329689"/>
            <a:ext cx="2165686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1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1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Shorter life!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A43BB0-5D93-44A7-9A2E-BD0D5E253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7157" y="5839031"/>
            <a:ext cx="3244051" cy="39103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2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2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 stars have very little mass,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1E6B51-C96B-4124-BC01-6AA799518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0501" y="6189306"/>
            <a:ext cx="1581269" cy="3928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are very faint,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9FB27B-C5A0-4D40-A085-3ECF4D9AD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7880" y="6543266"/>
            <a:ext cx="2725061" cy="3885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1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1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and very, very long-lived.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8AFBFAE-B73C-4D19-8ED9-9613F29AB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EDE2CBE-122F-423A-9F79-62652D1BB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4D3F07D-6D7F-4606-A328-F19C3EC56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36 of 53</a:t>
            </a:r>
          </a:p>
        </p:txBody>
      </p:sp>
    </p:spTree>
    <p:extLst>
      <p:ext uri="{BB962C8B-B14F-4D97-AF65-F5344CB8AC3E}">
        <p14:creationId xmlns:p14="http://schemas.microsoft.com/office/powerpoint/2010/main" val="1881643492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529825623344fe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AE7B0C-A61A-43DC-8CBE-CDC9CDA7D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0721" y="1123328"/>
            <a:ext cx="4341155" cy="95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7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7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Stellar Evolution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3B0DFF-598C-4A08-82A9-7DED27A99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2331702"/>
            <a:ext cx="189230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586434-2D22-46F1-8B12-20C0EC24E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1" y="2331702"/>
            <a:ext cx="3785880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How do stars form?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E09B81-96E1-4026-AD67-E7E3BB816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2958219"/>
            <a:ext cx="189230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4C81EDF-4E00-4521-9BCD-751BD5D81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1" y="2958219"/>
            <a:ext cx="3498210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How do stars die?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86672B8-DAE2-451E-98BF-971DAAC76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AD7D1B-9098-43A4-84E1-A984654DC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15BBB5A-7B6B-4D22-A98F-925CE84D1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37 of 53</a:t>
            </a:r>
          </a:p>
        </p:txBody>
      </p:sp>
    </p:spTree>
    <p:extLst>
      <p:ext uri="{BB962C8B-B14F-4D97-AF65-F5344CB8AC3E}">
        <p14:creationId xmlns:p14="http://schemas.microsoft.com/office/powerpoint/2010/main" val="1490370865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05e9a77847d476f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345226-8FCE-4ED7-B38C-2140D8142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1960" y="1123400"/>
            <a:ext cx="6659830" cy="954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69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69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Stages of Star Formation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9F40218-D996-4903-9745-1827384AE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7" y="2331702"/>
            <a:ext cx="398178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C82E91-A1A8-4688-B0D4-8DFAA1ABE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305" y="2331702"/>
            <a:ext cx="4910705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Interstellar medium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B8B92F-2C6A-4423-B717-103702D29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7910" y="2331702"/>
            <a:ext cx="2993532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– gas and dust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9AFACB-4470-47A1-BA15-967192FE0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7" y="2958219"/>
            <a:ext cx="398178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ABB7CD-4FC5-4C0E-B353-F704BB7FB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094" y="2968145"/>
            <a:ext cx="423606" cy="67433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31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31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5F578D-654E-405E-AA86-6EE364CC6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0581" y="2958219"/>
            <a:ext cx="1933530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protostar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FAE961B-2609-49A6-8693-C28AFFA2A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011" y="2958219"/>
            <a:ext cx="4672346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forms from the coldest,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3BC7C43-D664-4B74-9850-FC70AF347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301" y="3474771"/>
            <a:ext cx="5104152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densest part of the ISM, a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F366846-1D8E-4C44-8D31-28724383A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1407" y="3474771"/>
            <a:ext cx="2199429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molecular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DBE15BA-D051-47F7-BBF6-F3793910B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301" y="3995401"/>
            <a:ext cx="1189538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cloud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C5D7892-23B2-424F-84F3-C2ED7403E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3" y="4617756"/>
            <a:ext cx="398178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206EB8E-BEAD-4F05-9096-A7128D1AF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300" y="4617756"/>
            <a:ext cx="7838942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protostar gets hot enough for fusion 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665630C-FB7E-45A4-BBF4-A2DD1C4ED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301" y="5138427"/>
            <a:ext cx="5442392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in its center and becomes a 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027AFD3-C562-470F-92AD-9C141D68C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7792" y="5138427"/>
            <a:ext cx="1166998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main 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50D2476-3C2B-405E-9FE9-9E3ADA207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301" y="5654870"/>
            <a:ext cx="2941437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sequence star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17E5D3D-B38D-4AD8-B4AA-C65C148D6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89397" y="5654870"/>
            <a:ext cx="158140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53C3CF0-05E5-403F-90C1-C6D4A55C5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3" y="6281386"/>
            <a:ext cx="398178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6E28891-2AA2-403C-93D8-FE2A554FE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300" y="6282320"/>
            <a:ext cx="4336195" cy="68932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39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39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Lather, Rinse, Repeat.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D11BE09-71B7-4D79-9607-7C179501D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AC9E066-E47F-416E-9F77-24C8011B7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6532897-8607-4EBB-81EA-47E4FC426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38 of 53</a:t>
            </a:r>
          </a:p>
        </p:txBody>
      </p:sp>
    </p:spTree>
    <p:extLst>
      <p:ext uri="{BB962C8B-B14F-4D97-AF65-F5344CB8AC3E}">
        <p14:creationId xmlns:p14="http://schemas.microsoft.com/office/powerpoint/2010/main" val="2126007979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8464c5f1c842aa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6E6D1E-3D0C-47C0-9600-DBBD4034E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671" y="1123894"/>
            <a:ext cx="7911960" cy="95409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69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69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Interstellar Medium (ISM)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A9E4BB8-5D26-473D-A4EC-218AE8BF8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2284142"/>
            <a:ext cx="180340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17DC58-8D6B-469F-A9D6-5C36015CE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1" y="2284142"/>
            <a:ext cx="3620028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99% Interstellar gas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08843F-C185-40D0-A45F-ACF8E174D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4448" y="2817608"/>
            <a:ext cx="4610187" cy="6501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75% Hydrogen (by mass)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AA5F2F-410E-4329-B827-9B9EBF453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4448" y="3355174"/>
            <a:ext cx="2220797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24% Helium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2BA2D53-6263-4247-B4E2-E2FC6BCA0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4448" y="3888619"/>
            <a:ext cx="3461368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1% everything else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AAEDE81-65D0-458D-BC62-87A5153E3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4426211"/>
            <a:ext cx="180340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F98521-F9F9-4217-A80D-6F8F8244E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1" y="4426211"/>
            <a:ext cx="1502037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1% dust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78DB85C-DBDC-4654-8F5F-3CF06B4F5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4448" y="4960015"/>
            <a:ext cx="4742018" cy="6496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19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19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mostly Carbon and Silicon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DE33471-EAF4-48E7-9252-A6FF86223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468" y="6031435"/>
            <a:ext cx="8389638" cy="64898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19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19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Average density:  1 atom per cubic centimeter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2B6F9A1-EA41-4680-8E2C-4443C8A00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496" y="6470912"/>
            <a:ext cx="1121358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vs. 10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278CF42-3DBA-482E-97B5-7999091B7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3348" y="6478167"/>
            <a:ext cx="339188" cy="4334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DC8AD27-0D2B-46C6-B31C-1DEE4ED79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7498" y="6472502"/>
            <a:ext cx="5041608" cy="6475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18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18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per cubic centimeter for air. 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27DA64C-DE23-4F70-A08C-16A76101D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AED529E-B058-4305-ACF3-15CEEE12F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FD3C3C0-E482-4E02-92D7-BD118E13C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39 of 53</a:t>
            </a:r>
          </a:p>
        </p:txBody>
      </p:sp>
    </p:spTree>
    <p:extLst>
      <p:ext uri="{BB962C8B-B14F-4D97-AF65-F5344CB8AC3E}">
        <p14:creationId xmlns:p14="http://schemas.microsoft.com/office/powerpoint/2010/main" val="1178208960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d762d920a644172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6B1DCD-5375-4822-8372-C3CCB7BFC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3684" y="1123331"/>
            <a:ext cx="6296017" cy="95503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7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7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Components of the ISM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D510C1-D7AB-4002-8945-3F97E52D9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22" y="2331702"/>
            <a:ext cx="189230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D4CCBF-2FFB-46E5-AA6A-C1BF3AC3B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7" y="2331702"/>
            <a:ext cx="2368536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Hot Gas (10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3FEEA97-0719-464F-A387-FEEC1816D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2105" y="2338636"/>
            <a:ext cx="198154" cy="4605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FA26FD-6006-447D-8077-99748C88E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2711" y="2331702"/>
            <a:ext cx="4408888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K) – seen in X-ray light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389AB72-913C-4863-A894-7E1704E3D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21" y="2958218"/>
            <a:ext cx="189230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A58056-877C-4422-8C6D-0CD134FDF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6" y="2958218"/>
            <a:ext cx="2833257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Warm Gas (10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9B14172-C981-4914-8464-6A2638B47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6162" y="2965152"/>
            <a:ext cx="198154" cy="4605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C1756FA-08D2-49CA-8B23-CE66D61DB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6768" y="2958218"/>
            <a:ext cx="4336349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K) – traced by ionized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86C21E-2DA6-454C-A35F-271AA4E39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58" y="3474770"/>
            <a:ext cx="1958402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hydrogen.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E7FCB10-B9E1-4DDA-9C03-C24331E4D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33" y="4097026"/>
            <a:ext cx="189230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7D8D22E-29D3-4202-90AF-66890C344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58" y="4097026"/>
            <a:ext cx="2837235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Cool Gas (&lt;10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F553CF3-B01E-4538-91F2-4658867E6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2054" y="4103959"/>
            <a:ext cx="198154" cy="4605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83BE341-F281-4C21-84CB-4B86BF49D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82659" y="4097025"/>
            <a:ext cx="4407557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K) – traced by neutral, 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5A51BF3-6AE1-4EE5-A2A8-35436A1DD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57" y="4617700"/>
            <a:ext cx="3351080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atomic hydrogen.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28A5948-718B-41E8-A021-2872B0C60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32" y="5239985"/>
            <a:ext cx="189230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0206AD0-477A-4E89-9613-87E210478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57" y="5239985"/>
            <a:ext cx="8107457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Cold Gas (10-300 K) – seen as molecular 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B1630ED-87C3-400A-B5C8-741AE3BE0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57" y="5760700"/>
            <a:ext cx="1407596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clouds.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C324CAE-1D1F-4FB6-B852-574D60455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601" y="6383055"/>
            <a:ext cx="3518064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Stars only form in 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D7A0145-E34A-4A84-A5D9-24D8C450C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1815" y="6383055"/>
            <a:ext cx="4719634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cold, molecular clouds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A768374-CE4C-4ED8-9320-55A7F90CD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DA04E9E-E1B5-4424-97F1-D853DD729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F32281B-09C4-4C09-BE9A-FC436306A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40 of 53</a:t>
            </a:r>
          </a:p>
        </p:txBody>
      </p:sp>
    </p:spTree>
    <p:extLst>
      <p:ext uri="{BB962C8B-B14F-4D97-AF65-F5344CB8AC3E}">
        <p14:creationId xmlns:p14="http://schemas.microsoft.com/office/powerpoint/2010/main" val="673399328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966b8d91864684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5270D4-6100-4B20-AED7-46E12B77B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3684" y="1123331"/>
            <a:ext cx="6296017" cy="95503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7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7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Components of the ISM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C0B4907-0F03-4570-AE32-48FEA0FAF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22" y="2167949"/>
            <a:ext cx="141817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AC300A-9156-4D91-A4EB-615E890E7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7" y="2167949"/>
            <a:ext cx="8163034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Cold Gas (10-300 K) – molecular clouds seen in dust and gas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515BA3-6AD9-432A-A481-720F7A1A9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084" y="6410376"/>
            <a:ext cx="8045135" cy="4759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4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4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Images of dust in molecular clouds blocking star light behind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B843D2-9FEA-49E9-A826-F648C11C5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4336" y="6790132"/>
            <a:ext cx="965609" cy="4921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2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2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them. 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1E57F5-EEC0-49D4-885F-1E0A0CE48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0677" y="6812288"/>
            <a:ext cx="3267192" cy="4552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4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4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These are dark nebulae.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630453-B59E-4030-8D55-5B5524A78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73A19A0-5F99-48A5-A632-0139E6C18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D48376A-9F13-4713-8A4E-5D8F27015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41 of 53</a:t>
            </a:r>
          </a:p>
        </p:txBody>
      </p:sp>
    </p:spTree>
    <p:extLst>
      <p:ext uri="{BB962C8B-B14F-4D97-AF65-F5344CB8AC3E}">
        <p14:creationId xmlns:p14="http://schemas.microsoft.com/office/powerpoint/2010/main" val="1642512927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9b5968d5994e17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19EDF90-7BDF-4E19-96DB-AC9D1BE5F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3684" y="1123331"/>
            <a:ext cx="6296017" cy="95503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7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7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Components of the ISM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DC2AC0-062C-4728-91D8-66550DBEC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22" y="2128344"/>
            <a:ext cx="165524" cy="5825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7EF528-4F83-42C3-88F9-7188C1ABE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8" y="2128344"/>
            <a:ext cx="8170615" cy="5825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Cold Gas – molecular clouds seen in dust and gas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CB76C4-1831-4DFE-8C41-4A2BB4A9D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8481" y="6663390"/>
            <a:ext cx="6769458" cy="4734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Radio map of molecules in a Giant Molecular Cloud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A7805B3-7057-4160-85DE-13BF8234F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DDA4C2-803B-4EC9-B939-8F41B4589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E984EDF-554E-4EB6-B261-2A4F277C8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42 of 53</a:t>
            </a:r>
          </a:p>
        </p:txBody>
      </p:sp>
    </p:spTree>
    <p:extLst>
      <p:ext uri="{BB962C8B-B14F-4D97-AF65-F5344CB8AC3E}">
        <p14:creationId xmlns:p14="http://schemas.microsoft.com/office/powerpoint/2010/main" val="2052934246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68ce59e1194180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53A1A7-D26F-4DEB-A160-ED3C8DE4C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2817" y="1123349"/>
            <a:ext cx="4636636" cy="9550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7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7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Molecular Clouds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2722AF-0045-4881-BFAB-BB69EAAC8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8474" y="2168256"/>
            <a:ext cx="8090410" cy="60772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coldest and densest regions of the ISM will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17C172-EFAB-493A-A5C8-CEC11A250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8571" y="2620748"/>
            <a:ext cx="7360169" cy="6085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form molecular clouds when compressed.. 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01F762-4C69-4B21-A3C2-5B62D6980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8664FC1-4F1C-49E1-AAEA-B99413D85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CF8E8A-8333-409E-A79A-FE0A23CD6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43 of 53</a:t>
            </a:r>
          </a:p>
        </p:txBody>
      </p:sp>
    </p:spTree>
    <p:extLst>
      <p:ext uri="{BB962C8B-B14F-4D97-AF65-F5344CB8AC3E}">
        <p14:creationId xmlns:p14="http://schemas.microsoft.com/office/powerpoint/2010/main" val="1050784073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81239207b8447c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1AAA65D-9E17-4F4C-8AFE-F400AC783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432" y="828522"/>
            <a:ext cx="8190037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Densest parts of Molecular Cloud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37849D-2374-4510-BFFB-8D4F05960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5503" y="1480479"/>
            <a:ext cx="4970175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continue to collapse.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57C7BC-CA61-4D96-B770-066164D04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D096C9-19C1-4BCF-8656-A314FE708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18DEA62-37F4-445C-8569-DB9E259E0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44 of 53</a:t>
            </a:r>
          </a:p>
        </p:txBody>
      </p:sp>
    </p:spTree>
    <p:extLst>
      <p:ext uri="{BB962C8B-B14F-4D97-AF65-F5344CB8AC3E}">
        <p14:creationId xmlns:p14="http://schemas.microsoft.com/office/powerpoint/2010/main" val="1331028502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b6b68e243c417c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A6AEE7C-7F50-4D21-9182-C13538D6E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9603" y="1541017"/>
            <a:ext cx="4035259" cy="4635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8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8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Each molecular core collapses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E8A821-177B-445E-B3CA-3A2C714F8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684" y="1916241"/>
            <a:ext cx="2632206" cy="4873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9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9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due to gravity from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79C691-4D9B-4345-975D-B2DF48584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4227" y="1915981"/>
            <a:ext cx="1058837" cy="4877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its own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5D21576-9992-41DE-9842-3B99867FB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480" y="2320606"/>
            <a:ext cx="715983" cy="4624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76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76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mass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914BF8-C177-4735-A0D5-7B09491E3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8" y="2319872"/>
            <a:ext cx="3537125" cy="4637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8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8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.  These cores are too cold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175A455-CC9F-4A39-B6E1-8EC39EE16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947" y="2699537"/>
            <a:ext cx="4044244" cy="48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6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6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to support their mass, so they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4371DCB-BD28-4E2C-B5B0-F0EF11D39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681" y="3089951"/>
            <a:ext cx="3998852" cy="4784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5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5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continue to collapse and heat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07F058B-48FA-41F7-AB37-AC202C73E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716" y="3465175"/>
            <a:ext cx="461727" cy="50219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7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7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up.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3835577-297E-4BB7-9B90-BDF268120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130" y="4265125"/>
            <a:ext cx="3514747" cy="46716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9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9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As the cores collapse they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7CCA6E1-93D0-4142-AAEC-F0F518334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262" y="4649647"/>
            <a:ext cx="4121689" cy="4754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4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4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begin to spin faster, eventually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3D42338-7F20-420D-8E27-D9852A10E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318" y="5033415"/>
            <a:ext cx="1372930" cy="484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8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8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forming a 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5573A7B-3EB7-48E1-9765-820E519FB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82148" y="5023455"/>
            <a:ext cx="1262338" cy="50150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68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68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protostar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68981B6-6900-45DF-873A-E55C434A4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6386" y="5034679"/>
            <a:ext cx="1719659" cy="4828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7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7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surrounded 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5FCB124-27FB-4EC1-92C9-FC21E5DAC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261" y="5431356"/>
            <a:ext cx="826938" cy="4707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1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1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by an 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EB4B67-5032-479A-9B03-144C33B2D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0390" y="5429490"/>
            <a:ext cx="1918475" cy="4738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2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2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accretion disk 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694CAF2-2C82-4724-8CED-A0D5BF7D1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9292" y="5405754"/>
            <a:ext cx="382189" cy="51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2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2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of 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ACCC02A-1935-4CD0-8F09-CB96CB364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2415" y="5808381"/>
            <a:ext cx="1288698" cy="4915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1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material. 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5CCC1C1-DFED-40CF-9634-7C2FB08F9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5675E96-B462-41D6-A42A-447088151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667B70F-D86F-4650-B4D1-30F714B10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45 of 53</a:t>
            </a:r>
          </a:p>
        </p:txBody>
      </p:sp>
    </p:spTree>
    <p:extLst>
      <p:ext uri="{BB962C8B-B14F-4D97-AF65-F5344CB8AC3E}">
        <p14:creationId xmlns:p14="http://schemas.microsoft.com/office/powerpoint/2010/main" val="1191941485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cd49968d534385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37AB21A-72C2-416E-9E5D-C9D5BF435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183" y="1123790"/>
            <a:ext cx="7053125" cy="9542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69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69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Protostars in Orion Nebula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F17449-BEE4-4810-AFBD-3578535AA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9406" y="2331702"/>
            <a:ext cx="7023911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These are protostars surrounded by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2E8861-4883-476B-B91C-D568EFFE3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3109" y="2852402"/>
            <a:ext cx="4842018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cocoons of dust and gas.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C1E64D0-0804-4E07-9A5C-492D9AA11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0B452E-3A9B-4D56-84FD-E3672DCA7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071991A-D2BF-4090-8117-408DE6BF6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46 of 53</a:t>
            </a:r>
          </a:p>
        </p:txBody>
      </p:sp>
    </p:spTree>
    <p:extLst>
      <p:ext uri="{BB962C8B-B14F-4D97-AF65-F5344CB8AC3E}">
        <p14:creationId xmlns:p14="http://schemas.microsoft.com/office/powerpoint/2010/main" val="1057379694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080c9b7ffe4d61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CD3F0A-87EC-47C5-B45C-5908B3244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406" y="1193787"/>
            <a:ext cx="4745025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After a protostar with an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24E088-881F-4256-AB4E-1BAF6CC91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7" y="1714487"/>
            <a:ext cx="4119858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accretion disk forms,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ADA713-76EA-4007-A2DE-E817CB752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7" y="2235213"/>
            <a:ext cx="4815021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material continues to fall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376B13-FF27-4B66-8083-1D5A0FA61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7" y="2751655"/>
            <a:ext cx="4549805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onto the “star” from the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455E7B-7784-4C8F-BB1B-071C4B07B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7" y="3272355"/>
            <a:ext cx="1046999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disk.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9AE3B5-9C22-4EB6-A56B-6F764FC21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7" y="4516981"/>
            <a:ext cx="4477181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Some material has too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2D599A7-755D-46C1-99D1-A8A73409C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7" y="5037655"/>
            <a:ext cx="1214408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much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9FB4763-0A2E-4BDB-B48B-127CAF180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4129" y="5037655"/>
            <a:ext cx="3758269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angular momentum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F5A931D-B4DC-4DE1-8E25-F9A01E335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7" y="5558381"/>
            <a:ext cx="4263520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to fall onto star and is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686A5C1-1731-48F5-99EF-F6C9FE6B4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7" y="6074820"/>
            <a:ext cx="2487187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ejected as a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82D4211-9BEA-4493-9837-43CFF7EC3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6787" y="6074820"/>
            <a:ext cx="614896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jet.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D2ECE5A-2B6A-4F3A-B0A5-297C016A2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D6F18BF-ED0A-4006-9541-CAD0B6946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132E139-6D50-427B-B35F-5E6F57571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47 of 53</a:t>
            </a:r>
          </a:p>
        </p:txBody>
      </p:sp>
    </p:spTree>
    <p:extLst>
      <p:ext uri="{BB962C8B-B14F-4D97-AF65-F5344CB8AC3E}">
        <p14:creationId xmlns:p14="http://schemas.microsoft.com/office/powerpoint/2010/main" val="471149767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0f75b6b1f14b1d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6B7AB7-3EC6-431E-B60A-65721BB27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7" y="1163203"/>
            <a:ext cx="3902537" cy="5936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2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2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jet blows away the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648D5C-21B3-4228-B98B-F4BFF89FA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7" y="1607940"/>
            <a:ext cx="3936554" cy="5863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8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8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remaining gas and dust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604C80-DB75-4FEE-ACE2-2BF23F6D8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7" y="2032092"/>
            <a:ext cx="4362510" cy="60599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8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8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surrounding the protostar.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3E4E2C-2EEC-4F84-8C5D-318B8FE07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7" y="3105743"/>
            <a:ext cx="4498340" cy="60163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6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6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protostar continues to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EFCC3F-2000-4658-B33C-BA2DD0A4B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7" y="3557172"/>
            <a:ext cx="1463868" cy="5831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7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7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collapse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8EC7B25-A92D-4077-9A64-109161F1C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2824" y="3561496"/>
            <a:ext cx="2485556" cy="5759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34" b="1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34" b="1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due to gravity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69F058-B655-45CF-BA0B-2C51748B7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9847" y="3549418"/>
            <a:ext cx="750478" cy="5960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and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24D9ED5-AADC-475F-AFC5-27732F6DB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30" y="3978385"/>
            <a:ext cx="1398204" cy="6077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heat up.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838022-83D3-46CA-9AF2-26C302105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30" y="5055636"/>
            <a:ext cx="4342344" cy="5973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4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4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Eventually the core of the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C0B052-FC55-4E68-A5FD-7132A9514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30" y="5485028"/>
            <a:ext cx="2826698" cy="6156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3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3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protostar will be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B261641-3B50-4065-B42C-0DD817814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5903" y="5520009"/>
            <a:ext cx="2483163" cy="5573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43" b="1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43" b="1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dense enough 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19ECF2-B781-4135-B6E0-A529E6726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30" y="5947129"/>
            <a:ext cx="2706356" cy="5720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15" b="1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15" b="1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and hot enough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20E32EF-1B29-4F0A-858C-FF351ACA7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886" y="5922788"/>
            <a:ext cx="2238775" cy="61261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1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1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for fusion to 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64BBD5E-905B-46DF-AB93-30ACEBE87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30" y="6376198"/>
            <a:ext cx="5259823" cy="59082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0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0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occur and then we have a main 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041C5BC-BD22-43BC-B2F0-C862B7671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30" y="6821398"/>
            <a:ext cx="2384523" cy="57543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3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3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sequence star.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7D08EC3-655E-4704-B74A-3730F0C00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893A1FB-C06B-4965-B988-ECEC28C13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E2EDE2C-5E9E-4811-8EA4-06E19E904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48 of 53</a:t>
            </a:r>
          </a:p>
        </p:txBody>
      </p:sp>
    </p:spTree>
    <p:extLst>
      <p:ext uri="{BB962C8B-B14F-4D97-AF65-F5344CB8AC3E}">
        <p14:creationId xmlns:p14="http://schemas.microsoft.com/office/powerpoint/2010/main" val="164491605"/>
      </p:ext>
    </p:extLst>
  </p:cSld>
</p:sld>
</file>

<file path=ppt/slides/slide4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612e22bd51406c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F5058B-FE7D-41C0-8AEC-83C09A315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366" y="828522"/>
            <a:ext cx="8341903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What happens if a protostar never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80B6E2-E5E2-4E73-9407-746AEB829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706" y="1480479"/>
            <a:ext cx="8521679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gets hot enough for nuclear fusion?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283A55-C036-4B47-9D8B-02600AC3C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777" y="2507807"/>
            <a:ext cx="156633" cy="5418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35065E-7068-4E46-8A6E-ED56621A9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903" y="2507807"/>
            <a:ext cx="3418381" cy="5418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Objects with less than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18A5BA-5E3F-4F5A-914F-4560A850A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902" y="2833776"/>
            <a:ext cx="3437979" cy="5418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0.08 solar masses will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9BC2704-7FE5-4C6E-B98B-EFC011DC0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902" y="3159770"/>
            <a:ext cx="882738" cy="5418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67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67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never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E9B43F-A8CB-4012-B492-F0B95FA21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3540" y="3159770"/>
            <a:ext cx="2973388" cy="5418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get hot enough for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AB3355-5339-438F-A3B1-1D28729F4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902" y="3481477"/>
            <a:ext cx="3439009" cy="5418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fusion to occur in their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458BD1-312B-40B3-935E-B543572C4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902" y="3807446"/>
            <a:ext cx="1147810" cy="5418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cores. 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1F1380D-1599-4FF3-8337-5FAD918E5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777" y="4213900"/>
            <a:ext cx="156633" cy="5418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14A6CED-5F28-4FA9-957B-7C7C9BF86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903" y="4213900"/>
            <a:ext cx="2629041" cy="5418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These are called 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124EE18-F2B1-4D09-B0D9-21FBE86F9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0274" y="4213900"/>
            <a:ext cx="1051728" cy="5418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67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67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brown 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9DF4115-F38E-4E15-BFE0-1E9240CDB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902" y="4539769"/>
            <a:ext cx="1034120" cy="5418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67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67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dwarfs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4AFA299-C138-4F4E-8075-195A97510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4543" y="4539769"/>
            <a:ext cx="132249" cy="5418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7E1E1BF-1410-4D50-8BF7-0DFE69898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776" y="4942008"/>
            <a:ext cx="156633" cy="5418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2106E43-23C2-4D84-9218-4AFE2EEB4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902" y="4942008"/>
            <a:ext cx="3909583" cy="5418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They glow only from their 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B5A62DB-39B3-4C04-9F0D-31E768334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901" y="5267947"/>
            <a:ext cx="3515326" cy="5418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internal heat from their 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1289DE4-B364-4109-BF64-450C6DF19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901" y="5593941"/>
            <a:ext cx="1369331" cy="5418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collapse.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03D4DE7-5D36-4E9C-97B5-9ADCED508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776" y="6000301"/>
            <a:ext cx="156633" cy="5418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F34F69A-B58F-4AD3-86F0-8BA24E96E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902" y="6000301"/>
            <a:ext cx="2968388" cy="5418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They have masses 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DFADB9D-A1E8-48CE-ACF2-9CD07CEE8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901" y="6322113"/>
            <a:ext cx="3723144" cy="5418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greater than Jupiter and 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5608344-48DB-428A-B9CA-5662F089B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901" y="6648082"/>
            <a:ext cx="2951579" cy="5418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less than M dwarfs.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E63053E-37CD-4862-8268-0BFD4919A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7CC34F4-09C8-4991-8955-9A38E4A3A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FDD86CD-EC6F-4206-9E8C-615052513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49 of 53</a:t>
            </a:r>
          </a:p>
        </p:txBody>
      </p:sp>
    </p:spTree>
    <p:extLst>
      <p:ext uri="{BB962C8B-B14F-4D97-AF65-F5344CB8AC3E}">
        <p14:creationId xmlns:p14="http://schemas.microsoft.com/office/powerpoint/2010/main" val="338033667"/>
      </p:ext>
    </p:extLst>
  </p:cSld>
</p:sld>
</file>

<file path=ppt/slides/slide5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a83b3f58394f31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F3086ED-E010-4291-B5EC-F48FD0B1B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6438" y="887274"/>
            <a:ext cx="7029239" cy="7175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531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531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What does star formation look like?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D03B75-565F-43E7-AD14-C7FB5A87F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7582" y="7395243"/>
            <a:ext cx="7449914" cy="35386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41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41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Simulation of stars forming in a cluster from a gas cloud of 50 solar masses.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D7616A-9AA4-4BCF-B390-533214AAB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DD0C48-C1D1-4442-94E5-35F5A88B2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BAADB20-DDEE-47B7-BF68-25536FBEA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50 of 53</a:t>
            </a:r>
          </a:p>
        </p:txBody>
      </p:sp>
    </p:spTree>
    <p:extLst>
      <p:ext uri="{BB962C8B-B14F-4D97-AF65-F5344CB8AC3E}">
        <p14:creationId xmlns:p14="http://schemas.microsoft.com/office/powerpoint/2010/main" val="1635289080"/>
      </p:ext>
    </p:extLst>
  </p:cSld>
</p:sld>
</file>

<file path=ppt/slides/slide5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3d92a8506046b4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9CE952-D7E1-4938-83DB-F290C5C27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069" y="1123830"/>
            <a:ext cx="8211891" cy="9542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69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69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Protostars on the H-R Diagram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4A3E611-079C-4943-8942-23F8AF0DA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0579" y="2248060"/>
            <a:ext cx="161079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DFC36C-A1C1-437A-B398-1839A194D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5532" y="2248060"/>
            <a:ext cx="2971684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As stars form they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9986A7-30F0-43E4-9C20-1C45330A2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5704" y="2586728"/>
            <a:ext cx="2680469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move on the HR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1B9219-95C2-47E3-B2BB-A13F24957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5704" y="2921160"/>
            <a:ext cx="1406918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diagram.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837485-5DA0-4CDB-8495-5DFBD03BF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0579" y="3344551"/>
            <a:ext cx="161079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AE0AAE-2002-4AAD-A775-C6CC34F66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5704" y="3344551"/>
            <a:ext cx="3050024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core is always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ACD0FD6-C70C-417B-AFF1-5E506C4A3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5704" y="3683199"/>
            <a:ext cx="2173847" cy="56212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6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getting hotter.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0800E5A-B4A6-4B20-9462-F5F6AAE22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0579" y="4102289"/>
            <a:ext cx="161079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2F7EAC8-EC0D-4760-AB18-96C1C08F2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5704" y="4102289"/>
            <a:ext cx="3850487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High-mass stars remain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C81D7DF-C18D-45D8-AA92-28CFC1A31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5704" y="4440928"/>
            <a:ext cx="3447492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bright, but heat up as 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DF840B7-139A-48A2-9A25-85E50F81D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5704" y="4779592"/>
            <a:ext cx="1602735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they form.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A1AA0E9-6760-4BA8-99DB-41A3537AB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0579" y="5198657"/>
            <a:ext cx="161079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C421270-A868-44A7-AC06-99111E0D7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5704" y="5198657"/>
            <a:ext cx="3735601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Low-mass stars stay at 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7D3C314-47AD-4F6C-8654-4BEF0FEA6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5704" y="5537360"/>
            <a:ext cx="3580219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same temperature 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9E3C01D-B9D5-46B7-9D63-F0E8EECFD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5704" y="5876023"/>
            <a:ext cx="3696538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(until fusion starts), but 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1EC736F-E9E7-4C23-BF2B-EF31E9A42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5704" y="6214686"/>
            <a:ext cx="3738150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get fainter as they form.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D8481C9-D106-464A-96BA-848A53BF3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477D99D-F56C-4B55-98F0-163A96F0A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46B8BC8-B978-4059-AB56-82352D98C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51 of 53</a:t>
            </a:r>
          </a:p>
        </p:txBody>
      </p:sp>
    </p:spTree>
    <p:extLst>
      <p:ext uri="{BB962C8B-B14F-4D97-AF65-F5344CB8AC3E}">
        <p14:creationId xmlns:p14="http://schemas.microsoft.com/office/powerpoint/2010/main" val="1063710099"/>
      </p:ext>
    </p:extLst>
  </p:cSld>
</p:sld>
</file>

<file path=ppt/slides/slide5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17f3ab162446d1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597295-D6CC-42DA-BDF0-1FC06890B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056" y="895591"/>
            <a:ext cx="6826879" cy="7789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8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8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Implication of Mass-Luminosity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0004D9-350C-426C-806A-DD0D9F1BD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9215" y="1479791"/>
            <a:ext cx="1823024" cy="7789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8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8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Relation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0BD56A-4244-4BEF-B7B6-8C2AC309B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9200" y="2332671"/>
            <a:ext cx="7539555" cy="51999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5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5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More mass = More Luminosity = faster rate of fusion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74E59F-D655-444F-A232-F7A66C7DE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9367" y="2797414"/>
            <a:ext cx="318041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=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347B4A-4514-4394-9BF2-2B07FE76B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8286" y="2798251"/>
            <a:ext cx="5462652" cy="5201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0" b="1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0" b="1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Shorter lifetime on Main Sequence!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83A4F2-F410-4829-B90F-972C64ECD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1761" y="4072750"/>
            <a:ext cx="3422028" cy="34188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8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8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 Stars have 40x mass of Sun, live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1608C5A-3FB4-4D8B-BC9D-9E7BC4113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1761" y="4356117"/>
            <a:ext cx="1635299" cy="3564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5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5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10,000x shorter.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06AB8AD-2D70-4793-9DD7-EB65E5F49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1761" y="5240194"/>
            <a:ext cx="3258817" cy="3434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9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9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 stars have 3x mass of Sun, live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892A2C-FD79-40E7-862E-47D3BC4B1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1761" y="5524048"/>
            <a:ext cx="1204293" cy="35722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5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5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20x shorter.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F01468F-8FAF-44FB-AE75-E567F00AB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1761" y="6112057"/>
            <a:ext cx="3462599" cy="3508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2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 stars have half the mass of Sun,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809FD68-ACAE-424D-9176-5E13F4660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1761" y="6402710"/>
            <a:ext cx="1817485" cy="35328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3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3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and live 7x longer.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C986B7B-2740-4AC6-839B-AB5F58D43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C54F9F6-D417-4892-A330-374381D18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083FEBA-E336-4E5D-9356-3C87155ED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52 of 53</a:t>
            </a:r>
          </a:p>
        </p:txBody>
      </p:sp>
    </p:spTree>
    <p:extLst>
      <p:ext uri="{BB962C8B-B14F-4D97-AF65-F5344CB8AC3E}">
        <p14:creationId xmlns:p14="http://schemas.microsoft.com/office/powerpoint/2010/main" val="1194994481"/>
      </p:ext>
    </p:extLst>
  </p:cSld>
</p:sld>
</file>

<file path=ppt/slides/slide5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da217c27cd49af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4C68A13-AD0B-4F64-9384-BA7075816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8475" y="1123328"/>
            <a:ext cx="4305707" cy="95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7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7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Formation times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52907A-FB7D-4617-912F-D25FFFFB0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0576" y="2283102"/>
            <a:ext cx="171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D2856E-CE57-4524-8717-E2EB1E0B4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5701" y="2283685"/>
            <a:ext cx="3766914" cy="6086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Just as massive stars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1AF8CD-B7EB-485A-9FC0-8F0271F86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5701" y="2694236"/>
            <a:ext cx="3514571" cy="6087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have short lifetimes,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7ED8B56-E9A3-4F1A-8393-0057D2A81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5701" y="3103126"/>
            <a:ext cx="3764356" cy="60472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7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7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they also form quickly.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F41791-AD73-47B6-AA63-4BB382E53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0576" y="3603878"/>
            <a:ext cx="171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94D8530-0F5D-488B-9B04-2C8FC96B1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5701" y="3603917"/>
            <a:ext cx="3010943" cy="60953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 stars reach the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A00C7C6-D37D-45DA-BCE3-723FD2F8E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5701" y="4010371"/>
            <a:ext cx="3118952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main sequence in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990AFD7-33B1-46D2-BA48-D63556BB1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5701" y="4420964"/>
            <a:ext cx="2444192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100,000 years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A6DE510-4B07-4B18-95BE-7B581AF31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0576" y="4920446"/>
            <a:ext cx="171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F122BF-14AF-4517-BE40-276520ED6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5701" y="4920636"/>
            <a:ext cx="3157347" cy="60928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 stars form in 30 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3E11B9E-4EC1-4D97-B2FA-0166B3043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5701" y="5326871"/>
            <a:ext cx="2148618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million years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B22F2CE-86E2-45BB-9286-9122FA408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0576" y="5826418"/>
            <a:ext cx="171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7EB953D-BE96-4F0D-9A3C-AD1A54CC2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5701" y="5826886"/>
            <a:ext cx="3239874" cy="6088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 stars can take 1 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3808230-2237-40D1-A04C-909B9E7FF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5701" y="6237039"/>
            <a:ext cx="214800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billion years!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D5E72C6-75B4-4DE7-8F55-333F687D4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0560" y="3101569"/>
            <a:ext cx="141732" cy="27906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37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7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CCFB890-F25E-4924-B198-771309F97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5120" y="5380813"/>
            <a:ext cx="158305" cy="27338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34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4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C75B546-6227-4CF4-A8B1-899BF86E7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6640" y="6256046"/>
            <a:ext cx="200978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37C069F-C56E-4DE5-9BEA-971505F4A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DBE5F3C-93DB-40D8-A3F6-DBC6DCCE6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C53E8B6-8EAB-4BA2-8DFE-AC698966C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53 of 53</a:t>
            </a:r>
          </a:p>
        </p:txBody>
      </p:sp>
    </p:spTree>
    <p:extLst>
      <p:ext uri="{BB962C8B-B14F-4D97-AF65-F5344CB8AC3E}">
        <p14:creationId xmlns:p14="http://schemas.microsoft.com/office/powerpoint/2010/main" val="197851420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WVU DSPIRA</dc:creator>
  <lastModifiedBy>WVU DSPIRA</lastModifiedBy>
  <dc:title>Stars</dc:title>
  <dcterms:created xsi:type="dcterms:W3CDTF">2026-09-26T20:03:19.9030000Z</dcterms:created>
  <dcterms:modified xsi:type="dcterms:W3CDTF">2026-09-26T20:03:19.9030000Z</dcterms:modified>
</coreProperties>
</file>