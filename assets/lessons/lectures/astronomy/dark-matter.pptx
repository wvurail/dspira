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fc27ecf5af4739" /><Relationship Type="http://schemas.openxmlformats.org/officeDocument/2006/relationships/extended-properties" Target="/docProps/app.xml" Id="R21eb6b5c0706461e" /><Relationship Type="http://schemas.openxmlformats.org/officeDocument/2006/relationships/officeDocument" Target="/ppt/presentation.xml" Id="R8be0c301dc394ff3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b3722f95dd904dac"/>
  </p:notesMasterIdLst>
  <p:sldIdLst>
    <p:sldId xmlns:r="http://schemas.openxmlformats.org/officeDocument/2006/relationships" id="256" r:id="R171ab0333de0454b"/>
    <p:sldId xmlns:r="http://schemas.openxmlformats.org/officeDocument/2006/relationships" id="257" r:id="R9b5378bd369a4fc6"/>
    <p:sldId xmlns:r="http://schemas.openxmlformats.org/officeDocument/2006/relationships" id="258" r:id="R4b433735bf1e4838"/>
    <p:sldId xmlns:r="http://schemas.openxmlformats.org/officeDocument/2006/relationships" id="259" r:id="Raeef6506b2e84882"/>
    <p:sldId xmlns:r="http://schemas.openxmlformats.org/officeDocument/2006/relationships" id="260" r:id="R68602d9ede414367"/>
    <p:sldId xmlns:r="http://schemas.openxmlformats.org/officeDocument/2006/relationships" id="261" r:id="Rc66a37a79def4151"/>
    <p:sldId xmlns:r="http://schemas.openxmlformats.org/officeDocument/2006/relationships" id="262" r:id="R399c154da0374719"/>
    <p:sldId xmlns:r="http://schemas.openxmlformats.org/officeDocument/2006/relationships" id="263" r:id="R9b1ad4b52c014580"/>
    <p:sldId xmlns:r="http://schemas.openxmlformats.org/officeDocument/2006/relationships" id="264" r:id="R1bbc84cf8cb74da9"/>
    <p:sldId xmlns:r="http://schemas.openxmlformats.org/officeDocument/2006/relationships" id="265" r:id="R13a675ac1acd41a8"/>
    <p:sldId xmlns:r="http://schemas.openxmlformats.org/officeDocument/2006/relationships" id="266" r:id="R84dc47d9b2e64494"/>
    <p:sldId xmlns:r="http://schemas.openxmlformats.org/officeDocument/2006/relationships" id="267" r:id="Rcb2a53981d854849"/>
    <p:sldId xmlns:r="http://schemas.openxmlformats.org/officeDocument/2006/relationships" id="268" r:id="Rec9009169741473d"/>
    <p:sldId xmlns:r="http://schemas.openxmlformats.org/officeDocument/2006/relationships" id="269" r:id="Rf2daee760cac4a5b"/>
    <p:sldId xmlns:r="http://schemas.openxmlformats.org/officeDocument/2006/relationships" id="270" r:id="R6712690f1ba64506"/>
    <p:sldId xmlns:r="http://schemas.openxmlformats.org/officeDocument/2006/relationships" id="271" r:id="Rb5f400b4088f423d"/>
    <p:sldId xmlns:r="http://schemas.openxmlformats.org/officeDocument/2006/relationships" id="272" r:id="R73af57c1533047c8"/>
    <p:sldId xmlns:r="http://schemas.openxmlformats.org/officeDocument/2006/relationships" id="273" r:id="Rd30a388ef2d3443a"/>
    <p:sldId xmlns:r="http://schemas.openxmlformats.org/officeDocument/2006/relationships" id="274" r:id="R1da03674649247e6"/>
    <p:sldId xmlns:r="http://schemas.openxmlformats.org/officeDocument/2006/relationships" id="275" r:id="R9f50f49ef51c45ed"/>
    <p:sldId xmlns:r="http://schemas.openxmlformats.org/officeDocument/2006/relationships" id="276" r:id="Rc16abac6c63341b1"/>
    <p:sldId xmlns:r="http://schemas.openxmlformats.org/officeDocument/2006/relationships" id="277" r:id="Re591c18a767f4185"/>
    <p:sldId xmlns:r="http://schemas.openxmlformats.org/officeDocument/2006/relationships" id="278" r:id="R52ee19a363a34b27"/>
    <p:sldId xmlns:r="http://schemas.openxmlformats.org/officeDocument/2006/relationships" id="279" r:id="Raa2a450b669e4ec0"/>
    <p:sldId xmlns:r="http://schemas.openxmlformats.org/officeDocument/2006/relationships" id="280" r:id="R8219468823c04d32"/>
    <p:sldId xmlns:r="http://schemas.openxmlformats.org/officeDocument/2006/relationships" id="281" r:id="R90c65efbeea04415"/>
    <p:sldId xmlns:r="http://schemas.openxmlformats.org/officeDocument/2006/relationships" id="282" r:id="R2ffa22a86b2749e3"/>
    <p:sldId xmlns:r="http://schemas.openxmlformats.org/officeDocument/2006/relationships" id="283" r:id="R9c3b18b107834d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7470ab2c6494338"/><Relationship Type="http://schemas.openxmlformats.org/officeDocument/2006/relationships/notesMaster" Target="/ppt/notesMasters/notesMaster1.xml" Id="Rb3722f95dd904dac"/><Relationship Type="http://schemas.openxmlformats.org/officeDocument/2006/relationships/presProps" Target="/ppt/presProps.xml" Id="R8eaa4cf061324e5e"/><Relationship Type="http://schemas.openxmlformats.org/officeDocument/2006/relationships/tableStyles" Target="/ppt/tableStyles.xml" Id="R6dc4851fba124ee5"/><Relationship Type="http://schemas.openxmlformats.org/officeDocument/2006/relationships/slide" Target="/ppt/slides/slide1.xml" Id="R171ab0333de0454b"/><Relationship Type="http://schemas.openxmlformats.org/officeDocument/2006/relationships/slide" Target="/ppt/slides/slide2.xml" Id="R9b5378bd369a4fc6"/><Relationship Type="http://schemas.openxmlformats.org/officeDocument/2006/relationships/slide" Target="/ppt/slides/slide3.xml" Id="R4b433735bf1e4838"/><Relationship Type="http://schemas.openxmlformats.org/officeDocument/2006/relationships/slide" Target="/ppt/slides/slide4.xml" Id="Raeef6506b2e84882"/><Relationship Type="http://schemas.openxmlformats.org/officeDocument/2006/relationships/slide" Target="/ppt/slides/slide5.xml" Id="R68602d9ede414367"/><Relationship Type="http://schemas.openxmlformats.org/officeDocument/2006/relationships/slide" Target="/ppt/slides/slide6.xml" Id="Rc66a37a79def4151"/><Relationship Type="http://schemas.openxmlformats.org/officeDocument/2006/relationships/slide" Target="/ppt/slides/slide7.xml" Id="R399c154da0374719"/><Relationship Type="http://schemas.openxmlformats.org/officeDocument/2006/relationships/slide" Target="/ppt/slides/slide8.xml" Id="R9b1ad4b52c014580"/><Relationship Type="http://schemas.openxmlformats.org/officeDocument/2006/relationships/slide" Target="/ppt/slides/slide9.xml" Id="R1bbc84cf8cb74da9"/><Relationship Type="http://schemas.openxmlformats.org/officeDocument/2006/relationships/slide" Target="/ppt/slides/slide10.xml" Id="R13a675ac1acd41a8"/><Relationship Type="http://schemas.openxmlformats.org/officeDocument/2006/relationships/slide" Target="/ppt/slides/slide11.xml" Id="R84dc47d9b2e64494"/><Relationship Type="http://schemas.openxmlformats.org/officeDocument/2006/relationships/slide" Target="/ppt/slides/slide12.xml" Id="Rcb2a53981d854849"/><Relationship Type="http://schemas.openxmlformats.org/officeDocument/2006/relationships/slide" Target="/ppt/slides/slide13.xml" Id="Rec9009169741473d"/><Relationship Type="http://schemas.openxmlformats.org/officeDocument/2006/relationships/slide" Target="/ppt/slides/slide14.xml" Id="Rf2daee760cac4a5b"/><Relationship Type="http://schemas.openxmlformats.org/officeDocument/2006/relationships/slide" Target="/ppt/slides/slide15.xml" Id="R6712690f1ba64506"/><Relationship Type="http://schemas.openxmlformats.org/officeDocument/2006/relationships/slide" Target="/ppt/slides/slide16.xml" Id="Rb5f400b4088f423d"/><Relationship Type="http://schemas.openxmlformats.org/officeDocument/2006/relationships/slide" Target="/ppt/slides/slide17.xml" Id="R73af57c1533047c8"/><Relationship Type="http://schemas.openxmlformats.org/officeDocument/2006/relationships/slide" Target="/ppt/slides/slide18.xml" Id="Rd30a388ef2d3443a"/><Relationship Type="http://schemas.openxmlformats.org/officeDocument/2006/relationships/slide" Target="/ppt/slides/slide19.xml" Id="R1da03674649247e6"/><Relationship Type="http://schemas.openxmlformats.org/officeDocument/2006/relationships/slide" Target="/ppt/slides/slide20.xml" Id="R9f50f49ef51c45ed"/><Relationship Type="http://schemas.openxmlformats.org/officeDocument/2006/relationships/slide" Target="/ppt/slides/slide21.xml" Id="Rc16abac6c63341b1"/><Relationship Type="http://schemas.openxmlformats.org/officeDocument/2006/relationships/slide" Target="/ppt/slides/slide22.xml" Id="Re591c18a767f4185"/><Relationship Type="http://schemas.openxmlformats.org/officeDocument/2006/relationships/slide" Target="/ppt/slides/slide23.xml" Id="R52ee19a363a34b27"/><Relationship Type="http://schemas.openxmlformats.org/officeDocument/2006/relationships/slide" Target="/ppt/slides/slide24.xml" Id="Raa2a450b669e4ec0"/><Relationship Type="http://schemas.openxmlformats.org/officeDocument/2006/relationships/slide" Target="/ppt/slides/slide25.xml" Id="R8219468823c04d32"/><Relationship Type="http://schemas.openxmlformats.org/officeDocument/2006/relationships/slide" Target="/ppt/slides/slide26.xml" Id="R90c65efbeea04415"/><Relationship Type="http://schemas.openxmlformats.org/officeDocument/2006/relationships/slide" Target="/ppt/slides/slide27.xml" Id="R2ffa22a86b2749e3"/><Relationship Type="http://schemas.openxmlformats.org/officeDocument/2006/relationships/slide" Target="/ppt/slides/slide28.xml" Id="R9c3b18b107834d30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bea7d8835049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f5f21fd86145f3" /><Relationship Type="http://schemas.openxmlformats.org/officeDocument/2006/relationships/notesMaster" Target="/ppt/notesMasters/notesMaster1.xml" Id="R30c0ec6a14d2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242e1692fd4f04" /><Relationship Type="http://schemas.openxmlformats.org/officeDocument/2006/relationships/notesMaster" Target="/ppt/notesMasters/notesMaster1.xml" Id="Re5846ee59a0b4a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2d7ddff3624872" /><Relationship Type="http://schemas.openxmlformats.org/officeDocument/2006/relationships/notesMaster" Target="/ppt/notesMasters/notesMaster1.xml" Id="Rac4ee9b8c09540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3da64d76a948c7" /><Relationship Type="http://schemas.openxmlformats.org/officeDocument/2006/relationships/notesMaster" Target="/ppt/notesMasters/notesMaster1.xml" Id="Rb5127b3503fe4e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2e464d6a564e5a" /><Relationship Type="http://schemas.openxmlformats.org/officeDocument/2006/relationships/notesMaster" Target="/ppt/notesMasters/notesMaster1.xml" Id="R39ee6650faeb40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e8ff96796d4038" /><Relationship Type="http://schemas.openxmlformats.org/officeDocument/2006/relationships/notesMaster" Target="/ppt/notesMasters/notesMaster1.xml" Id="R4a514c159c0c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00f54abd4a4edc" /><Relationship Type="http://schemas.openxmlformats.org/officeDocument/2006/relationships/notesMaster" Target="/ppt/notesMasters/notesMaster1.xml" Id="Rf352c3e45369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950636e3d94aec" /><Relationship Type="http://schemas.openxmlformats.org/officeDocument/2006/relationships/notesMaster" Target="/ppt/notesMasters/notesMaster1.xml" Id="R4dbac46ed72c4d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3486b78776412d" /><Relationship Type="http://schemas.openxmlformats.org/officeDocument/2006/relationships/notesMaster" Target="/ppt/notesMasters/notesMaster1.xml" Id="Rdeaa84b25c7c40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4e3a26a64846b5" /><Relationship Type="http://schemas.openxmlformats.org/officeDocument/2006/relationships/notesMaster" Target="/ppt/notesMasters/notesMaster1.xml" Id="R94ce24f1e52f40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b156e62784d42" /><Relationship Type="http://schemas.openxmlformats.org/officeDocument/2006/relationships/notesMaster" Target="/ppt/notesMasters/notesMaster1.xml" Id="R0fe7856dffdd47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470044239d40b1" /><Relationship Type="http://schemas.openxmlformats.org/officeDocument/2006/relationships/notesMaster" Target="/ppt/notesMasters/notesMaster1.xml" Id="Ra9fecb7e247e4d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a0b74cc4bc40c9" /><Relationship Type="http://schemas.openxmlformats.org/officeDocument/2006/relationships/notesMaster" Target="/ppt/notesMasters/notesMaster1.xml" Id="R6aee913a01dd4d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089eca5ad54bf2" /><Relationship Type="http://schemas.openxmlformats.org/officeDocument/2006/relationships/notesMaster" Target="/ppt/notesMasters/notesMaster1.xml" Id="Re4315cd3425846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6d59606962461f" /><Relationship Type="http://schemas.openxmlformats.org/officeDocument/2006/relationships/notesMaster" Target="/ppt/notesMasters/notesMaster1.xml" Id="R6b12ca1319d045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b57c132aba478c" /><Relationship Type="http://schemas.openxmlformats.org/officeDocument/2006/relationships/notesMaster" Target="/ppt/notesMasters/notesMaster1.xml" Id="Rab76dace057d4f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f82cc573524f7b" /><Relationship Type="http://schemas.openxmlformats.org/officeDocument/2006/relationships/notesMaster" Target="/ppt/notesMasters/notesMaster1.xml" Id="R5ac4c5a14db04f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9d629e5908416a" /><Relationship Type="http://schemas.openxmlformats.org/officeDocument/2006/relationships/notesMaster" Target="/ppt/notesMasters/notesMaster1.xml" Id="R6f88f553267f4fb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4d757b9cf44ca3" /><Relationship Type="http://schemas.openxmlformats.org/officeDocument/2006/relationships/notesMaster" Target="/ppt/notesMasters/notesMaster1.xml" Id="Rcfa6d7f954344a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75d8798aa34b8f" /><Relationship Type="http://schemas.openxmlformats.org/officeDocument/2006/relationships/notesMaster" Target="/ppt/notesMasters/notesMaster1.xml" Id="R743fabde4ad745c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a9a3b538374709" /><Relationship Type="http://schemas.openxmlformats.org/officeDocument/2006/relationships/notesMaster" Target="/ppt/notesMasters/notesMaster1.xml" Id="R280ffc9a851546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bdb42a7a35482f" /><Relationship Type="http://schemas.openxmlformats.org/officeDocument/2006/relationships/notesMaster" Target="/ppt/notesMasters/notesMaster1.xml" Id="Rd17d1a7d7466472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f754ad159454237" /><Relationship Type="http://schemas.openxmlformats.org/officeDocument/2006/relationships/notesMaster" Target="/ppt/notesMasters/notesMaster1.xml" Id="Ra6bc9aea0d074c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a03ed4b2f84954" /><Relationship Type="http://schemas.openxmlformats.org/officeDocument/2006/relationships/notesMaster" Target="/ppt/notesMasters/notesMaster1.xml" Id="R1c7b49ffcb1e4d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c465c95ac74471" /><Relationship Type="http://schemas.openxmlformats.org/officeDocument/2006/relationships/notesMaster" Target="/ppt/notesMasters/notesMaster1.xml" Id="R6789469514c5471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ef8df8967ac402a" /><Relationship Type="http://schemas.openxmlformats.org/officeDocument/2006/relationships/notesMaster" Target="/ppt/notesMasters/notesMaster1.xml" Id="Rb109b2d29dc846a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30ab4872e1841c5" /><Relationship Type="http://schemas.openxmlformats.org/officeDocument/2006/relationships/notesMaster" Target="/ppt/notesMasters/notesMaster1.xml" Id="R34185b55c53241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344e74007f43b8" /><Relationship Type="http://schemas.openxmlformats.org/officeDocument/2006/relationships/notesMaster" Target="/ppt/notesMasters/notesMaster1.xml" Id="Redcad21603c046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8f35aad473b4872"/><Relationship Type="http://schemas.openxmlformats.org/officeDocument/2006/relationships/image" Target="/ppt/media/image.png" Id="R234494fded2b428c"/><Relationship Type="http://schemas.openxmlformats.org/officeDocument/2006/relationships/notesSlide" Target="/ppt/notesSlides/notesSlide1.xml" Id="R59dcde529a0d4b8a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3f61f46feea4894"/><Relationship Type="http://schemas.openxmlformats.org/officeDocument/2006/relationships/image" Target="/ppt/media/image2.png" Id="Rf41b179c00464bd0"/><Relationship Type="http://schemas.openxmlformats.org/officeDocument/2006/relationships/notesSlide" Target="/ppt/notesSlides/notesSlide2.xml" Id="Rd9cfb131b0894f54"/><Relationship Id="rIdDspiraLink1" Type="http://schemas.openxmlformats.org/officeDocument/2006/relationships/hyperlink" Target="https://phet.colorado.edu/en/simulations/gravity-and-orbits" TargetMode="External"/><Relationship Id="rIdDspiraLink2" Type="http://schemas.openxmlformats.org/officeDocument/2006/relationships/hyperlink" Target="https://phet.colorado.edu/en/simulations/gravity-and-orbits" TargetMode="External"/><Relationship Id="rIdDspiraLink3" Type="http://schemas.openxmlformats.org/officeDocument/2006/relationships/hyperlink" Target="https://phet.colorado.edu/en/simulations/gravity-and-orbits" TargetMode="Externa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de7f1f7b72f4b71"/><Relationship Type="http://schemas.openxmlformats.org/officeDocument/2006/relationships/image" Target="/ppt/media/image3.png" Id="R2481724654ab423f"/><Relationship Type="http://schemas.openxmlformats.org/officeDocument/2006/relationships/notesSlide" Target="/ppt/notesSlides/notesSlide3.xml" Id="R6a9e00d071d14b05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8bdcf8bc9404cae"/><Relationship Type="http://schemas.openxmlformats.org/officeDocument/2006/relationships/image" Target="/ppt/media/image4.png" Id="R6376f7aafd31481a"/><Relationship Type="http://schemas.openxmlformats.org/officeDocument/2006/relationships/notesSlide" Target="/ppt/notesSlides/notesSlide4.xml" Id="R4baf0f9c5dad4288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980b4d7510f47e7"/><Relationship Type="http://schemas.openxmlformats.org/officeDocument/2006/relationships/image" Target="/ppt/media/image5.png" Id="Rd53e11de5d2e4e47"/><Relationship Type="http://schemas.openxmlformats.org/officeDocument/2006/relationships/notesSlide" Target="/ppt/notesSlides/notesSlide5.xml" Id="Rdcc2e02a41fd43c0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319584c496c4079"/><Relationship Type="http://schemas.openxmlformats.org/officeDocument/2006/relationships/image" Target="/ppt/media/image6.png" Id="R2197ba1501344baa"/><Relationship Type="http://schemas.openxmlformats.org/officeDocument/2006/relationships/notesSlide" Target="/ppt/notesSlides/notesSlide6.xml" Id="Rbb615a38d072407b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acfee7d3b7d48ac"/><Relationship Type="http://schemas.openxmlformats.org/officeDocument/2006/relationships/image" Target="/ppt/media/image7.png" Id="R9a9bbd011a9e402c"/><Relationship Type="http://schemas.openxmlformats.org/officeDocument/2006/relationships/notesSlide" Target="/ppt/notesSlides/notesSlide7.xml" Id="R6523bd21601444a5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1948574636e49ee"/><Relationship Type="http://schemas.openxmlformats.org/officeDocument/2006/relationships/image" Target="/ppt/media/image8.png" Id="Rc02ac7ed188b4991"/><Relationship Type="http://schemas.openxmlformats.org/officeDocument/2006/relationships/notesSlide" Target="/ppt/notesSlides/notesSlide8.xml" Id="Rab0fb1fb438648df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3407fcadc754cda"/><Relationship Type="http://schemas.openxmlformats.org/officeDocument/2006/relationships/image" Target="/ppt/media/image9.png" Id="Ra9c80f1eb1b24857"/><Relationship Type="http://schemas.openxmlformats.org/officeDocument/2006/relationships/notesSlide" Target="/ppt/notesSlides/notesSlide9.xml" Id="Re53272c07d6e4d4f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3f24d9324244fef"/><Relationship Type="http://schemas.openxmlformats.org/officeDocument/2006/relationships/image" Target="/ppt/media/image10.png" Id="Rb71d2603135542ee"/><Relationship Type="http://schemas.openxmlformats.org/officeDocument/2006/relationships/notesSlide" Target="/ppt/notesSlides/notesSlide10.xml" Id="R5d60aac959d847c5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7fd904239464ed3"/><Relationship Type="http://schemas.openxmlformats.org/officeDocument/2006/relationships/image" Target="/ppt/media/image11.png" Id="R53904b752aca4b9c"/><Relationship Type="http://schemas.openxmlformats.org/officeDocument/2006/relationships/notesSlide" Target="/ppt/notesSlides/notesSlide11.xml" Id="Ree9782d302e240ea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49fd36da7fc49c0"/><Relationship Type="http://schemas.openxmlformats.org/officeDocument/2006/relationships/image" Target="/ppt/media/image12.png" Id="R8230f49b38a8491c"/><Relationship Type="http://schemas.openxmlformats.org/officeDocument/2006/relationships/notesSlide" Target="/ppt/notesSlides/notesSlide12.xml" Id="R54ef1f95e1bd401f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126d58e13a14a9b"/><Relationship Type="http://schemas.openxmlformats.org/officeDocument/2006/relationships/image" Target="/ppt/media/image13.png" Id="Ra8fb716bbb3a4ddf"/><Relationship Type="http://schemas.openxmlformats.org/officeDocument/2006/relationships/notesSlide" Target="/ppt/notesSlides/notesSlide13.xml" Id="R5014f58d9f49475d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3d5fc61a3b941e5"/><Relationship Type="http://schemas.openxmlformats.org/officeDocument/2006/relationships/image" Target="/ppt/media/image14.png" Id="R474b613b059244a4"/><Relationship Type="http://schemas.openxmlformats.org/officeDocument/2006/relationships/notesSlide" Target="/ppt/notesSlides/notesSlide14.xml" Id="R4fb21dfa57c440c8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0262bb3c642492c"/><Relationship Type="http://schemas.openxmlformats.org/officeDocument/2006/relationships/image" Target="/ppt/media/image15.png" Id="R121952d997064fc6"/><Relationship Type="http://schemas.openxmlformats.org/officeDocument/2006/relationships/notesSlide" Target="/ppt/notesSlides/notesSlide15.xml" Id="Rc74bb6db6c134a33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b6f81804783479a"/><Relationship Type="http://schemas.openxmlformats.org/officeDocument/2006/relationships/image" Target="/ppt/media/image16.png" Id="Re526325eaa6a42cd"/><Relationship Type="http://schemas.openxmlformats.org/officeDocument/2006/relationships/notesSlide" Target="/ppt/notesSlides/notesSlide16.xml" Id="R40fbbe88ef96425b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0c0155ea7e64d27"/><Relationship Type="http://schemas.openxmlformats.org/officeDocument/2006/relationships/image" Target="/ppt/media/image17.png" Id="R7229f38b59f745a2"/><Relationship Type="http://schemas.openxmlformats.org/officeDocument/2006/relationships/notesSlide" Target="/ppt/notesSlides/notesSlide17.xml" Id="R9264aec4283149ed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c2a5aeaf0ad45dc"/><Relationship Type="http://schemas.openxmlformats.org/officeDocument/2006/relationships/image" Target="/ppt/media/image18.png" Id="R9ed756e139d84aee"/><Relationship Type="http://schemas.openxmlformats.org/officeDocument/2006/relationships/notesSlide" Target="/ppt/notesSlides/notesSlide18.xml" Id="R9a2524af44974f6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9bc6a543995485f"/><Relationship Type="http://schemas.openxmlformats.org/officeDocument/2006/relationships/image" Target="/ppt/media/image19.png" Id="R75b2c68d468e420f"/><Relationship Type="http://schemas.openxmlformats.org/officeDocument/2006/relationships/notesSlide" Target="/ppt/notesSlides/notesSlide19.xml" Id="R2503db4d64b1423e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bf33f1c2ebf48be"/><Relationship Type="http://schemas.openxmlformats.org/officeDocument/2006/relationships/image" Target="/ppt/media/image20.png" Id="R82d4658487a04773"/><Relationship Type="http://schemas.openxmlformats.org/officeDocument/2006/relationships/notesSlide" Target="/ppt/notesSlides/notesSlide20.xml" Id="R7b850b1362aa4a47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481cfbc1df04e66"/><Relationship Type="http://schemas.openxmlformats.org/officeDocument/2006/relationships/image" Target="/ppt/media/image21.png" Id="R531bc58cde6842f8"/><Relationship Type="http://schemas.openxmlformats.org/officeDocument/2006/relationships/notesSlide" Target="/ppt/notesSlides/notesSlide21.xml" Id="R5fed3091f085491f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220cbf0b86f40bc"/><Relationship Type="http://schemas.openxmlformats.org/officeDocument/2006/relationships/image" Target="/ppt/media/image22.png" Id="R2e49d10523f94290"/><Relationship Type="http://schemas.openxmlformats.org/officeDocument/2006/relationships/notesSlide" Target="/ppt/notesSlides/notesSlide22.xml" Id="R648c30f4acaf4618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d0845a9c9224fd7"/><Relationship Type="http://schemas.openxmlformats.org/officeDocument/2006/relationships/image" Target="/ppt/media/image23.png" Id="R49f98e9627d74d1a"/><Relationship Type="http://schemas.openxmlformats.org/officeDocument/2006/relationships/notesSlide" Target="/ppt/notesSlides/notesSlide23.xml" Id="Rc0b489a1f88d490a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e8dcaf27be64fe9"/><Relationship Type="http://schemas.openxmlformats.org/officeDocument/2006/relationships/image" Target="/ppt/media/image24.png" Id="R51b719421e2e4d11"/><Relationship Type="http://schemas.openxmlformats.org/officeDocument/2006/relationships/notesSlide" Target="/ppt/notesSlides/notesSlide24.xml" Id="R34111daf9fa649a2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fff73c16c354cb6"/><Relationship Type="http://schemas.openxmlformats.org/officeDocument/2006/relationships/image" Target="/ppt/media/image25.png" Id="R5a84caf4c62e478e"/><Relationship Type="http://schemas.openxmlformats.org/officeDocument/2006/relationships/notesSlide" Target="/ppt/notesSlides/notesSlide25.xml" Id="R51c3f966b1b84ae7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f2ad360b9014a9b"/><Relationship Type="http://schemas.openxmlformats.org/officeDocument/2006/relationships/image" Target="/ppt/media/image26.png" Id="R2e8b6bbe438b441b"/><Relationship Type="http://schemas.openxmlformats.org/officeDocument/2006/relationships/notesSlide" Target="/ppt/notesSlides/notesSlide26.xml" Id="R3f69026f066a4ab7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17263a782084715"/><Relationship Type="http://schemas.openxmlformats.org/officeDocument/2006/relationships/image" Target="/ppt/media/image27.png" Id="Rd6152444517a4ffb"/><Relationship Type="http://schemas.openxmlformats.org/officeDocument/2006/relationships/notesSlide" Target="/ppt/notesSlides/notesSlide27.xml" Id="R922bf474071247de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5600af900d54b1e"/><Relationship Type="http://schemas.openxmlformats.org/officeDocument/2006/relationships/image" Target="/ppt/media/image28.png" Id="R73778d1485724253"/><Relationship Type="http://schemas.openxmlformats.org/officeDocument/2006/relationships/notesSlide" Target="/ppt/notesSlides/notesSlide28.xml" Id="Rfa245b8ece4b4a49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494fded2b428c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965960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Orbits, mass, and radius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b179c00464bd0"/>
          <ns0:srcRect xmlns:ns0="http://schemas.openxmlformats.org/drawingml/2006/main" l="5714" r="7381" t="51429" b="38413"/>
          <a:stretch xmlns:a="http://schemas.openxmlformats.org/drawingml/2006/main"/>
        </p:blipFill>
        <p:spPr>
          <a:xfrm xmlns:a="http://schemas.openxmlformats.org/drawingml/2006/main">
            <a:off x="2789678" y="4276679"/>
            <a:ext cx="6598493" cy="57849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E4576-B758-46DB-8EE7-7E9479E7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2095500"/>
            <a:ext cx="6187540" cy="53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Orbital speed is related to the mass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82CCB-4EDF-4506-AA3F-B83FFE7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2500449"/>
            <a:ext cx="6065049" cy="53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interior to the orbit, and the orbital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D8DEB-116E-49EF-84E4-2BE51421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2905397"/>
            <a:ext cx="1074386" cy="53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E392A-81DD-46B6-9AF1-E37FC76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3921636"/>
            <a:ext cx="4034617" cy="506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1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91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Gravity and Orbits - PhET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F1DA3-88AC-4B14-96B6-16222A38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4567929"/>
            <a:ext cx="6590951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4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https://phet.colorado.edu/en/simulations/gravity-and-orbits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C759E-52C5-4723-8C1C-78EC64FE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5484386"/>
            <a:ext cx="5960337" cy="404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Choose Model. Change the mass and distance.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15778-3025-416D-AEEF-0121803A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5754551"/>
            <a:ext cx="6134466" cy="404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 velocity to explore how the orbit changes.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3931759"/>
            <a:ext cx="4002980" cy="3679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4575016"/>
            <a:ext cx="6559314" cy="2575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371" y="4567929"/>
            <a:ext cx="6590951" cy="354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685795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LT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05C06-6904-4AAD-B12D-24BD003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406" y="2095500"/>
            <a:ext cx="48651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“Dark Matter,” 143, #1-9</a:t>
            </a:r>
          </a:p>
        </p:txBody>
      </p:sp>
    </p:spTree>
    <p:extLst>
      <p:ext uri="{BB962C8B-B14F-4D97-AF65-F5344CB8AC3E}">
        <p14:creationId xmlns:p14="http://schemas.microsoft.com/office/powerpoint/2010/main" val="1705616252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Solar System Rotation Curve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6f7aafd31481a"/>
          <ns0:srcRect xmlns:ns0="http://schemas.openxmlformats.org/drawingml/2006/main" l="22698" r="25317" t="14921" b="27196"/>
          <a:stretch xmlns:a="http://schemas.openxmlformats.org/drawingml/2006/main"/>
        </p:blipFill>
        <p:spPr>
          <a:xfrm xmlns:a="http://schemas.openxmlformats.org/drawingml/2006/main">
            <a:off x="4240381" y="2095500"/>
            <a:ext cx="3517406" cy="293743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3154F-B6D9-4EC6-A593-2CE55E65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57" y="5032722"/>
            <a:ext cx="120290" cy="421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43499-BBDD-4703-A4F8-A5D1F29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93" y="5047758"/>
            <a:ext cx="5131951" cy="421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Solar system’s rotation curve declines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7F56F-E215-457A-AAEF-282CACF2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93" y="5362579"/>
            <a:ext cx="4908279" cy="421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because Sun has almost all the 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3A748-4400-4073-8E6B-FF2DCE1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57" y="5724389"/>
            <a:ext cx="120290" cy="421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DF4A9-353A-40C0-A070-435A88FC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4965" y="5738485"/>
            <a:ext cx="6055678" cy="421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This is what is expected from Kepler’s 3rd law</a:t>
            </a:r>
          </a:p>
        </p:txBody>
      </p:sp>
    </p:spTree>
    <p:extLst>
      <p:ext uri="{BB962C8B-B14F-4D97-AF65-F5344CB8AC3E}">
        <p14:creationId xmlns:p14="http://schemas.microsoft.com/office/powerpoint/2010/main" val="1444287211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Merry-go-round Rotation Curve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e11de5d2e4e47"/>
          <ns0:srcRect xmlns:ns0="http://schemas.openxmlformats.org/drawingml/2006/main" l="21825" r="29127" t="19788" b="20423"/>
          <a:stretch xmlns:a="http://schemas.openxmlformats.org/drawingml/2006/main"/>
        </p:blipFill>
        <p:spPr>
          <a:xfrm xmlns:a="http://schemas.openxmlformats.org/drawingml/2006/main">
            <a:off x="4153766" y="2095500"/>
            <a:ext cx="3441142" cy="314602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1169B-9766-4E60-B821-04D4C05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563" y="5395544"/>
            <a:ext cx="6067492" cy="436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of merry-go-round rises with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99606-5EB9-457F-8DB6-718BEBE2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563" y="5722954"/>
            <a:ext cx="6340875" cy="436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 because mass is spread out with radius</a:t>
            </a:r>
          </a:p>
        </p:txBody>
      </p:sp>
    </p:spTree>
    <p:extLst>
      <p:ext uri="{BB962C8B-B14F-4D97-AF65-F5344CB8AC3E}">
        <p14:creationId xmlns:p14="http://schemas.microsoft.com/office/powerpoint/2010/main" val="1133891295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7ba1501344baa"/>
          <ns0:srcRect xmlns:ns0="http://schemas.openxmlformats.org/drawingml/2006/main" l="5317" r="11746" t="53545" b="0"/>
          <a:stretch xmlns:a="http://schemas.openxmlformats.org/drawingml/2006/main"/>
        </p:blipFill>
        <p:spPr>
          <a:xfrm xmlns:a="http://schemas.openxmlformats.org/drawingml/2006/main">
            <a:off x="3509467" y="3986317"/>
            <a:ext cx="5173066" cy="217318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94C2D-2B36-4608-9D9F-759B784C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095500"/>
            <a:ext cx="4873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B2D63-0EA8-4899-B680-E45E43A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428160"/>
            <a:ext cx="2360992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E8929-0F1A-4516-B5BA-A074352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816264"/>
            <a:ext cx="4395107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9DD24-4F01-46EC-8905-82ADABA0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3203501"/>
            <a:ext cx="4711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</p:spTree>
    <p:extLst>
      <p:ext uri="{BB962C8B-B14F-4D97-AF65-F5344CB8AC3E}">
        <p14:creationId xmlns:p14="http://schemas.microsoft.com/office/powerpoint/2010/main" val="588186476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bbd011a9e402c"/>
          <ns0:srcRect xmlns:ns0="http://schemas.openxmlformats.org/drawingml/2006/main" l="5317" r="11746" t="53545" b="0"/>
          <a:stretch xmlns:a="http://schemas.openxmlformats.org/drawingml/2006/main"/>
        </p:blipFill>
        <p:spPr>
          <a:xfrm xmlns:a="http://schemas.openxmlformats.org/drawingml/2006/main">
            <a:off x="3509467" y="3986317"/>
            <a:ext cx="5173066" cy="217318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0BF79-341C-4DD4-A326-5931DC96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095500"/>
            <a:ext cx="4873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472F8-155A-4B6C-9D4B-E1DD00C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428160"/>
            <a:ext cx="2360992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9337E-B90C-4C9B-A0F2-FD8442E7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816264"/>
            <a:ext cx="4395107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2DBB9-DC5E-408B-8D5E-CA5B5F0E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3203501"/>
            <a:ext cx="4711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7FF05-CC08-4F33-B1BC-A23FBFF3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3591605"/>
            <a:ext cx="2178203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C) Neither!  Ha!</a:t>
            </a:r>
          </a:p>
        </p:txBody>
      </p:sp>
    </p:spTree>
    <p:extLst>
      <p:ext uri="{BB962C8B-B14F-4D97-AF65-F5344CB8AC3E}">
        <p14:creationId xmlns:p14="http://schemas.microsoft.com/office/powerpoint/2010/main" val="69663041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Milky Way Rotation Curve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ac7ed188b4991"/>
          <ns0:srcRect xmlns:ns0="http://schemas.openxmlformats.org/drawingml/2006/main" l="24048" r="24365" t="16190" b="26349"/>
          <a:stretch xmlns:a="http://schemas.openxmlformats.org/drawingml/2006/main"/>
        </p:blipFill>
        <p:spPr>
          <a:xfrm xmlns:a="http://schemas.openxmlformats.org/drawingml/2006/main">
            <a:off x="4376012" y="2095500"/>
            <a:ext cx="3610144" cy="301585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0FF41-9F0C-41A6-A595-205FB409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681" y="5181901"/>
            <a:ext cx="111825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8048D-2003-400E-A0DD-AF9C4F73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33" y="5181901"/>
            <a:ext cx="6159386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Rotation curve of Milky Way stays flat with distance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124B0-6B0D-43B2-947D-E5C874A4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681" y="5504592"/>
            <a:ext cx="111825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4B09D-1004-439C-90FC-830ADD3C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33" y="5505564"/>
            <a:ext cx="426188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=&gt;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7340C-2BB6-4979-9532-EDE9D83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437" y="5505564"/>
            <a:ext cx="5353277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 must be more spread out than in solar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DC136-C7F2-4511-A7D6-909ACDE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33" y="5781601"/>
            <a:ext cx="5892483" cy="377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system, but not as much as for a merry-go-round</a:t>
            </a:r>
          </a:p>
        </p:txBody>
      </p:sp>
    </p:spTree>
    <p:extLst>
      <p:ext uri="{BB962C8B-B14F-4D97-AF65-F5344CB8AC3E}">
        <p14:creationId xmlns:p14="http://schemas.microsoft.com/office/powerpoint/2010/main" val="1838773709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Milky Way Rotation Curve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80f1eb1b24857"/>
          <ns0:srcRect xmlns:ns0="http://schemas.openxmlformats.org/drawingml/2006/main" l="24048" r="24365" t="16190" b="26349"/>
          <a:stretch xmlns:a="http://schemas.openxmlformats.org/drawingml/2006/main"/>
        </p:blipFill>
        <p:spPr>
          <a:xfrm xmlns:a="http://schemas.openxmlformats.org/drawingml/2006/main">
            <a:off x="4310866" y="2095500"/>
            <a:ext cx="3516456" cy="293759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AE2F4-9D71-4051-8AF6-E363659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07" y="5214845"/>
            <a:ext cx="6413187" cy="38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from visible matter, we would expect something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41E4C-3A3C-4475-9339-992898C0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07" y="5496026"/>
            <a:ext cx="6303958" cy="38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like what we see in the Solar System because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E7EB7-057D-4EE6-A7CB-F17BE0AA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07" y="5776260"/>
            <a:ext cx="5723601" cy="38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of the mass is in the center of the Galaxy.</a:t>
            </a:r>
          </a:p>
        </p:txBody>
      </p:sp>
    </p:spTree>
    <p:extLst>
      <p:ext uri="{BB962C8B-B14F-4D97-AF65-F5344CB8AC3E}">
        <p14:creationId xmlns:p14="http://schemas.microsoft.com/office/powerpoint/2010/main" val="257849750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 in Spirals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d2603135542ee"/>
          <ns0:srcRect xmlns:ns0="http://schemas.openxmlformats.org/drawingml/2006/main" l="18175" r="18095" t="13439" b="34392"/>
          <a:stretch xmlns:a="http://schemas.openxmlformats.org/drawingml/2006/main"/>
        </p:blipFill>
        <p:spPr>
          <a:xfrm xmlns:a="http://schemas.openxmlformats.org/drawingml/2006/main">
            <a:off x="4007062" y="2095500"/>
            <a:ext cx="4858762" cy="298302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A639A-9D4B-4296-825D-58121ACD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980" y="5362373"/>
            <a:ext cx="95882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4CC5-136A-49E6-8C85-02AB252F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8519" y="5363431"/>
            <a:ext cx="4687473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Spiral galaxies all tend to have flat rotation curves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0AF6-E2E4-4283-AB88-6AEE0A56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980" y="5614387"/>
            <a:ext cx="95882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53845-BC67-4538-8493-FB57336E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8519" y="5615446"/>
            <a:ext cx="2101596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-&gt;Lots of Dark Matter!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BF5F0-F3E1-41CB-846A-52A3A563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980" y="5865343"/>
            <a:ext cx="95882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1FCE4-53A8-4464-B084-167F8A6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8519" y="5866401"/>
            <a:ext cx="6308501" cy="293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Ellipticals have dark matter too, but they don’t have rotation curves</a:t>
            </a:r>
          </a:p>
        </p:txBody>
      </p:sp>
    </p:spTree>
    <p:extLst>
      <p:ext uri="{BB962C8B-B14F-4D97-AF65-F5344CB8AC3E}">
        <p14:creationId xmlns:p14="http://schemas.microsoft.com/office/powerpoint/2010/main" val="712253841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Evidence for Dark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DD821-DDF0-4421-A859-90BD1A02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2095500"/>
            <a:ext cx="76828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hypothesize that dark matter exists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D5AAF-6C99-443D-98F6-FE840EDF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2552700"/>
            <a:ext cx="72213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from comparisons between the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F364C-1BDC-41BF-A216-81C4ECF3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3009900"/>
            <a:ext cx="76534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matter we can see and the mass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6EED0-8E79-4937-A166-A673B8F8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3465909"/>
            <a:ext cx="446790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calculated from gravity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DD6CD-7A0D-4690-9B19-C4215DD0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3999309"/>
            <a:ext cx="686590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We’ll see two forms of evidence for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42B90-93C7-4B6F-8014-0DB3AA36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4456509"/>
            <a:ext cx="62121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– in galaxies and 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28A62-75AA-4D3B-941F-70785510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599" y="4913709"/>
            <a:ext cx="1529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clusters</a:t>
            </a:r>
          </a:p>
        </p:txBody>
      </p:sp>
    </p:spTree>
    <p:extLst>
      <p:ext uri="{BB962C8B-B14F-4D97-AF65-F5344CB8AC3E}">
        <p14:creationId xmlns:p14="http://schemas.microsoft.com/office/powerpoint/2010/main" val="1081845450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0f49b38a8491c"/>
          <ns0:srcRect xmlns:ns0="http://schemas.openxmlformats.org/drawingml/2006/main" l="10159" r="41667" t="21376" b="14180"/>
          <a:stretch xmlns:a="http://schemas.openxmlformats.org/drawingml/2006/main"/>
        </p:blipFill>
        <p:spPr>
          <a:xfrm xmlns:a="http://schemas.openxmlformats.org/drawingml/2006/main">
            <a:off x="3176606" y="2095500"/>
            <a:ext cx="3476343" cy="348779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243EC-4139-4B08-9A05-27E23EFA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775" y="2343970"/>
            <a:ext cx="1623604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visible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D4223-1B44-43AA-9E90-793800AA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2680723"/>
            <a:ext cx="1740774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portion of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4BF4B-6D85-45DC-8D2C-2C53D491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3017476"/>
            <a:ext cx="1612251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lies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436DD-572B-4DBF-9312-17995BE4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3354228"/>
            <a:ext cx="1711597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deep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4B676-8CF2-412F-8270-BDA6A5D1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3690981"/>
            <a:ext cx="1485126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heart of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8EF45-8AA9-4EBE-8A6C-9A9B9E9A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4027734"/>
            <a:ext cx="1875757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halo of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5586D-C5E2-4EB4-8667-2CAE136C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2" y="4363485"/>
            <a:ext cx="1696721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1861B-CCB6-4F81-9F6B-6DA687B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5" y="5036990"/>
            <a:ext cx="1792691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Dark Matter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26A8D-82BF-4900-B4C5-B78A5C6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5" y="5373743"/>
            <a:ext cx="1863972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provides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6880E-04DA-4D17-9C12-E1F670B3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915" y="5710496"/>
            <a:ext cx="1930479" cy="449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missing mass</a:t>
            </a:r>
          </a:p>
        </p:txBody>
      </p:sp>
    </p:spTree>
    <p:extLst>
      <p:ext uri="{BB962C8B-B14F-4D97-AF65-F5344CB8AC3E}">
        <p14:creationId xmlns:p14="http://schemas.microsoft.com/office/powerpoint/2010/main" val="1566295405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b716bbb3a4ddf"/>
          <ns0:srcRect xmlns:ns0="http://schemas.openxmlformats.org/drawingml/2006/main" l="5317" r="11746" t="53545" b="0"/>
          <a:stretch xmlns:a="http://schemas.openxmlformats.org/drawingml/2006/main"/>
        </p:blipFill>
        <p:spPr>
          <a:xfrm xmlns:a="http://schemas.openxmlformats.org/drawingml/2006/main">
            <a:off x="3509467" y="3986317"/>
            <a:ext cx="5173066" cy="217318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0EDD-0E08-4B2D-847B-717966EE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095500"/>
            <a:ext cx="4873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390BB-72C4-4C0E-A214-3315A48C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428160"/>
            <a:ext cx="2360992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4DE9-0F7A-49CB-94C0-773CF7ED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816264"/>
            <a:ext cx="4395107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A425D-31B8-42F9-9753-1BEC499D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3203501"/>
            <a:ext cx="4711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</p:spTree>
    <p:extLst>
      <p:ext uri="{BB962C8B-B14F-4D97-AF65-F5344CB8AC3E}">
        <p14:creationId xmlns:p14="http://schemas.microsoft.com/office/powerpoint/2010/main" val="255632932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b613b059244a4"/>
          <ns0:srcRect xmlns:ns0="http://schemas.openxmlformats.org/drawingml/2006/main" l="5317" r="11746" t="53545" b="0"/>
          <a:stretch xmlns:a="http://schemas.openxmlformats.org/drawingml/2006/main"/>
        </p:blipFill>
        <p:spPr>
          <a:xfrm xmlns:a="http://schemas.openxmlformats.org/drawingml/2006/main">
            <a:off x="3509467" y="3986317"/>
            <a:ext cx="5173066" cy="217318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05A4C-7186-42E7-AAFC-377C197E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095500"/>
            <a:ext cx="4873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8C40E-1FD9-4C4A-A291-2277056E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428160"/>
            <a:ext cx="2360992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AD4D3-C7EA-46A3-B81F-01ED0BAA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2816264"/>
            <a:ext cx="4395107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F3EA0-0594-4562-87C9-535E3A66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40" y="3203501"/>
            <a:ext cx="4711690" cy="443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</p:spTree>
    <p:extLst>
      <p:ext uri="{BB962C8B-B14F-4D97-AF65-F5344CB8AC3E}">
        <p14:creationId xmlns:p14="http://schemas.microsoft.com/office/powerpoint/2010/main" val="1086913572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 in Clusters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952d997064fc6"/>
          <ns0:srcRect xmlns:ns0="http://schemas.openxmlformats.org/drawingml/2006/main" l="3889" r="2222" t="27407" b="30794"/>
          <a:stretch xmlns:a="http://schemas.openxmlformats.org/drawingml/2006/main"/>
        </p:blipFill>
        <p:spPr>
          <a:xfrm xmlns:a="http://schemas.openxmlformats.org/drawingml/2006/main">
            <a:off x="2537183" y="2095500"/>
            <a:ext cx="7117633" cy="237655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26590-40D4-4B18-BCB0-E3024DB1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998" y="4811783"/>
            <a:ext cx="6209869" cy="539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are large groups of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3AC51-1020-493B-B314-15D9CFCE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834" y="5216098"/>
            <a:ext cx="6161514" cy="539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three ways to find cluster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90BEE-3A9E-4BFC-9125-64CF8104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998" y="5620413"/>
            <a:ext cx="917373" cy="539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</p:spTree>
    <p:extLst>
      <p:ext uri="{BB962C8B-B14F-4D97-AF65-F5344CB8AC3E}">
        <p14:creationId xmlns:p14="http://schemas.microsoft.com/office/powerpoint/2010/main" val="959047149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1) Velocities of galaxies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6325eaa6a42cd"/>
          <ns0:srcRect xmlns:ns0="http://schemas.openxmlformats.org/drawingml/2006/main" l="556" r="44048" t="14074" b="8571"/>
          <a:stretch xmlns:a="http://schemas.openxmlformats.org/drawingml/2006/main"/>
        </p:blipFill>
        <p:spPr>
          <a:xfrm xmlns:a="http://schemas.openxmlformats.org/drawingml/2006/main">
            <a:off x="2716809" y="2147177"/>
            <a:ext cx="3831192" cy="401232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434E3-1A32-477A-80A6-09B034D1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097" y="2095500"/>
            <a:ext cx="2329290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galaxies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B7636-823A-46E1-B8D1-7C2C425F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2418242"/>
            <a:ext cx="2307653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 too fast,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03D26-2BA2-45B8-9C79-CA292FF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2740984"/>
            <a:ext cx="2503182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indicating unseen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D1C8A-577E-4EBB-95E3-9332FC3B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3063727"/>
            <a:ext cx="734276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38D1C-1AD1-4878-A8C6-E69F8076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097" y="3709211"/>
            <a:ext cx="1872881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we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C758D-65E2-420C-957E-21102674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4031953"/>
            <a:ext cx="2037353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calculate from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73972-2D70-481B-8B92-A0BA2127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4354696"/>
            <a:ext cx="2751962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motions in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4E2EE-E136-4E44-A2A3-DA8FAE0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4677438"/>
            <a:ext cx="2186083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is about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D4306D-A2AC-4CC9-B62D-0863E432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5000180"/>
            <a:ext cx="1336728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50 times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87E062-9F0E-4C5E-A4E7-3DBE9E73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448" y="5000180"/>
            <a:ext cx="989518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larger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33A30-F2B8-4590-8D46-24D96706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5321962"/>
            <a:ext cx="2370582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than the mass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241C7-17CD-410F-AB9F-CD267F78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229" y="5644704"/>
            <a:ext cx="795331" cy="430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stars!</a:t>
            </a:r>
          </a:p>
        </p:txBody>
      </p:sp>
    </p:spTree>
    <p:extLst>
      <p:ext uri="{BB962C8B-B14F-4D97-AF65-F5344CB8AC3E}">
        <p14:creationId xmlns:p14="http://schemas.microsoft.com/office/powerpoint/2010/main" val="1460247133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2) Mass traced through X-rays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9f38b59f745a2"/>
          <ns0:srcRect xmlns:ns0="http://schemas.openxmlformats.org/drawingml/2006/main" l="2222" r="41429" t="15238" b="9947"/>
          <a:stretch xmlns:a="http://schemas.openxmlformats.org/drawingml/2006/main"/>
        </p:blipFill>
        <p:spPr>
          <a:xfrm xmlns:a="http://schemas.openxmlformats.org/drawingml/2006/main">
            <a:off x="3169200" y="2292836"/>
            <a:ext cx="3383033" cy="336873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A64E7-9ED4-44C9-A7C6-DCED7465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2095500"/>
            <a:ext cx="1986229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contain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72955-42F0-4158-892E-2B929F4F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2375672"/>
            <a:ext cx="2081721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amounts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78463-E203-4C5A-B26A-3182AC06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2655845"/>
            <a:ext cx="2215036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X-ray emitting hot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5695C-D531-45FE-9304-A5099F8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2936017"/>
            <a:ext cx="437337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04A93-D1B4-4F73-92BB-DAA261A8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089" y="3496362"/>
            <a:ext cx="2325712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of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2A37E-FBF6-4B6A-83F3-A17EE176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3776534"/>
            <a:ext cx="1554756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(particle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9D99F-122C-4A52-86C5-22FFD30B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4056706"/>
            <a:ext cx="2029646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motions) tells us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AFB5E-295F-4930-BB93-1DA2BDBC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4336879"/>
            <a:ext cx="2231372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mass. 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52EE2-1882-4F20-A696-7C035F9F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4617051"/>
            <a:ext cx="2160402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is hotter than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326D3-2809-4417-AB05-03DD1247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4897224"/>
            <a:ext cx="2297919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would be if there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22AC8-278B-47FF-8ED2-D1700F0B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5176562"/>
            <a:ext cx="1514832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was no dark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161B7-87CA-436F-8F4A-979C1A59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203" y="5456734"/>
            <a:ext cx="867633" cy="373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B1CF53-1748-4B97-BBA5-B39B5C17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015" y="5759254"/>
            <a:ext cx="2334770" cy="250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98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85% dark matter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4743C-0860-4116-BE33-9DDADF42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015" y="5909346"/>
            <a:ext cx="2334770" cy="250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98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13% hot gas, 2% stars</a:t>
            </a:r>
          </a:p>
        </p:txBody>
      </p:sp>
    </p:spTree>
    <p:extLst>
      <p:ext uri="{BB962C8B-B14F-4D97-AF65-F5344CB8AC3E}">
        <p14:creationId xmlns:p14="http://schemas.microsoft.com/office/powerpoint/2010/main" val="371937775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3) Gravitational Lensing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756e139d84aee"/>
          <ns0:srcRect xmlns:ns0="http://schemas.openxmlformats.org/drawingml/2006/main" l="3889" r="11429" t="11852" b="21905"/>
          <a:stretch xmlns:a="http://schemas.openxmlformats.org/drawingml/2006/main"/>
        </p:blipFill>
        <p:spPr>
          <a:xfrm xmlns:a="http://schemas.openxmlformats.org/drawingml/2006/main">
            <a:off x="3022542" y="2095500"/>
            <a:ext cx="5644371" cy="331150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832D5-BB1A-40DE-B102-982CB337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770" y="5576284"/>
            <a:ext cx="6202460" cy="2777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Gravitational lensing bends light rays and reveals a cluster’s mass.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BD14C-9395-4892-88BE-CE039D31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770" y="5881778"/>
            <a:ext cx="6202460" cy="2777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Light is bending more than expected.</a:t>
            </a:r>
          </a:p>
        </p:txBody>
      </p:sp>
    </p:spTree>
    <p:extLst>
      <p:ext uri="{BB962C8B-B14F-4D97-AF65-F5344CB8AC3E}">
        <p14:creationId xmlns:p14="http://schemas.microsoft.com/office/powerpoint/2010/main" val="1921304934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Cluster Masses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2c68d468e420f"/>
          <ns0:srcRect xmlns:ns0="http://schemas.openxmlformats.org/drawingml/2006/main" l="3889" r="2222" t="20317" b="37884"/>
          <a:stretch xmlns:a="http://schemas.openxmlformats.org/drawingml/2006/main"/>
        </p:blipFill>
        <p:spPr>
          <a:xfrm xmlns:a="http://schemas.openxmlformats.org/drawingml/2006/main">
            <a:off x="2157899" y="2095500"/>
            <a:ext cx="7876201" cy="2629839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8A7AF-5692-4546-B0B2-18FA7F56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018" y="5246047"/>
            <a:ext cx="7454478" cy="521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three methods of measuring cluster mass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4EFDC-4FEA-4225-89A3-5DA85696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018" y="5637527"/>
            <a:ext cx="6518850" cy="521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indicate similar amounts of dark matter</a:t>
            </a:r>
          </a:p>
        </p:txBody>
      </p:sp>
    </p:spTree>
    <p:extLst>
      <p:ext uri="{BB962C8B-B14F-4D97-AF65-F5344CB8AC3E}">
        <p14:creationId xmlns:p14="http://schemas.microsoft.com/office/powerpoint/2010/main" val="352206816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But Does Dark Matter Really Exist???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5AD22-397D-452D-AAA0-A1DDA1C5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2095500"/>
            <a:ext cx="6721000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needed to explain the discrepancy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EDCCD-95AA-49A2-8870-8A76F7B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2390210"/>
            <a:ext cx="6301945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between the mass measured through gravity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70658-9019-4FB5-9C97-F16FCB46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2686053"/>
            <a:ext cx="4437548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mass directly observed.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D85A0-E2F6-4D5F-8173-1F070EE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3035170"/>
            <a:ext cx="314008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43B3D-190E-4E5A-BC2C-59DE0610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3035170"/>
            <a:ext cx="5201632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really exists, and we are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3489C-A028-49B6-9DB4-EDBFBCCA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3331013"/>
            <a:ext cx="5597988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observing the effects of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8B728-8D4C-4250-ABB9-49152F9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3625723"/>
            <a:ext cx="1369276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1D36C-19CC-4609-813A-9D7CE57F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3975974"/>
            <a:ext cx="314008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099-66D8-4413-BF63-4D03F972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3975974"/>
            <a:ext cx="6463953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wrong with our understanding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603D1-3641-4161-BB36-D494599A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4271817"/>
            <a:ext cx="5892743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gravity, causing us to mistakenly infer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4F00D-D6AC-4EE8-BDCF-38D66004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252" y="4566527"/>
            <a:ext cx="3408790" cy="4370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of dark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097D9-EB36-48A7-8011-41C52ECB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5322978"/>
            <a:ext cx="6262651" cy="49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5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Because gravity is so well tested, most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7793F-8483-4194-B539-632A84CE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795" y="5660761"/>
            <a:ext cx="6769828" cy="49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5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(but not all!) astronomers prefer option #1</a:t>
            </a:r>
          </a:p>
        </p:txBody>
      </p:sp>
    </p:spTree>
    <p:extLst>
      <p:ext uri="{BB962C8B-B14F-4D97-AF65-F5344CB8AC3E}">
        <p14:creationId xmlns:p14="http://schemas.microsoft.com/office/powerpoint/2010/main" val="9607885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dark is dark matter?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DC8A2-0C22-4633-8A6A-BDF9659D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034" y="2095500"/>
            <a:ext cx="48139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… not as bright as a star.</a:t>
            </a:r>
          </a:p>
        </p:txBody>
      </p:sp>
    </p:spTree>
    <p:extLst>
      <p:ext uri="{BB962C8B-B14F-4D97-AF65-F5344CB8AC3E}">
        <p14:creationId xmlns:p14="http://schemas.microsoft.com/office/powerpoint/2010/main" val="1917964491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Two Basic Options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804E4-3433-427D-811A-6183B51A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712" y="2095500"/>
            <a:ext cx="145590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27844-32DE-48B2-889E-694CEDE8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678" y="2112561"/>
            <a:ext cx="5362575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Ordinary Dark Matter   (MACHOS)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229C8-69ED-4E17-ADF5-F52ADA2A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183" y="2541368"/>
            <a:ext cx="211196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1AD0D-606C-4387-956E-BF63104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57" y="2541368"/>
            <a:ext cx="5232954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Massive Compact Halo Objects: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191D0-6101-4515-9277-139BF160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436" y="3004298"/>
            <a:ext cx="6642852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dead or failed stars in halos of galaxies –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35334-4A50-421A-8981-3DC0DC45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1965" y="3386471"/>
            <a:ext cx="3668903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basically brown dwarfs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A3B69-70E0-4C35-B9C2-26331750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712" y="4357827"/>
            <a:ext cx="145590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C628B-512B-462B-AF45-27CF76BC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678" y="4376026"/>
            <a:ext cx="5825330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Extraordinary Dark Matter   (WIMPS)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0F435-6D6A-4D63-8AF6-B7BE01DB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183" y="4803697"/>
            <a:ext cx="211196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7EADA-5F1F-4A05-8745-8E10E428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57" y="4803697"/>
            <a:ext cx="6110991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Weakly Interacting Massive Particles: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A141A-43B0-4AF5-BD00-598EE7E7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436" y="5267764"/>
            <a:ext cx="6427880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new type of particle – possibly similar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2E601-F4A0-4F1C-946B-C087C9D9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1965" y="5649936"/>
            <a:ext cx="2088943" cy="50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a neutrino</a:t>
            </a:r>
          </a:p>
        </p:txBody>
      </p:sp>
    </p:spTree>
    <p:extLst>
      <p:ext uri="{BB962C8B-B14F-4D97-AF65-F5344CB8AC3E}">
        <p14:creationId xmlns:p14="http://schemas.microsoft.com/office/powerpoint/2010/main" val="37361377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Evidence for MACHOS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98e9627d74d1a"/>
          <ns0:srcRect xmlns:ns0="http://schemas.openxmlformats.org/drawingml/2006/main" l="12619" r="47381" t="16085" b="10159"/>
          <a:stretch xmlns:a="http://schemas.openxmlformats.org/drawingml/2006/main"/>
        </p:blipFill>
        <p:spPr>
          <a:xfrm xmlns:a="http://schemas.openxmlformats.org/drawingml/2006/main">
            <a:off x="3027741" y="2095500"/>
            <a:ext cx="2938674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B706E-0C41-4679-B502-1BF8C197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2113488"/>
            <a:ext cx="1341705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MACHOs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BC409-91E0-4CA1-89CA-91BB9EBE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2456333"/>
            <a:ext cx="2742519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occasionally make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D2080-DF3A-499E-8B88-8C5B68E0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2799178"/>
            <a:ext cx="2766808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stars appear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DF67E-BC72-4AC5-99A1-DB64E24B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3142024"/>
            <a:ext cx="2476825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brighter through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7A452-D6C7-4723-9BA1-1A276E2E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3484869"/>
            <a:ext cx="1056293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9A9E4-A599-401D-BFBD-1C89F80A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4121582"/>
            <a:ext cx="2364906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… but there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158DF-B071-42D4-8D73-2178C291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4464427"/>
            <a:ext cx="1753699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enough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9E2E4-5A80-436A-94F4-F5C182F1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4806252"/>
            <a:ext cx="2573392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 events to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D89A1-94A2-4EBC-B04F-C8A7F7C2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5149097"/>
            <a:ext cx="2137686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explain all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647C1-3099-4877-9881-9F46E8D3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51" y="5491943"/>
            <a:ext cx="1727696" cy="457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</p:spTree>
    <p:extLst>
      <p:ext uri="{BB962C8B-B14F-4D97-AF65-F5344CB8AC3E}">
        <p14:creationId xmlns:p14="http://schemas.microsoft.com/office/powerpoint/2010/main" val="674767024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Evidence for WIMPs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EECD6-7E46-4348-8FA4-3951028F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51" y="2095500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DEF6D-0739-4FF6-8CF1-073AB680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877" y="2115820"/>
            <a:ext cx="640388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There’s not enough ordinary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6388D-EBE4-4DF7-8377-9AF39D0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51" y="3200400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FA647-7465-4A62-92D7-BEA31172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051" y="3220720"/>
            <a:ext cx="70547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WIMPs could be left over from Big Bang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B0B16-9A28-4A5B-B836-EF79604E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51" y="4196080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7ECD6-CC47-4F00-AFA0-BF8CA2CF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051" y="4216400"/>
            <a:ext cx="663591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Models involving WIMPs explain how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A528D-E340-433C-8A6A-0FECB654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051" y="4643120"/>
            <a:ext cx="42135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formation works</a:t>
            </a:r>
          </a:p>
        </p:txBody>
      </p:sp>
    </p:spTree>
    <p:extLst>
      <p:ext uri="{BB962C8B-B14F-4D97-AF65-F5344CB8AC3E}">
        <p14:creationId xmlns:p14="http://schemas.microsoft.com/office/powerpoint/2010/main" val="1608706795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Unseen Influences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C339B-78D2-4554-A529-8EDD3102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145" y="2095500"/>
            <a:ext cx="243301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2D149-E3F9-40D5-9320-47E28A6F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063" y="2095500"/>
            <a:ext cx="5083014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An undetected form of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3FBCE-9072-426D-934F-69936303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2543175"/>
            <a:ext cx="81715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64E90-E1F3-4E23-8A8D-F9F2C94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854" y="2497455"/>
            <a:ext cx="266805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does not emit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142A3-1ABA-4A73-8B57-97762E08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898" y="2543175"/>
            <a:ext cx="281340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light but whose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13CEC-4D6E-46D6-9207-D2D2803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2952750"/>
            <a:ext cx="6781231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we infer from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5B3B3-6CE0-493F-B45B-A5E0DD63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3352800"/>
            <a:ext cx="156391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influence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BA01E-B7D0-4A77-AED4-D41B8970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145" y="4286250"/>
            <a:ext cx="2480691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C6E75-502C-4A1B-B0A9-FF707AFA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498" y="4286250"/>
            <a:ext cx="508935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 An unknown form of energy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F13E4-0476-47C3-888A-FF40CC7E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4686300"/>
            <a:ext cx="7177957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seems to be the source of a repulsive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825D1-1412-45E9-9FBC-03288D63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5085159"/>
            <a:ext cx="590647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force causing the expansion of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A1EBA-C209-441A-8F48-23CC0DAD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613" y="5485209"/>
            <a:ext cx="375853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 to accelerate</a:t>
            </a:r>
          </a:p>
        </p:txBody>
      </p:sp>
    </p:spTree>
    <p:extLst>
      <p:ext uri="{BB962C8B-B14F-4D97-AF65-F5344CB8AC3E}">
        <p14:creationId xmlns:p14="http://schemas.microsoft.com/office/powerpoint/2010/main" val="968356764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Contents of Universe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b6bbe438b441b"/>
          <ns0:srcRect xmlns:ns0="http://schemas.openxmlformats.org/drawingml/2006/main" l="9762" r="8730" t="37354" b="1693"/>
          <a:stretch xmlns:a="http://schemas.openxmlformats.org/drawingml/2006/main"/>
        </p:blipFill>
        <p:spPr>
          <a:xfrm xmlns:a="http://schemas.openxmlformats.org/drawingml/2006/main">
            <a:off x="3671887" y="3214054"/>
            <a:ext cx="5251690" cy="294544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4C0FF-675C-4F90-B682-89B42038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423" y="2095500"/>
            <a:ext cx="2329523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“Normal” Matter: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49D44-8298-4B43-AEFE-818C85DA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846" y="2095500"/>
            <a:ext cx="712146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859D6-90B6-4891-9F78-390EEAE2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423" y="2446294"/>
            <a:ext cx="1759518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9DD58-457C-424C-BF67-57436954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3530" y="2446294"/>
            <a:ext cx="871506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23%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C1F37-B547-43CC-A344-E7DB3590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423" y="2797089"/>
            <a:ext cx="1574855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B55A2-1D52-48BA-A646-EC225CC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3529" y="2797089"/>
            <a:ext cx="871506" cy="40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73%</a:t>
            </a:r>
          </a:p>
        </p:txBody>
      </p:sp>
    </p:spTree>
    <p:extLst>
      <p:ext uri="{BB962C8B-B14F-4D97-AF65-F5344CB8AC3E}">
        <p14:creationId xmlns:p14="http://schemas.microsoft.com/office/powerpoint/2010/main" val="1281026899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Contents of the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74D60-027E-431C-8297-3BD593EB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604" y="2095500"/>
            <a:ext cx="4408791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energy of the Universe is roughly 2/3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BF5CB-8AAB-4A1A-9D09-5835DC57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695" y="2317982"/>
            <a:ext cx="2124715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energy and 1/3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A97B4-5C62-4CE5-8162-1C203419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76" y="2578007"/>
            <a:ext cx="4077849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 matter, about 10% is normal matter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1A686-37BE-4F42-AF9E-25D3065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695" y="2800489"/>
            <a:ext cx="4062874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(protons, neutrons) and 90% is dark 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895E9-E2A6-4BF0-937C-2C94896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695" y="3059819"/>
            <a:ext cx="3857768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only 4% of the energy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78E11-E486-4F33-BE1A-38A26E07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695" y="3282996"/>
            <a:ext cx="836990" cy="295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23ADC-E63D-437F-B6F8-12C26266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9576" y="3568246"/>
            <a:ext cx="2326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CEA8D-D430-4DF9-98F6-F267F4F0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476" y="3589104"/>
            <a:ext cx="40202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cannot see most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18B3D-5191-40B1-83A0-A47D20A2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589" y="4047276"/>
            <a:ext cx="35344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what makes up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11D62-CB5D-4DDF-8D1A-89BF6298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589" y="4504755"/>
            <a:ext cx="259489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Universe!</a:t>
            </a:r>
          </a:p>
        </p:txBody>
      </p:sp>
    </p:spTree>
    <p:extLst>
      <p:ext uri="{BB962C8B-B14F-4D97-AF65-F5344CB8AC3E}">
        <p14:creationId xmlns:p14="http://schemas.microsoft.com/office/powerpoint/2010/main" val="1663620908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have we learned?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94CF-B8A5-41B3-AC8E-4C88F474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2095500"/>
            <a:ext cx="4168432" cy="311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3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1) What are dark matter and dark energy?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B9C5A-8C92-4F8B-A1A5-66B21F2D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107" y="2333492"/>
            <a:ext cx="124098" cy="272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DC406-13C4-496D-9401-0AD4EF3D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5702" y="2332548"/>
            <a:ext cx="5290882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matter” is the name given to the unseen mass whose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F5D99-D4B9-4CE2-97DD-8DE17A02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789" y="2526286"/>
            <a:ext cx="5331103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gravity governs the observed motions of stars and gas clouds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83DBA-A397-4E6A-B0D4-8C8201B7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107" y="2736702"/>
            <a:ext cx="124098" cy="272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17C67-6313-4CA9-A507-62A91EC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5702" y="2735758"/>
            <a:ext cx="4853340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energy” is the name given to whatever might be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E0A61-CB93-4585-8EF1-2A966765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789" y="2929495"/>
            <a:ext cx="4532147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causing the expansion of the universe to accelerate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FF4DE-B4F4-49AB-9B0B-A62BF5E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3152696"/>
            <a:ext cx="5126509" cy="311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3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2) What is the evidence for dark matter in galaxies?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B3F0E-451D-4B8D-AF57-A0D54A64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3419247"/>
            <a:ext cx="5728483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        - Rotation curves of galaxies are flat, indicating that most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DCADE-28CA-40D7-B859-482E43D5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789" y="3623803"/>
            <a:ext cx="3830044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their matter lies outside their visible regions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8EE6F-7C26-4D14-9D1A-1D539E5A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3847004"/>
            <a:ext cx="5291237" cy="311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evidence for dark matter in clusters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E119A-1C6A-459E-9ABC-7443ABD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4058443"/>
            <a:ext cx="941768" cy="311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galaxies?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17E1F-2247-4030-B98B-439096F9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4324994"/>
            <a:ext cx="5583668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Masses measured from galaxy motions, temperature of hot gas,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3DD2B-C774-4984-9409-DDC2D923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4530533"/>
            <a:ext cx="5342044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gravitational lensing all indicate that the vast majority of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81954-8DC0-4231-8B49-CFC0FDC8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4735088"/>
            <a:ext cx="2174984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in clusters is dark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A5B4B-CC8A-424F-9480-B92A3BE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0" y="5208082"/>
            <a:ext cx="3942037" cy="311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What might dark matter be made of?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AAFB9C-902E-46B9-8FCA-D2E75C4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717" y="5475617"/>
            <a:ext cx="5625337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There does not seem to be enough normal matter to account for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B3982-6A96-40F0-84EB-C5123F94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6" y="5680172"/>
            <a:ext cx="5164420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all the dark matter, so most astronomers suspect that dark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BC4C9-CCFC-4EEB-895E-D81CE7C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806" y="5885711"/>
            <a:ext cx="5354548" cy="273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is made of particles that have not yet been discovered</a:t>
            </a:r>
          </a:p>
        </p:txBody>
      </p:sp>
    </p:spTree>
    <p:extLst>
      <p:ext uri="{BB962C8B-B14F-4D97-AF65-F5344CB8AC3E}">
        <p14:creationId xmlns:p14="http://schemas.microsoft.com/office/powerpoint/2010/main" val="996406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Dark matter</dc:title>
  <dcterms:created xsi:type="dcterms:W3CDTF">2026-09-26T20:03:06.2290000Z</dcterms:created>
  <dcterms:modified xsi:type="dcterms:W3CDTF">2026-09-26T20:03:06.2290000Z</dcterms:modified>
</coreProperties>
</file>