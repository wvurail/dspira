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fc27ecf5af4739" /><Relationship Type="http://schemas.openxmlformats.org/officeDocument/2006/relationships/extended-properties" Target="/docProps/app.xml" Id="R21eb6b5c0706461e" /><Relationship Type="http://schemas.openxmlformats.org/officeDocument/2006/relationships/officeDocument" Target="/ppt/presentation.xml" Id="R8be0c301dc394f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7ff9cadff64f02"/>
  </p:sldMasterIdLst>
  <p:notesMasterIdLst>
    <p:notesMasterId xmlns:r="http://schemas.openxmlformats.org/officeDocument/2006/relationships" r:id="Rb3722f95dd904dac"/>
  </p:notesMasterIdLst>
  <p:sldIdLst>
    <p:sldId xmlns:r="http://schemas.openxmlformats.org/officeDocument/2006/relationships" id="256" r:id="R171ab0333de0454b"/>
    <p:sldId xmlns:r="http://schemas.openxmlformats.org/officeDocument/2006/relationships" id="257" r:id="R9b5378bd369a4fc6"/>
    <p:sldId xmlns:r="http://schemas.openxmlformats.org/officeDocument/2006/relationships" id="258" r:id="R4b433735bf1e4838"/>
    <p:sldId xmlns:r="http://schemas.openxmlformats.org/officeDocument/2006/relationships" id="259" r:id="Raeef6506b2e84882"/>
    <p:sldId xmlns:r="http://schemas.openxmlformats.org/officeDocument/2006/relationships" id="260" r:id="R68602d9ede414367"/>
    <p:sldId xmlns:r="http://schemas.openxmlformats.org/officeDocument/2006/relationships" id="261" r:id="Rc66a37a79def4151"/>
    <p:sldId xmlns:r="http://schemas.openxmlformats.org/officeDocument/2006/relationships" id="262" r:id="R399c154da0374719"/>
    <p:sldId xmlns:r="http://schemas.openxmlformats.org/officeDocument/2006/relationships" id="263" r:id="R9b1ad4b52c014580"/>
    <p:sldId xmlns:r="http://schemas.openxmlformats.org/officeDocument/2006/relationships" id="264" r:id="R1bbc84cf8cb74da9"/>
    <p:sldId xmlns:r="http://schemas.openxmlformats.org/officeDocument/2006/relationships" id="265" r:id="R13a675ac1acd41a8"/>
    <p:sldId xmlns:r="http://schemas.openxmlformats.org/officeDocument/2006/relationships" id="266" r:id="R84dc47d9b2e64494"/>
    <p:sldId xmlns:r="http://schemas.openxmlformats.org/officeDocument/2006/relationships" id="267" r:id="Rcb2a53981d854849"/>
    <p:sldId xmlns:r="http://schemas.openxmlformats.org/officeDocument/2006/relationships" id="268" r:id="Rec9009169741473d"/>
    <p:sldId xmlns:r="http://schemas.openxmlformats.org/officeDocument/2006/relationships" id="269" r:id="Rf2daee760cac4a5b"/>
    <p:sldId xmlns:r="http://schemas.openxmlformats.org/officeDocument/2006/relationships" id="270" r:id="R6712690f1ba64506"/>
    <p:sldId xmlns:r="http://schemas.openxmlformats.org/officeDocument/2006/relationships" id="271" r:id="Rb5f400b4088f423d"/>
    <p:sldId xmlns:r="http://schemas.openxmlformats.org/officeDocument/2006/relationships" id="272" r:id="R73af57c1533047c8"/>
    <p:sldId xmlns:r="http://schemas.openxmlformats.org/officeDocument/2006/relationships" id="273" r:id="Rd30a388ef2d3443a"/>
    <p:sldId xmlns:r="http://schemas.openxmlformats.org/officeDocument/2006/relationships" id="274" r:id="R1da03674649247e6"/>
    <p:sldId xmlns:r="http://schemas.openxmlformats.org/officeDocument/2006/relationships" id="275" r:id="R9f50f49ef51c45ed"/>
    <p:sldId xmlns:r="http://schemas.openxmlformats.org/officeDocument/2006/relationships" id="276" r:id="Rc16abac6c63341b1"/>
    <p:sldId xmlns:r="http://schemas.openxmlformats.org/officeDocument/2006/relationships" id="277" r:id="Re591c18a767f4185"/>
    <p:sldId xmlns:r="http://schemas.openxmlformats.org/officeDocument/2006/relationships" id="278" r:id="R52ee19a363a34b27"/>
    <p:sldId xmlns:r="http://schemas.openxmlformats.org/officeDocument/2006/relationships" id="279" r:id="Raa2a450b669e4ec0"/>
    <p:sldId xmlns:r="http://schemas.openxmlformats.org/officeDocument/2006/relationships" id="280" r:id="R8219468823c04d32"/>
    <p:sldId xmlns:r="http://schemas.openxmlformats.org/officeDocument/2006/relationships" id="281" r:id="R90c65efbeea04415"/>
    <p:sldId xmlns:r="http://schemas.openxmlformats.org/officeDocument/2006/relationships" id="282" r:id="R2ffa22a86b2749e3"/>
    <p:sldId xmlns:r="http://schemas.openxmlformats.org/officeDocument/2006/relationships" id="283" r:id="R9c3b18b107834d30"/>
  </p:sldIdLst>
  <p:sldSz cx="9144000" cy="75438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470ab2c6494338" /><Relationship Type="http://schemas.openxmlformats.org/officeDocument/2006/relationships/slideMaster" Target="/ppt/slideMasters/slideMaster1.xml" Id="Raa7ff9cadff64f02" /><Relationship Type="http://schemas.openxmlformats.org/officeDocument/2006/relationships/notesMaster" Target="/ppt/notesMasters/notesMaster1.xml" Id="Rb3722f95dd904dac" /><Relationship Type="http://schemas.openxmlformats.org/officeDocument/2006/relationships/presProps" Target="/ppt/presProps.xml" Id="R8eaa4cf061324e5e" /><Relationship Type="http://schemas.openxmlformats.org/officeDocument/2006/relationships/tableStyles" Target="/ppt/tableStyles.xml" Id="R6dc4851fba124ee5" /><Relationship Type="http://schemas.openxmlformats.org/officeDocument/2006/relationships/slide" Target="/ppt/slides/slide1.xml" Id="R171ab0333de0454b" /><Relationship Type="http://schemas.openxmlformats.org/officeDocument/2006/relationships/slide" Target="/ppt/slides/slide2.xml" Id="R9b5378bd369a4fc6" /><Relationship Type="http://schemas.openxmlformats.org/officeDocument/2006/relationships/slide" Target="/ppt/slides/slide3.xml" Id="R4b433735bf1e4838" /><Relationship Type="http://schemas.openxmlformats.org/officeDocument/2006/relationships/slide" Target="/ppt/slides/slide4.xml" Id="Raeef6506b2e84882" /><Relationship Type="http://schemas.openxmlformats.org/officeDocument/2006/relationships/slide" Target="/ppt/slides/slide5.xml" Id="R68602d9ede414367" /><Relationship Type="http://schemas.openxmlformats.org/officeDocument/2006/relationships/slide" Target="/ppt/slides/slide6.xml" Id="Rc66a37a79def4151" /><Relationship Type="http://schemas.openxmlformats.org/officeDocument/2006/relationships/slide" Target="/ppt/slides/slide7.xml" Id="R399c154da0374719" /><Relationship Type="http://schemas.openxmlformats.org/officeDocument/2006/relationships/slide" Target="/ppt/slides/slide8.xml" Id="R9b1ad4b52c014580" /><Relationship Type="http://schemas.openxmlformats.org/officeDocument/2006/relationships/slide" Target="/ppt/slides/slide9.xml" Id="R1bbc84cf8cb74da9" /><Relationship Type="http://schemas.openxmlformats.org/officeDocument/2006/relationships/slide" Target="/ppt/slides/slide10.xml" Id="R13a675ac1acd41a8" /><Relationship Type="http://schemas.openxmlformats.org/officeDocument/2006/relationships/slide" Target="/ppt/slides/slide11.xml" Id="R84dc47d9b2e64494" /><Relationship Type="http://schemas.openxmlformats.org/officeDocument/2006/relationships/slide" Target="/ppt/slides/slide12.xml" Id="Rcb2a53981d854849" /><Relationship Type="http://schemas.openxmlformats.org/officeDocument/2006/relationships/slide" Target="/ppt/slides/slide13.xml" Id="Rec9009169741473d" /><Relationship Type="http://schemas.openxmlformats.org/officeDocument/2006/relationships/slide" Target="/ppt/slides/slide14.xml" Id="Rf2daee760cac4a5b" /><Relationship Type="http://schemas.openxmlformats.org/officeDocument/2006/relationships/slide" Target="/ppt/slides/slide15.xml" Id="R6712690f1ba64506" /><Relationship Type="http://schemas.openxmlformats.org/officeDocument/2006/relationships/slide" Target="/ppt/slides/slide16.xml" Id="Rb5f400b4088f423d" /><Relationship Type="http://schemas.openxmlformats.org/officeDocument/2006/relationships/slide" Target="/ppt/slides/slide17.xml" Id="R73af57c1533047c8" /><Relationship Type="http://schemas.openxmlformats.org/officeDocument/2006/relationships/slide" Target="/ppt/slides/slide18.xml" Id="Rd30a388ef2d3443a" /><Relationship Type="http://schemas.openxmlformats.org/officeDocument/2006/relationships/slide" Target="/ppt/slides/slide19.xml" Id="R1da03674649247e6" /><Relationship Type="http://schemas.openxmlformats.org/officeDocument/2006/relationships/slide" Target="/ppt/slides/slide20.xml" Id="R9f50f49ef51c45ed" /><Relationship Type="http://schemas.openxmlformats.org/officeDocument/2006/relationships/slide" Target="/ppt/slides/slide21.xml" Id="Rc16abac6c63341b1" /><Relationship Type="http://schemas.openxmlformats.org/officeDocument/2006/relationships/slide" Target="/ppt/slides/slide22.xml" Id="Re591c18a767f4185" /><Relationship Type="http://schemas.openxmlformats.org/officeDocument/2006/relationships/slide" Target="/ppt/slides/slide23.xml" Id="R52ee19a363a34b27" /><Relationship Type="http://schemas.openxmlformats.org/officeDocument/2006/relationships/slide" Target="/ppt/slides/slide24.xml" Id="Raa2a450b669e4ec0" /><Relationship Type="http://schemas.openxmlformats.org/officeDocument/2006/relationships/slide" Target="/ppt/slides/slide25.xml" Id="R8219468823c04d32" /><Relationship Type="http://schemas.openxmlformats.org/officeDocument/2006/relationships/slide" Target="/ppt/slides/slide26.xml" Id="R90c65efbeea04415" /><Relationship Type="http://schemas.openxmlformats.org/officeDocument/2006/relationships/slide" Target="/ppt/slides/slide27.xml" Id="R2ffa22a86b2749e3" /><Relationship Type="http://schemas.openxmlformats.org/officeDocument/2006/relationships/slide" Target="/ppt/slides/slide28.xml" Id="R9c3b18b107834d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bea7d8835049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f5f21fd86145f3" /><Relationship Type="http://schemas.openxmlformats.org/officeDocument/2006/relationships/notesMaster" Target="/ppt/notesMasters/notesMaster1.xml" Id="R30c0ec6a14d24e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242e1692fd4f04" /><Relationship Type="http://schemas.openxmlformats.org/officeDocument/2006/relationships/notesMaster" Target="/ppt/notesMasters/notesMaster1.xml" Id="Re5846ee59a0b4a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2d7ddff3624872" /><Relationship Type="http://schemas.openxmlformats.org/officeDocument/2006/relationships/notesMaster" Target="/ppt/notesMasters/notesMaster1.xml" Id="Rac4ee9b8c09540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3da64d76a948c7" /><Relationship Type="http://schemas.openxmlformats.org/officeDocument/2006/relationships/notesMaster" Target="/ppt/notesMasters/notesMaster1.xml" Id="Rb5127b3503fe4e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2e464d6a564e5a" /><Relationship Type="http://schemas.openxmlformats.org/officeDocument/2006/relationships/notesMaster" Target="/ppt/notesMasters/notesMaster1.xml" Id="R39ee6650faeb40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e8ff96796d4038" /><Relationship Type="http://schemas.openxmlformats.org/officeDocument/2006/relationships/notesMaster" Target="/ppt/notesMasters/notesMaster1.xml" Id="R4a514c159c0c44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00f54abd4a4edc" /><Relationship Type="http://schemas.openxmlformats.org/officeDocument/2006/relationships/notesMaster" Target="/ppt/notesMasters/notesMaster1.xml" Id="Rf352c3e4536943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950636e3d94aec" /><Relationship Type="http://schemas.openxmlformats.org/officeDocument/2006/relationships/notesMaster" Target="/ppt/notesMasters/notesMaster1.xml" Id="R4dbac46ed72c4d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3486b78776412d" /><Relationship Type="http://schemas.openxmlformats.org/officeDocument/2006/relationships/notesMaster" Target="/ppt/notesMasters/notesMaster1.xml" Id="Rdeaa84b25c7c40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4e3a26a64846b5" /><Relationship Type="http://schemas.openxmlformats.org/officeDocument/2006/relationships/notesMaster" Target="/ppt/notesMasters/notesMaster1.xml" Id="R94ce24f1e52f40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9b156e62784d42" /><Relationship Type="http://schemas.openxmlformats.org/officeDocument/2006/relationships/notesMaster" Target="/ppt/notesMasters/notesMaster1.xml" Id="R0fe7856dffdd47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470044239d40b1" /><Relationship Type="http://schemas.openxmlformats.org/officeDocument/2006/relationships/notesMaster" Target="/ppt/notesMasters/notesMaster1.xml" Id="Ra9fecb7e247e4d7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da0b74cc4bc40c9" /><Relationship Type="http://schemas.openxmlformats.org/officeDocument/2006/relationships/notesMaster" Target="/ppt/notesMasters/notesMaster1.xml" Id="R6aee913a01dd4d8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b089eca5ad54bf2" /><Relationship Type="http://schemas.openxmlformats.org/officeDocument/2006/relationships/notesMaster" Target="/ppt/notesMasters/notesMaster1.xml" Id="Re4315cd3425846b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e6d59606962461f" /><Relationship Type="http://schemas.openxmlformats.org/officeDocument/2006/relationships/notesMaster" Target="/ppt/notesMasters/notesMaster1.xml" Id="R6b12ca1319d045c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4b57c132aba478c" /><Relationship Type="http://schemas.openxmlformats.org/officeDocument/2006/relationships/notesMaster" Target="/ppt/notesMasters/notesMaster1.xml" Id="Rab76dace057d4f5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ff82cc573524f7b" /><Relationship Type="http://schemas.openxmlformats.org/officeDocument/2006/relationships/notesMaster" Target="/ppt/notesMasters/notesMaster1.xml" Id="R5ac4c5a14db04f0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9d629e5908416a" /><Relationship Type="http://schemas.openxmlformats.org/officeDocument/2006/relationships/notesMaster" Target="/ppt/notesMasters/notesMaster1.xml" Id="R6f88f553267f4fb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64d757b9cf44ca3" /><Relationship Type="http://schemas.openxmlformats.org/officeDocument/2006/relationships/notesMaster" Target="/ppt/notesMasters/notesMaster1.xml" Id="Rcfa6d7f954344ad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775d8798aa34b8f" /><Relationship Type="http://schemas.openxmlformats.org/officeDocument/2006/relationships/notesMaster" Target="/ppt/notesMasters/notesMaster1.xml" Id="R743fabde4ad745c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aa9a3b538374709" /><Relationship Type="http://schemas.openxmlformats.org/officeDocument/2006/relationships/notesMaster" Target="/ppt/notesMasters/notesMaster1.xml" Id="R280ffc9a8515468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2bdb42a7a35482f" /><Relationship Type="http://schemas.openxmlformats.org/officeDocument/2006/relationships/notesMaster" Target="/ppt/notesMasters/notesMaster1.xml" Id="Rd17d1a7d7466472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f754ad159454237" /><Relationship Type="http://schemas.openxmlformats.org/officeDocument/2006/relationships/notesMaster" Target="/ppt/notesMasters/notesMaster1.xml" Id="Ra6bc9aea0d074c9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ea03ed4b2f84954" /><Relationship Type="http://schemas.openxmlformats.org/officeDocument/2006/relationships/notesMaster" Target="/ppt/notesMasters/notesMaster1.xml" Id="R1c7b49ffcb1e4df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cc465c95ac74471" /><Relationship Type="http://schemas.openxmlformats.org/officeDocument/2006/relationships/notesMaster" Target="/ppt/notesMasters/notesMaster1.xml" Id="R6789469514c5471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ef8df8967ac402a" /><Relationship Type="http://schemas.openxmlformats.org/officeDocument/2006/relationships/notesMaster" Target="/ppt/notesMasters/notesMaster1.xml" Id="Rb109b2d29dc846a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30ab4872e1841c5" /><Relationship Type="http://schemas.openxmlformats.org/officeDocument/2006/relationships/notesMaster" Target="/ppt/notesMasters/notesMaster1.xml" Id="R34185b55c53241a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f344e74007f43b8" /><Relationship Type="http://schemas.openxmlformats.org/officeDocument/2006/relationships/notesMaster" Target="/ppt/notesMasters/notesMaster1.xml" Id="Redcad21603c046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dc09e9c5834a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25ef07039d4309" /><Relationship Type="http://schemas.openxmlformats.org/officeDocument/2006/relationships/slideLayout" Target="/ppt/slideLayouts/slideLayout1.xml" Id="Rd57956ce697f4a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7956ce697f4a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f35aad473b4872" /><Relationship Type="http://schemas.openxmlformats.org/officeDocument/2006/relationships/image" Target="/ppt/media/image.png" Id="R234494fded2b428c" /><Relationship Type="http://schemas.openxmlformats.org/officeDocument/2006/relationships/notesSlide" Target="/ppt/notesSlides/notesSlide1.xml" Id="R59dcde529a0d4b8a" 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73f61f46feea4894"/><Relationship Type="http://schemas.openxmlformats.org/officeDocument/2006/relationships/image" Target="/ppt/media/image2.png" Id="Rf41b179c00464bd0"/><Relationship Type="http://schemas.openxmlformats.org/officeDocument/2006/relationships/notesSlide" Target="/ppt/notesSlides/notesSlide2.xml" Id="Rd9cfb131b0894f54"/><Relationship Id="rIdDspiraLink1" Type="http://schemas.openxmlformats.org/officeDocument/2006/relationships/hyperlink" Target="https://phet.colorado.edu/en/simulations/gravity-and-orbits" TargetMode="External"/><Relationship Id="rIdDspiraLink2" Type="http://schemas.openxmlformats.org/officeDocument/2006/relationships/hyperlink" Target="https://phet.colorado.edu/en/simulations/gravity-and-orbits" TargetMode="External"/><Relationship Id="rIdDspiraLink3" Type="http://schemas.openxmlformats.org/officeDocument/2006/relationships/hyperlink" Target="https://phet.colorado.edu/en/simulations/gravity-and-orbits" TargetMode="External"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7f1f7b72f4b71" /><Relationship Type="http://schemas.openxmlformats.org/officeDocument/2006/relationships/image" Target="/ppt/media/image3.png" Id="R2481724654ab423f" /><Relationship Type="http://schemas.openxmlformats.org/officeDocument/2006/relationships/notesSlide" Target="/ppt/notesSlides/notesSlide3.xml" Id="R6a9e00d071d14b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dcf8bc9404cae" /><Relationship Type="http://schemas.openxmlformats.org/officeDocument/2006/relationships/image" Target="/ppt/media/image4.png" Id="R6376f7aafd31481a" /><Relationship Type="http://schemas.openxmlformats.org/officeDocument/2006/relationships/notesSlide" Target="/ppt/notesSlides/notesSlide4.xml" Id="R4baf0f9c5dad42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0b4d7510f47e7" /><Relationship Type="http://schemas.openxmlformats.org/officeDocument/2006/relationships/image" Target="/ppt/media/image5.png" Id="Rd53e11de5d2e4e47" /><Relationship Type="http://schemas.openxmlformats.org/officeDocument/2006/relationships/notesSlide" Target="/ppt/notesSlides/notesSlide5.xml" Id="Rdcc2e02a41fd43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9584c496c4079" /><Relationship Type="http://schemas.openxmlformats.org/officeDocument/2006/relationships/image" Target="/ppt/media/image6.png" Id="R2197ba1501344baa" /><Relationship Type="http://schemas.openxmlformats.org/officeDocument/2006/relationships/notesSlide" Target="/ppt/notesSlides/notesSlide6.xml" Id="Rbb615a38d07240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fee7d3b7d48ac" /><Relationship Type="http://schemas.openxmlformats.org/officeDocument/2006/relationships/image" Target="/ppt/media/image7.png" Id="R9a9bbd011a9e402c" /><Relationship Type="http://schemas.openxmlformats.org/officeDocument/2006/relationships/notesSlide" Target="/ppt/notesSlides/notesSlide7.xml" Id="R6523bd21601444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48574636e49ee" /><Relationship Type="http://schemas.openxmlformats.org/officeDocument/2006/relationships/image" Target="/ppt/media/image8.png" Id="Rc02ac7ed188b4991" /><Relationship Type="http://schemas.openxmlformats.org/officeDocument/2006/relationships/notesSlide" Target="/ppt/notesSlides/notesSlide8.xml" Id="Rab0fb1fb438648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07fcadc754cda" /><Relationship Type="http://schemas.openxmlformats.org/officeDocument/2006/relationships/image" Target="/ppt/media/image9.png" Id="Ra9c80f1eb1b24857" /><Relationship Type="http://schemas.openxmlformats.org/officeDocument/2006/relationships/notesSlide" Target="/ppt/notesSlides/notesSlide9.xml" Id="Re53272c07d6e4d4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24d9324244fef" /><Relationship Type="http://schemas.openxmlformats.org/officeDocument/2006/relationships/image" Target="/ppt/media/image10.png" Id="Rb71d2603135542ee" /><Relationship Type="http://schemas.openxmlformats.org/officeDocument/2006/relationships/notesSlide" Target="/ppt/notesSlides/notesSlide10.xml" Id="R5d60aac959d847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d904239464ed3" /><Relationship Type="http://schemas.openxmlformats.org/officeDocument/2006/relationships/image" Target="/ppt/media/image11.png" Id="R53904b752aca4b9c" /><Relationship Type="http://schemas.openxmlformats.org/officeDocument/2006/relationships/notesSlide" Target="/ppt/notesSlides/notesSlide11.xml" Id="Ree9782d302e240e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fd36da7fc49c0" /><Relationship Type="http://schemas.openxmlformats.org/officeDocument/2006/relationships/image" Target="/ppt/media/image12.png" Id="R8230f49b38a8491c" /><Relationship Type="http://schemas.openxmlformats.org/officeDocument/2006/relationships/notesSlide" Target="/ppt/notesSlides/notesSlide12.xml" Id="R54ef1f95e1bd401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6d58e13a14a9b" /><Relationship Type="http://schemas.openxmlformats.org/officeDocument/2006/relationships/image" Target="/ppt/media/image13.png" Id="Ra8fb716bbb3a4ddf" /><Relationship Type="http://schemas.openxmlformats.org/officeDocument/2006/relationships/notesSlide" Target="/ppt/notesSlides/notesSlide13.xml" Id="R5014f58d9f49475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d5fc61a3b941e5" /><Relationship Type="http://schemas.openxmlformats.org/officeDocument/2006/relationships/image" Target="/ppt/media/image14.png" Id="R474b613b059244a4" /><Relationship Type="http://schemas.openxmlformats.org/officeDocument/2006/relationships/notesSlide" Target="/ppt/notesSlides/notesSlide14.xml" Id="R4fb21dfa57c440c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262bb3c642492c" /><Relationship Type="http://schemas.openxmlformats.org/officeDocument/2006/relationships/image" Target="/ppt/media/image15.png" Id="R121952d997064fc6" /><Relationship Type="http://schemas.openxmlformats.org/officeDocument/2006/relationships/notesSlide" Target="/ppt/notesSlides/notesSlide15.xml" Id="Rc74bb6db6c134a3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6f81804783479a" /><Relationship Type="http://schemas.openxmlformats.org/officeDocument/2006/relationships/image" Target="/ppt/media/image16.png" Id="Re526325eaa6a42cd" /><Relationship Type="http://schemas.openxmlformats.org/officeDocument/2006/relationships/notesSlide" Target="/ppt/notesSlides/notesSlide16.xml" Id="R40fbbe88ef96425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0155ea7e64d27" /><Relationship Type="http://schemas.openxmlformats.org/officeDocument/2006/relationships/image" Target="/ppt/media/image17.png" Id="R7229f38b59f745a2" /><Relationship Type="http://schemas.openxmlformats.org/officeDocument/2006/relationships/notesSlide" Target="/ppt/notesSlides/notesSlide17.xml" Id="R9264aec4283149e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a5aeaf0ad45dc" /><Relationship Type="http://schemas.openxmlformats.org/officeDocument/2006/relationships/image" Target="/ppt/media/image18.png" Id="R9ed756e139d84aee" /><Relationship Type="http://schemas.openxmlformats.org/officeDocument/2006/relationships/notesSlide" Target="/ppt/notesSlides/notesSlide18.xml" Id="R9a2524af44974f6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c6a543995485f" /><Relationship Type="http://schemas.openxmlformats.org/officeDocument/2006/relationships/image" Target="/ppt/media/image19.png" Id="R75b2c68d468e420f" /><Relationship Type="http://schemas.openxmlformats.org/officeDocument/2006/relationships/notesSlide" Target="/ppt/notesSlides/notesSlide19.xml" Id="R2503db4d64b1423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33f1c2ebf48be" /><Relationship Type="http://schemas.openxmlformats.org/officeDocument/2006/relationships/image" Target="/ppt/media/image20.png" Id="R82d4658487a04773" /><Relationship Type="http://schemas.openxmlformats.org/officeDocument/2006/relationships/notesSlide" Target="/ppt/notesSlides/notesSlide20.xml" Id="R7b850b1362aa4a4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1cfbc1df04e66" /><Relationship Type="http://schemas.openxmlformats.org/officeDocument/2006/relationships/image" Target="/ppt/media/image21.png" Id="R531bc58cde6842f8" /><Relationship Type="http://schemas.openxmlformats.org/officeDocument/2006/relationships/notesSlide" Target="/ppt/notesSlides/notesSlide21.xml" Id="R5fed3091f085491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0cbf0b86f40bc" /><Relationship Type="http://schemas.openxmlformats.org/officeDocument/2006/relationships/image" Target="/ppt/media/image22.png" Id="R2e49d10523f94290" /><Relationship Type="http://schemas.openxmlformats.org/officeDocument/2006/relationships/notesSlide" Target="/ppt/notesSlides/notesSlide22.xml" Id="R648c30f4acaf461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845a9c9224fd7" /><Relationship Type="http://schemas.openxmlformats.org/officeDocument/2006/relationships/image" Target="/ppt/media/image23.png" Id="R49f98e9627d74d1a" /><Relationship Type="http://schemas.openxmlformats.org/officeDocument/2006/relationships/notesSlide" Target="/ppt/notesSlides/notesSlide23.xml" Id="Rc0b489a1f88d490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dcaf27be64fe9" /><Relationship Type="http://schemas.openxmlformats.org/officeDocument/2006/relationships/image" Target="/ppt/media/image24.png" Id="R51b719421e2e4d11" /><Relationship Type="http://schemas.openxmlformats.org/officeDocument/2006/relationships/notesSlide" Target="/ppt/notesSlides/notesSlide24.xml" Id="R34111daf9fa649a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ff73c16c354cb6" /><Relationship Type="http://schemas.openxmlformats.org/officeDocument/2006/relationships/image" Target="/ppt/media/image25.png" Id="R5a84caf4c62e478e" /><Relationship Type="http://schemas.openxmlformats.org/officeDocument/2006/relationships/notesSlide" Target="/ppt/notesSlides/notesSlide25.xml" Id="R51c3f966b1b84ae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2ad360b9014a9b" /><Relationship Type="http://schemas.openxmlformats.org/officeDocument/2006/relationships/image" Target="/ppt/media/image26.png" Id="R2e8b6bbe438b441b" /><Relationship Type="http://schemas.openxmlformats.org/officeDocument/2006/relationships/notesSlide" Target="/ppt/notesSlides/notesSlide26.xml" Id="R3f69026f066a4ab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7263a782084715" /><Relationship Type="http://schemas.openxmlformats.org/officeDocument/2006/relationships/image" Target="/ppt/media/image27.png" Id="Rd6152444517a4ffb" /><Relationship Type="http://schemas.openxmlformats.org/officeDocument/2006/relationships/notesSlide" Target="/ppt/notesSlides/notesSlide27.xml" Id="R922bf474071247d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00af900d54b1e" /><Relationship Type="http://schemas.openxmlformats.org/officeDocument/2006/relationships/image" Target="/ppt/media/image28.png" Id="R73778d1485724253" /><Relationship Type="http://schemas.openxmlformats.org/officeDocument/2006/relationships/notesSlide" Target="/ppt/notesSlides/notesSlide28.xml" Id="Rfa245b8ece4b4a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4494fded2b428c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44F6B5-A0D8-479C-B68B-7754255E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405638"/>
            <a:ext cx="2770331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135F4-CE5A-46AF-A77B-B8571D45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989F7A-2731-404C-8DE3-A0528385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28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5129659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1b179c00464bd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12820-D4C7-45C7-A2DF-664D1CDF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300430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Orbits, mass, and radius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1E4576-B758-46DB-8EE7-7E9479E7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45166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Orbital speed is related to the mass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82CCB-4EDF-4506-AA3F-B83FFE75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30414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interior to the orbit, and the orbital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D8DEB-116E-49EF-84E4-2BE51421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129388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E392A-81DD-46B6-9AF1-E37FC766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42293"/>
            <a:ext cx="485889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Gravity and Orbits - PhET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F1DA3-88AC-4B14-96B6-16222A38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20625"/>
            <a:ext cx="7937488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https://phet.colorado.edu/en/simulations/gravity-and-orbits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2C759E-52C5-4723-8C1C-78EC64FE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14"/>
            <a:ext cx="717804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Choose Model. Change the mass and distance.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015778-3025-416D-AEEF-0121803A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49675"/>
            <a:ext cx="738774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Show velocity to explore how the orbit changes.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256C39-D9C8-4CB6-BECE-30B2D18A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C1D9F0-300A-4181-AF6D-8B41C993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28</a:t>
            </a:r>
          </a:p>
        </p:txBody>
      </p:sp>
      <p:sp>
        <p:nvSpPr>
          <p:cNvPr id="14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54485"/>
            <a:ext cx="4820793" cy="4431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5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29159"/>
            <a:ext cx="7899388" cy="3101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6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20625"/>
            <a:ext cx="7937488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685795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81724654ab423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6B00A-0876-499F-99F5-5A7C08F9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198900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LT 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E05C06-6904-4AAD-B12D-24BD003E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518953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“Dark Matter,” 143, #1-9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FE4C2-0069-4081-ACD5-2B5C2FBD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F05357-C6B3-4107-881A-180996C9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28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056162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76f7aafd31481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1A9D0D-285A-4F90-A6BE-96C278EB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7296695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Solar System Rotation Curve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3154F-B6D9-4EC6-A593-2CE55E65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533552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D43499-BBDD-4703-A4F8-A5D1F293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" y="5355844"/>
            <a:ext cx="693532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Solar system’s rotation curve declines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37F56F-E215-457A-AAEF-282CACF2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" y="5781294"/>
            <a:ext cx="663305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because Sun has almost all the mass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3A748-4400-4073-8E6B-FF2DCE13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627024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DF4A9-353A-40C0-A070-435A88FC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766" y="6289294"/>
            <a:ext cx="818365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This is what is expected from Kepler’s 3rd law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2BFEB4-5784-41E3-BE87-9823034A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4BFE93-E877-4D5E-8626-BC7D708D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28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442872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e11de5d2e4e4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81169B-9766-4E60-B821-04D4C05A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001004"/>
            <a:ext cx="790789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curve of merry-go-round rises with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099606-5EB9-457F-8DB6-718BEBE2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427724"/>
            <a:ext cx="826419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radius because mass is spread out with radius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9587E-D9E8-40A8-82D4-FC86D610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1912"/>
            <a:ext cx="7935509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Merry-go-round Rotation Curve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CB012B-A276-4E2A-B0C3-718E2CF3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E07BA4-9217-46BA-A146-CC82244C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28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338912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7ba1501344ba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8D09DD-B08A-47E2-B265-C3E5232C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194C2D-2B36-4608-9D9F-759B784C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1448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will the rotation curve of our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B2D63-0EA8-4899-B680-E45E43AB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34612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3E8929-0F1A-4516-B5BA-A074352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64432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Like that of the Solar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E9DD24-4F01-46EC-8905-82ADABA0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67406"/>
            <a:ext cx="690733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Like that of the Merry-go-round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A0F2BA-9101-40EB-B84B-6880FF2B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9DAF52-5A31-4ED5-AFAE-C69A83D4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28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5881864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9bbd011a9e402c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59D44E-788B-45FB-B31F-0A6D42C9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3487837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0BF79-341C-4DD4-A326-5931DC96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1448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will the rotation curve of our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472F8-155A-4B6C-9D4B-E1DD00C0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34612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9337E-B90C-4C9B-A0F2-FD8442E7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64432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Like that of the Solar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42DBB9-DC5E-408B-8D5E-CA5B5F0E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67406"/>
            <a:ext cx="690733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Like that of the Merry-go-round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7FF05-CC08-4F33-B1BC-A23FBFF3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36366"/>
            <a:ext cx="319324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C) Neither!  Ha!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35CF1B-42AC-4F6B-A1C5-9A4268D3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E4DB00-9ADF-49CC-B10C-B130B194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28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966304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ac7ed188b499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1E0F06-8B68-4E18-8E5C-23E42230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6773020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Milky Way Rotation Curve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E0FF41-9F0C-41A6-A595-205FB409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5486044"/>
            <a:ext cx="146114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28048D-2003-400E-A0DD-AF9C4F73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86044"/>
            <a:ext cx="8048073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Rotation curve of Milky Way stays flat with distance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124B0-6B0D-43B2-947D-E5C874A4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5907684"/>
            <a:ext cx="146114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4B09D-1004-439C-90FC-830ADD3C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8954"/>
            <a:ext cx="556872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=&gt;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67340C-2BB6-4979-9532-EDE9D83A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" y="5908954"/>
            <a:ext cx="6994783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Mass must be more spread out than in solar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9DC136-C7F2-4511-A7D6-909ACDEB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69634"/>
            <a:ext cx="7699328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system, but not as much as for a merry-go-round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916515-9329-44F6-85FC-405A83BB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4BC5F9-D912-4CBB-8B38-563F1B88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28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387737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c80f1eb1b2485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058441-285B-44F4-B697-99CB9A2E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6773020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Milky Way Rotation Curve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FAE2F4-9D71-4051-8AF6-E363659B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5637683"/>
            <a:ext cx="8602958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But from visible matter, we would expect something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41E4C-3A3C-4475-9339-992898C0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6014872"/>
            <a:ext cx="8456433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like what we see in the Solar System because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E7EB7-057D-4EE6-A7CB-F17BE0AA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6390792"/>
            <a:ext cx="7677914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of the mass is in the center of the Galaxy.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724670-9DF5-40F4-AF06-1E858AEF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08AD15-9BBA-4CD6-BF1F-CB52CB9C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28</a:t>
            </a:r>
          </a:p>
        </p:txBody>
      </p:sp>
      <p:sp>
        <p:nvSpPr>
          <p:cNvPr id="1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578497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d2603135542e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53D66-436A-4B86-86D7-D47460A7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5814853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Dark Matter in Spirals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4A639A-9D4B-4296-825D-58121ACD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5182769"/>
            <a:ext cx="114999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44CC5-136A-49E6-8C85-02AB252F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184038"/>
            <a:ext cx="5622046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Spiral galaxies all tend to have flat rotation curves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80AF6-E2E4-4283-AB88-6AEE0A56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5485028"/>
            <a:ext cx="114999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853845-BC67-4538-8493-FB57336E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486298"/>
            <a:ext cx="2520605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-&gt;Lots of Dark Matter!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9BF5F0-F3E1-41CB-846A-52A3A563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5786019"/>
            <a:ext cx="114999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51FCE4-53A8-4464-B084-167F8A68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787288"/>
            <a:ext cx="7566269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Ellipticals have dark matter too, but they don’t have rotation curves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BFA5A6-7CCB-4E42-B9FA-3BD9D20E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EB691-0A34-4E6A-A36E-DD20E80E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28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7122538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04b752aca4b9c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C1D366-F775-437B-8804-16FC0428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463174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Evidence for Dark Matter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DD821-DDF0-4421-A859-90BD1A02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819498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We hypothesize that dark matter exists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1D5AAF-6C99-443D-98F6-FE840EDF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70281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from comparisons between the mass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AF364C-1BDC-41BF-A216-81C4ECF3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816367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of the matter we can see and the mass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36EED0-8E79-4937-A166-A673B8F8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04846"/>
            <a:ext cx="476576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calculated from gravity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1DD6CD-7A0D-4690-9B19-C4215DD0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73806"/>
            <a:ext cx="732363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We’ll see two forms of evidence for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D42B90-93C7-4B6F-8014-0DB3AA36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61486"/>
            <a:ext cx="662627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matter – in galaxies and in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28A62-75AA-4D3B-941F-70785510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49166"/>
            <a:ext cx="163160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clusters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E7D54-4BA1-4CD3-9880-B145E07B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3753B2-FBB1-4D28-AB28-B783D378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28</a:t>
            </a:r>
          </a:p>
        </p:txBody>
      </p:sp>
      <p:sp>
        <p:nvSpPr>
          <p:cNvPr id="1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818454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0f49b38a8491c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B243EC-4139-4B08-9A05-27E23EFA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192" y="2123694"/>
            <a:ext cx="205736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visible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5D4223-1B44-43AA-9E90-793800AA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66" y="2550414"/>
            <a:ext cx="220584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portion of 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24BF4B-6D85-45DC-8D2C-2C53D491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66" y="2977134"/>
            <a:ext cx="204298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lies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436DD-572B-4DBF-9312-17995BE4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66" y="3403854"/>
            <a:ext cx="216886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deep in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F4B676-8CF2-412F-8270-BDA6A5D1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66" y="3830574"/>
            <a:ext cx="188189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heart of a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A8EF45-8AA9-4EBE-8A6C-9A9B9E9A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66" y="4257294"/>
            <a:ext cx="237688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 halo of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A5586D-C5E2-4EB4-8667-2CAE136C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66" y="4682744"/>
            <a:ext cx="215001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91861B-CCB6-4F81-9F6B-6DA687BA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70" y="5536184"/>
            <a:ext cx="227162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Dark Matter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D26A8D-82BF-4900-B4C5-B78A5C68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70" y="5962904"/>
            <a:ext cx="236195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provides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56880E-04DA-4D17-9C12-E1F670B3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70" y="6389624"/>
            <a:ext cx="244622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missing mass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9CFF17-9C47-4D27-894A-34F6698B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123818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1509D0-1E15-4075-9AAD-B90F36BC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6C785-875E-4303-8DDB-C22E464C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28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5662954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fb716bbb3a4dd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354A59-CBF1-4C1A-A174-D7B4F79FF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20EDD-0E08-4B2D-847B-717966EE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1448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will the rotation curve of our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390BB-72C4-4C0E-A214-3315A48C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34612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64DE9-0F7A-49CB-94C0-773CF7ED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64432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Like that of the Solar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A425D-31B8-42F9-9753-1BEC499D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67406"/>
            <a:ext cx="690733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Like that of the Merry-go-round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FC881-2AEF-4708-AFD0-07EDDDDA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C12589-6428-4E10-AF93-D0669521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28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5563293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b613b059244a4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540072-362C-4D05-B321-4AD5BB20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F05A4C-7186-42E7-AAFC-377C197E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1448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will the rotation curve of our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8C40E-1FD9-4C4A-A291-2277056E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34612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AD4D3-C7EA-46A3-B81F-01ED0BAA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64432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Like that of the Solar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1F3EA0-0594-4562-87C9-535E3A66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67406"/>
            <a:ext cx="690733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Like that of the Merry-go-round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241C8-A0AA-4DC6-BEEE-FBCD49F2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5EEECE-3F5E-4C7E-815C-31446185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28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869135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952d997064fc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6C21B-4FB3-481E-BD8E-52CF54B9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015120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Dark Matter in Clusters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26590-40D4-4B18-BCB0-E3024DB1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70" y="5498846"/>
            <a:ext cx="749026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Clusters are large groups of galaxies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13AC51-1020-493B-B314-15D9CFCE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72" y="5986526"/>
            <a:ext cx="743194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are three ways to find cluster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90BEE-3A9E-4BFC-9125-64CF8104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70" y="6474206"/>
            <a:ext cx="110652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98B159-F314-47B5-906F-27D2F896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CA91AA-B721-46A2-8109-C66231E3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28</a:t>
            </a:r>
          </a:p>
        </p:txBody>
      </p:sp>
      <p:sp>
        <p:nvSpPr>
          <p:cNvPr id="1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5904714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26325eaa6a42cd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02FA8B-9FE0-461C-98D3-F6CAA176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134040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1) Velocities of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9434E3-1A32-477A-80A6-09B034D1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792" y="1239774"/>
            <a:ext cx="307971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galaxies are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B7636-823A-46E1-B8D1-7C2C425F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1666494"/>
            <a:ext cx="305110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moving too fast,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A03D26-2BA2-45B8-9C79-CA292FFC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2093214"/>
            <a:ext cx="330963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indicating unseen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D1C8A-577E-4EBB-95E3-9332FC3B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2519934"/>
            <a:ext cx="97083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E38D1C-1AD1-4878-A8C6-E69F8076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792" y="3373374"/>
            <a:ext cx="247626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 we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7C758D-65E2-420C-957E-21102674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3800094"/>
            <a:ext cx="269372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calculate from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273972-2D70-481B-8B92-A0BA2127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4226814"/>
            <a:ext cx="363856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motions in a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4E2EE-E136-4E44-A2A3-DA8FAE07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4653534"/>
            <a:ext cx="289037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 is about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D4306D-A2AC-4CC9-B62D-0863E432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5080254"/>
            <a:ext cx="176738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50 times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87E062-9F0E-4C5E-A4E7-3DBE9E73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8976" y="5080254"/>
            <a:ext cx="130831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larger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A33A30-F2B8-4590-8D46-24D96706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5505704"/>
            <a:ext cx="313431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than the mass in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5241C7-17CD-410F-AB9F-CD267F78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5932424"/>
            <a:ext cx="105156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stars!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ED7893-BD65-4901-B011-BAD87ED1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BFAB56-E0B2-4303-853C-0A3F6C5F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28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6024713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9f38b59f745a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2F9A5-F4EE-4564-8F50-7DCE9B5B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7656124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2) Mass traced through X-rays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A64E7-9ED4-44C9-A7C6-DCED7465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1087374"/>
            <a:ext cx="302515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Clusters contain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72955-42F0-4158-892E-2B929F4F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1514094"/>
            <a:ext cx="317059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 amounts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578463-E203-4C5A-B26A-3182AC06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1940814"/>
            <a:ext cx="337363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X-ray emitting hot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5695C-D531-45FE-9304-A5099F85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2367534"/>
            <a:ext cx="66609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04A93-D1B4-4F73-92BB-DAA261A8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396" y="3220974"/>
            <a:ext cx="354220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 of hot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2A37E-FBF6-4B6A-83F3-A17EE176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3647694"/>
            <a:ext cx="236799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 (particle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C9D99F-122C-4A52-86C5-22FFD30B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4074414"/>
            <a:ext cx="309127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motions) tells us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8AFB5E-295F-4930-BB93-1DA2BDBC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4501134"/>
            <a:ext cx="339851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 mass. 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F52EE2-1882-4F20-A696-7C035F9F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4927854"/>
            <a:ext cx="329042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 is hotter than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4326D3-2809-4417-AB05-03DD1247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5354574"/>
            <a:ext cx="349987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would be if there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22AC8-278B-47FF-8ED2-D1700F0B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5780024"/>
            <a:ext cx="230718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was no dark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7161B7-87CA-436F-8F4A-979C1A59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6206744"/>
            <a:ext cx="13214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matter.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B1CF53-1748-4B97-BBA5-B39B5C17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667500"/>
            <a:ext cx="355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85% dark matter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A4743C-0860-4116-BE33-9DDADF42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896100"/>
            <a:ext cx="355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13% hot gas, 2% stars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0308CA-9862-49ED-8B70-52A113C3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6FDDA1-C4A9-424F-9858-5FE89C80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28</a:t>
            </a:r>
          </a:p>
        </p:txBody>
      </p:sp>
      <p:sp>
        <p:nvSpPr>
          <p:cNvPr id="2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7193777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d756e139d84ae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70719D-1E89-4F64-9AC0-FA70B30B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207283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3) Gravitational Lensing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9832D5-BB1A-40DE-B102-982CB337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" y="5930900"/>
            <a:ext cx="850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Gravitational lensing bends light rays and reveals a cluster’s mass.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2BD14C-9395-4892-88BE-CE039D31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" y="6350000"/>
            <a:ext cx="850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Light is bending more than expected.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CECA11-A9CE-40BD-B6E2-5FD303E7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B56FA-EBC3-4E82-9C42-9E74662B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28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2130493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2c68d468e420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88A7AF-5692-4546-B0B2-18FA7F56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5170424"/>
            <a:ext cx="812551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three methods of measuring cluster mass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4EFDC-4FEA-4225-89A3-5DA85696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5597144"/>
            <a:ext cx="710566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indicate similar amounts of dark matter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77FA1A-1696-4862-B1CF-AA5BF019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897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Cluster Masses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09375-85E7-4977-82EE-3E8D8BF3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236360-B9AC-40AB-B03C-B6B96E93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28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5220681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d4658487a0477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41282-74E6-44DA-AEC8-551DC375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9882"/>
            <a:ext cx="7765036" cy="589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9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But Does Dark Matter Really Exist???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5AD22-397D-452D-AAA0-A1DDA1C5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21333"/>
            <a:ext cx="7530376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Something is needed to explain the discrepancy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EDCCD-95AA-49A2-8870-8A76F7B7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51533"/>
            <a:ext cx="7060856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between the mass measured through gravity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70658-9019-4FB5-9C97-F16FCB46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83003"/>
            <a:ext cx="4971939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the mass directly observed.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D85A0-E2F6-4D5F-8173-1F070EEA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74163"/>
            <a:ext cx="351822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43B3D-190E-4E5A-BC2C-59DE0610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74163"/>
            <a:ext cx="5828038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matter really exists, and we are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B3489C-A028-49B6-9DB4-EDBFBCCA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05633"/>
            <a:ext cx="6272125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observing the effects of its gravitational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8B728-8D4C-4250-ABB9-49152F94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35833"/>
            <a:ext cx="1534171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attraction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1D36C-19CC-4609-813A-9D7CE57F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728263"/>
            <a:ext cx="351822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52099-66D8-4413-BF63-4D03F972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28263"/>
            <a:ext cx="7242374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Something is wrong with our understanding of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1603D1-3641-4161-BB36-D494599A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59733"/>
            <a:ext cx="6602375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gravity, causing us to mistakenly infer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84F00D-D6AC-4EE8-BDCF-38D66004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89933"/>
            <a:ext cx="3819294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existence of dark matter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6097D9-EB36-48A7-8011-41C52ECB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37480"/>
            <a:ext cx="7016831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Because gravity is so well tested, most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F7793F-8483-4194-B539-632A84CE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15940"/>
            <a:ext cx="7585084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(but not all!) astronomers prefer option #1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C69552-71A2-4669-ABB1-04952FB8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A2FEFB-F207-4FF0-9A16-21504C57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28</a:t>
            </a:r>
          </a:p>
        </p:txBody>
      </p:sp>
      <p:sp>
        <p:nvSpPr>
          <p:cNvPr id="2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60788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1bc58cde6842f8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3DF8F5-3025-483E-9A33-23AD0589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521046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How dark is dark matter?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DC8A2-0C22-4633-8A6A-BDF9659D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530" y="1245108"/>
            <a:ext cx="5776718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… not as bright as a star.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D23796-1368-46C4-A144-98E58365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5A5D87-044B-4DF9-818B-2707699D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28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1796449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9d10523f9429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4CF6B-73CD-4DBC-B64C-74E1D752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673688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Two Basic Options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804E4-3433-427D-811A-6183B51A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" y="125374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27844-32DE-48B2-889E-694CEDE8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1272794"/>
            <a:ext cx="598765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Ordinary Dark Matter   (MACHOS)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D229C8-69ED-4E17-ADF5-F52ADA2A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" y="1751584"/>
            <a:ext cx="23581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51AD0D-606C-4387-956E-BF631040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594" y="1751584"/>
            <a:ext cx="584292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Massive Compact Halo Objects: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191D0-6101-4515-9277-139BF160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560" y="2268474"/>
            <a:ext cx="741715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dead or failed stars in halos of galaxies –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35334-4A50-421A-8981-3DC0DC45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360" y="2695194"/>
            <a:ext cx="4096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basically brown dwarfs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2A3B69-70E0-4C35-B9C2-26331750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" y="377977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7C628B-512B-462B-AF45-27CF76BC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3800094"/>
            <a:ext cx="650434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Extraordinary Dark Matter   (WIMPS)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A0F435-6D6A-4D63-8AF6-B7BE01DB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" y="4277615"/>
            <a:ext cx="23581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B7EADA-5F1F-4A05-8745-8E10E428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594" y="4277615"/>
            <a:ext cx="682330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Weakly Interacting Massive Particles: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6A141A-43B0-4AF5-BD00-598EE7E7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560" y="4795775"/>
            <a:ext cx="717712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 new type of particle – possibly similar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62E601-F4A0-4F1C-946B-C087C9D9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360" y="5222494"/>
            <a:ext cx="233243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 a neutrino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E4CF1-91D2-4728-9546-65BBF3D6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20A5A-53EC-4E9C-B737-6673600C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28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73613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f98e9627d74d1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672C85-607D-43B2-94C2-2F0CFAFC1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60505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Evidence for MACHOS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B706E-0C41-4679-B502-1BF8C197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1468374"/>
            <a:ext cx="166994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MACHOs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0BC409-91E0-4CA1-89CA-91BB9EBE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1895094"/>
            <a:ext cx="341345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occasionally make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5D2080-DF3A-499E-8B88-8C5B68E0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2321814"/>
            <a:ext cx="344368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stars appear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8DF67E-BC72-4AC5-99A1-DB64E24B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2748534"/>
            <a:ext cx="308276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brighter through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B7A452-D6C7-4723-9BA1-1A276E2E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3175254"/>
            <a:ext cx="131470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lensing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9A9E4-A599-401D-BFBD-1C89F80A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3967734"/>
            <a:ext cx="294346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… but there are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D158DF-B071-42D4-8D73-2178C291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4394454"/>
            <a:ext cx="218272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enough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9E2E4-5A80-436A-94F4-F5C182F1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4819904"/>
            <a:ext cx="320295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lensing events to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D89A1-94A2-4EBC-B04F-C8A7F7C2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5246624"/>
            <a:ext cx="266065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explain all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7647C1-3099-4877-9881-9F46E8D3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5673344"/>
            <a:ext cx="215036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DFB85D-3268-4CE0-857A-DFAB5BDB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D4DCE-634D-40A8-9408-2F54EC4C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28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7476702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719421e2e4d1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5BDA42-0B3F-478F-BBA6-CE4BE5FC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092348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Evidence for WIMPs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9EECD6-7E46-4348-8FA4-3951028F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2072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7DEF6D-0739-4FF6-8CF1-073AB680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366" y="1241044"/>
            <a:ext cx="640388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There’s not enough ordinary matter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E6388D-EBE4-4DF7-8377-9AF39D01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2562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FA647-7465-4A62-92D7-BEA31172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2345944"/>
            <a:ext cx="705479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WIMPs could be left over from Big Bang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B0B16-9A28-4A5B-B836-EF79604E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2130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7ECD6-CC47-4F00-AFA0-BF8CA2CF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3341624"/>
            <a:ext cx="663591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Models involving WIMPs explain how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7A528D-E340-433C-8A6A-0FECB654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3768344"/>
            <a:ext cx="42135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formation works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B947C8-9D05-4EF7-86FC-CBEB46FF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DC18F3-FFEB-4209-9096-3661A9D5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28</a:t>
            </a:r>
          </a:p>
        </p:txBody>
      </p:sp>
      <p:sp>
        <p:nvSpPr>
          <p:cNvPr id="1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0870679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4caf4c62e478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E6FA86-8795-498F-8D55-70F3311F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71980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Unseen Influences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8C339B-78D2-4554-A529-8EDD3102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1044"/>
            <a:ext cx="259521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1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1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Matter: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2D149-E3F9-40D5-9320-47E28A6F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6420" y="1241044"/>
            <a:ext cx="542188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 An undetected form of mass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3FBCE-9072-426D-934F-69936303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1718564"/>
            <a:ext cx="87163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764E90-E1F3-4E23-8A8D-F9F2C94D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930" y="1669796"/>
            <a:ext cx="284592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does not emit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142A3-1ABA-4A73-8B57-97762E08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710" y="1718564"/>
            <a:ext cx="30009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light but whose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A13CEC-4D6E-46D6-9207-D2D28039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2155444"/>
            <a:ext cx="723331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existence we infer from its gravitational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75B3B3-6CE0-493F-B45B-A5E0DD63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2582164"/>
            <a:ext cx="166817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influence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BA01E-B7D0-4A77-AED4-D41B8970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77844"/>
            <a:ext cx="26460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1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1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Energy: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0C6E75-502C-4A1B-B0A9-FF707AFA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5950" y="3577844"/>
            <a:ext cx="542864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  An unknown form of energy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F13E4-0476-47C3-888A-FF40CC7E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4004564"/>
            <a:ext cx="765648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that seems to be the source of a repulsive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825D1-1412-45E9-9FBC-03288D63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4430014"/>
            <a:ext cx="630023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force causing the expansion of the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A1EBA-C209-441A-8F48-23CC0DAD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4856734"/>
            <a:ext cx="400910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universe to accelerate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B4E650-BE16-4190-9BE9-242A1344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2B1DDC-6D9C-44F7-9354-91768E12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28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6835676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b6bbe438b441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2EAE41-F548-4406-9D08-DA096D8F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410638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Contents of Universe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4C0FF-675C-4F90-B682-89B42038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1317244"/>
            <a:ext cx="330600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“Normal” Matter: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49D44-8298-4B43-AEFE-818C85DA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39" y="1317244"/>
            <a:ext cx="101066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~ 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859D6-90B6-4891-9F78-390EEAE2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1815084"/>
            <a:ext cx="24970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Matter: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89DD58-457C-424C-BF67-57436954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815084"/>
            <a:ext cx="123682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~ 23%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8C1F37-B547-43CC-A344-E7DB3590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2312924"/>
            <a:ext cx="223500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Energy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B55A2-1D52-48BA-A646-EC225CCD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39" y="2312924"/>
            <a:ext cx="123682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~ 73%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8CD0A-4AA4-4DD0-B577-A0DDE5C9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A1C6C6-CB39-487A-BC74-EE29D002B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28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8102689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152444517a4ff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E2954-0F5D-4DC3-8A93-658FC2AE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4152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Contents of the Universe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74D60-027E-431C-8297-3BD593EB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75" y="1241603"/>
            <a:ext cx="8053392" cy="54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energy of the Universe is roughly 2/3 dark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8BF5CB-8AAB-4A1A-9D09-5835DC57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8003"/>
            <a:ext cx="3881146" cy="54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energy and 1/3 matter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A97B4-5C62-4CE5-8162-1C203419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370" y="2122983"/>
            <a:ext cx="7448872" cy="54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Of the matter, about 10% is normal matter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A1A686-37BE-4F42-AF9E-25D30652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29383"/>
            <a:ext cx="7421516" cy="54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(protons, neutrons) and 90% is dark matter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9895E9-E2A6-4BF0-937C-2C94896D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03092"/>
            <a:ext cx="7046857" cy="54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can see only 4% of the energy of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B78E11-E486-4F33-BE1A-38A26E07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10762"/>
            <a:ext cx="1528901" cy="54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Universe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23ADC-E63D-437F-B6F8-12C26266D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370" y="3931819"/>
            <a:ext cx="425054" cy="1113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8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548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8CEA8D-D430-4DF9-98F6-F267F4F0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" y="3969919"/>
            <a:ext cx="7343588" cy="1113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8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548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We cannot see most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818B3D-5191-40B1-83A0-A47D20A2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" y="4806848"/>
            <a:ext cx="6456248" cy="1113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8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548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of what makes up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611D62-CB5D-4DDF-8D1A-89BF6298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" y="5642509"/>
            <a:ext cx="4740009" cy="1113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8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548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the Universe!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F09ECA-64ED-4946-A463-01F8BAC2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A64F2B-FDBB-4E90-A394-26C7D164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28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6362090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778d148572425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FC2D2C-9BDB-422E-AED5-EBC0B76B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022816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What have we learned?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C94CF-B8A5-41B3-AC8E-4C88F474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1695348"/>
            <a:ext cx="5383061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1) What are dark matter and dark energy?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B9C5A-8C92-4F8B-A1A5-66B21F2D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050" y="2002688"/>
            <a:ext cx="160259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FDC406-13C4-496D-9401-0AD4EF3D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209" y="2001469"/>
            <a:ext cx="6832579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“Dark matter” is the name given to the unseen mass whose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3F5D99-D4B9-4CE2-97DD-8DE17A02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51659"/>
            <a:ext cx="6884521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gravity governs the observed motions of stars and gas clouds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83DBA-A397-4E6A-B0D4-8C8201B7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050" y="2523388"/>
            <a:ext cx="160259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17C67-6313-4CA9-A507-62A91EC9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209" y="2522169"/>
            <a:ext cx="6267543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“Dark energy” is the name given to whatever might be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E0A61-CB93-4585-8EF1-2A966765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72359"/>
            <a:ext cx="5852758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causing the expansion of the universe to accelerate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FF4DE-B4F4-49AB-9B0B-A62BF5E2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3060598"/>
            <a:ext cx="6620310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2) What is the evidence for dark matter in galaxies?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2B3F0E-451D-4B8D-AF57-A0D54A64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3404819"/>
            <a:ext cx="7397692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        - Rotation curves of galaxies are flat, indicating that most of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CDCADE-28CA-40D7-B859-482E43D5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68979"/>
            <a:ext cx="4946071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their matter lies outside their visible regions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78EE6F-7C26-4D14-9D1A-1D539E5A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3957218"/>
            <a:ext cx="6833038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What is the evidence for dark matter in clusters of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8E119A-1C6A-459E-9ABC-7443ABD8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4230268"/>
            <a:ext cx="1216188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galaxies?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217E1F-2247-4030-B98B-439096F9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4574489"/>
            <a:ext cx="7210679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Masses measured from galaxy motions, temperature of hot gas,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3DD2B-C774-4984-9409-DDC2D923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4839919"/>
            <a:ext cx="6898649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and gravitational lensing all indicate that the vast majority of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B81954-8DC0-4231-8B49-CFC0FDC87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5104079"/>
            <a:ext cx="2808748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matter in clusters is dark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9A5B4B-CC8A-424F-9480-B92A3BED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5714898"/>
            <a:ext cx="5090697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 What might dark matter be made of?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AAFB9C-902E-46B9-8FCA-D2E75C46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32" y="6060389"/>
            <a:ext cx="7264491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There does not seem to be enough normal matter to account for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8B3982-6A96-40F0-84EB-C5123F94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7" y="6324549"/>
            <a:ext cx="6669267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all the dark matter, so most astronomers suspect that dark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BC4C9-CCFC-4EEB-895E-D81CE7C9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7" y="6589979"/>
            <a:ext cx="6914797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matter is made of particles that have not yet been discovered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CB20C0-EFC3-41F3-B21F-9E456CC7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0D4A55-72A8-4651-9F47-4535D661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28</a:t>
            </a:r>
          </a:p>
        </p:txBody>
      </p:sp>
      <p:sp>
        <p:nvSpPr>
          <p:cNvPr id="2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964060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Dark matter</dc:title>
  <dcterms:created xsi:type="dcterms:W3CDTF">2026-09-26T20:03:06.2290000Z</dcterms:created>
  <dcterms:modified xsi:type="dcterms:W3CDTF">2026-09-26T20:03:06.2290000Z</dcterms:modified>
</coreProperties>
</file>