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fc27ecf5af4739" /><Relationship Type="http://schemas.openxmlformats.org/officeDocument/2006/relationships/extended-properties" Target="/docProps/app.xml" Id="R21eb6b5c0706461e" /><Relationship Type="http://schemas.openxmlformats.org/officeDocument/2006/relationships/officeDocument" Target="/ppt/presentation.xml" Id="R8be0c301dc394ff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a7ff9cadff64f02"/>
  </p:sldMasterIdLst>
  <p:notesMasterIdLst>
    <p:notesMasterId xmlns:r="http://schemas.openxmlformats.org/officeDocument/2006/relationships" r:id="Rb3722f95dd904dac"/>
  </p:notesMasterIdLst>
  <p:sldIdLst>
    <p:sldId xmlns:r="http://schemas.openxmlformats.org/officeDocument/2006/relationships" id="256" r:id="R171ab0333de0454b"/>
    <p:sldId xmlns:r="http://schemas.openxmlformats.org/officeDocument/2006/relationships" id="257" r:id="R9b5378bd369a4fc6"/>
    <p:sldId xmlns:r="http://schemas.openxmlformats.org/officeDocument/2006/relationships" id="258" r:id="R4b433735bf1e4838"/>
    <p:sldId xmlns:r="http://schemas.openxmlformats.org/officeDocument/2006/relationships" id="259" r:id="Raeef6506b2e84882"/>
    <p:sldId xmlns:r="http://schemas.openxmlformats.org/officeDocument/2006/relationships" id="260" r:id="R68602d9ede414367"/>
    <p:sldId xmlns:r="http://schemas.openxmlformats.org/officeDocument/2006/relationships" id="261" r:id="Rc66a37a79def4151"/>
    <p:sldId xmlns:r="http://schemas.openxmlformats.org/officeDocument/2006/relationships" id="262" r:id="R399c154da0374719"/>
    <p:sldId xmlns:r="http://schemas.openxmlformats.org/officeDocument/2006/relationships" id="263" r:id="R9b1ad4b52c014580"/>
    <p:sldId xmlns:r="http://schemas.openxmlformats.org/officeDocument/2006/relationships" id="264" r:id="R1bbc84cf8cb74da9"/>
    <p:sldId xmlns:r="http://schemas.openxmlformats.org/officeDocument/2006/relationships" id="265" r:id="R13a675ac1acd41a8"/>
    <p:sldId xmlns:r="http://schemas.openxmlformats.org/officeDocument/2006/relationships" id="266" r:id="R84dc47d9b2e64494"/>
    <p:sldId xmlns:r="http://schemas.openxmlformats.org/officeDocument/2006/relationships" id="267" r:id="Rcb2a53981d854849"/>
    <p:sldId xmlns:r="http://schemas.openxmlformats.org/officeDocument/2006/relationships" id="268" r:id="Rec9009169741473d"/>
    <p:sldId xmlns:r="http://schemas.openxmlformats.org/officeDocument/2006/relationships" id="269" r:id="Rf2daee760cac4a5b"/>
    <p:sldId xmlns:r="http://schemas.openxmlformats.org/officeDocument/2006/relationships" id="270" r:id="R6712690f1ba64506"/>
    <p:sldId xmlns:r="http://schemas.openxmlformats.org/officeDocument/2006/relationships" id="271" r:id="Rb5f400b4088f423d"/>
    <p:sldId xmlns:r="http://schemas.openxmlformats.org/officeDocument/2006/relationships" id="272" r:id="R73af57c1533047c8"/>
    <p:sldId xmlns:r="http://schemas.openxmlformats.org/officeDocument/2006/relationships" id="273" r:id="Rd30a388ef2d3443a"/>
    <p:sldId xmlns:r="http://schemas.openxmlformats.org/officeDocument/2006/relationships" id="274" r:id="R1da03674649247e6"/>
    <p:sldId xmlns:r="http://schemas.openxmlformats.org/officeDocument/2006/relationships" id="275" r:id="R9f50f49ef51c45ed"/>
    <p:sldId xmlns:r="http://schemas.openxmlformats.org/officeDocument/2006/relationships" id="276" r:id="Rc16abac6c63341b1"/>
    <p:sldId xmlns:r="http://schemas.openxmlformats.org/officeDocument/2006/relationships" id="277" r:id="Re591c18a767f4185"/>
    <p:sldId xmlns:r="http://schemas.openxmlformats.org/officeDocument/2006/relationships" id="278" r:id="R52ee19a363a34b27"/>
    <p:sldId xmlns:r="http://schemas.openxmlformats.org/officeDocument/2006/relationships" id="279" r:id="Raa2a450b669e4ec0"/>
    <p:sldId xmlns:r="http://schemas.openxmlformats.org/officeDocument/2006/relationships" id="280" r:id="R8219468823c04d32"/>
    <p:sldId xmlns:r="http://schemas.openxmlformats.org/officeDocument/2006/relationships" id="281" r:id="R90c65efbeea04415"/>
    <p:sldId xmlns:r="http://schemas.openxmlformats.org/officeDocument/2006/relationships" id="282" r:id="R2ffa22a86b2749e3"/>
    <p:sldId xmlns:r="http://schemas.openxmlformats.org/officeDocument/2006/relationships" id="283" r:id="R9c3b18b107834d30"/>
  </p:sldIdLst>
  <p:sldSz cx="9144000" cy="75438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7470ab2c6494338" /><Relationship Type="http://schemas.openxmlformats.org/officeDocument/2006/relationships/slideMaster" Target="/ppt/slideMasters/slideMaster1.xml" Id="Raa7ff9cadff64f02" /><Relationship Type="http://schemas.openxmlformats.org/officeDocument/2006/relationships/notesMaster" Target="/ppt/notesMasters/notesMaster1.xml" Id="Rb3722f95dd904dac" /><Relationship Type="http://schemas.openxmlformats.org/officeDocument/2006/relationships/presProps" Target="/ppt/presProps.xml" Id="R8eaa4cf061324e5e" /><Relationship Type="http://schemas.openxmlformats.org/officeDocument/2006/relationships/tableStyles" Target="/ppt/tableStyles.xml" Id="R6dc4851fba124ee5" /><Relationship Type="http://schemas.openxmlformats.org/officeDocument/2006/relationships/slide" Target="/ppt/slides/slide1.xml" Id="R171ab0333de0454b" /><Relationship Type="http://schemas.openxmlformats.org/officeDocument/2006/relationships/slide" Target="/ppt/slides/slide2.xml" Id="R9b5378bd369a4fc6" /><Relationship Type="http://schemas.openxmlformats.org/officeDocument/2006/relationships/slide" Target="/ppt/slides/slide3.xml" Id="R4b433735bf1e4838" /><Relationship Type="http://schemas.openxmlformats.org/officeDocument/2006/relationships/slide" Target="/ppt/slides/slide4.xml" Id="Raeef6506b2e84882" /><Relationship Type="http://schemas.openxmlformats.org/officeDocument/2006/relationships/slide" Target="/ppt/slides/slide5.xml" Id="R68602d9ede414367" /><Relationship Type="http://schemas.openxmlformats.org/officeDocument/2006/relationships/slide" Target="/ppt/slides/slide6.xml" Id="Rc66a37a79def4151" /><Relationship Type="http://schemas.openxmlformats.org/officeDocument/2006/relationships/slide" Target="/ppt/slides/slide7.xml" Id="R399c154da0374719" /><Relationship Type="http://schemas.openxmlformats.org/officeDocument/2006/relationships/slide" Target="/ppt/slides/slide8.xml" Id="R9b1ad4b52c014580" /><Relationship Type="http://schemas.openxmlformats.org/officeDocument/2006/relationships/slide" Target="/ppt/slides/slide9.xml" Id="R1bbc84cf8cb74da9" /><Relationship Type="http://schemas.openxmlformats.org/officeDocument/2006/relationships/slide" Target="/ppt/slides/slide10.xml" Id="R13a675ac1acd41a8" /><Relationship Type="http://schemas.openxmlformats.org/officeDocument/2006/relationships/slide" Target="/ppt/slides/slide11.xml" Id="R84dc47d9b2e64494" /><Relationship Type="http://schemas.openxmlformats.org/officeDocument/2006/relationships/slide" Target="/ppt/slides/slide12.xml" Id="Rcb2a53981d854849" /><Relationship Type="http://schemas.openxmlformats.org/officeDocument/2006/relationships/slide" Target="/ppt/slides/slide13.xml" Id="Rec9009169741473d" /><Relationship Type="http://schemas.openxmlformats.org/officeDocument/2006/relationships/slide" Target="/ppt/slides/slide14.xml" Id="Rf2daee760cac4a5b" /><Relationship Type="http://schemas.openxmlformats.org/officeDocument/2006/relationships/slide" Target="/ppt/slides/slide15.xml" Id="R6712690f1ba64506" /><Relationship Type="http://schemas.openxmlformats.org/officeDocument/2006/relationships/slide" Target="/ppt/slides/slide16.xml" Id="Rb5f400b4088f423d" /><Relationship Type="http://schemas.openxmlformats.org/officeDocument/2006/relationships/slide" Target="/ppt/slides/slide17.xml" Id="R73af57c1533047c8" /><Relationship Type="http://schemas.openxmlformats.org/officeDocument/2006/relationships/slide" Target="/ppt/slides/slide18.xml" Id="Rd30a388ef2d3443a" /><Relationship Type="http://schemas.openxmlformats.org/officeDocument/2006/relationships/slide" Target="/ppt/slides/slide19.xml" Id="R1da03674649247e6" /><Relationship Type="http://schemas.openxmlformats.org/officeDocument/2006/relationships/slide" Target="/ppt/slides/slide20.xml" Id="R9f50f49ef51c45ed" /><Relationship Type="http://schemas.openxmlformats.org/officeDocument/2006/relationships/slide" Target="/ppt/slides/slide21.xml" Id="Rc16abac6c63341b1" /><Relationship Type="http://schemas.openxmlformats.org/officeDocument/2006/relationships/slide" Target="/ppt/slides/slide22.xml" Id="Re591c18a767f4185" /><Relationship Type="http://schemas.openxmlformats.org/officeDocument/2006/relationships/slide" Target="/ppt/slides/slide23.xml" Id="R52ee19a363a34b27" /><Relationship Type="http://schemas.openxmlformats.org/officeDocument/2006/relationships/slide" Target="/ppt/slides/slide24.xml" Id="Raa2a450b669e4ec0" /><Relationship Type="http://schemas.openxmlformats.org/officeDocument/2006/relationships/slide" Target="/ppt/slides/slide25.xml" Id="R8219468823c04d32" /><Relationship Type="http://schemas.openxmlformats.org/officeDocument/2006/relationships/slide" Target="/ppt/slides/slide26.xml" Id="R90c65efbeea04415" /><Relationship Type="http://schemas.openxmlformats.org/officeDocument/2006/relationships/slide" Target="/ppt/slides/slide27.xml" Id="R2ffa22a86b2749e3" /><Relationship Type="http://schemas.openxmlformats.org/officeDocument/2006/relationships/slide" Target="/ppt/slides/slide28.xml" Id="R9c3b18b107834d3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1bea7d88350490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5f5f21fd86145f3" /><Relationship Type="http://schemas.openxmlformats.org/officeDocument/2006/relationships/notesMaster" Target="/ppt/notesMasters/notesMaster1.xml" Id="R30c0ec6a14d24e6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4242e1692fd4f04" /><Relationship Type="http://schemas.openxmlformats.org/officeDocument/2006/relationships/notesMaster" Target="/ppt/notesMasters/notesMaster1.xml" Id="Re5846ee59a0b4a7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12d7ddff3624872" /><Relationship Type="http://schemas.openxmlformats.org/officeDocument/2006/relationships/notesMaster" Target="/ppt/notesMasters/notesMaster1.xml" Id="Rac4ee9b8c09540f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83da64d76a948c7" /><Relationship Type="http://schemas.openxmlformats.org/officeDocument/2006/relationships/notesMaster" Target="/ppt/notesMasters/notesMaster1.xml" Id="Rb5127b3503fe4e1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42e464d6a564e5a" /><Relationship Type="http://schemas.openxmlformats.org/officeDocument/2006/relationships/notesMaster" Target="/ppt/notesMasters/notesMaster1.xml" Id="R39ee6650faeb404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5e8ff96796d4038" /><Relationship Type="http://schemas.openxmlformats.org/officeDocument/2006/relationships/notesMaster" Target="/ppt/notesMasters/notesMaster1.xml" Id="R4a514c159c0c442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900f54abd4a4edc" /><Relationship Type="http://schemas.openxmlformats.org/officeDocument/2006/relationships/notesMaster" Target="/ppt/notesMasters/notesMaster1.xml" Id="Rf352c3e4536943e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7950636e3d94aec" /><Relationship Type="http://schemas.openxmlformats.org/officeDocument/2006/relationships/notesMaster" Target="/ppt/notesMasters/notesMaster1.xml" Id="R4dbac46ed72c4d6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b3486b78776412d" /><Relationship Type="http://schemas.openxmlformats.org/officeDocument/2006/relationships/notesMaster" Target="/ppt/notesMasters/notesMaster1.xml" Id="Rdeaa84b25c7c409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a4e3a26a64846b5" /><Relationship Type="http://schemas.openxmlformats.org/officeDocument/2006/relationships/notesMaster" Target="/ppt/notesMasters/notesMaster1.xml" Id="R94ce24f1e52f402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59b156e62784d42" /><Relationship Type="http://schemas.openxmlformats.org/officeDocument/2006/relationships/notesMaster" Target="/ppt/notesMasters/notesMaster1.xml" Id="R0fe7856dffdd47e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a470044239d40b1" /><Relationship Type="http://schemas.openxmlformats.org/officeDocument/2006/relationships/notesMaster" Target="/ppt/notesMasters/notesMaster1.xml" Id="Ra9fecb7e247e4d7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da0b74cc4bc40c9" /><Relationship Type="http://schemas.openxmlformats.org/officeDocument/2006/relationships/notesMaster" Target="/ppt/notesMasters/notesMaster1.xml" Id="R6aee913a01dd4d8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b089eca5ad54bf2" /><Relationship Type="http://schemas.openxmlformats.org/officeDocument/2006/relationships/notesMaster" Target="/ppt/notesMasters/notesMaster1.xml" Id="Re4315cd3425846b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e6d59606962461f" /><Relationship Type="http://schemas.openxmlformats.org/officeDocument/2006/relationships/notesMaster" Target="/ppt/notesMasters/notesMaster1.xml" Id="R6b12ca1319d045c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4b57c132aba478c" /><Relationship Type="http://schemas.openxmlformats.org/officeDocument/2006/relationships/notesMaster" Target="/ppt/notesMasters/notesMaster1.xml" Id="Rab76dace057d4f5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ff82cc573524f7b" /><Relationship Type="http://schemas.openxmlformats.org/officeDocument/2006/relationships/notesMaster" Target="/ppt/notesMasters/notesMaster1.xml" Id="R5ac4c5a14db04f0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89d629e5908416a" /><Relationship Type="http://schemas.openxmlformats.org/officeDocument/2006/relationships/notesMaster" Target="/ppt/notesMasters/notesMaster1.xml" Id="R6f88f553267f4fb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64d757b9cf44ca3" /><Relationship Type="http://schemas.openxmlformats.org/officeDocument/2006/relationships/notesMaster" Target="/ppt/notesMasters/notesMaster1.xml" Id="Rcfa6d7f954344ad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775d8798aa34b8f" /><Relationship Type="http://schemas.openxmlformats.org/officeDocument/2006/relationships/notesMaster" Target="/ppt/notesMasters/notesMaster1.xml" Id="R743fabde4ad745c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aa9a3b538374709" /><Relationship Type="http://schemas.openxmlformats.org/officeDocument/2006/relationships/notesMaster" Target="/ppt/notesMasters/notesMaster1.xml" Id="R280ffc9a8515468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2bdb42a7a35482f" /><Relationship Type="http://schemas.openxmlformats.org/officeDocument/2006/relationships/notesMaster" Target="/ppt/notesMasters/notesMaster1.xml" Id="Rd17d1a7d7466472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f754ad159454237" /><Relationship Type="http://schemas.openxmlformats.org/officeDocument/2006/relationships/notesMaster" Target="/ppt/notesMasters/notesMaster1.xml" Id="Ra6bc9aea0d074c9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ea03ed4b2f84954" /><Relationship Type="http://schemas.openxmlformats.org/officeDocument/2006/relationships/notesMaster" Target="/ppt/notesMasters/notesMaster1.xml" Id="R1c7b49ffcb1e4df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cc465c95ac74471" /><Relationship Type="http://schemas.openxmlformats.org/officeDocument/2006/relationships/notesMaster" Target="/ppt/notesMasters/notesMaster1.xml" Id="R6789469514c5471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ef8df8967ac402a" /><Relationship Type="http://schemas.openxmlformats.org/officeDocument/2006/relationships/notesMaster" Target="/ppt/notesMasters/notesMaster1.xml" Id="Rb109b2d29dc846af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c30ab4872e1841c5" /><Relationship Type="http://schemas.openxmlformats.org/officeDocument/2006/relationships/notesMaster" Target="/ppt/notesMasters/notesMaster1.xml" Id="R34185b55c53241a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f344e74007f43b8" /><Relationship Type="http://schemas.openxmlformats.org/officeDocument/2006/relationships/notesMaster" Target="/ppt/notesMasters/notesMaster1.xml" Id="Redcad21603c0468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10.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11.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12.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13.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14.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15.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16.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17.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18.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19.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20.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21.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22.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23.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24.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25.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26.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27.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assets/lessons/lectures/astronomy/dark-matter.pdf, page 28.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dc09e9c5834af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825ef07039d4309" /><Relationship Type="http://schemas.openxmlformats.org/officeDocument/2006/relationships/slideLayout" Target="/ppt/slideLayouts/slideLayout1.xml" Id="Rd57956ce697f4ab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57956ce697f4ab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f35aad473b4872" /><Relationship Type="http://schemas.openxmlformats.org/officeDocument/2006/relationships/image" Target="/ppt/media/image.png" Id="R234494fded2b428c" /><Relationship Type="http://schemas.openxmlformats.org/officeDocument/2006/relationships/notesSlide" Target="/ppt/notesSlides/notesSlide1.xml" Id="R59dcde529a0d4b8a" 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73f61f46feea4894"/><Relationship Type="http://schemas.openxmlformats.org/officeDocument/2006/relationships/image" Target="/ppt/media/image2.png" Id="Rf41b179c00464bd0"/><Relationship Type="http://schemas.openxmlformats.org/officeDocument/2006/relationships/notesSlide" Target="/ppt/notesSlides/notesSlide2.xml" Id="Rd9cfb131b0894f54"/><Relationship Id="rIdDspiraLink1" Type="http://schemas.openxmlformats.org/officeDocument/2006/relationships/hyperlink" Target="https://phet.colorado.edu/en/simulations/gravity-and-orbits" TargetMode="External"/><Relationship Id="rIdDspiraLink2" Type="http://schemas.openxmlformats.org/officeDocument/2006/relationships/hyperlink" Target="https://phet.colorado.edu/en/simulations/gravity-and-orbits" TargetMode="External"/><Relationship Id="rIdDspiraLink3" Type="http://schemas.openxmlformats.org/officeDocument/2006/relationships/hyperlink" Target="https://phet.colorado.edu/en/simulations/gravity-and-orbits" TargetMode="External"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e7f1f7b72f4b71" /><Relationship Type="http://schemas.openxmlformats.org/officeDocument/2006/relationships/image" Target="/ppt/media/image3.png" Id="R2481724654ab423f" /><Relationship Type="http://schemas.openxmlformats.org/officeDocument/2006/relationships/notesSlide" Target="/ppt/notesSlides/notesSlide3.xml" Id="R6a9e00d071d14b0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bdcf8bc9404cae" /><Relationship Type="http://schemas.openxmlformats.org/officeDocument/2006/relationships/image" Target="/ppt/media/image4.png" Id="R6376f7aafd31481a" /><Relationship Type="http://schemas.openxmlformats.org/officeDocument/2006/relationships/notesSlide" Target="/ppt/notesSlides/notesSlide4.xml" Id="R4baf0f9c5dad428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80b4d7510f47e7" /><Relationship Type="http://schemas.openxmlformats.org/officeDocument/2006/relationships/image" Target="/ppt/media/image5.png" Id="Rd53e11de5d2e4e47" /><Relationship Type="http://schemas.openxmlformats.org/officeDocument/2006/relationships/notesSlide" Target="/ppt/notesSlides/notesSlide5.xml" Id="Rdcc2e02a41fd43c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19584c496c4079" /><Relationship Type="http://schemas.openxmlformats.org/officeDocument/2006/relationships/image" Target="/ppt/media/image6.png" Id="R2197ba1501344baa" /><Relationship Type="http://schemas.openxmlformats.org/officeDocument/2006/relationships/notesSlide" Target="/ppt/notesSlides/notesSlide6.xml" Id="Rbb615a38d072407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cfee7d3b7d48ac" /><Relationship Type="http://schemas.openxmlformats.org/officeDocument/2006/relationships/image" Target="/ppt/media/image7.png" Id="R9a9bbd011a9e402c" /><Relationship Type="http://schemas.openxmlformats.org/officeDocument/2006/relationships/notesSlide" Target="/ppt/notesSlides/notesSlide7.xml" Id="R6523bd21601444a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948574636e49ee" /><Relationship Type="http://schemas.openxmlformats.org/officeDocument/2006/relationships/image" Target="/ppt/media/image8.png" Id="Rc02ac7ed188b4991" /><Relationship Type="http://schemas.openxmlformats.org/officeDocument/2006/relationships/notesSlide" Target="/ppt/notesSlides/notesSlide8.xml" Id="Rab0fb1fb438648d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407fcadc754cda" /><Relationship Type="http://schemas.openxmlformats.org/officeDocument/2006/relationships/image" Target="/ppt/media/image9.png" Id="Ra9c80f1eb1b24857" /><Relationship Type="http://schemas.openxmlformats.org/officeDocument/2006/relationships/notesSlide" Target="/ppt/notesSlides/notesSlide9.xml" Id="Re53272c07d6e4d4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f24d9324244fef" /><Relationship Type="http://schemas.openxmlformats.org/officeDocument/2006/relationships/image" Target="/ppt/media/image10.png" Id="Rb71d2603135542ee" /><Relationship Type="http://schemas.openxmlformats.org/officeDocument/2006/relationships/notesSlide" Target="/ppt/notesSlides/notesSlide10.xml" Id="R5d60aac959d847c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fd904239464ed3" /><Relationship Type="http://schemas.openxmlformats.org/officeDocument/2006/relationships/image" Target="/ppt/media/image11.png" Id="R53904b752aca4b9c" /><Relationship Type="http://schemas.openxmlformats.org/officeDocument/2006/relationships/notesSlide" Target="/ppt/notesSlides/notesSlide11.xml" Id="Ree9782d302e240e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9fd36da7fc49c0" /><Relationship Type="http://schemas.openxmlformats.org/officeDocument/2006/relationships/image" Target="/ppt/media/image12.png" Id="R8230f49b38a8491c" /><Relationship Type="http://schemas.openxmlformats.org/officeDocument/2006/relationships/notesSlide" Target="/ppt/notesSlides/notesSlide12.xml" Id="R54ef1f95e1bd401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26d58e13a14a9b" /><Relationship Type="http://schemas.openxmlformats.org/officeDocument/2006/relationships/image" Target="/ppt/media/image13.png" Id="Ra8fb716bbb3a4ddf" /><Relationship Type="http://schemas.openxmlformats.org/officeDocument/2006/relationships/notesSlide" Target="/ppt/notesSlides/notesSlide13.xml" Id="R5014f58d9f49475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d5fc61a3b941e5" /><Relationship Type="http://schemas.openxmlformats.org/officeDocument/2006/relationships/image" Target="/ppt/media/image14.png" Id="R474b613b059244a4" /><Relationship Type="http://schemas.openxmlformats.org/officeDocument/2006/relationships/notesSlide" Target="/ppt/notesSlides/notesSlide14.xml" Id="R4fb21dfa57c440c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262bb3c642492c" /><Relationship Type="http://schemas.openxmlformats.org/officeDocument/2006/relationships/image" Target="/ppt/media/image15.png" Id="R121952d997064fc6" /><Relationship Type="http://schemas.openxmlformats.org/officeDocument/2006/relationships/notesSlide" Target="/ppt/notesSlides/notesSlide15.xml" Id="Rc74bb6db6c134a3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6f81804783479a" /><Relationship Type="http://schemas.openxmlformats.org/officeDocument/2006/relationships/image" Target="/ppt/media/image16.png" Id="Re526325eaa6a42cd" /><Relationship Type="http://schemas.openxmlformats.org/officeDocument/2006/relationships/notesSlide" Target="/ppt/notesSlides/notesSlide16.xml" Id="R40fbbe88ef96425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c0155ea7e64d27" /><Relationship Type="http://schemas.openxmlformats.org/officeDocument/2006/relationships/image" Target="/ppt/media/image17.png" Id="R7229f38b59f745a2" /><Relationship Type="http://schemas.openxmlformats.org/officeDocument/2006/relationships/notesSlide" Target="/ppt/notesSlides/notesSlide17.xml" Id="R9264aec4283149e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2a5aeaf0ad45dc" /><Relationship Type="http://schemas.openxmlformats.org/officeDocument/2006/relationships/image" Target="/ppt/media/image18.png" Id="R9ed756e139d84aee" /><Relationship Type="http://schemas.openxmlformats.org/officeDocument/2006/relationships/notesSlide" Target="/ppt/notesSlides/notesSlide18.xml" Id="R9a2524af44974f6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bc6a543995485f" /><Relationship Type="http://schemas.openxmlformats.org/officeDocument/2006/relationships/image" Target="/ppt/media/image19.png" Id="R75b2c68d468e420f" /><Relationship Type="http://schemas.openxmlformats.org/officeDocument/2006/relationships/notesSlide" Target="/ppt/notesSlides/notesSlide19.xml" Id="R2503db4d64b1423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f33f1c2ebf48be" /><Relationship Type="http://schemas.openxmlformats.org/officeDocument/2006/relationships/image" Target="/ppt/media/image20.png" Id="R82d4658487a04773" /><Relationship Type="http://schemas.openxmlformats.org/officeDocument/2006/relationships/notesSlide" Target="/ppt/notesSlides/notesSlide20.xml" Id="R7b850b1362aa4a4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81cfbc1df04e66" /><Relationship Type="http://schemas.openxmlformats.org/officeDocument/2006/relationships/image" Target="/ppt/media/image21.png" Id="R531bc58cde6842f8" /><Relationship Type="http://schemas.openxmlformats.org/officeDocument/2006/relationships/notesSlide" Target="/ppt/notesSlides/notesSlide21.xml" Id="R5fed3091f085491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20cbf0b86f40bc" /><Relationship Type="http://schemas.openxmlformats.org/officeDocument/2006/relationships/image" Target="/ppt/media/image22.png" Id="R2e49d10523f94290" /><Relationship Type="http://schemas.openxmlformats.org/officeDocument/2006/relationships/notesSlide" Target="/ppt/notesSlides/notesSlide22.xml" Id="R648c30f4acaf461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0845a9c9224fd7" /><Relationship Type="http://schemas.openxmlformats.org/officeDocument/2006/relationships/image" Target="/ppt/media/image23.png" Id="R49f98e9627d74d1a" /><Relationship Type="http://schemas.openxmlformats.org/officeDocument/2006/relationships/notesSlide" Target="/ppt/notesSlides/notesSlide23.xml" Id="Rc0b489a1f88d490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8dcaf27be64fe9" /><Relationship Type="http://schemas.openxmlformats.org/officeDocument/2006/relationships/image" Target="/ppt/media/image24.png" Id="R51b719421e2e4d11" /><Relationship Type="http://schemas.openxmlformats.org/officeDocument/2006/relationships/notesSlide" Target="/ppt/notesSlides/notesSlide24.xml" Id="R34111daf9fa649a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ff73c16c354cb6" /><Relationship Type="http://schemas.openxmlformats.org/officeDocument/2006/relationships/image" Target="/ppt/media/image25.png" Id="R5a84caf4c62e478e" /><Relationship Type="http://schemas.openxmlformats.org/officeDocument/2006/relationships/notesSlide" Target="/ppt/notesSlides/notesSlide25.xml" Id="R51c3f966b1b84ae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2ad360b9014a9b" /><Relationship Type="http://schemas.openxmlformats.org/officeDocument/2006/relationships/image" Target="/ppt/media/image26.png" Id="R2e8b6bbe438b441b" /><Relationship Type="http://schemas.openxmlformats.org/officeDocument/2006/relationships/notesSlide" Target="/ppt/notesSlides/notesSlide26.xml" Id="R3f69026f066a4ab7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7263a782084715" /><Relationship Type="http://schemas.openxmlformats.org/officeDocument/2006/relationships/image" Target="/ppt/media/image27.png" Id="Rd6152444517a4ffb" /><Relationship Type="http://schemas.openxmlformats.org/officeDocument/2006/relationships/notesSlide" Target="/ppt/notesSlides/notesSlide27.xml" Id="R922bf474071247de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600af900d54b1e" /><Relationship Type="http://schemas.openxmlformats.org/officeDocument/2006/relationships/image" Target="/ppt/media/image28.png" Id="R73778d1485724253" /><Relationship Type="http://schemas.openxmlformats.org/officeDocument/2006/relationships/notesSlide" Target="/ppt/notesSlides/notesSlide28.xml" Id="Rfa245b8ece4b4a4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4494fded2b428c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44F6B5-A0D8-479C-B68B-7754255E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370" y="405638"/>
            <a:ext cx="2770331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Dark Matter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E8BAFC-BF74-4C7D-B14B-9115A40FE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C135F4-CE5A-46AF-A77B-B8571D450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989F7A-2731-404C-8DE3-A05283852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28</a:t>
            </a:r>
          </a:p>
        </p:txBody>
      </p:sp>
    </p:spTree>
    <p:extLst>
      <p:ext uri="{BB962C8B-B14F-4D97-AF65-F5344CB8AC3E}">
        <p14:creationId xmlns:p14="http://schemas.microsoft.com/office/powerpoint/2010/main" val="51296596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1b179c00464bd0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212820-D4C7-45C7-A2DF-664D1CDF3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6300430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Orbits, mass, and radius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1E4576-B758-46DB-8EE7-7E9479E7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745166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Orbital speed is related to the mass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782CCB-4EDF-4506-AA3F-B83FFE75C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0756"/>
            <a:ext cx="7304145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interior to the orbit, and the orbital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5D8DEB-116E-49EF-84E4-2BE51421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18436"/>
            <a:ext cx="129388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radius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FE392A-81DD-46B6-9AF1-E37FC7665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42293"/>
            <a:ext cx="485889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FF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FF"/>
                </a:solidFill>
                <a:latin typeface="Arial"/>
                <a:ea typeface="Arial"/>
                <a:cs typeface="Arial"/>
              </a:rPr>
              <a:t>Gravity and Orbits - PhET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3F1DA3-88AC-4B14-96B6-16222A38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20625"/>
            <a:ext cx="7937488" cy="426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00" b="0" i="0">
                <a:solidFill>
                  <a:srgbClr val="2626FF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2626FF"/>
                </a:solidFill>
                <a:latin typeface="Arial"/>
                <a:ea typeface="Arial"/>
                <a:cs typeface="Arial"/>
              </a:rPr>
              <a:t>https://phet.colorado.edu/en/simulations/gravity-and-orbits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2C759E-52C5-4723-8C1C-78EC64FE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14"/>
            <a:ext cx="7178040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Choose Model. Change the mass and distance.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015778-3025-416D-AEEF-0121803A1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49675"/>
            <a:ext cx="7387743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Show velocity to explore how the orbit changes.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CB20E2-CB74-4F16-9C49-75B6C8DE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256C39-D9C8-4CB6-BECE-30B2D18A3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C1D9F0-300A-4181-AF6D-8B41C9935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28</a:t>
            </a:r>
          </a:p>
        </p:txBody>
      </p:sp>
      <p:sp>
        <p:nvSpPr>
          <p:cNvPr id="14" name="Link 1">
            <ns0:hlinkClick xmlns:ns0="http://schemas.openxmlformats.org/drawingml/2006/main" xmlns:ns1="http://schemas.openxmlformats.org/officeDocument/2006/relationships" ns1:id="rIdDspiraLin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54485"/>
            <a:ext cx="4820793" cy="4431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5" name="Link 2">
            <ns0:hlinkClick xmlns:ns0="http://schemas.openxmlformats.org/drawingml/2006/main" xmlns:ns1="http://schemas.openxmlformats.org/officeDocument/2006/relationships" ns1:id="rIdDspiraLin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29159"/>
            <a:ext cx="7899388" cy="3101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6" name="Link 3">
            <ns0:hlinkClick xmlns:ns0="http://schemas.openxmlformats.org/drawingml/2006/main" xmlns:ns1="http://schemas.openxmlformats.org/officeDocument/2006/relationships" ns1:id="rIdDspiraLin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20625"/>
            <a:ext cx="7937488" cy="426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1685795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81724654ab423f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56B00A-0876-499F-99F5-5A7C08F96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1989001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LT Book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E05C06-6904-4AAD-B12D-24BD003E5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518953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“Dark Matter,” 143, #1-9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C8927C-E532-4A6C-AEC9-B9BB649F4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AFE4C2-0069-4081-ACD5-2B5C2FBD8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F05357-C6B3-4107-881A-180996C9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28</a:t>
            </a:r>
          </a:p>
        </p:txBody>
      </p:sp>
    </p:spTree>
    <p:extLst>
      <p:ext uri="{BB962C8B-B14F-4D97-AF65-F5344CB8AC3E}">
        <p14:creationId xmlns:p14="http://schemas.microsoft.com/office/powerpoint/2010/main" val="170561625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76f7aafd31481a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1A9D0D-285A-4F90-A6BE-96C278EB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6042"/>
            <a:ext cx="7296695" cy="7152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2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2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Solar System Rotation Curve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73154F-B6D9-4EC6-A593-2CE55E655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" y="5335524"/>
            <a:ext cx="16256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D43499-BBDD-4703-A4F8-A5D1F2939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" y="5355844"/>
            <a:ext cx="6935327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Solar system’s rotation curve declines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37F56F-E215-457A-AAEF-282CACF26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" y="5781294"/>
            <a:ext cx="6633057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because Sun has almost all the mass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13A748-4400-4073-8E6B-FF2DCE13F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" y="6270244"/>
            <a:ext cx="16256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EDF4A9-353A-40C0-A070-435A88FC7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766" y="6289294"/>
            <a:ext cx="8183655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This is what is expected from Kepler’s 3rd law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7C02D7-300E-4886-956D-F5905D51D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2BFEB4-5784-41E3-BE87-9823034AB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4BFE93-E877-4D5E-8626-BC7D708D7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28</a:t>
            </a:r>
          </a:p>
        </p:txBody>
      </p:sp>
    </p:spTree>
    <p:extLst>
      <p:ext uri="{BB962C8B-B14F-4D97-AF65-F5344CB8AC3E}">
        <p14:creationId xmlns:p14="http://schemas.microsoft.com/office/powerpoint/2010/main" val="144428721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3e11de5d2e4e47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81169B-9766-4E60-B821-04D4C05A6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70" y="6001004"/>
            <a:ext cx="7907892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Rotation curve of merry-go-round rises with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099606-5EB9-457F-8DB6-718BEBE2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70" y="6427724"/>
            <a:ext cx="8264198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radius because mass is spread out with radius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B9587E-D9E8-40A8-82D4-FC86D6106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1912"/>
            <a:ext cx="7935509" cy="7152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2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2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Merry-go-round Rotation Curve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40F02B-A500-4A98-8F67-684CB2027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CB012B-A276-4E2A-B0C3-718E2CF31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E07BA4-9217-46BA-A146-CC82244CD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28</a:t>
            </a:r>
          </a:p>
        </p:txBody>
      </p:sp>
    </p:spTree>
    <p:extLst>
      <p:ext uri="{BB962C8B-B14F-4D97-AF65-F5344CB8AC3E}">
        <p14:creationId xmlns:p14="http://schemas.microsoft.com/office/powerpoint/2010/main" val="11338912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97ba1501344baa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8D09DD-B08A-47E2-B265-C3E5232C2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406847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Concept Quiz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194C2D-2B36-4608-9D9F-759B784CA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714483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What will the rotation curve of our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2B2D63-0EA8-4899-B680-E45E43AB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0756"/>
            <a:ext cx="346121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Galaxy look like?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3E8929-0F1A-4516-B5BA-A074352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99716"/>
            <a:ext cx="644322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A) Like that of the Solar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E9DD24-4F01-46EC-8905-82ADABA07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867406"/>
            <a:ext cx="690733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Like that of the Merry-go-round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106CEC-E5F7-4F2F-B294-647503479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A0F2BA-9101-40EB-B84B-6880FF2BC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9DAF52-5A31-4ED5-AFAE-C69A83D45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28</a:t>
            </a:r>
          </a:p>
        </p:txBody>
      </p:sp>
    </p:spTree>
    <p:extLst>
      <p:ext uri="{BB962C8B-B14F-4D97-AF65-F5344CB8AC3E}">
        <p14:creationId xmlns:p14="http://schemas.microsoft.com/office/powerpoint/2010/main" val="5881864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9bbd011a9e402c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59D44E-788B-45FB-B31F-0A6D42C9C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1142"/>
            <a:ext cx="3487837" cy="74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5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65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Concept Quiz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60BF79-341C-4DD4-A326-5931DC964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714483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What will the rotation curve of our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A472F8-155A-4B6C-9D4B-E1DD00C06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0756"/>
            <a:ext cx="346121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Galaxy look like?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49337E-B90C-4C9B-A0F2-FD8442E7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99716"/>
            <a:ext cx="644322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A) Like that of the Solar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42DBB9-DC5E-408B-8D5E-CA5B5F0EA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867406"/>
            <a:ext cx="690733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Like that of the Merry-go-round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27FF05-CC08-4F33-B1BC-A23FBFF31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36366"/>
            <a:ext cx="3193246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C) Neither!  Ha!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1FD760-D86F-4AF5-B1D0-7851D5EBF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35CF1B-42AC-4F6B-A1C5-9A4268D3A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E4DB00-9ADF-49CC-B10C-B130B1947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28</a:t>
            </a:r>
          </a:p>
        </p:txBody>
      </p:sp>
    </p:spTree>
    <p:extLst>
      <p:ext uri="{BB962C8B-B14F-4D97-AF65-F5344CB8AC3E}">
        <p14:creationId xmlns:p14="http://schemas.microsoft.com/office/powerpoint/2010/main" val="69663041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2ac7ed188b4991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1E0F06-8B68-4E18-8E5C-23E422306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1142"/>
            <a:ext cx="6773020" cy="74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5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65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Milky Way Rotation Curve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E0FF41-9F0C-41A6-A595-205FB4096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100" y="5486044"/>
            <a:ext cx="146114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3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3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28048D-2003-400E-A0DD-AF9C4F738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86044"/>
            <a:ext cx="8048073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3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3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Rotation curve of Milky Way stays flat with distance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C124B0-6B0D-43B2-947D-E5C874A45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100" y="5907684"/>
            <a:ext cx="146114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3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3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34B09D-1004-439C-90FC-830ADD3CC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8954"/>
            <a:ext cx="556872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3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3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=&gt;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67340C-2BB6-4979-9532-EDE9D83A3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" y="5908954"/>
            <a:ext cx="6994783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3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43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Mass must be more spread out than in solar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9DC136-C7F2-4511-A7D6-909ACDEB0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69634"/>
            <a:ext cx="7699328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3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43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system, but not as much as for a merry-go-round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05C3EE-8F4C-48A0-9699-DFA976FCE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916515-9329-44F6-85FC-405A83BB0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4BC5F9-D912-4CBB-8B38-563F1B887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28</a:t>
            </a:r>
          </a:p>
        </p:txBody>
      </p:sp>
    </p:spTree>
    <p:extLst>
      <p:ext uri="{BB962C8B-B14F-4D97-AF65-F5344CB8AC3E}">
        <p14:creationId xmlns:p14="http://schemas.microsoft.com/office/powerpoint/2010/main" val="183877370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c80f1eb1b24857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058441-285B-44F4-B697-99CB9A2E8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1142"/>
            <a:ext cx="6773020" cy="74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5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65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Milky Way Rotation Curve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FAE2F4-9D71-4051-8AF6-E363659B4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100" y="5637683"/>
            <a:ext cx="8602958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But from visible matter, we would expect something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A41E4C-3A3C-4475-9339-992898C04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100" y="6014872"/>
            <a:ext cx="8456433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like what we see in the Solar System because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7E7EB7-057D-4EE6-A7CB-F17BE0AA1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100" y="6390792"/>
            <a:ext cx="7677914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most of the mass is in the center of the Galaxy.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58F37C-7C15-4916-8224-C222B6441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724670-9DF5-40F4-AF06-1E858AEFE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08AD15-9BBA-4CD6-BF1F-CB52CB9C8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28</a:t>
            </a:r>
          </a:p>
        </p:txBody>
      </p:sp>
    </p:spTree>
    <p:extLst>
      <p:ext uri="{BB962C8B-B14F-4D97-AF65-F5344CB8AC3E}">
        <p14:creationId xmlns:p14="http://schemas.microsoft.com/office/powerpoint/2010/main" val="25784975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1d2603135542ee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C53D66-436A-4B86-86D7-D47460A7D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1142"/>
            <a:ext cx="5814853" cy="74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5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65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Dark Matter in Spirals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4A639A-9D4B-4296-825D-58121ACD8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100" y="5182769"/>
            <a:ext cx="114999" cy="3515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7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044CC5-136A-49E6-8C85-02AB252F4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184038"/>
            <a:ext cx="5622046" cy="3515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7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Spiral galaxies all tend to have flat rotation curves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180AF6-E2E4-4283-AB88-6AEE0A56A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100" y="5485028"/>
            <a:ext cx="114999" cy="3515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7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853845-BC67-4538-8493-FB57336E4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486298"/>
            <a:ext cx="2520605" cy="3515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7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-&gt;Lots of Dark Matter!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9BF5F0-F3E1-41CB-846A-52A3A563D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100" y="5786019"/>
            <a:ext cx="114999" cy="3515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7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51FCE4-53A8-4464-B084-167F8A682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787288"/>
            <a:ext cx="7566269" cy="3515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7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Ellipticals have dark matter too, but they don’t have rotation curves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8832A6-0EF3-4992-9486-81B163B6A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BFA5A6-7CCB-4E42-B9FA-3BD9D20EF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DEB691-0A34-4E6A-A36E-DD20E80E3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28</a:t>
            </a:r>
          </a:p>
        </p:txBody>
      </p:sp>
    </p:spTree>
    <p:extLst>
      <p:ext uri="{BB962C8B-B14F-4D97-AF65-F5344CB8AC3E}">
        <p14:creationId xmlns:p14="http://schemas.microsoft.com/office/powerpoint/2010/main" val="71225384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904b752aca4b9c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C1D366-F775-437B-8804-16FC04284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6463174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Evidence for Dark Matter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8DD821-DDF0-4421-A859-90BD1A024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8194988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We hypothesize that dark matter exists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1D5AAF-6C99-443D-98F6-FE840EDF0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0756"/>
            <a:ext cx="7702812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from comparisons between the mass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AF364C-1BDC-41BF-A216-81C4ECF3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18436"/>
            <a:ext cx="8163679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of the matter we can see and the mass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36EED0-8E79-4937-A166-A673B8F86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04846"/>
            <a:ext cx="476576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calculated from gravity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1DD6CD-7A0D-4690-9B19-C4215DD0D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73806"/>
            <a:ext cx="7323632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We’ll see two forms of evidence for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D42B90-93C7-4B6F-8014-0DB3AA361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61486"/>
            <a:ext cx="662627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dark matter – in galaxies and in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128A62-75AA-4D3B-941F-707855100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49166"/>
            <a:ext cx="163160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clusters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CBBF04-8D16-46CA-A250-1FF01A5F3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4E7D54-4BA1-4CD3-9880-B145E07B3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3753B2-FBB1-4D28-AB28-B783D3781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28</a:t>
            </a:r>
          </a:p>
        </p:txBody>
      </p:sp>
    </p:spTree>
    <p:extLst>
      <p:ext uri="{BB962C8B-B14F-4D97-AF65-F5344CB8AC3E}">
        <p14:creationId xmlns:p14="http://schemas.microsoft.com/office/powerpoint/2010/main" val="108184545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30f49b38a8491c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B243EC-4139-4B08-9A05-27E23EFA0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1192" y="2123694"/>
            <a:ext cx="2057367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visible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5D4223-1B44-43AA-9E90-793800AAF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1366" y="2550414"/>
            <a:ext cx="220584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portion of a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24BF4B-6D85-45DC-8D2C-2C53D4917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1366" y="2977134"/>
            <a:ext cx="204298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galaxy lies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9436DD-572B-4DBF-9312-17995BE4F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1366" y="3403854"/>
            <a:ext cx="2168868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deep in the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F4B676-8CF2-412F-8270-BDA6A5D1C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1366" y="3830574"/>
            <a:ext cx="188189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heart of a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A8EF45-8AA9-4EBE-8A6C-9A9B9E9A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1366" y="4257294"/>
            <a:ext cx="2376885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large halo of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A5586D-C5E2-4EB4-8667-2CAE136C5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1366" y="4682744"/>
            <a:ext cx="2150018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dark matter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91861B-CCB6-4F81-9F6B-6DA687BA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1370" y="5536184"/>
            <a:ext cx="2271627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Dark Matter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D26A8D-82BF-4900-B4C5-B78A5C68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1370" y="5962904"/>
            <a:ext cx="2361952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provides the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56880E-04DA-4D17-9C12-E1F670B34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1370" y="6389624"/>
            <a:ext cx="2446227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missing mass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9CFF17-9C47-4D27-894A-34F6698B8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123818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Dark Matter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B5598B-30BB-4FCB-9765-2BADB7D42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1509D0-1E15-4075-9AAD-B90F36BCE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56C785-875E-4303-8DDB-C22E464C3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12 of 28</a:t>
            </a:r>
          </a:p>
        </p:txBody>
      </p:sp>
    </p:spTree>
    <p:extLst>
      <p:ext uri="{BB962C8B-B14F-4D97-AF65-F5344CB8AC3E}">
        <p14:creationId xmlns:p14="http://schemas.microsoft.com/office/powerpoint/2010/main" val="15662954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fb716bbb3a4ddf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354A59-CBF1-4C1A-A174-D7B4F79FF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406847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Concept Quiz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720EDD-0E08-4B2D-847B-717966EE9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714483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What will the rotation curve of our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F390BB-72C4-4C0E-A214-3315A48CF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0756"/>
            <a:ext cx="346121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Galaxy look like?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864DE9-0F7A-49CB-94C0-773CF7ED7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99716"/>
            <a:ext cx="644322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A) Like that of the Solar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CA425D-31B8-42F9-9753-1BEC499D3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867406"/>
            <a:ext cx="690733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Like that of the Merry-go-round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B99ECE-1DD5-4FB8-81BA-983F3124F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BFC881-2AEF-4708-AFD0-07EDDDDA9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C12589-6428-4E10-AF93-D06695216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13 of 28</a:t>
            </a:r>
          </a:p>
        </p:txBody>
      </p:sp>
    </p:spTree>
    <p:extLst>
      <p:ext uri="{BB962C8B-B14F-4D97-AF65-F5344CB8AC3E}">
        <p14:creationId xmlns:p14="http://schemas.microsoft.com/office/powerpoint/2010/main" val="25563293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4b613b059244a4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540072-362C-4D05-B321-4AD5BB20E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406847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Concept Quiz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F05A4C-7186-42E7-AAFC-377C197EF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714483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What will the rotation curve of our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B8C40E-1FD9-4C4A-A291-2277056E3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0756"/>
            <a:ext cx="346121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Galaxy look like?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BAD4D3-C7EA-46A3-B81F-01ED0BAA8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99716"/>
            <a:ext cx="644322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A) Like that of the Solar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1F3EA0-0594-4562-87C9-535E3A66C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867406"/>
            <a:ext cx="690733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Like that of the Merry-go-round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386654-7412-4A43-A5EA-8B17C100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8241C8-A0AA-4DC6-BEEE-FBCD49F22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5EEECE-3F5E-4C7E-815C-31446185D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14 of 28</a:t>
            </a:r>
          </a:p>
        </p:txBody>
      </p:sp>
    </p:spTree>
    <p:extLst>
      <p:ext uri="{BB962C8B-B14F-4D97-AF65-F5344CB8AC3E}">
        <p14:creationId xmlns:p14="http://schemas.microsoft.com/office/powerpoint/2010/main" val="108691357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1952d997064fc6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A6C21B-4FB3-481E-BD8E-52CF54B97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6015120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Dark Matter in Clusters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F26590-40D4-4B18-BCB0-E3024DB1D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170" y="5498846"/>
            <a:ext cx="749026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Clusters are large groups of galaxies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13AC51-1020-493B-B314-15D9CFCEC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72" y="5986526"/>
            <a:ext cx="7431941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There are three ways to find cluster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090BEE-3A9E-4BFC-9125-64CF81047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170" y="6474206"/>
            <a:ext cx="110652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92F25B-C523-4D98-9122-1BE9D790B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98B159-F314-47B5-906F-27D2F896C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CA91AA-B721-46A2-8109-C66231E3E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15 of 28</a:t>
            </a:r>
          </a:p>
        </p:txBody>
      </p:sp>
    </p:spTree>
    <p:extLst>
      <p:ext uri="{BB962C8B-B14F-4D97-AF65-F5344CB8AC3E}">
        <p14:creationId xmlns:p14="http://schemas.microsoft.com/office/powerpoint/2010/main" val="95904714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26325eaa6a42cd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02FA8B-9FE0-461C-98D3-F6CAA1768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6134040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1) Velocities of galaxies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9434E3-1A32-477A-80A6-09B034D13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792" y="1239774"/>
            <a:ext cx="3079716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galaxies are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5B7636-823A-46E1-B8D1-7C2C425F3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66" y="1666494"/>
            <a:ext cx="3051109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moving too fast,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A03D26-2BA2-45B8-9C79-CA292FFC8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66" y="2093214"/>
            <a:ext cx="330963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indicating unseen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1D1C8A-577E-4EBB-95E3-9332FC3B3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66" y="2519934"/>
            <a:ext cx="970837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E38D1C-1AD1-4878-A8C6-E69F80764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792" y="3373374"/>
            <a:ext cx="2476266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mass we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7C758D-65E2-420C-957E-21102674D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66" y="3800094"/>
            <a:ext cx="2693726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calculate from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273972-2D70-481B-8B92-A0BA21278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66" y="4226814"/>
            <a:ext cx="363856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galaxy motions in a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A4E2EE-E136-4E44-A2A3-DA8FAE078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66" y="4653534"/>
            <a:ext cx="2890372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cluster is about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D4306D-A2AC-4CC9-B62D-0863E432D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66" y="5080254"/>
            <a:ext cx="176738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50 times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87E062-9F0E-4C5E-A4E7-3DBE9E73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8976" y="5080254"/>
            <a:ext cx="130831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larger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A33A30-F2B8-4590-8D46-24D96706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66" y="5505704"/>
            <a:ext cx="313431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than the mass in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5241C7-17CD-410F-AB9F-CD267F78B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66" y="5932424"/>
            <a:ext cx="105156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stars!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C23C34-E97D-4132-98A7-8770F014E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ED7893-BD65-4901-B011-BAD87ED18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BFAB56-E0B2-4303-853C-0A3F6C5FB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16 of 28</a:t>
            </a:r>
          </a:p>
        </p:txBody>
      </p:sp>
    </p:spTree>
    <p:extLst>
      <p:ext uri="{BB962C8B-B14F-4D97-AF65-F5344CB8AC3E}">
        <p14:creationId xmlns:p14="http://schemas.microsoft.com/office/powerpoint/2010/main" val="146024713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29f38b59f745a2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2F9A5-F4EE-4564-8F50-7DCE9B5BF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6042"/>
            <a:ext cx="7656124" cy="7152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2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2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2) Mass traced through X-rays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0A64E7-9ED4-44C9-A7C6-DCED7465D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6570" y="1087374"/>
            <a:ext cx="302515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Clusters contain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472955-42F0-4158-892E-2B929F4FF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6570" y="1514094"/>
            <a:ext cx="317059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large amounts of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578463-E203-4C5A-B26A-3182AC061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6570" y="1940814"/>
            <a:ext cx="3373638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X-ray emitting hot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35695C-D531-45FE-9304-A5099F85A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6570" y="2367534"/>
            <a:ext cx="666092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704A93-D1B4-4F73-92BB-DAA261A88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6396" y="3220974"/>
            <a:ext cx="354220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Temperature of hot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C2A37E-FBF6-4B6A-83F3-A17EE176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6570" y="3647694"/>
            <a:ext cx="236799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gas (particle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C9D99F-122C-4A52-86C5-22FFD30B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6570" y="4074414"/>
            <a:ext cx="3091277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motions) tells us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8AFB5E-295F-4930-BB93-1DA2BDBC7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6570" y="4501134"/>
            <a:ext cx="3398519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cluster mass.  The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F52EE2-1882-4F20-A696-7C035F9F6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6570" y="4927854"/>
            <a:ext cx="3290427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gas is hotter than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4326D3-2809-4417-AB05-03DD1247D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6570" y="5354574"/>
            <a:ext cx="349987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 would be if there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022AC8-278B-47FF-8ED2-D1700F0B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6570" y="5780024"/>
            <a:ext cx="230718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was no dark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7161B7-87CA-436F-8F4A-979C1A59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6570" y="6206744"/>
            <a:ext cx="132146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matter.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B1CF53-1748-4B97-BBA5-B39B5C17C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6667500"/>
            <a:ext cx="355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85% dark matter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A4743C-0860-4116-BE33-9DDADF427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6896100"/>
            <a:ext cx="355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13% hot gas, 2% stars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C71660-C928-43BD-963C-73C58F7B1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0308CA-9862-49ED-8B70-52A113C3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6FDDA1-C4A9-424F-9858-5FE89C80C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17 of 28</a:t>
            </a:r>
          </a:p>
        </p:txBody>
      </p:sp>
    </p:spTree>
    <p:extLst>
      <p:ext uri="{BB962C8B-B14F-4D97-AF65-F5344CB8AC3E}">
        <p14:creationId xmlns:p14="http://schemas.microsoft.com/office/powerpoint/2010/main" val="37193777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d756e139d84aee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70719D-1E89-4F64-9AC0-FA70B30B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6207283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3) Gravitational Lensing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9832D5-BB1A-40DE-B102-982CB3370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500" y="5930900"/>
            <a:ext cx="850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Gravitational lensing bends light rays and reveals a cluster’s mass.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2BD14C-9395-4892-88BE-CE039D31C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500" y="6350000"/>
            <a:ext cx="850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Light is bending more than expected.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D58900-10C9-474E-94D0-8C540112E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CECA11-A9CE-40BD-B6E2-5FD303E7C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FB56FA-EBC3-4E82-9C42-9E74662B8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18 of 28</a:t>
            </a:r>
          </a:p>
        </p:txBody>
      </p:sp>
    </p:spTree>
    <p:extLst>
      <p:ext uri="{BB962C8B-B14F-4D97-AF65-F5344CB8AC3E}">
        <p14:creationId xmlns:p14="http://schemas.microsoft.com/office/powerpoint/2010/main" val="192130493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b2c68d468e420f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88A7AF-5692-4546-B0B2-18FA7F56A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70" y="5170424"/>
            <a:ext cx="8125515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three methods of measuring cluster mass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54EFDC-4FEA-4225-89A3-5DA85696C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70" y="5597144"/>
            <a:ext cx="710566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indicate similar amounts of dark matter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77FA1A-1696-4862-B1CF-AA5BF0198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897847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Cluster Masses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0316AC-B574-440D-BB1C-F718E8DCB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D09375-85E7-4977-82EE-3E8D8BF3A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236360-B9AC-40AB-B03C-B6B96E932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19 of 28</a:t>
            </a:r>
          </a:p>
        </p:txBody>
      </p:sp>
    </p:spTree>
    <p:extLst>
      <p:ext uri="{BB962C8B-B14F-4D97-AF65-F5344CB8AC3E}">
        <p14:creationId xmlns:p14="http://schemas.microsoft.com/office/powerpoint/2010/main" val="35220681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d4658487a04773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841282-74E6-44DA-AEC8-551DC3755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79882"/>
            <a:ext cx="7765036" cy="589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0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290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But Does Dark Matter Really Exist???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85AD22-397D-452D-AAA0-A1DDA1C58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21333"/>
            <a:ext cx="7530376" cy="4897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Something is needed to explain the discrepancy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5EDCCD-95AA-49A2-8870-8A76F7B7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51533"/>
            <a:ext cx="7060856" cy="4897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between the mass measured through gravity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270658-9019-4FB5-9C97-F16FCB469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283003"/>
            <a:ext cx="4971939" cy="4897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and the mass directly observed.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9D85A0-E2F6-4D5F-8173-1F070EEAD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74163"/>
            <a:ext cx="351822" cy="4897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343B3D-190E-4E5A-BC2C-59DE0610E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674163"/>
            <a:ext cx="5828038" cy="4897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Dark matter really exists, and we are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B3489C-A028-49B6-9DB4-EDBFBCCA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005633"/>
            <a:ext cx="6272125" cy="4897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observing the effects of its gravitational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68B728-8D4C-4250-ABB9-49152F94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335833"/>
            <a:ext cx="1534171" cy="4897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attraction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E1D36C-19CC-4609-813A-9D7CE57FA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728263"/>
            <a:ext cx="351822" cy="4897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452099-66D8-4413-BF63-4D03F972E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28263"/>
            <a:ext cx="7242374" cy="4897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Something is wrong with our understanding of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1603D1-3641-4161-BB36-D494599A9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59733"/>
            <a:ext cx="6602375" cy="4897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gravity, causing us to mistakenly infer the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84F00D-D6AC-4EE8-BDCF-38D660047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389933"/>
            <a:ext cx="3819294" cy="4897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existence of dark matter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6097D9-EB36-48A7-8011-41C52ECB0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237480"/>
            <a:ext cx="7016831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5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75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Because gravity is so well tested, most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F7793F-8483-4194-B539-632A84CE0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615940"/>
            <a:ext cx="7585084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5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75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(but not all!) astronomers prefer option #1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74E091-A67A-4504-9D01-22316D4B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C69552-71A2-4669-ABB1-04952FB85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A2FEFB-F207-4FF0-9A16-21504C573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20 of 28</a:t>
            </a:r>
          </a:p>
        </p:txBody>
      </p:sp>
    </p:spTree>
    <p:extLst>
      <p:ext uri="{BB962C8B-B14F-4D97-AF65-F5344CB8AC3E}">
        <p14:creationId xmlns:p14="http://schemas.microsoft.com/office/powerpoint/2010/main" val="960788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1bc58cde6842f8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3DF8F5-3025-483E-9A33-23AD0589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6521046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How dark is dark matter?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9DC8A2-0C22-4633-8A6A-BDF9659D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530" y="1245108"/>
            <a:ext cx="5776718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… not as bright as a star.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8B3673-B2DA-493A-BA8C-A2914C622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D23796-1368-46C4-A144-98E583650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5A5D87-044B-4DF9-818B-2707699DB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21 of 28</a:t>
            </a:r>
          </a:p>
        </p:txBody>
      </p:sp>
    </p:spTree>
    <p:extLst>
      <p:ext uri="{BB962C8B-B14F-4D97-AF65-F5344CB8AC3E}">
        <p14:creationId xmlns:p14="http://schemas.microsoft.com/office/powerpoint/2010/main" val="191796449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49d10523f94290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34CF6B-73CD-4DBC-B64C-74E1D7522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4673688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Two Basic Options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2804E4-3433-427D-811A-6183B51AB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" y="1253744"/>
            <a:ext cx="16256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D27844-32DE-48B2-889E-694CEDE8A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" y="1272794"/>
            <a:ext cx="598765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Ordinary Dark Matter   (MACHOS)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D229C8-69ED-4E17-ADF5-F52ADA2A6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" y="1751584"/>
            <a:ext cx="23581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51AD0D-606C-4387-956E-BF6310407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594" y="1751584"/>
            <a:ext cx="584292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Massive Compact Halo Objects: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D191D0-6101-4515-9277-139BF160E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6560" y="2268474"/>
            <a:ext cx="7417159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dead or failed stars in halos of galaxies –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E35334-4A50-421A-8981-3DC0DC45A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360" y="2695194"/>
            <a:ext cx="409656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basically brown dwarfs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2A3B69-70E0-4C35-B9C2-263317509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" y="3779774"/>
            <a:ext cx="16256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7C628B-512B-462B-AF45-27CF76BC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" y="3800094"/>
            <a:ext cx="6504345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Extraordinary Dark Matter   (WIMPS)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A0F435-6D6A-4D63-8AF6-B7BE01DB8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" y="4277615"/>
            <a:ext cx="23581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B7EADA-5F1F-4A05-8745-8E10E4286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594" y="4277615"/>
            <a:ext cx="682330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Weakly Interacting Massive Particles: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6A141A-43B0-4AF5-BD00-598EE7E7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6560" y="4795775"/>
            <a:ext cx="7177129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 new type of particle – possibly similar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62E601-F4A0-4F1C-946B-C087C9D9E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360" y="5222494"/>
            <a:ext cx="2332436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to a neutrino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CA2A6F-504D-4EE8-A160-68D8574E3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AE4CF1-91D2-4728-9546-65BBF3D63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320A5A-53EC-4E9C-B737-6673600C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22 of 28</a:t>
            </a:r>
          </a:p>
        </p:txBody>
      </p:sp>
    </p:spTree>
    <p:extLst>
      <p:ext uri="{BB962C8B-B14F-4D97-AF65-F5344CB8AC3E}">
        <p14:creationId xmlns:p14="http://schemas.microsoft.com/office/powerpoint/2010/main" val="3736137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f98e9627d74d1a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672C85-607D-43B2-94C2-2F0CFAFC1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5605051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Evidence for MACHOS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1B706E-0C41-4679-B502-1BF8C1978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70" y="1468374"/>
            <a:ext cx="166994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MACHOs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0BC409-91E0-4CA1-89CA-91BB9EBEC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70" y="1895094"/>
            <a:ext cx="3413457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occasionally make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5D2080-DF3A-499E-8B88-8C5B68E0A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70" y="2321814"/>
            <a:ext cx="3443688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other stars appear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8DF67E-BC72-4AC5-99A1-DB64E24B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70" y="2748534"/>
            <a:ext cx="3082762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brighter through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B7A452-D6C7-4723-9BA1-1A276E2EC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70" y="3175254"/>
            <a:ext cx="1314707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lensing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9A9E4-A599-401D-BFBD-1C89F80AC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70" y="3967734"/>
            <a:ext cx="294346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… but there are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D158DF-B071-42D4-8D73-2178C2910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70" y="4394454"/>
            <a:ext cx="2182729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not enough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79E2E4-5A80-436A-94F4-F5C182F1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70" y="4819904"/>
            <a:ext cx="320295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lensing events to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8D89A1-94A2-4EBC-B04F-C8A7F7C2C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70" y="5246624"/>
            <a:ext cx="2660655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explain all the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7647C1-3099-4877-9881-9F46E8D3B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7970" y="5673344"/>
            <a:ext cx="215036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dark matter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4FBBE4-D5E3-408F-9A54-F4070DD8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DFB85D-3268-4CE0-857A-DFAB5BDB2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2D4DCE-634D-40A8-9408-2F54EC4CB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23 of 28</a:t>
            </a:r>
          </a:p>
        </p:txBody>
      </p:sp>
    </p:spTree>
    <p:extLst>
      <p:ext uri="{BB962C8B-B14F-4D97-AF65-F5344CB8AC3E}">
        <p14:creationId xmlns:p14="http://schemas.microsoft.com/office/powerpoint/2010/main" val="67476702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b719421e2e4d11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5BDA42-0B3F-478F-BBA6-CE4BE5FC0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5092348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Evidence for WIMPs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9EECD6-7E46-4348-8FA4-3951028F6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20724"/>
            <a:ext cx="16256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7DEF6D-0739-4FF6-8CF1-073AB6807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366" y="1241044"/>
            <a:ext cx="640388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There’s not enough ordinary matter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E6388D-EBE4-4DF7-8377-9AF39D01D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325624"/>
            <a:ext cx="16256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9FA647-7465-4A62-92D7-BEA31172B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2345944"/>
            <a:ext cx="7054798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WIMPs could be left over from Big Bang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5B0B16-9A28-4A5B-B836-EF79604E2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21304"/>
            <a:ext cx="16256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87ECD6-CC47-4F00-AFA0-BF8CA2CFF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3341624"/>
            <a:ext cx="663591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Models involving WIMPs explain how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7A528D-E340-433C-8A6A-0FECB6540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3768344"/>
            <a:ext cx="421357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galaxy formation works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934E80-6642-4A30-9948-EEFFDD672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B947C8-9D05-4EF7-86FC-CBEB46FFA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DC18F3-FFEB-4209-9096-3661A9D51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24 of 28</a:t>
            </a:r>
          </a:p>
        </p:txBody>
      </p:sp>
    </p:spTree>
    <p:extLst>
      <p:ext uri="{BB962C8B-B14F-4D97-AF65-F5344CB8AC3E}">
        <p14:creationId xmlns:p14="http://schemas.microsoft.com/office/powerpoint/2010/main" val="160870679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84caf4c62e478e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E6FA86-8795-498F-8D55-70F3311F0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4719802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Unseen Influences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8C339B-78D2-4554-A529-8EDD3102E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1044"/>
            <a:ext cx="2595217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1" i="1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1" i="1">
                <a:solidFill>
                  <a:srgbClr val="262626"/>
                </a:solidFill>
                <a:latin typeface="Arial"/>
                <a:ea typeface="Arial"/>
                <a:cs typeface="Arial"/>
              </a:rPr>
              <a:t>Dark Matter: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F2D149-E3F9-40D5-9320-47E28A6FE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6420" y="1241044"/>
            <a:ext cx="5421882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 An undetected form of mass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03FBCE-9072-426D-934F-69936303D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1718564"/>
            <a:ext cx="87163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that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764E90-E1F3-4E23-8A8D-F9F2C94D4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5930" y="1669796"/>
            <a:ext cx="2845928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does not emit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5142A3-1ABA-4A73-8B57-97762E088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7710" y="1718564"/>
            <a:ext cx="300097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light but whose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A13CEC-4D6E-46D6-9207-D2D280395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2155444"/>
            <a:ext cx="723331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existence we infer from its gravitational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75B3B3-6CE0-493F-B45B-A5E0DD63D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2582164"/>
            <a:ext cx="166817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influence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FBA01E-B7D0-4A77-AED4-D41B89705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577844"/>
            <a:ext cx="264607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1" i="1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1" i="1">
                <a:solidFill>
                  <a:srgbClr val="262626"/>
                </a:solidFill>
                <a:latin typeface="Arial"/>
                <a:ea typeface="Arial"/>
                <a:cs typeface="Arial"/>
              </a:rPr>
              <a:t>Dark Energy: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0C6E75-502C-4A1B-B0A9-FF707AFAD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5950" y="3577844"/>
            <a:ext cx="5428648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  An unknown form of energy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FF13E4-0476-47C3-888A-FF40CC7E7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4004564"/>
            <a:ext cx="7656487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that seems to be the source of a repulsive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6825D1-1412-45E9-9FBC-03288D639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4430014"/>
            <a:ext cx="6300238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force causing the expansion of the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3A1EBA-C209-441A-8F48-23CC0DAD3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4856734"/>
            <a:ext cx="400910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universe to accelerate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EEF5AD-79F1-4448-8E9A-65787978B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B4E650-BE16-4190-9BE9-242A13446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2B1DDC-6D9C-44F7-9354-91768E12D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25 of 28</a:t>
            </a:r>
          </a:p>
        </p:txBody>
      </p:sp>
    </p:spTree>
    <p:extLst>
      <p:ext uri="{BB962C8B-B14F-4D97-AF65-F5344CB8AC3E}">
        <p14:creationId xmlns:p14="http://schemas.microsoft.com/office/powerpoint/2010/main" val="968356764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8b6bbe438b441b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2EAE41-F548-4406-9D08-DA096D8F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5410638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Contents of Universe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F4C0FF-675C-4F90-B682-89B42038A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" y="1317244"/>
            <a:ext cx="3306009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“Normal” Matter: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449D44-8298-4B43-AEFE-818C85DA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39" y="1317244"/>
            <a:ext cx="1010662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~ 4%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A859D6-90B6-4891-9F78-390EEAE20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" y="1815084"/>
            <a:ext cx="249707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Dark Matter: 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89DD58-457C-424C-BF67-574369542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1815084"/>
            <a:ext cx="123682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~ 23%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8C1F37-B547-43CC-A344-E7DB35908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" y="2312924"/>
            <a:ext cx="223500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Dark Energy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5B55A2-1D52-48BA-A646-EC225CCDB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39" y="2312924"/>
            <a:ext cx="123682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~ 73%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86A1F6-EA3B-4FDE-A9D8-05613890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48CD0A-4AA4-4DD0-B577-A0DDE5C92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A1C6C6-CB39-487A-BC74-EE29D002B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26 of 28</a:t>
            </a:r>
          </a:p>
        </p:txBody>
      </p:sp>
    </p:spTree>
    <p:extLst>
      <p:ext uri="{BB962C8B-B14F-4D97-AF65-F5344CB8AC3E}">
        <p14:creationId xmlns:p14="http://schemas.microsoft.com/office/powerpoint/2010/main" val="128102689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152444517a4ffb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2E2954-0F5D-4DC3-8A93-658FC2AE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6415247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Contents of the Universe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F74D60-027E-431C-8297-3BD593EB1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475" y="1241603"/>
            <a:ext cx="8053392" cy="540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energy of the Universe is roughly 2/3 dark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8BF5CB-8AAB-4A1A-9D09-5835DC575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8003"/>
            <a:ext cx="3881146" cy="540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energy and 1/3 matter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EA97B4-5C62-4CE5-8162-1C2034195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370" y="2122983"/>
            <a:ext cx="7448872" cy="540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Of the matter, about 10% is normal matter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A1A686-37BE-4F42-AF9E-25D30652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29383"/>
            <a:ext cx="7421516" cy="540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(protons, neutrons) and 90% is dark matter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9895E9-E2A6-4BF0-937C-2C94896D4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003092"/>
            <a:ext cx="7046857" cy="540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We can see only 4% of the energy of the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B78E11-E486-4F33-BE1A-38A26E074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10762"/>
            <a:ext cx="1528901" cy="540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Universe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923ADC-E63D-437F-B6F8-12C26266D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370" y="3931819"/>
            <a:ext cx="425054" cy="11135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48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548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8CEA8D-D430-4DF9-98F6-F267F4F0C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" y="3969919"/>
            <a:ext cx="7343588" cy="11135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48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548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We cannot see most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818B3D-5191-40B1-83A0-A47D20A2D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5860" y="4806848"/>
            <a:ext cx="6456248" cy="11135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48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548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of what makes up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611D62-CB5D-4DDF-8D1A-89BF6298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5860" y="5642509"/>
            <a:ext cx="4740009" cy="11135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48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548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the Universe!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E389D0-7E8D-4EB6-8533-91FABF00C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F09ECA-64ED-4946-A463-01F8BAC29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A64F2B-FDBB-4E90-A394-26C7D1641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27 of 28</a:t>
            </a:r>
          </a:p>
        </p:txBody>
      </p:sp>
    </p:spTree>
    <p:extLst>
      <p:ext uri="{BB962C8B-B14F-4D97-AF65-F5344CB8AC3E}">
        <p14:creationId xmlns:p14="http://schemas.microsoft.com/office/powerpoint/2010/main" val="1663620908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778d1485724253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FC2D2C-9BDB-422E-AED5-EBC0B76BB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6022816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What have we learned?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0C94CF-B8A5-41B3-AC8E-4C88F4746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" y="1695348"/>
            <a:ext cx="5383061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98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1) What are dark matter and dark energy?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5B9C5A-8C92-4F8B-A1A5-66B21F2D7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050" y="2002688"/>
            <a:ext cx="160259" cy="3515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3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3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FDC406-13C4-496D-9401-0AD4EF3D9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209" y="2001469"/>
            <a:ext cx="6832579" cy="35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 “Dark matter” is the name given to the unseen mass whose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3F5D99-D4B9-4CE2-97DD-8DE17A024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51659"/>
            <a:ext cx="6884521" cy="35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gravity governs the observed motions of stars and gas clouds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083DBA-A397-4E6A-B0D4-8C8201B7C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050" y="2523388"/>
            <a:ext cx="160259" cy="3515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3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3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017C67-6313-4CA9-A507-62A91EC9A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209" y="2522169"/>
            <a:ext cx="6267543" cy="35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 “Dark energy” is the name given to whatever might be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6E0A61-CB93-4585-8EF1-2A9667654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772359"/>
            <a:ext cx="5852758" cy="35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causing the expansion of the universe to accelerate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FFF4DE-B4F4-49AB-9B0B-A62BF5E2B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" y="3060598"/>
            <a:ext cx="6620310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98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2) What is the evidence for dark matter in galaxies?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2B3F0E-451D-4B8D-AF57-A0D54A64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" y="3404819"/>
            <a:ext cx="7397692" cy="35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         - Rotation curves of galaxies are flat, indicating that most of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CDCADE-28CA-40D7-B859-482E43D5A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68979"/>
            <a:ext cx="4946071" cy="35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their matter lies outside their visible regions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78EE6F-7C26-4D14-9D1A-1D539E5AA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" y="3957218"/>
            <a:ext cx="6833038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8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3) What is the evidence for dark matter in clusters of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8E119A-1C6A-459E-9ABC-7443ABD8C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" y="4230268"/>
            <a:ext cx="1216188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8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galaxies?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217E1F-2247-4030-B98B-439096F9C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" y="4574489"/>
            <a:ext cx="7210679" cy="35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Masses measured from galaxy motions, temperature of hot gas,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33DD2B-C774-4984-9409-DDC2D9231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" y="4839919"/>
            <a:ext cx="6898649" cy="35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and gravitational lensing all indicate that the vast majority of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B81954-8DC0-4231-8B49-CFC0FDC87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" y="5104079"/>
            <a:ext cx="2808748" cy="35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matter in clusters is dark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9A5B4B-CC8A-424F-9480-B92A3BED3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" y="5714898"/>
            <a:ext cx="5090697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8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4) What might dark matter be made of?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AAFB9C-902E-46B9-8FCA-D2E75C463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32" y="6060389"/>
            <a:ext cx="7264491" cy="35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There does not seem to be enough normal matter to account for 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8B3982-6A96-40F0-84EB-C5123F94D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7" y="6324549"/>
            <a:ext cx="6669267" cy="35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all the dark matter, so most astronomers suspect that dark 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BBC4C9-CCFC-4EEB-895E-D81CE7C9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7" y="6589979"/>
            <a:ext cx="6914797" cy="35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4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matter is made of particles that have not yet been discovered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5F9058-45A9-4BE4-B55B-FA7D2161F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CB20C0-EFC3-41F3-B21F-9E456CC79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0D4A55-72A8-4651-9F47-4535D6616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28 of 28</a:t>
            </a:r>
          </a:p>
        </p:txBody>
      </p:sp>
    </p:spTree>
    <p:extLst>
      <p:ext uri="{BB962C8B-B14F-4D97-AF65-F5344CB8AC3E}">
        <p14:creationId xmlns:p14="http://schemas.microsoft.com/office/powerpoint/2010/main" val="9964060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WVU DSPIRA</dc:creator>
  <lastModifiedBy>WVU DSPIRA</lastModifiedBy>
  <dc:title>Dark matter</dc:title>
  <dcterms:created xsi:type="dcterms:W3CDTF">2026-09-26T20:03:06.2290000Z</dcterms:created>
  <dcterms:modified xsi:type="dcterms:W3CDTF">2026-09-26T20:03:06.2290000Z</dcterms:modified>
</coreProperties>
</file>