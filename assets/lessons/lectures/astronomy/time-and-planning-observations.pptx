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f08d7a7804b37" /><Relationship Type="http://schemas.openxmlformats.org/officeDocument/2006/relationships/extended-properties" Target="/docProps/app.xml" Id="R5f7f913ff7484663" /><Relationship Type="http://schemas.openxmlformats.org/officeDocument/2006/relationships/officeDocument" Target="/ppt/presentation.xml" Id="Rdae504b89778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b4c1d3a144cdf"/>
  </p:sldMasterIdLst>
  <p:notesMasterIdLst>
    <p:notesMasterId xmlns:r="http://schemas.openxmlformats.org/officeDocument/2006/relationships" r:id="Rab3b452f7acc4073"/>
  </p:notesMasterIdLst>
  <p:sldIdLst>
    <p:sldId xmlns:r="http://schemas.openxmlformats.org/officeDocument/2006/relationships" id="256" r:id="R1deda5e820924c6c"/>
    <p:sldId xmlns:r="http://schemas.openxmlformats.org/officeDocument/2006/relationships" id="257" r:id="R02e83cf6a4694d7b"/>
    <p:sldId xmlns:r="http://schemas.openxmlformats.org/officeDocument/2006/relationships" id="258" r:id="R78e2cf721e584907"/>
    <p:sldId xmlns:r="http://schemas.openxmlformats.org/officeDocument/2006/relationships" id="259" r:id="R03a0851c75cd433e"/>
    <p:sldId xmlns:r="http://schemas.openxmlformats.org/officeDocument/2006/relationships" id="260" r:id="R1e8cc8c1d83f47b2"/>
    <p:sldId xmlns:r="http://schemas.openxmlformats.org/officeDocument/2006/relationships" id="261" r:id="R628fdac0a38d477b"/>
    <p:sldId xmlns:r="http://schemas.openxmlformats.org/officeDocument/2006/relationships" id="262" r:id="Rf9f7f882ad9e4739"/>
    <p:sldId xmlns:r="http://schemas.openxmlformats.org/officeDocument/2006/relationships" id="263" r:id="R93ad2d93c1ff493d"/>
  </p:sldIdLst>
  <p:sldSz cx="91440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f5ba9d6194fed" /><Relationship Type="http://schemas.openxmlformats.org/officeDocument/2006/relationships/slideMaster" Target="/ppt/slideMasters/slideMaster1.xml" Id="R4b2b4c1d3a144cdf" /><Relationship Type="http://schemas.openxmlformats.org/officeDocument/2006/relationships/notesMaster" Target="/ppt/notesMasters/notesMaster1.xml" Id="Rab3b452f7acc4073" /><Relationship Type="http://schemas.openxmlformats.org/officeDocument/2006/relationships/presProps" Target="/ppt/presProps.xml" Id="Raa3f531da8994682" /><Relationship Type="http://schemas.openxmlformats.org/officeDocument/2006/relationships/tableStyles" Target="/ppt/tableStyles.xml" Id="R6b4741f538ff4858" /><Relationship Type="http://schemas.openxmlformats.org/officeDocument/2006/relationships/slide" Target="/ppt/slides/slide1.xml" Id="R1deda5e820924c6c" /><Relationship Type="http://schemas.openxmlformats.org/officeDocument/2006/relationships/slide" Target="/ppt/slides/slide2.xml" Id="R02e83cf6a4694d7b" /><Relationship Type="http://schemas.openxmlformats.org/officeDocument/2006/relationships/slide" Target="/ppt/slides/slide3.xml" Id="R78e2cf721e584907" /><Relationship Type="http://schemas.openxmlformats.org/officeDocument/2006/relationships/slide" Target="/ppt/slides/slide4.xml" Id="R03a0851c75cd433e" /><Relationship Type="http://schemas.openxmlformats.org/officeDocument/2006/relationships/slide" Target="/ppt/slides/slide5.xml" Id="R1e8cc8c1d83f47b2" /><Relationship Type="http://schemas.openxmlformats.org/officeDocument/2006/relationships/slide" Target="/ppt/slides/slide6.xml" Id="R628fdac0a38d477b" /><Relationship Type="http://schemas.openxmlformats.org/officeDocument/2006/relationships/slide" Target="/ppt/slides/slide7.xml" Id="Rf9f7f882ad9e4739" /><Relationship Type="http://schemas.openxmlformats.org/officeDocument/2006/relationships/slide" Target="/ppt/slides/slide8.xml" Id="R93ad2d93c1ff49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e3af29b0b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7433e505541e1" /><Relationship Type="http://schemas.openxmlformats.org/officeDocument/2006/relationships/notesMaster" Target="/ppt/notesMasters/notesMaster1.xml" Id="R7f0187dfbd5a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879275a484263" /><Relationship Type="http://schemas.openxmlformats.org/officeDocument/2006/relationships/notesMaster" Target="/ppt/notesMasters/notesMaster1.xml" Id="Rf1a9aa38fd0941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efda28d6494cd9" /><Relationship Type="http://schemas.openxmlformats.org/officeDocument/2006/relationships/notesMaster" Target="/ppt/notesMasters/notesMaster1.xml" Id="R34553307aacc40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b3464c33994035" /><Relationship Type="http://schemas.openxmlformats.org/officeDocument/2006/relationships/notesMaster" Target="/ppt/notesMasters/notesMaster1.xml" Id="R86fe0fb16d4842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a4f6476bdc4810" /><Relationship Type="http://schemas.openxmlformats.org/officeDocument/2006/relationships/notesMaster" Target="/ppt/notesMasters/notesMaster1.xml" Id="R9d3cb97274664c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8caddf478411c" /><Relationship Type="http://schemas.openxmlformats.org/officeDocument/2006/relationships/notesMaster" Target="/ppt/notesMasters/notesMaster1.xml" Id="R8bb9967e34a0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a8a6782514424a" /><Relationship Type="http://schemas.openxmlformats.org/officeDocument/2006/relationships/notesMaster" Target="/ppt/notesMasters/notesMaster1.xml" Id="R3b417a7497e2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5a266c1444cd2" /><Relationship Type="http://schemas.openxmlformats.org/officeDocument/2006/relationships/notesMaster" Target="/ppt/notesMasters/notesMaster1.xml" Id="Rf536cb2e544841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assets/lessons/lectures/astronomy/time-and-planning-observations.pdf,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45b0f3aa0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6f00f81eb49e2" /><Relationship Type="http://schemas.openxmlformats.org/officeDocument/2006/relationships/slideLayout" Target="/ppt/slideLayouts/slideLayout1.xml" Id="Rec8c2ae469e1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c2ae469e1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092221f54bc4" /><Relationship Type="http://schemas.openxmlformats.org/officeDocument/2006/relationships/image" Target="/ppt/media/image.png" Id="R54bb04d038a74a16" /><Relationship Type="http://schemas.openxmlformats.org/officeDocument/2006/relationships/notesSlide" Target="/ppt/notesSlides/notesSlide1.xml" Id="Rc8b0948bf3b8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7ae1f1a274255" /><Relationship Type="http://schemas.openxmlformats.org/officeDocument/2006/relationships/image" Target="/ppt/media/image2.png" Id="Ra88df907b3414b1b" /><Relationship Type="http://schemas.openxmlformats.org/officeDocument/2006/relationships/notesSlide" Target="/ppt/notesSlides/notesSlide2.xml" Id="R1c6d62645e23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a00597da6435c" /><Relationship Type="http://schemas.openxmlformats.org/officeDocument/2006/relationships/image" Target="/ppt/media/image3.png" Id="Ra3dbd701ede942e3" /><Relationship Type="http://schemas.openxmlformats.org/officeDocument/2006/relationships/notesSlide" Target="/ppt/notesSlides/notesSlide3.xml" Id="R359020efead346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485e721c54531" /><Relationship Type="http://schemas.openxmlformats.org/officeDocument/2006/relationships/image" Target="/ppt/media/image4.png" Id="R15a15e6bec7242c0" /><Relationship Type="http://schemas.openxmlformats.org/officeDocument/2006/relationships/notesSlide" Target="/ppt/notesSlides/notesSlide4.xml" Id="R38892d74e7d4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8b0ba28fd4b41" /><Relationship Type="http://schemas.openxmlformats.org/officeDocument/2006/relationships/image" Target="/ppt/media/image5.png" Id="R96c51d7434904bdf" /><Relationship Type="http://schemas.openxmlformats.org/officeDocument/2006/relationships/notesSlide" Target="/ppt/notesSlides/notesSlide5.xml" Id="R7c472c97d2b84c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ffa7bb5d24397" /><Relationship Type="http://schemas.openxmlformats.org/officeDocument/2006/relationships/image" Target="/ppt/media/image6.png" Id="R7a12ba740b764aff" /><Relationship Type="http://schemas.openxmlformats.org/officeDocument/2006/relationships/notesSlide" Target="/ppt/notesSlides/notesSlide6.xml" Id="Rbfdf2bd807b541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8fb7efb2440f" /><Relationship Type="http://schemas.openxmlformats.org/officeDocument/2006/relationships/image" Target="/ppt/media/image7.png" Id="R52087c92ed3e4121" /><Relationship Type="http://schemas.openxmlformats.org/officeDocument/2006/relationships/notesSlide" Target="/ppt/notesSlides/notesSlide7.xml" Id="R07d87e610e294a96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ff022d976e54a97"/><Relationship Type="http://schemas.openxmlformats.org/officeDocument/2006/relationships/image" Target="/ppt/media/image8.png" Id="Rafc44427cec3401e"/><Relationship Type="http://schemas.openxmlformats.org/officeDocument/2006/relationships/notesSlide" Target="/ppt/notesSlides/notesSlide8.xml" Id="Rbb1040857f9b4745"/><Relationship Id="rIdDspiraLink1" Type="http://schemas.openxmlformats.org/officeDocument/2006/relationships/hyperlink" Target="https://aa.usno.navy.mil/data/siderealtime" TargetMode="External"/><Relationship Id="rIdDspiraLink2" Type="http://schemas.openxmlformats.org/officeDocument/2006/relationships/hyperlink" Target="https://aa.usno.navy.mil/data/siderealtime" TargetMode="External"/><Relationship Id="rIdDspiraLink3" Type="http://schemas.openxmlformats.org/officeDocument/2006/relationships/hyperlink" Target="https://aa.usno.navy.mil/data/siderealtime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b04d038a74a16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B18DF-2BA7-4767-9F1F-030C081E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123" y="2559812"/>
            <a:ext cx="5396709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and Planning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46B63-2E75-4286-A490-602262E9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886" y="3230372"/>
            <a:ext cx="373288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C0D17-BB52-46BB-BB0F-D82969A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A0BE4-7ACD-4019-B878-BD69373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 of 8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960236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df907b3414b1b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F5F32-DCB5-413E-9534-03B51751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9C359-39B0-4692-9502-50E23082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 of 8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1031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bd701ede942e3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9F0AF-A198-4E90-8D35-13524B87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710" y="548132"/>
            <a:ext cx="3402637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Annalemma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EFAA5-F7CD-4766-AD94-D8891F45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8" y="5504942"/>
            <a:ext cx="76695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figure you get when you take a picture every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5F467-BFB2-4585-B980-22AFD8DE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66" y="5870702"/>
            <a:ext cx="6544976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day at the same time throughout the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A2C6A-B62E-4BB1-9797-E7C86578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66" y="6236462"/>
            <a:ext cx="772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Sometimes the Sun runs “fast,” sometimes “slow”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416C-BF8D-4A96-86C4-C739296E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B6BB3-0FEF-4063-9D60-32F2234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 of 8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01840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15e6bec7242c0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CD9F9-52A4-4D13-9A78-BDCB320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760" y="548132"/>
            <a:ext cx="2858365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Annalema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5C6D4-7CC8-48FE-B560-833E17E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1998726"/>
            <a:ext cx="2495693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Shape caused by: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DBE76-7B03-434E-ABC5-73ED6E1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2334006"/>
            <a:ext cx="324764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1AD95-C27C-4F63-84D9-78C7EE6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" y="2334006"/>
            <a:ext cx="2122700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Eccentricity of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68CE4-CC8F-4FCD-8C52-9221238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" y="2669286"/>
            <a:ext cx="175528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Earth’s orbit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73E31-64E9-4433-9A48-4D4DF722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3004566"/>
            <a:ext cx="324764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C88C1-D7BC-41C2-87C7-27C7C49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84" y="3004566"/>
            <a:ext cx="1978106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Tilt of Earth’s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47EA4-DDC3-4429-82C6-BB21C914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3339846"/>
            <a:ext cx="2376963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axis (“obliquity”)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2905-4ACC-416F-81E7-0998513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3675126"/>
            <a:ext cx="324764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F98E2-2EFB-4F15-A95D-0D2D1149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84" y="3675126"/>
            <a:ext cx="2383792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Tilt of annalema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FF44C-80E9-465B-ADE0-11C205DD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4010406"/>
            <a:ext cx="2293972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due to fact that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30BB8-6B91-48C4-ACD4-8A96C85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4345686"/>
            <a:ext cx="2256254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Earth’s closest,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4ED8F-FCF0-424D-853A-9415D31F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4680966"/>
            <a:ext cx="2497092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furthest distance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03B83-CBA1-44D6-B87C-E9FBDA7E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5016246"/>
            <a:ext cx="1935777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Sun not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0F789-AB9E-46A0-9BAB-848A1BF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5350256"/>
            <a:ext cx="2048380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exactly at the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26D20-B23A-4829-B5CA-B36CF3E6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1" y="5685536"/>
            <a:ext cx="1540152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equinoxes.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EF16E-F549-4B3F-865B-BF6EA02B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8C223-D5C5-4ACA-A2FA-86B89F5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 of 8</a:t>
            </a:r>
          </a:p>
        </p:txBody>
      </p:sp>
      <p:sp>
        <p:nvSpPr>
          <p:cNvPr id="2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35901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51d7434904bdf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70C09-45B1-435D-816E-471CDE19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40" y="548132"/>
            <a:ext cx="4776156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Equation of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1837A-8F85-456A-B795-3BE2ED38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67" y="5281676"/>
            <a:ext cx="8117548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Tells you the amount of time the Sun is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DE8E3-BF2B-4765-9748-AE0630A7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65" y="5768086"/>
            <a:ext cx="746710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running fast or slow (the annalema)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5ABF9-33CE-450A-B360-26406AA3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65" y="6255766"/>
            <a:ext cx="422199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throughout the year.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FDF01-63ED-4D78-B6EC-33CEC13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C2B97-D148-45E7-90DC-CF999922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 of 8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42272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2ba740b764aff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0E82F-965C-430D-BDD7-A8AC303B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460" y="548132"/>
            <a:ext cx="3849111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Sidereal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DCB63-9CAC-4089-95EB-CBB8BCFC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5336286"/>
            <a:ext cx="135890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7A155-D366-44AF-8A85-EBDD375F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5351526"/>
            <a:ext cx="5328801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sidereal day is about 23h 56m long.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8B7B9-DA2B-4A38-826F-041B54E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5671566"/>
            <a:ext cx="135890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0E1AC-A4CA-4A6C-AEA6-A938B86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5686806"/>
            <a:ext cx="7671002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sidereal day the Sun is at the same place in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E9D5C-84E1-43A1-A455-CE24E841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6022086"/>
            <a:ext cx="54604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B9C8A-4EBD-4694-B24C-1DD2941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6342126"/>
            <a:ext cx="135890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8587-0381-46FF-ADFF-C48D0E0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34" y="6357366"/>
            <a:ext cx="7440078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Sun is found 4 minutes of RA different each day.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A1BA4-1486-4161-A58C-7D1328ED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4" y="6692646"/>
            <a:ext cx="399355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2h per month = 4m per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CB079-903B-491F-9EFD-2BBFAF82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48147-F594-4AE8-BA03-8140F7B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6 of 8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91118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87c92ed3e4121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7929A-78D1-4C98-837E-C482B66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" y="548132"/>
            <a:ext cx="7094078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Sidereal Time (LST)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427FA-FE4E-4C89-9D54-314ECB7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1448816"/>
            <a:ext cx="1803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2E81-D660-49E9-BF70-3B75CD0C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72" y="1470406"/>
            <a:ext cx="7742434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RA of an object on your meridian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74320-B8F7-493A-9AD0-FB37823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1958086"/>
            <a:ext cx="501123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by definition the LST!!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ED534-13CC-4591-B4AF-A7DCC12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2424176"/>
            <a:ext cx="1803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BFCE6-857C-4C04-A956-31DEE79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445766"/>
            <a:ext cx="290404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 = LST - 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62AFB-8736-46A9-9DBB-A5BAE74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2911856"/>
            <a:ext cx="1803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FB0AB-A824-42E9-A684-1DF5791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933446"/>
            <a:ext cx="7177741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LST is the hour angle of the vernal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3A159-750E-4596-BBF0-F83A68B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3419856"/>
            <a:ext cx="4969372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equinox at your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803BA-1435-4CDE-9CA1-334752F7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3885946"/>
            <a:ext cx="1803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B0B47-179B-40B1-AEE8-E857299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72" y="3907536"/>
            <a:ext cx="7840783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Sun is found 2 hours advanced in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F5085-58D7-4BD3-BE06-0FD3AD4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4395216"/>
            <a:ext cx="6613256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 each month, SO THIS IS THE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5C378-A16B-4D7B-BDF7-F4BAC83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4882896"/>
            <a:ext cx="6600240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DIFFERENCE BETWEEN LST and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2FBAD-3DC0-4383-A19C-449B726A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5370576"/>
            <a:ext cx="3069445" cy="6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“normal” time!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79149-2C86-4483-8AB6-16D86D8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0909C-0D42-4EDB-B759-CC5B0AB2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7 of 8</a:t>
            </a:r>
          </a:p>
        </p:txBody>
      </p:sp>
      <p:sp>
        <p:nvSpPr>
          <p:cNvPr id="2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21087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44427cec3401e"/>
          <a:stretch xmlns:a="http://schemas.openxmlformats.org/drawingml/2006/main"/>
        </p:blipFill>
        <p:spPr>
          <a:xfrm xmlns:a="http://schemas.openxmlformats.org/drawingml/2006/main">
            <a:off x="0" y="34290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84B3-BB16-4ACF-BFB2-16DBF83B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" y="548132"/>
            <a:ext cx="435204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LST Calculators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50CD9-2FCF-45A4-A14C-612A3162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258826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2FE06-1EE7-4B05-87CE-CEB3F77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289179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724D5-43FE-4B98-89B0-9D14B4F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905760"/>
            <a:ext cx="6401081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Easiest to remove the longitude complication, for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532CC-FE8E-42A3-825C-E788EB15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3210560"/>
            <a:ext cx="2077475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comprehension.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2F278-3537-414A-AC1E-6D479E1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350139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91CB7-A5DA-4F1C-95DE-319592E6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380619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DD47F-04FE-43A8-834B-380B18B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3820160"/>
            <a:ext cx="7511835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 the Vernal Equinox, at Grenwich England, the Sun is at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0EE5F-701A-4115-9171-763B2AC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4123690"/>
            <a:ext cx="7607074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0h RA.  The RA of an object on your meridian is the LST, so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F3615-2390-40B0-BDE2-E6EE42F7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4428490"/>
            <a:ext cx="7127018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Sun is on your meridian (noon), the LST is 0h.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15C21-72B1-4E3A-A227-0880681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471932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FE499-79FB-411C-BE67-4C340763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4733290"/>
            <a:ext cx="7355614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LST must catch up 24 hours a year, so 6 months later on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3124A-1396-43B1-8829-51565EA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5038090"/>
            <a:ext cx="7352322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fall equinox the LST and Solar time must be identical.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38346-465A-4589-88E8-A192D88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532892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24A80-6E98-48BE-9ACB-8ED72FB0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" y="5633720"/>
            <a:ext cx="127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4F1F7-764A-44F3-9845-2890287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5646420"/>
            <a:ext cx="5735095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Adding longitude complicates things further!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47C58-1FF0-498D-B474-269B43D6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3229"/>
            <a:ext cx="59182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US Naval Observatory sidereal-time calculator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939AB-1F76-4F9D-8339-086CFBD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6929"/>
            <a:ext cx="5434838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https://aa.usno.navy.mil/data/siderealtime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C311C-6762-484A-BA52-096AA2A0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8729"/>
            <a:ext cx="5181091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 the date, UT1 time, and longitude.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28B18-1921-46C2-9C04-097B815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9615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7D038-5264-4664-8085-E6FD12C1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96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8 of 8</a:t>
            </a:r>
          </a:p>
        </p:txBody>
      </p:sp>
      <p:sp>
        <p:nvSpPr>
          <p:cNvPr id="25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11357"/>
            <a:ext cx="5880100" cy="295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6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57"/>
            <a:ext cx="5396738" cy="295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Link 3">
            <ns0:hlinkClick xmlns:ns0="http://schemas.openxmlformats.org/drawingml/2006/main" xmlns:ns1="http://schemas.openxmlformats.org/officeDocument/2006/relationships" ns1:id="rIdDspira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6929"/>
            <a:ext cx="5434838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3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5638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Time and planning observations</dc:title>
  <dcterms:created xsi:type="dcterms:W3CDTF">2026-09-26T20:03:23.5910000Z</dcterms:created>
  <dcterms:modified xsi:type="dcterms:W3CDTF">2026-09-26T20:03:23.5910000Z</dcterms:modified>
</coreProperties>
</file>