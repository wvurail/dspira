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8f08d7a7804b37" /><Relationship Type="http://schemas.openxmlformats.org/officeDocument/2006/relationships/extended-properties" Target="/docProps/app.xml" Id="R5f7f913ff7484663" /><Relationship Type="http://schemas.openxmlformats.org/officeDocument/2006/relationships/officeDocument" Target="/ppt/presentation.xml" Id="Rdae504b89778496e" /></Relationships>
</file>

<file path=ppt/presentation.xml><?xml version="1.0" encoding="utf-8"?>
<p:presentation xmlns:p="http://schemas.openxmlformats.org/presentationml/2006/main">
  <p:sldMasterIdLst>
    <p:sldMasterId xmlns:ns0="http://schemas.openxmlformats.org/officeDocument/2006/relationships" id="2147483648" ns0:id="rIdWvuMaster"/>
  </p:sldMasterIdLst>
  <p:notesMasterIdLst>
    <p:notesMasterId xmlns:r="http://schemas.openxmlformats.org/officeDocument/2006/relationships" r:id="Rab3b452f7acc4073"/>
  </p:notesMasterIdLst>
  <p:sldIdLst>
    <p:sldId xmlns:r="http://schemas.openxmlformats.org/officeDocument/2006/relationships" id="256" r:id="R1deda5e820924c6c"/>
    <p:sldId xmlns:r="http://schemas.openxmlformats.org/officeDocument/2006/relationships" id="257" r:id="R02e83cf6a4694d7b"/>
    <p:sldId xmlns:r="http://schemas.openxmlformats.org/officeDocument/2006/relationships" id="258" r:id="R78e2cf721e584907"/>
    <p:sldId xmlns:r="http://schemas.openxmlformats.org/officeDocument/2006/relationships" id="259" r:id="R03a0851c75cd433e"/>
    <p:sldId xmlns:r="http://schemas.openxmlformats.org/officeDocument/2006/relationships" id="260" r:id="R1e8cc8c1d83f47b2"/>
    <p:sldId xmlns:r="http://schemas.openxmlformats.org/officeDocument/2006/relationships" id="261" r:id="R628fdac0a38d477b"/>
    <p:sldId xmlns:r="http://schemas.openxmlformats.org/officeDocument/2006/relationships" id="262" r:id="Rf9f7f882ad9e4739"/>
    <p:sldId xmlns:r="http://schemas.openxmlformats.org/officeDocument/2006/relationships" id="263" r:id="R93ad2d93c1ff493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b97f5ba9d6194fed"/><Relationship Type="http://schemas.openxmlformats.org/officeDocument/2006/relationships/notesMaster" Target="/ppt/notesMasters/notesMaster1.xml" Id="Rab3b452f7acc4073"/><Relationship Type="http://schemas.openxmlformats.org/officeDocument/2006/relationships/presProps" Target="/ppt/presProps.xml" Id="Raa3f531da8994682"/><Relationship Type="http://schemas.openxmlformats.org/officeDocument/2006/relationships/tableStyles" Target="/ppt/tableStyles.xml" Id="R6b4741f538ff4858"/><Relationship Type="http://schemas.openxmlformats.org/officeDocument/2006/relationships/slide" Target="/ppt/slides/slide1.xml" Id="R1deda5e820924c6c"/><Relationship Type="http://schemas.openxmlformats.org/officeDocument/2006/relationships/slide" Target="/ppt/slides/slide2.xml" Id="R02e83cf6a4694d7b"/><Relationship Type="http://schemas.openxmlformats.org/officeDocument/2006/relationships/slide" Target="/ppt/slides/slide3.xml" Id="R78e2cf721e584907"/><Relationship Type="http://schemas.openxmlformats.org/officeDocument/2006/relationships/slide" Target="/ppt/slides/slide4.xml" Id="R03a0851c75cd433e"/><Relationship Type="http://schemas.openxmlformats.org/officeDocument/2006/relationships/slide" Target="/ppt/slides/slide5.xml" Id="R1e8cc8c1d83f47b2"/><Relationship Type="http://schemas.openxmlformats.org/officeDocument/2006/relationships/slide" Target="/ppt/slides/slide6.xml" Id="R628fdac0a38d477b"/><Relationship Type="http://schemas.openxmlformats.org/officeDocument/2006/relationships/slide" Target="/ppt/slides/slide7.xml" Id="Rf9f7f882ad9e4739"/><Relationship Type="http://schemas.openxmlformats.org/officeDocument/2006/relationships/slide" Target="/ppt/slides/slide8.xml" Id="R93ad2d93c1ff493d"/><Relationship Id="rIdWvuMaster" Type="http://schemas.openxmlformats.org/officeDocument/2006/relationships/slideMaster" Target="slideMasters/slideMaster1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55e3af29b0b42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47433e505541e1" /><Relationship Type="http://schemas.openxmlformats.org/officeDocument/2006/relationships/notesMaster" Target="/ppt/notesMasters/notesMaster1.xml" Id="R7f0187dfbd5a46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bc879275a484263" /><Relationship Type="http://schemas.openxmlformats.org/officeDocument/2006/relationships/notesMaster" Target="/ppt/notesMasters/notesMaster1.xml" Id="Rf1a9aa38fd0941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1efda28d6494cd9" /><Relationship Type="http://schemas.openxmlformats.org/officeDocument/2006/relationships/notesMaster" Target="/ppt/notesMasters/notesMaster1.xml" Id="R34553307aacc40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9b3464c33994035" /><Relationship Type="http://schemas.openxmlformats.org/officeDocument/2006/relationships/notesMaster" Target="/ppt/notesMasters/notesMaster1.xml" Id="R86fe0fb16d4842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0a4f6476bdc4810" /><Relationship Type="http://schemas.openxmlformats.org/officeDocument/2006/relationships/notesMaster" Target="/ppt/notesMasters/notesMaster1.xml" Id="R9d3cb97274664c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778caddf478411c" /><Relationship Type="http://schemas.openxmlformats.org/officeDocument/2006/relationships/notesMaster" Target="/ppt/notesMasters/notesMaster1.xml" Id="R8bb9967e34a0443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5a8a6782514424a" /><Relationship Type="http://schemas.openxmlformats.org/officeDocument/2006/relationships/notesMaster" Target="/ppt/notesMasters/notesMaster1.xml" Id="R3b417a7497e24d7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55a266c1444cd2" /><Relationship Type="http://schemas.openxmlformats.org/officeDocument/2006/relationships/notesMaster" Target="/ppt/notesMasters/notesMaster1.xml" Id="Rf536cb2e544841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assets/lessons/lectures/astronomy/time-and-planning-observations.pdf,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assets/lessons/lectures/astronomy/time-and-planning-observations.pdf,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assets/lessons/lectures/astronomy/time-and-planning-observations.pdf,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assets/lessons/lectures/astronomy/time-and-planning-observations.pdf,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assets/lessons/lectures/astronomy/time-and-planning-observations.pdf,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assets/lessons/lectures/astronomy/time-and-planning-observations.pdf,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assets/lessons/lectures/astronomy/time-and-planning-observations.pdf,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assets/lessons/lectures/astronomy/time-and-planning-observations.pdf,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[Lesson title]</a:t>
            </a: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 short description of the investigation]</a:t>
            </a: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[Teacher or school]</a:t>
            </a:r>
          </a:p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[Course / grade level]   [Date]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 and 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Our investigation</a:t>
            </a: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Essential question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investigate?]</a:t>
            </a: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Learning goals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be able to explain or do?]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nation and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[Key idea]</a:t>
            </a: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the main idea.]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[Define a new term or connect it to prior learning.]</a:t>
            </a: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figure or diagram]</a:t>
            </a: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[Figure caption and source credit]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vity steps title 0">
            <a:extLst>
              <a:ext uri="{FF2B5EF4-FFF2-40B4-BE49-F238E27FC236}">
                <a16:creationId xmlns:a16="http://schemas.microsoft.com/office/drawing/2014/main" id="{4A75A923-A588-498D-8C3D-05C7B27B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[Activity title]</a:t>
            </a:r>
          </a:p>
        </p:txBody>
      </p:sp>
      <p:sp>
        <p:nvSpPr>
          <p:cNvPr id="2" name="Activity steps body 1">
            <a:extLst>
              <a:ext uri="{FF2B5EF4-FFF2-40B4-BE49-F238E27FC236}">
                <a16:creationId xmlns:a16="http://schemas.microsoft.com/office/drawing/2014/main" id="{F15A3904-D261-4581-891D-0D974E46F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setup.]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measurement and units.]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how to record the result.]</a:t>
            </a:r>
          </a:p>
        </p:txBody>
      </p:sp>
      <p:sp>
        <p:nvSpPr>
          <p:cNvPr id="3" name="Activity steps body 2">
            <a:extLst>
              <a:ext uri="{FF2B5EF4-FFF2-40B4-BE49-F238E27FC236}">
                <a16:creationId xmlns:a16="http://schemas.microsoft.com/office/drawing/2014/main" id="{332D626C-8C62-4762-8A19-77DFBBDD378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581650"/>
            <a:ext cx="109728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[Add relevant safety or supervision instructions.]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a or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[Observation or result]</a:t>
            </a: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graph, table, or image]</a:t>
            </a: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evidence. Include units, a caption, and source credits.]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ussion and ref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What did we learn?</a:t>
            </a: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pattern do the results show?]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evidence supports your explanation?]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would you investigate next?]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VU DSPIR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WVU navy banner">
            <a:extLst>
              <a:ext uri="{FF2B5EF4-FFF2-40B4-BE49-F238E27FC236}">
                <a16:creationId xmlns:a16="http://schemas.microsoft.com/office/drawing/2014/main" id="{6D4F5CCA-FF43-4F29-8399-ACE93C08BC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524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" name="WVU gold rule">
            <a:extLst>
              <a:ext uri="{FF2B5EF4-FFF2-40B4-BE49-F238E27FC236}">
                <a16:creationId xmlns:a16="http://schemas.microsoft.com/office/drawing/2014/main" id="{B7F9BFBD-7E36-451D-96E5-BC2ED296FC2E}"/>
              </a:ext>
            </a:extLst>
          </p:cNvPr>
          <p:cNvSpPr>
            <a:spLocks noGrp="1"/>
          </p:cNvSpPr>
          <p:nvPr/>
        </p:nvSpPr>
        <p:spPr>
          <a:xfrm>
            <a:off x="0" y="552450"/>
            <a:ext cx="12192000" cy="3810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" name="WVU DSPIRA brand">
            <a:extLst>
              <a:ext uri="{FF2B5EF4-FFF2-40B4-BE49-F238E27FC236}">
                <a16:creationId xmlns:a16="http://schemas.microsoft.com/office/drawing/2014/main" id="{81DC7FEE-6B94-4036-9AF5-8A342A05842A}"/>
              </a:ext>
            </a:extLst>
          </p:cNvPr>
          <p:cNvSpPr>
            <a:spLocks noGrp="1"/>
          </p:cNvSpPr>
          <p:nvPr/>
        </p:nvSpPr>
        <p:spPr>
          <a:xfrm>
            <a:off x="457200" y="76200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University name">
            <a:extLst>
              <a:ext uri="{FF2B5EF4-FFF2-40B4-BE49-F238E27FC236}">
                <a16:creationId xmlns:a16="http://schemas.microsoft.com/office/drawing/2014/main" id="{86DE04A2-939A-456D-B0E1-0BD64EC5EF56}"/>
              </a:ext>
            </a:extLst>
          </p:cNvPr>
          <p:cNvSpPr>
            <a:spLocks noGrp="1"/>
          </p:cNvSpPr>
          <p:nvPr/>
        </p:nvSpPr>
        <p:spPr>
          <a:xfrm>
            <a:off x="7715250" y="161925"/>
            <a:ext cx="40195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  <p:sp>
        <p:nvSpPr>
          <p:cNvPr id="5" name="Website">
            <a:extLst>
              <a:ext uri="{FF2B5EF4-FFF2-40B4-BE49-F238E27FC236}">
                <a16:creationId xmlns:a16="http://schemas.microsoft.com/office/drawing/2014/main" id="{1895C86C-2B15-4605-AD65-E205FDC66179}"/>
              </a:ext>
            </a:extLst>
          </p:cNvPr>
          <p:cNvSpPr>
            <a:spLocks noGrp="1"/>
          </p:cNvSpPr>
          <p:nvPr/>
        </p:nvSpPr>
        <p:spPr>
          <a:xfrm>
            <a:off x="457200" y="63722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Automatic slide number">
            <a:extLst>
              <a:ext uri="{FF2B5EF4-FFF2-40B4-BE49-F238E27FC236}">
                <a16:creationId xmlns:a16="http://schemas.microsoft.com/office/drawing/2014/main" id="{4AD0E30E-B026-44BD-ABE4-8BF1D7897EFE}"/>
              </a:ext>
            </a:extLst>
          </p:cNvPr>
          <p:cNvSpPr>
            <a:spLocks noGrp="1"/>
          </p:cNvSpPr>
          <p:nvPr/>
        </p:nvSpPr>
        <p:spPr>
          <a:xfrm>
            <a:off x="10953750" y="6372225"/>
            <a:ext cx="7810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fld id="{018D423B-F0A3-4876-8334-4B6CD5BE88A3}" type="slidenum"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‹#›</a:t>
            </a:fld>
            <a:endParaRPr sz="1200" b="0">
              <a:solidFill>
                <a:srgbClr val="454545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bba2092221f54bc4"/><Relationship Type="http://schemas.openxmlformats.org/officeDocument/2006/relationships/image" Target="/ppt/media/image.png" Id="R54bb04d038a74a16"/><Relationship Type="http://schemas.openxmlformats.org/officeDocument/2006/relationships/notesSlide" Target="/ppt/notesSlides/notesSlide1.xml" Id="Rc8b0948bf3b84ff2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d97ae1f1a274255"/><Relationship Type="http://schemas.openxmlformats.org/officeDocument/2006/relationships/image" Target="/ppt/media/image2.png" Id="Ra88df907b3414b1b"/><Relationship Type="http://schemas.openxmlformats.org/officeDocument/2006/relationships/notesSlide" Target="/ppt/notesSlides/notesSlide2.xml" Id="R1c6d62645e2340e7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cda00597da6435c"/><Relationship Type="http://schemas.openxmlformats.org/officeDocument/2006/relationships/image" Target="/ppt/media/image3.png" Id="Ra3dbd701ede942e3"/><Relationship Type="http://schemas.openxmlformats.org/officeDocument/2006/relationships/notesSlide" Target="/ppt/notesSlides/notesSlide3.xml" Id="R359020efead3467b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f7485e721c54531"/><Relationship Type="http://schemas.openxmlformats.org/officeDocument/2006/relationships/image" Target="/ppt/media/image4.png" Id="R15a15e6bec7242c0"/><Relationship Type="http://schemas.openxmlformats.org/officeDocument/2006/relationships/notesSlide" Target="/ppt/notesSlides/notesSlide4.xml" Id="R38892d74e7d440dd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a78b0ba28fd4b41"/><Relationship Type="http://schemas.openxmlformats.org/officeDocument/2006/relationships/image" Target="/ppt/media/image5.png" Id="R96c51d7434904bdf"/><Relationship Type="http://schemas.openxmlformats.org/officeDocument/2006/relationships/notesSlide" Target="/ppt/notesSlides/notesSlide5.xml" Id="R7c472c97d2b84c01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faffa7bb5d24397"/><Relationship Type="http://schemas.openxmlformats.org/officeDocument/2006/relationships/image" Target="/ppt/media/image6.png" Id="R7a12ba740b764aff"/><Relationship Type="http://schemas.openxmlformats.org/officeDocument/2006/relationships/notesSlide" Target="/ppt/notesSlides/notesSlide6.xml" Id="Rbfdf2bd807b54175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956f8fb7efb2440f"/><Relationship Type="http://schemas.openxmlformats.org/officeDocument/2006/relationships/image" Target="/ppt/media/image7.png" Id="R52087c92ed3e4121"/><Relationship Type="http://schemas.openxmlformats.org/officeDocument/2006/relationships/notesSlide" Target="/ppt/notesSlides/notesSlide7.xml" Id="R07d87e610e294a96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ff022d976e54a97"/><Relationship Type="http://schemas.openxmlformats.org/officeDocument/2006/relationships/image" Target="/ppt/media/image8.png" Id="Rafc44427cec3401e"/><Relationship Type="http://schemas.openxmlformats.org/officeDocument/2006/relationships/notesSlide" Target="/ppt/notesSlides/notesSlide8.xml" Id="Rbb1040857f9b4745"/><Relationship Id="rIdDspiraLink1" Type="http://schemas.openxmlformats.org/officeDocument/2006/relationships/hyperlink" Target="https://aa.usno.navy.mil/data/siderealtime" TargetMode="External"/><Relationship Id="rIdDspiraLink2" Type="http://schemas.openxmlformats.org/officeDocument/2006/relationships/hyperlink" Target="https://aa.usno.navy.mil/data/siderealtime" TargetMode="External"/><Relationship Id="rIdDspiraLink3" Type="http://schemas.openxmlformats.org/officeDocument/2006/relationships/hyperlink" Target="https://aa.usno.navy.mil/data/siderealtime" TargetMode="External"/></Relationships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Time and Planning Observations</a:t>
            </a:r>
          </a:p>
        </p:txBody>
      </p:sp>
    </p:spTree>
    <p:extLst>
      <p:ext uri="{BB962C8B-B14F-4D97-AF65-F5344CB8AC3E}">
        <p14:creationId xmlns:p14="http://schemas.microsoft.com/office/powerpoint/2010/main" val="1960236356"/>
      </p:ext>
    </p:extLst>
  </p:cSld>
</p:sld>
</file>

<file path=ppt/slides/slide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Time and planning observations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df907b3414b1b"/>
          <ns0:srcRect xmlns:ns0="http://schemas.openxmlformats.org/drawingml/2006/main" l="11111" r="10317" t="3386" b="0"/>
          <a:stretch xmlns:a="http://schemas.openxmlformats.org/drawingml/2006/main"/>
        </p:blipFill>
        <p:spPr>
          <a:xfrm xmlns:a="http://schemas.openxmlformats.org/drawingml/2006/main">
            <a:off x="3892627" y="2095500"/>
            <a:ext cx="4406747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318298"/>
      </p:ext>
    </p:extLst>
  </p:cSld>
</p:sld>
</file>

<file path=ppt/slides/slide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Annalemma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dbd701ede942e3"/>
          <ns0:srcRect xmlns:ns0="http://schemas.openxmlformats.org/drawingml/2006/main" l="4762" r="8492" t="15132" b="27302"/>
          <a:stretch xmlns:a="http://schemas.openxmlformats.org/drawingml/2006/main"/>
        </p:blipFill>
        <p:spPr>
          <a:xfrm xmlns:a="http://schemas.openxmlformats.org/drawingml/2006/main">
            <a:off x="3079620" y="2095500"/>
            <a:ext cx="6032761" cy="3002582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8EFAA5-F7CD-4766-AD94-D8891F45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4641" y="5232232"/>
            <a:ext cx="5833090" cy="370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figure you get when you take a picture every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E5F467-BFB2-4585-B980-22AFD8DE2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4754" y="5510412"/>
            <a:ext cx="4977810" cy="370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day at the same time throughout the year.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6A2C6A-B62E-4BB1-9797-E7C86578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4754" y="5788593"/>
            <a:ext cx="5874948" cy="370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Sometimes the Sun runs “fast,” sometimes “slow”</a:t>
            </a:r>
          </a:p>
        </p:txBody>
      </p:sp>
    </p:spTree>
    <p:extLst>
      <p:ext uri="{BB962C8B-B14F-4D97-AF65-F5344CB8AC3E}">
        <p14:creationId xmlns:p14="http://schemas.microsoft.com/office/powerpoint/2010/main" val="1201840264"/>
      </p:ext>
    </p:extLst>
  </p:cSld>
</p:sld>
</file>

<file path=ppt/slides/slide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Annalema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a15e6bec7242c0"/>
          <ns0:srcRect xmlns:ns0="http://schemas.openxmlformats.org/drawingml/2006/main" l="39127" r="5317" t="21481" b="22751"/>
          <a:stretch xmlns:a="http://schemas.openxmlformats.org/drawingml/2006/main"/>
        </p:blipFill>
        <p:spPr>
          <a:xfrm xmlns:a="http://schemas.openxmlformats.org/drawingml/2006/main">
            <a:off x="5131142" y="2095500"/>
            <a:ext cx="4782865" cy="3600814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05C6D4-7CC8-48FE-B560-833E17E6A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7993" y="2267444"/>
            <a:ext cx="2349717" cy="42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Shape caused by: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EDBE76-7B03-434E-ABC5-73ED6E1EE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7993" y="2583113"/>
            <a:ext cx="305768" cy="42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1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71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41AD95-C27C-4F63-84D9-78C7EE67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8" y="2583113"/>
            <a:ext cx="1998541" cy="42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Eccentricity of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468CE4-CC8F-4FCD-8C52-9221238B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8" y="2898782"/>
            <a:ext cx="1652620" cy="42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Earth’s orbit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C73E31-64E9-4433-9A48-4D4DF722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7993" y="3214451"/>
            <a:ext cx="305768" cy="42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1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71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2C88C1-D7BC-41C2-87C7-27C7C497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130" y="3214451"/>
            <a:ext cx="1862404" cy="42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Tilt of Earth’s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247EA4-DDC3-4429-82C6-BB21C914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9" y="3530120"/>
            <a:ext cx="2237932" cy="42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axis (“obliquity”)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C92905-4ACC-416F-81E7-09985130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7993" y="3845789"/>
            <a:ext cx="305768" cy="42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1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71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AF98E2-2EFB-4F15-A95D-0D2D11491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130" y="3845789"/>
            <a:ext cx="2244361" cy="42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Tilt of annalema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AFF44C-80E9-465B-ADE0-11C205DDA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9" y="4161458"/>
            <a:ext cx="2159795" cy="42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due to fact that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C30BB8-6B91-48C4-ACD4-8A96C85E6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9" y="4477127"/>
            <a:ext cx="2124283" cy="42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Earth’s closest,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A4ED8F-FCF0-424D-853A-9415D31FC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9" y="4792796"/>
            <a:ext cx="2351034" cy="42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furthest distance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703B83-CBA1-44D6-B87C-E9FBDA7E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9" y="5108466"/>
            <a:ext cx="1822551" cy="42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Sun not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60F789-AB9E-46A0-9BAB-848A1BFEF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9" y="5422939"/>
            <a:ext cx="1928568" cy="42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exactly at the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F26D20-B23A-4829-B5CA-B36CF3E65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9" y="5738608"/>
            <a:ext cx="1450067" cy="42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equinoxes.</a:t>
            </a:r>
          </a:p>
        </p:txBody>
      </p:sp>
    </p:spTree>
    <p:extLst>
      <p:ext uri="{BB962C8B-B14F-4D97-AF65-F5344CB8AC3E}">
        <p14:creationId xmlns:p14="http://schemas.microsoft.com/office/powerpoint/2010/main" val="935901455"/>
      </p:ext>
    </p:extLst>
  </p:cSld>
</p:sld>
</file>

<file path=ppt/slides/slide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Equation of Time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c51d7434904bdf"/>
          <ns0:srcRect xmlns:ns0="http://schemas.openxmlformats.org/drawingml/2006/main" l="26825" r="27937" t="15556" b="31005"/>
          <a:stretch xmlns:a="http://schemas.openxmlformats.org/drawingml/2006/main"/>
        </p:blipFill>
        <p:spPr>
          <a:xfrm xmlns:a="http://schemas.openxmlformats.org/drawingml/2006/main">
            <a:off x="4504040" y="2095500"/>
            <a:ext cx="3058605" cy="2709816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81837A-8F85-456A-B795-3BE2ED38D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4919" y="4958461"/>
            <a:ext cx="6002161" cy="480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Tells you the amount of time the Sun is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DE8E3-BF2B-4765-9748-AE0630A7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066" y="5318115"/>
            <a:ext cx="5521219" cy="480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running fast or slow (the annalema)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C5ABF9-33CE-450A-B360-26406AA3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066" y="5678709"/>
            <a:ext cx="3121766" cy="480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throughout the year.</a:t>
            </a:r>
          </a:p>
        </p:txBody>
      </p:sp>
    </p:spTree>
    <p:extLst>
      <p:ext uri="{BB962C8B-B14F-4D97-AF65-F5344CB8AC3E}">
        <p14:creationId xmlns:p14="http://schemas.microsoft.com/office/powerpoint/2010/main" val="442272980"/>
      </p:ext>
    </p:extLst>
  </p:cSld>
</p:sld>
</file>

<file path=ppt/slides/slide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Sidereal Time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12ba740b764aff"/>
          <ns0:srcRect xmlns:ns0="http://schemas.openxmlformats.org/drawingml/2006/main" l="4762" r="5556" t="15979" b="29524"/>
          <a:stretch xmlns:a="http://schemas.openxmlformats.org/drawingml/2006/main"/>
        </p:blipFill>
        <p:spPr>
          <a:xfrm xmlns:a="http://schemas.openxmlformats.org/drawingml/2006/main">
            <a:off x="3173059" y="2095500"/>
            <a:ext cx="5845882" cy="266427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6DCB63-9CAC-4089-95EB-CBB8BCFC4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2858" y="4873923"/>
            <a:ext cx="96871" cy="318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8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68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17A155-D366-44AF-8A85-EBDD375F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299" y="4884787"/>
            <a:ext cx="3798704" cy="318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sidereal day is about 23h 56m long.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78B7B9-DA2B-4A38-826F-041B54E0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2858" y="5112932"/>
            <a:ext cx="96871" cy="318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8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68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30E1AC-A4CA-4A6C-AEA6-A938B86F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299" y="5123796"/>
            <a:ext cx="5468371" cy="318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sidereal day the Sun is at the same place in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2E9D5C-84E1-43A1-A455-CE24E841D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299" y="5362805"/>
            <a:ext cx="389258" cy="318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sky.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AB9C8A-4EBD-4694-B24C-1DD29418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2858" y="5590949"/>
            <a:ext cx="96871" cy="318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8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68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3C8587-0381-46FF-ADFF-C48D0E06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202" y="5601813"/>
            <a:ext cx="5303754" cy="318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Sun is found 4 minutes of RA different each day.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AA1BA4-1486-4161-A58C-7D1328ED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301" y="5840822"/>
            <a:ext cx="2846859" cy="318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2h per month = 4m per day.</a:t>
            </a:r>
          </a:p>
        </p:txBody>
      </p:sp>
    </p:spTree>
    <p:extLst>
      <p:ext uri="{BB962C8B-B14F-4D97-AF65-F5344CB8AC3E}">
        <p14:creationId xmlns:p14="http://schemas.microsoft.com/office/powerpoint/2010/main" val="391118453"/>
      </p:ext>
    </p:extLst>
  </p:cSld>
</p:sld>
</file>

<file path=ppt/slides/slide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Local Sidereal Time (LST)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087c92ed3e4121"/>
          <ns0:srcRect xmlns:ns0="http://schemas.openxmlformats.org/drawingml/2006/main" l="46746" r="5952" t="77037" b="2434"/>
          <a:stretch xmlns:a="http://schemas.openxmlformats.org/drawingml/2006/main"/>
        </p:blipFill>
        <p:spPr>
          <a:xfrm xmlns:a="http://schemas.openxmlformats.org/drawingml/2006/main">
            <a:off x="5830662" y="5135064"/>
            <a:ext cx="3147236" cy="1024436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6427FA-FE4E-4C89-9D54-314ECB7D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679" y="2095500"/>
            <a:ext cx="131223" cy="473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8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8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182E81-D660-49E9-BF70-3B75CD0C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8044" y="2111210"/>
            <a:ext cx="5633715" cy="473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RA of an object on your meridian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974320-B8F7-493A-9AD0-FB3782358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8188" y="2466066"/>
            <a:ext cx="3646378" cy="473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is by definition the LST!!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ED534-13CC-4591-B4AF-A7DCC1210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679" y="2805212"/>
            <a:ext cx="131223" cy="473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8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8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2BFCE6-857C-4C04-A956-31DEE79B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8188" y="2820922"/>
            <a:ext cx="2113104" cy="473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 = LST - 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162AFB-8736-46A9-9DBB-A5BAE744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679" y="3160068"/>
            <a:ext cx="131223" cy="473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8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8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8FB0AB-A824-42E9-A684-1DF57914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8188" y="3175778"/>
            <a:ext cx="5222821" cy="473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LST is the hour angle of the vernal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B3A159-750E-4596-BBF0-F83A68B6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8188" y="3529710"/>
            <a:ext cx="3615920" cy="473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equinox at your location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8803BA-1435-4CDE-9CA1-334752F7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679" y="3868856"/>
            <a:ext cx="131223" cy="473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8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8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7B0B47-179B-40B1-AEE8-E8572995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8044" y="3884566"/>
            <a:ext cx="5705277" cy="473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Sun is found 2 hours advanced in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9F5085-58D7-4BD3-BE06-0FD3AD44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8188" y="4239422"/>
            <a:ext cx="4812078" cy="473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 each month, SO THIS IS THE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D5C378-A16B-4D7B-BDF7-F4BAC838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8188" y="4594278"/>
            <a:ext cx="4802607" cy="473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DIFFERENCE BETWEEN LST and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B2FBAD-3DC0-4383-A19C-449B726A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8188" y="4949134"/>
            <a:ext cx="2233455" cy="473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“normal” time!</a:t>
            </a:r>
          </a:p>
        </p:txBody>
      </p:sp>
    </p:spTree>
    <p:extLst>
      <p:ext uri="{BB962C8B-B14F-4D97-AF65-F5344CB8AC3E}">
        <p14:creationId xmlns:p14="http://schemas.microsoft.com/office/powerpoint/2010/main" val="1321087110"/>
      </p:ext>
    </p:extLst>
  </p:cSld>
</p:sld>
</file>

<file path=ppt/slides/slide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LST Calculators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c44427cec3401e"/>
          <ns0:srcRect xmlns:ns0="http://schemas.openxmlformats.org/drawingml/2006/main" l="9286" r="25873" t="20952" b="72487"/>
          <a:stretch xmlns:a="http://schemas.openxmlformats.org/drawingml/2006/main"/>
        </p:blipFill>
        <p:spPr>
          <a:xfrm xmlns:a="http://schemas.openxmlformats.org/drawingml/2006/main">
            <a:off x="2814788" y="2342565"/>
            <a:ext cx="5296257" cy="401919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750CD9-2FCF-45A4-A14C-612A3162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5275" y="3064722"/>
            <a:ext cx="113445" cy="3630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8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F2FE06-1EE7-4B05-87CE-CEB3F778D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5275" y="3335856"/>
            <a:ext cx="113445" cy="3630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8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0724D5-43FE-4B98-89B0-9D14B4F9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1576" y="3348335"/>
            <a:ext cx="5717875" cy="3630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Easiest to remove the longitude complication, for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1532CC-FE8E-42A3-825C-E788EB15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1576" y="3620603"/>
            <a:ext cx="1855740" cy="3630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comprehension.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D2F278-3537-414A-AC1E-6D479E15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5275" y="3880391"/>
            <a:ext cx="113445" cy="3630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8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691CB7-A5DA-4F1C-95DE-319592E6E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5275" y="4152659"/>
            <a:ext cx="113445" cy="3630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8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9DD47F-04FE-43A8-834B-380B18B3B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1576" y="4165138"/>
            <a:ext cx="6710075" cy="3630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 the Vernal Equinox, at Grenwich England, the Sun is at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00EE5F-701A-4115-9171-763B2AC7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1576" y="4436272"/>
            <a:ext cx="6795149" cy="3630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0h RA.  The RA of an object on your meridian is the LST, so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5F3615-2390-40B0-BDE2-E6EE42F7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1576" y="4708539"/>
            <a:ext cx="6366331" cy="3630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the Sun is on your meridian (noon), the LST is 0h.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A15C21-72B1-4E3A-A227-0880681F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5275" y="4968328"/>
            <a:ext cx="113445" cy="3630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8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1FE499-79FB-411C-BE67-4C340763F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1576" y="4980807"/>
            <a:ext cx="6570528" cy="3630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LST must catch up 24 hours a year, so 6 months later on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D3124A-1396-43B1-8829-51565EAF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1576" y="5253075"/>
            <a:ext cx="6567588" cy="3630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fall equinox the LST and Solar time must be identical.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838346-465A-4589-88E8-A192D889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5275" y="5512864"/>
            <a:ext cx="113445" cy="3630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8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A24A80-6E98-48BE-9ACB-8ED72FB06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5275" y="5785132"/>
            <a:ext cx="113445" cy="3630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8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A4F1F7-764A-44F3-9845-28902874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1576" y="5796476"/>
            <a:ext cx="5122972" cy="3630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Adding longitude complicates things further!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A47C58-1FF0-498D-B474-269B43D6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9097" y="2095500"/>
            <a:ext cx="5286533" cy="3630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7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1787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US Naval Observatory sidereal-time calculator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9939AB-1F76-4F9D-8339-086CFBD0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9097" y="2447179"/>
            <a:ext cx="4854762" cy="3630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7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1787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https://aa.usno.navy.mil/data/siderealtime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4C311C-6762-484A-BA52-096AA2A0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9097" y="2832892"/>
            <a:ext cx="4628098" cy="3630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Enter the date, UT1 time, and longitude.</a:t>
            </a:r>
          </a:p>
        </p:txBody>
      </p:sp>
      <p:sp>
        <p:nvSpPr>
          <p:cNvPr id="25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9097" y="2102760"/>
            <a:ext cx="5252500" cy="26387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26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9097" y="2454440"/>
            <a:ext cx="4820729" cy="26387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27" name="Link 3">
            <ns0:hlinkClick xmlns:ns0="http://schemas.openxmlformats.org/drawingml/2006/main" xmlns:ns1="http://schemas.openxmlformats.org/officeDocument/2006/relationships" ns1:id="rIdDspiraLin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9097" y="2447179"/>
            <a:ext cx="4854762" cy="3630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563839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-ready.pptx" id="{6D5A5D80-B59F-47FE-A006-FBFC2926142F}" vid="{69CEE3E8-36C9-43B0-A0FB-27FA92D72A34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Time and planning observations</dc:title>
  <dcterms:created xsi:type="dcterms:W3CDTF">2026-09-26T20:03:23.5910000Z</dcterms:created>
  <dcterms:modified xsi:type="dcterms:W3CDTF">2026-09-26T20:03:23.5910000Z</dcterms:modified>
</coreProperties>
</file>