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482987928f64909" /><Relationship Type="http://schemas.openxmlformats.org/officeDocument/2006/relationships/extended-properties" Target="/docProps/app.xml" Id="R79d53fb2dd80420b" /><Relationship Type="http://schemas.openxmlformats.org/officeDocument/2006/relationships/officeDocument" Target="/ppt/presentation.xml" Id="Ra3e64eeb287342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8e14a5d1314e5d"/>
  </p:sldMasterIdLst>
  <p:notesMasterIdLst>
    <p:notesMasterId xmlns:r="http://schemas.openxmlformats.org/officeDocument/2006/relationships" r:id="Rcf97185289bb41b0"/>
  </p:notesMasterIdLst>
  <p:sldIdLst>
    <p:sldId xmlns:r="http://schemas.openxmlformats.org/officeDocument/2006/relationships" id="256" r:id="Rf540d3a6ee8d48e7"/>
    <p:sldId xmlns:r="http://schemas.openxmlformats.org/officeDocument/2006/relationships" id="257" r:id="R018a689a0ef84b27"/>
    <p:sldId xmlns:r="http://schemas.openxmlformats.org/officeDocument/2006/relationships" id="258" r:id="Ra9df34a8b1974883"/>
    <p:sldId xmlns:r="http://schemas.openxmlformats.org/officeDocument/2006/relationships" id="259" r:id="R8038d80114594a0b"/>
    <p:sldId xmlns:r="http://schemas.openxmlformats.org/officeDocument/2006/relationships" id="260" r:id="R673ad40d2a2d4aea"/>
    <p:sldId xmlns:r="http://schemas.openxmlformats.org/officeDocument/2006/relationships" id="261" r:id="Rf6d56485645d4721"/>
    <p:sldId xmlns:r="http://schemas.openxmlformats.org/officeDocument/2006/relationships" id="262" r:id="Refb73229a8b54c7e"/>
    <p:sldId xmlns:r="http://schemas.openxmlformats.org/officeDocument/2006/relationships" id="263" r:id="Rea2dce902f954a87"/>
    <p:sldId xmlns:r="http://schemas.openxmlformats.org/officeDocument/2006/relationships" id="264" r:id="R844e7d6c728e4f0a"/>
    <p:sldId xmlns:r="http://schemas.openxmlformats.org/officeDocument/2006/relationships" id="265" r:id="Raa331da163bc4b9f"/>
    <p:sldId xmlns:r="http://schemas.openxmlformats.org/officeDocument/2006/relationships" id="266" r:id="R12e490dd684d488a"/>
    <p:sldId xmlns:r="http://schemas.openxmlformats.org/officeDocument/2006/relationships" id="267" r:id="Rfcb4261179a345a6"/>
    <p:sldId xmlns:r="http://schemas.openxmlformats.org/officeDocument/2006/relationships" id="268" r:id="Raf57298db5ed4ee9"/>
    <p:sldId xmlns:r="http://schemas.openxmlformats.org/officeDocument/2006/relationships" id="269" r:id="R85c625c42eaa4b38"/>
    <p:sldId xmlns:r="http://schemas.openxmlformats.org/officeDocument/2006/relationships" id="270" r:id="R4e923a7180504d9a"/>
    <p:sldId xmlns:r="http://schemas.openxmlformats.org/officeDocument/2006/relationships" id="271" r:id="Rc1867a833c124a2c"/>
    <p:sldId xmlns:r="http://schemas.openxmlformats.org/officeDocument/2006/relationships" id="272" r:id="Rbd70d92ba06f467b"/>
    <p:sldId xmlns:r="http://schemas.openxmlformats.org/officeDocument/2006/relationships" id="273" r:id="R08caaf4b72d14b4f"/>
    <p:sldId xmlns:r="http://schemas.openxmlformats.org/officeDocument/2006/relationships" id="274" r:id="R6ee4bad096fd4f74"/>
    <p:sldId xmlns:r="http://schemas.openxmlformats.org/officeDocument/2006/relationships" id="275" r:id="R4fa4a91775144f41"/>
    <p:sldId xmlns:r="http://schemas.openxmlformats.org/officeDocument/2006/relationships" id="276" r:id="R009c47626d0b48c4"/>
    <p:sldId xmlns:r="http://schemas.openxmlformats.org/officeDocument/2006/relationships" id="277" r:id="Rdb5e295203fe4e19"/>
    <p:sldId xmlns:r="http://schemas.openxmlformats.org/officeDocument/2006/relationships" id="278" r:id="R0ab46a5ce5414d3b"/>
    <p:sldId xmlns:r="http://schemas.openxmlformats.org/officeDocument/2006/relationships" id="279" r:id="R7c613d010ef149e6"/>
    <p:sldId xmlns:r="http://schemas.openxmlformats.org/officeDocument/2006/relationships" id="280" r:id="Rbbd45a1ac5ef4263"/>
    <p:sldId xmlns:r="http://schemas.openxmlformats.org/officeDocument/2006/relationships" id="281" r:id="R101a12b89a9f41fe"/>
    <p:sldId xmlns:r="http://schemas.openxmlformats.org/officeDocument/2006/relationships" id="282" r:id="Raef09274cd94477e"/>
    <p:sldId xmlns:r="http://schemas.openxmlformats.org/officeDocument/2006/relationships" id="283" r:id="R2e0f27d897cd4eee"/>
    <p:sldId xmlns:r="http://schemas.openxmlformats.org/officeDocument/2006/relationships" id="284" r:id="Re8d8c2f534fe494c"/>
    <p:sldId xmlns:r="http://schemas.openxmlformats.org/officeDocument/2006/relationships" id="285" r:id="R3fba71568b454562"/>
    <p:sldId xmlns:r="http://schemas.openxmlformats.org/officeDocument/2006/relationships" id="286" r:id="R2c61bf64ca284eb5"/>
    <p:sldId xmlns:r="http://schemas.openxmlformats.org/officeDocument/2006/relationships" id="287" r:id="Rf3179adf32fc4a47"/>
    <p:sldId xmlns:r="http://schemas.openxmlformats.org/officeDocument/2006/relationships" id="288" r:id="R552c72369cec44e1"/>
    <p:sldId xmlns:r="http://schemas.openxmlformats.org/officeDocument/2006/relationships" id="289" r:id="Ra099047b3ff24e45"/>
    <p:sldId xmlns:r="http://schemas.openxmlformats.org/officeDocument/2006/relationships" id="290" r:id="R30d7a41c33434730"/>
    <p:sldId xmlns:r="http://schemas.openxmlformats.org/officeDocument/2006/relationships" id="291" r:id="R5bb1c9c09e4041e3"/>
    <p:sldId xmlns:r="http://schemas.openxmlformats.org/officeDocument/2006/relationships" id="292" r:id="R8f0210c0fdd040e4"/>
    <p:sldId xmlns:r="http://schemas.openxmlformats.org/officeDocument/2006/relationships" id="293" r:id="Rdef12b4270aa489a"/>
    <p:sldId xmlns:r="http://schemas.openxmlformats.org/officeDocument/2006/relationships" id="294" r:id="R5b17df0538fd4286"/>
    <p:sldId xmlns:r="http://schemas.openxmlformats.org/officeDocument/2006/relationships" id="295" r:id="Re4e2bdfa09c549d5"/>
    <p:sldId xmlns:r="http://schemas.openxmlformats.org/officeDocument/2006/relationships" id="296" r:id="R113fd286077742e1"/>
    <p:sldId xmlns:r="http://schemas.openxmlformats.org/officeDocument/2006/relationships" id="297" r:id="Rfbf51db55ca64df3"/>
    <p:sldId xmlns:r="http://schemas.openxmlformats.org/officeDocument/2006/relationships" id="298" r:id="Rb6524df6af9d46d4"/>
    <p:sldId xmlns:r="http://schemas.openxmlformats.org/officeDocument/2006/relationships" id="299" r:id="Rab9b75628f4746bb"/>
    <p:sldId xmlns:r="http://schemas.openxmlformats.org/officeDocument/2006/relationships" id="300" r:id="Rc5a1f4558d45403e"/>
    <p:sldId xmlns:r="http://schemas.openxmlformats.org/officeDocument/2006/relationships" id="301" r:id="Re818f1368a8c49b6"/>
    <p:sldId xmlns:r="http://schemas.openxmlformats.org/officeDocument/2006/relationships" id="302" r:id="R76b1b15048214d17"/>
    <p:sldId xmlns:r="http://schemas.openxmlformats.org/officeDocument/2006/relationships" id="303" r:id="Recbf521c42f24288"/>
    <p:sldId xmlns:r="http://schemas.openxmlformats.org/officeDocument/2006/relationships" id="304" r:id="R6a866a6a730b44ff"/>
    <p:sldId xmlns:r="http://schemas.openxmlformats.org/officeDocument/2006/relationships" id="305" r:id="Rf0d63186eb64444e"/>
    <p:sldId xmlns:r="http://schemas.openxmlformats.org/officeDocument/2006/relationships" id="306" r:id="R089f583088bc4b48"/>
  </p:sldIdLst>
  <p:sldSz cx="10058400" cy="84582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e755d5c2813404c" /><Relationship Type="http://schemas.openxmlformats.org/officeDocument/2006/relationships/slideMaster" Target="/ppt/slideMasters/slideMaster1.xml" Id="R638e14a5d1314e5d" /><Relationship Type="http://schemas.openxmlformats.org/officeDocument/2006/relationships/notesMaster" Target="/ppt/notesMasters/notesMaster1.xml" Id="Rcf97185289bb41b0" /><Relationship Type="http://schemas.openxmlformats.org/officeDocument/2006/relationships/presProps" Target="/ppt/presProps.xml" Id="Rfe4a9334532e4f1a" /><Relationship Type="http://schemas.openxmlformats.org/officeDocument/2006/relationships/tableStyles" Target="/ppt/tableStyles.xml" Id="R1655ee34f7c34874" /><Relationship Type="http://schemas.openxmlformats.org/officeDocument/2006/relationships/slide" Target="/ppt/slides/slide1.xml" Id="Rf540d3a6ee8d48e7" /><Relationship Type="http://schemas.openxmlformats.org/officeDocument/2006/relationships/slide" Target="/ppt/slides/slide2.xml" Id="R018a689a0ef84b27" /><Relationship Type="http://schemas.openxmlformats.org/officeDocument/2006/relationships/slide" Target="/ppt/slides/slide3.xml" Id="Ra9df34a8b1974883" /><Relationship Type="http://schemas.openxmlformats.org/officeDocument/2006/relationships/slide" Target="/ppt/slides/slide4.xml" Id="R8038d80114594a0b" /><Relationship Type="http://schemas.openxmlformats.org/officeDocument/2006/relationships/slide" Target="/ppt/slides/slide5.xml" Id="R673ad40d2a2d4aea" /><Relationship Type="http://schemas.openxmlformats.org/officeDocument/2006/relationships/slide" Target="/ppt/slides/slide6.xml" Id="Rf6d56485645d4721" /><Relationship Type="http://schemas.openxmlformats.org/officeDocument/2006/relationships/slide" Target="/ppt/slides/slide7.xml" Id="Refb73229a8b54c7e" /><Relationship Type="http://schemas.openxmlformats.org/officeDocument/2006/relationships/slide" Target="/ppt/slides/slide8.xml" Id="Rea2dce902f954a87" /><Relationship Type="http://schemas.openxmlformats.org/officeDocument/2006/relationships/slide" Target="/ppt/slides/slide9.xml" Id="R844e7d6c728e4f0a" /><Relationship Type="http://schemas.openxmlformats.org/officeDocument/2006/relationships/slide" Target="/ppt/slides/slide10.xml" Id="Raa331da163bc4b9f" /><Relationship Type="http://schemas.openxmlformats.org/officeDocument/2006/relationships/slide" Target="/ppt/slides/slide11.xml" Id="R12e490dd684d488a" /><Relationship Type="http://schemas.openxmlformats.org/officeDocument/2006/relationships/slide" Target="/ppt/slides/slide12.xml" Id="Rfcb4261179a345a6" /><Relationship Type="http://schemas.openxmlformats.org/officeDocument/2006/relationships/slide" Target="/ppt/slides/slide13.xml" Id="Raf57298db5ed4ee9" /><Relationship Type="http://schemas.openxmlformats.org/officeDocument/2006/relationships/slide" Target="/ppt/slides/slide14.xml" Id="R85c625c42eaa4b38" /><Relationship Type="http://schemas.openxmlformats.org/officeDocument/2006/relationships/slide" Target="/ppt/slides/slide15.xml" Id="R4e923a7180504d9a" /><Relationship Type="http://schemas.openxmlformats.org/officeDocument/2006/relationships/slide" Target="/ppt/slides/slide16.xml" Id="Rc1867a833c124a2c" /><Relationship Type="http://schemas.openxmlformats.org/officeDocument/2006/relationships/slide" Target="/ppt/slides/slide17.xml" Id="Rbd70d92ba06f467b" /><Relationship Type="http://schemas.openxmlformats.org/officeDocument/2006/relationships/slide" Target="/ppt/slides/slide18.xml" Id="R08caaf4b72d14b4f" /><Relationship Type="http://schemas.openxmlformats.org/officeDocument/2006/relationships/slide" Target="/ppt/slides/slide19.xml" Id="R6ee4bad096fd4f74" /><Relationship Type="http://schemas.openxmlformats.org/officeDocument/2006/relationships/slide" Target="/ppt/slides/slide20.xml" Id="R4fa4a91775144f41" /><Relationship Type="http://schemas.openxmlformats.org/officeDocument/2006/relationships/slide" Target="/ppt/slides/slide21.xml" Id="R009c47626d0b48c4" /><Relationship Type="http://schemas.openxmlformats.org/officeDocument/2006/relationships/slide" Target="/ppt/slides/slide22.xml" Id="Rdb5e295203fe4e19" /><Relationship Type="http://schemas.openxmlformats.org/officeDocument/2006/relationships/slide" Target="/ppt/slides/slide23.xml" Id="R0ab46a5ce5414d3b" /><Relationship Type="http://schemas.openxmlformats.org/officeDocument/2006/relationships/slide" Target="/ppt/slides/slide24.xml" Id="R7c613d010ef149e6" /><Relationship Type="http://schemas.openxmlformats.org/officeDocument/2006/relationships/slide" Target="/ppt/slides/slide25.xml" Id="Rbbd45a1ac5ef4263" /><Relationship Type="http://schemas.openxmlformats.org/officeDocument/2006/relationships/slide" Target="/ppt/slides/slide26.xml" Id="R101a12b89a9f41fe" /><Relationship Type="http://schemas.openxmlformats.org/officeDocument/2006/relationships/slide" Target="/ppt/slides/slide27.xml" Id="Raef09274cd94477e" /><Relationship Type="http://schemas.openxmlformats.org/officeDocument/2006/relationships/slide" Target="/ppt/slides/slide28.xml" Id="R2e0f27d897cd4eee" /><Relationship Type="http://schemas.openxmlformats.org/officeDocument/2006/relationships/slide" Target="/ppt/slides/slide29.xml" Id="Re8d8c2f534fe494c" /><Relationship Type="http://schemas.openxmlformats.org/officeDocument/2006/relationships/slide" Target="/ppt/slides/slide30.xml" Id="R3fba71568b454562" /><Relationship Type="http://schemas.openxmlformats.org/officeDocument/2006/relationships/slide" Target="/ppt/slides/slide31.xml" Id="R2c61bf64ca284eb5" /><Relationship Type="http://schemas.openxmlformats.org/officeDocument/2006/relationships/slide" Target="/ppt/slides/slide32.xml" Id="Rf3179adf32fc4a47" /><Relationship Type="http://schemas.openxmlformats.org/officeDocument/2006/relationships/slide" Target="/ppt/slides/slide33.xml" Id="R552c72369cec44e1" /><Relationship Type="http://schemas.openxmlformats.org/officeDocument/2006/relationships/slide" Target="/ppt/slides/slide34.xml" Id="Ra099047b3ff24e45" /><Relationship Type="http://schemas.openxmlformats.org/officeDocument/2006/relationships/slide" Target="/ppt/slides/slide35.xml" Id="R30d7a41c33434730" /><Relationship Type="http://schemas.openxmlformats.org/officeDocument/2006/relationships/slide" Target="/ppt/slides/slide36.xml" Id="R5bb1c9c09e4041e3" /><Relationship Type="http://schemas.openxmlformats.org/officeDocument/2006/relationships/slide" Target="/ppt/slides/slide37.xml" Id="R8f0210c0fdd040e4" /><Relationship Type="http://schemas.openxmlformats.org/officeDocument/2006/relationships/slide" Target="/ppt/slides/slide38.xml" Id="Rdef12b4270aa489a" /><Relationship Type="http://schemas.openxmlformats.org/officeDocument/2006/relationships/slide" Target="/ppt/slides/slide39.xml" Id="R5b17df0538fd4286" /><Relationship Type="http://schemas.openxmlformats.org/officeDocument/2006/relationships/slide" Target="/ppt/slides/slide40.xml" Id="Re4e2bdfa09c549d5" /><Relationship Type="http://schemas.openxmlformats.org/officeDocument/2006/relationships/slide" Target="/ppt/slides/slide41.xml" Id="R113fd286077742e1" /><Relationship Type="http://schemas.openxmlformats.org/officeDocument/2006/relationships/slide" Target="/ppt/slides/slide42.xml" Id="Rfbf51db55ca64df3" /><Relationship Type="http://schemas.openxmlformats.org/officeDocument/2006/relationships/slide" Target="/ppt/slides/slide43.xml" Id="Rb6524df6af9d46d4" /><Relationship Type="http://schemas.openxmlformats.org/officeDocument/2006/relationships/slide" Target="/ppt/slides/slide44.xml" Id="Rab9b75628f4746bb" /><Relationship Type="http://schemas.openxmlformats.org/officeDocument/2006/relationships/slide" Target="/ppt/slides/slide45.xml" Id="Rc5a1f4558d45403e" /><Relationship Type="http://schemas.openxmlformats.org/officeDocument/2006/relationships/slide" Target="/ppt/slides/slide46.xml" Id="Re818f1368a8c49b6" /><Relationship Type="http://schemas.openxmlformats.org/officeDocument/2006/relationships/slide" Target="/ppt/slides/slide47.xml" Id="R76b1b15048214d17" /><Relationship Type="http://schemas.openxmlformats.org/officeDocument/2006/relationships/slide" Target="/ppt/slides/slide48.xml" Id="Recbf521c42f24288" /><Relationship Type="http://schemas.openxmlformats.org/officeDocument/2006/relationships/slide" Target="/ppt/slides/slide49.xml" Id="R6a866a6a730b44ff" /><Relationship Type="http://schemas.openxmlformats.org/officeDocument/2006/relationships/slide" Target="/ppt/slides/slide50.xml" Id="Rf0d63186eb64444e" /><Relationship Type="http://schemas.openxmlformats.org/officeDocument/2006/relationships/slide" Target="/ppt/slides/slide51.xml" Id="R089f583088bc4b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a361823640441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32cbef1c8424c5d" /><Relationship Type="http://schemas.openxmlformats.org/officeDocument/2006/relationships/notesMaster" Target="/ppt/notesMasters/notesMaster1.xml" Id="R35061c0c4fde491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340c2d93944f2b" /><Relationship Type="http://schemas.openxmlformats.org/officeDocument/2006/relationships/notesMaster" Target="/ppt/notesMasters/notesMaster1.xml" Id="R6f29a971cd6d464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0c2c5b532a94d4e" /><Relationship Type="http://schemas.openxmlformats.org/officeDocument/2006/relationships/notesMaster" Target="/ppt/notesMasters/notesMaster1.xml" Id="Ree4e46258f974e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cfa7c0a3e4045ee" /><Relationship Type="http://schemas.openxmlformats.org/officeDocument/2006/relationships/notesMaster" Target="/ppt/notesMasters/notesMaster1.xml" Id="R008b80b5122c43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c663a8da9c146de" /><Relationship Type="http://schemas.openxmlformats.org/officeDocument/2006/relationships/notesMaster" Target="/ppt/notesMasters/notesMaster1.xml" Id="R6d33f2da25464f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6e6754c4ca4f36" /><Relationship Type="http://schemas.openxmlformats.org/officeDocument/2006/relationships/notesMaster" Target="/ppt/notesMasters/notesMaster1.xml" Id="Rdda3e7f69531402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0477e43489840f0" /><Relationship Type="http://schemas.openxmlformats.org/officeDocument/2006/relationships/notesMaster" Target="/ppt/notesMasters/notesMaster1.xml" Id="R92b5dadb7a1a4cf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623392f1aa84576" /><Relationship Type="http://schemas.openxmlformats.org/officeDocument/2006/relationships/notesMaster" Target="/ppt/notesMasters/notesMaster1.xml" Id="R386e63382d90415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2806809afbb4042" /><Relationship Type="http://schemas.openxmlformats.org/officeDocument/2006/relationships/notesMaster" Target="/ppt/notesMasters/notesMaster1.xml" Id="R7e27bd50c809431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d72270484b343b9" /><Relationship Type="http://schemas.openxmlformats.org/officeDocument/2006/relationships/notesMaster" Target="/ppt/notesMasters/notesMaster1.xml" Id="Re1440db587fb4de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849fecf7a0b4672" /><Relationship Type="http://schemas.openxmlformats.org/officeDocument/2006/relationships/notesMaster" Target="/ppt/notesMasters/notesMaster1.xml" Id="R16455eabfc9c4c6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800e8e92972482c" /><Relationship Type="http://schemas.openxmlformats.org/officeDocument/2006/relationships/notesMaster" Target="/ppt/notesMasters/notesMaster1.xml" Id="Rb588ddbeb377491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f097ac5dfb74d59" /><Relationship Type="http://schemas.openxmlformats.org/officeDocument/2006/relationships/notesMaster" Target="/ppt/notesMasters/notesMaster1.xml" Id="R9adf5164cfd3412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660252545fe4317" /><Relationship Type="http://schemas.openxmlformats.org/officeDocument/2006/relationships/notesMaster" Target="/ppt/notesMasters/notesMaster1.xml" Id="R89e8c61317e5416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854c70b67374c31" /><Relationship Type="http://schemas.openxmlformats.org/officeDocument/2006/relationships/notesMaster" Target="/ppt/notesMasters/notesMaster1.xml" Id="Ref3094a630ae41a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d114fe9ec284733" /><Relationship Type="http://schemas.openxmlformats.org/officeDocument/2006/relationships/notesMaster" Target="/ppt/notesMasters/notesMaster1.xml" Id="R61b7becc4abd4c9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2473f21c2274022" /><Relationship Type="http://schemas.openxmlformats.org/officeDocument/2006/relationships/notesMaster" Target="/ppt/notesMasters/notesMaster1.xml" Id="Rdd64893125d44eb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4e98e458fe94417" /><Relationship Type="http://schemas.openxmlformats.org/officeDocument/2006/relationships/notesMaster" Target="/ppt/notesMasters/notesMaster1.xml" Id="R5f9fd1bb9fad474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5129d4d46df4731" /><Relationship Type="http://schemas.openxmlformats.org/officeDocument/2006/relationships/notesMaster" Target="/ppt/notesMasters/notesMaster1.xml" Id="Rf07023d0fc1f457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040a8cd9f7b48dc" /><Relationship Type="http://schemas.openxmlformats.org/officeDocument/2006/relationships/notesMaster" Target="/ppt/notesMasters/notesMaster1.xml" Id="R0abf63a7c8ff44b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b5330c6cb094102" /><Relationship Type="http://schemas.openxmlformats.org/officeDocument/2006/relationships/notesMaster" Target="/ppt/notesMasters/notesMaster1.xml" Id="Rea5a95e6c17c4e9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b7b8b6268874680" /><Relationship Type="http://schemas.openxmlformats.org/officeDocument/2006/relationships/notesMaster" Target="/ppt/notesMasters/notesMaster1.xml" Id="Re8566fadd14348d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5c8d9f186334121" /><Relationship Type="http://schemas.openxmlformats.org/officeDocument/2006/relationships/notesMaster" Target="/ppt/notesMasters/notesMaster1.xml" Id="R574fc6ac5d46491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343f11fe17f4476" /><Relationship Type="http://schemas.openxmlformats.org/officeDocument/2006/relationships/notesMaster" Target="/ppt/notesMasters/notesMaster1.xml" Id="R62855cfaf21546e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1900d2d3a0b44ea" /><Relationship Type="http://schemas.openxmlformats.org/officeDocument/2006/relationships/notesMaster" Target="/ppt/notesMasters/notesMaster1.xml" Id="R70fa1b2a504c46c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c2ea4db17c5457c" /><Relationship Type="http://schemas.openxmlformats.org/officeDocument/2006/relationships/notesMaster" Target="/ppt/notesMasters/notesMaster1.xml" Id="R5707c8d6d0634b6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ad876f4baa44dfa" /><Relationship Type="http://schemas.openxmlformats.org/officeDocument/2006/relationships/notesMaster" Target="/ppt/notesMasters/notesMaster1.xml" Id="Rb05d229ba54a4b2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50a436e0f884f6b" /><Relationship Type="http://schemas.openxmlformats.org/officeDocument/2006/relationships/notesMaster" Target="/ppt/notesMasters/notesMaster1.xml" Id="Rcf4f81a76683468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d50e18e03114fa5" /><Relationship Type="http://schemas.openxmlformats.org/officeDocument/2006/relationships/notesMaster" Target="/ppt/notesMasters/notesMaster1.xml" Id="R158c030d6c2f40d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a7c774744f0457a" /><Relationship Type="http://schemas.openxmlformats.org/officeDocument/2006/relationships/notesMaster" Target="/ppt/notesMasters/notesMaster1.xml" Id="R574fee2686bc4a6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3cb5c0c67b34c34" /><Relationship Type="http://schemas.openxmlformats.org/officeDocument/2006/relationships/notesMaster" Target="/ppt/notesMasters/notesMaster1.xml" Id="R866e51eae6f548c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1e9cc619aa742a6" /><Relationship Type="http://schemas.openxmlformats.org/officeDocument/2006/relationships/notesMaster" Target="/ppt/notesMasters/notesMaster1.xml" Id="R85c9d6d451384e2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6871f9ea2234e0f" /><Relationship Type="http://schemas.openxmlformats.org/officeDocument/2006/relationships/notesMaster" Target="/ppt/notesMasters/notesMaster1.xml" Id="R8eacfe20cb3245c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ced2edf442b4b6d" /><Relationship Type="http://schemas.openxmlformats.org/officeDocument/2006/relationships/notesMaster" Target="/ppt/notesMasters/notesMaster1.xml" Id="R9b3fd75277d945b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36b6771ddfb445f" /><Relationship Type="http://schemas.openxmlformats.org/officeDocument/2006/relationships/notesMaster" Target="/ppt/notesMasters/notesMaster1.xml" Id="Rb61dbba1094d48d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0ed4b40d91143c7" /><Relationship Type="http://schemas.openxmlformats.org/officeDocument/2006/relationships/notesMaster" Target="/ppt/notesMasters/notesMaster1.xml" Id="R47bee803ae7c422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c7df06b570ec47be" /><Relationship Type="http://schemas.openxmlformats.org/officeDocument/2006/relationships/notesMaster" Target="/ppt/notesMasters/notesMaster1.xml" Id="R54a01b6f5ca846af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a93506cd0154a42" /><Relationship Type="http://schemas.openxmlformats.org/officeDocument/2006/relationships/notesMaster" Target="/ppt/notesMasters/notesMaster1.xml" Id="Rc96f9eb6a86c461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fa87796d96e24588" /><Relationship Type="http://schemas.openxmlformats.org/officeDocument/2006/relationships/notesMaster" Target="/ppt/notesMasters/notesMaster1.xml" Id="R0e653d68e64e4b37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627462e5294c4e21" /><Relationship Type="http://schemas.openxmlformats.org/officeDocument/2006/relationships/notesMaster" Target="/ppt/notesMasters/notesMaster1.xml" Id="R7e00d39199a440e2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faaab00eb7a46d6" /><Relationship Type="http://schemas.openxmlformats.org/officeDocument/2006/relationships/notesMaster" Target="/ppt/notesMasters/notesMaster1.xml" Id="Ra5d5d97ffbac445f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b83e91de1e384923" /><Relationship Type="http://schemas.openxmlformats.org/officeDocument/2006/relationships/notesMaster" Target="/ppt/notesMasters/notesMaster1.xml" Id="R0851e608d23f48f9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7865efff475a45e1" /><Relationship Type="http://schemas.openxmlformats.org/officeDocument/2006/relationships/notesMaster" Target="/ppt/notesMasters/notesMaster1.xml" Id="Rbc4d41fc3dc64088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64d4a4205844974" /><Relationship Type="http://schemas.openxmlformats.org/officeDocument/2006/relationships/notesMaster" Target="/ppt/notesMasters/notesMaster1.xml" Id="R0798b75d82734150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001150a7aa7e437e" /><Relationship Type="http://schemas.openxmlformats.org/officeDocument/2006/relationships/notesMaster" Target="/ppt/notesMasters/notesMaster1.xml" Id="R3025671061374df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2c3ff4021234411a" /><Relationship Type="http://schemas.openxmlformats.org/officeDocument/2006/relationships/notesMaster" Target="/ppt/notesMasters/notesMaster1.xml" Id="R20db52237f07499d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35943ccead204390" /><Relationship Type="http://schemas.openxmlformats.org/officeDocument/2006/relationships/notesMaster" Target="/ppt/notesMasters/notesMaster1.xml" Id="R3e8c0108ee6d428a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dc68c7f7c41048cd" /><Relationship Type="http://schemas.openxmlformats.org/officeDocument/2006/relationships/notesMaster" Target="/ppt/notesMasters/notesMaster1.xml" Id="R33e790eca7ca46f3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04f83cea3b0840f5" /><Relationship Type="http://schemas.openxmlformats.org/officeDocument/2006/relationships/notesMaster" Target="/ppt/notesMasters/notesMaster1.xml" Id="R4d05b69399f24129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3d8c24452ee54018" /><Relationship Type="http://schemas.openxmlformats.org/officeDocument/2006/relationships/notesMaster" Target="/ppt/notesMasters/notesMaster1.xml" Id="R3511437027204f92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cb5af750124c4106" /><Relationship Type="http://schemas.openxmlformats.org/officeDocument/2006/relationships/notesMaster" Target="/ppt/notesMasters/notesMaster1.xml" Id="Rbec84182b2de4d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29.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39.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49.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50.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assets/lessons/lectures/astronomy/stellar-evolution.pdf, page 51.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5caab114b548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eb3590536a48d6" /><Relationship Type="http://schemas.openxmlformats.org/officeDocument/2006/relationships/slideLayout" Target="/ppt/slideLayouts/slideLayout1.xml" Id="Rb4d22e3479454a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d22e3479454a1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fca2c7a56b473e" /><Relationship Type="http://schemas.openxmlformats.org/officeDocument/2006/relationships/image" Target="/ppt/media/image.png" Id="Rc1fcb329dd394ab6" /><Relationship Type="http://schemas.openxmlformats.org/officeDocument/2006/relationships/notesSlide" Target="/ppt/notesSlides/notesSlide1.xml" Id="R881aa862ac2741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8378621af541e9" /><Relationship Type="http://schemas.openxmlformats.org/officeDocument/2006/relationships/image" Target="/ppt/media/image2.png" Id="R23fc125ba9ef4278" /><Relationship Type="http://schemas.openxmlformats.org/officeDocument/2006/relationships/notesSlide" Target="/ppt/notesSlides/notesSlide2.xml" Id="Rdb6e2ac5a45748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e0050184d44b7d" /><Relationship Type="http://schemas.openxmlformats.org/officeDocument/2006/relationships/image" Target="/ppt/media/image3.png" Id="R2c5781e2bbb24f51" /><Relationship Type="http://schemas.openxmlformats.org/officeDocument/2006/relationships/notesSlide" Target="/ppt/notesSlides/notesSlide3.xml" Id="R49c3832bc4f14b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d9d7c8eba44ff6" /><Relationship Type="http://schemas.openxmlformats.org/officeDocument/2006/relationships/image" Target="/ppt/media/image4.png" Id="Ra247c64afe114efe" /><Relationship Type="http://schemas.openxmlformats.org/officeDocument/2006/relationships/notesSlide" Target="/ppt/notesSlides/notesSlide4.xml" Id="Read33d47f865411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d7b09a861d426d" /><Relationship Type="http://schemas.openxmlformats.org/officeDocument/2006/relationships/image" Target="/ppt/media/image5.png" Id="R8378da533df2434b" /><Relationship Type="http://schemas.openxmlformats.org/officeDocument/2006/relationships/notesSlide" Target="/ppt/notesSlides/notesSlide5.xml" Id="Ra1f3a91aaf7846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967fe49b484670" /><Relationship Type="http://schemas.openxmlformats.org/officeDocument/2006/relationships/image" Target="/ppt/media/image6.png" Id="R5b6366fd15eb462f" /><Relationship Type="http://schemas.openxmlformats.org/officeDocument/2006/relationships/notesSlide" Target="/ppt/notesSlides/notesSlide6.xml" Id="Rd26d52bfa8be41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f988e8a5284269" /><Relationship Type="http://schemas.openxmlformats.org/officeDocument/2006/relationships/image" Target="/ppt/media/image7.png" Id="R8c145be6fd4849b6" /><Relationship Type="http://schemas.openxmlformats.org/officeDocument/2006/relationships/notesSlide" Target="/ppt/notesSlides/notesSlide7.xml" Id="R6ace0c22e4534b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7b66a2743f4914" /><Relationship Type="http://schemas.openxmlformats.org/officeDocument/2006/relationships/image" Target="/ppt/media/image8.png" Id="Re327bd22502a4477" /><Relationship Type="http://schemas.openxmlformats.org/officeDocument/2006/relationships/notesSlide" Target="/ppt/notesSlides/notesSlide8.xml" Id="R730f5ecba051450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7ba49f17644941" /><Relationship Type="http://schemas.openxmlformats.org/officeDocument/2006/relationships/image" Target="/ppt/media/image9.png" Id="Rf8530c2d78d24283" /><Relationship Type="http://schemas.openxmlformats.org/officeDocument/2006/relationships/notesSlide" Target="/ppt/notesSlides/notesSlide9.xml" Id="R58909e2963f149c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5f0026910a4fda" /><Relationship Type="http://schemas.openxmlformats.org/officeDocument/2006/relationships/image" Target="/ppt/media/image10.png" Id="R1a009462e8f04ecf" /><Relationship Type="http://schemas.openxmlformats.org/officeDocument/2006/relationships/notesSlide" Target="/ppt/notesSlides/notesSlide10.xml" Id="Rfe74bbbb0408492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d33a2e0c64f1a" /><Relationship Type="http://schemas.openxmlformats.org/officeDocument/2006/relationships/image" Target="/ppt/media/image11.png" Id="Rd2392a510b274d2b" /><Relationship Type="http://schemas.openxmlformats.org/officeDocument/2006/relationships/notesSlide" Target="/ppt/notesSlides/notesSlide11.xml" Id="R3fae63f788ab428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29647e38e64f27" /><Relationship Type="http://schemas.openxmlformats.org/officeDocument/2006/relationships/image" Target="/ppt/media/image12.png" Id="R0f5c9c57a82e40e6" /><Relationship Type="http://schemas.openxmlformats.org/officeDocument/2006/relationships/notesSlide" Target="/ppt/notesSlides/notesSlide12.xml" Id="Rce1846ead6924e4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507d088d314027" /><Relationship Type="http://schemas.openxmlformats.org/officeDocument/2006/relationships/image" Target="/ppt/media/image13.png" Id="R30cf1173aee84e40" /><Relationship Type="http://schemas.openxmlformats.org/officeDocument/2006/relationships/notesSlide" Target="/ppt/notesSlides/notesSlide13.xml" Id="Rf4a528bda9a148b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3c3980b4d548b3" /><Relationship Type="http://schemas.openxmlformats.org/officeDocument/2006/relationships/image" Target="/ppt/media/image14.png" Id="R23e0cd45b2274363" /><Relationship Type="http://schemas.openxmlformats.org/officeDocument/2006/relationships/notesSlide" Target="/ppt/notesSlides/notesSlide14.xml" Id="Rf99e60ecd48f4d5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2ccd408c948a4" /><Relationship Type="http://schemas.openxmlformats.org/officeDocument/2006/relationships/image" Target="/ppt/media/image15.png" Id="R93982862d52147d2" /><Relationship Type="http://schemas.openxmlformats.org/officeDocument/2006/relationships/notesSlide" Target="/ppt/notesSlides/notesSlide15.xml" Id="R83ed18093546450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866ce11dcf4d91" /><Relationship Type="http://schemas.openxmlformats.org/officeDocument/2006/relationships/image" Target="/ppt/media/image16.png" Id="R8610c45c280743dc" /><Relationship Type="http://schemas.openxmlformats.org/officeDocument/2006/relationships/notesSlide" Target="/ppt/notesSlides/notesSlide16.xml" Id="R81bccb7a07c74d2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474d7afdb94130" /><Relationship Type="http://schemas.openxmlformats.org/officeDocument/2006/relationships/image" Target="/ppt/media/image17.png" Id="R9136c64a9402406e" /><Relationship Type="http://schemas.openxmlformats.org/officeDocument/2006/relationships/notesSlide" Target="/ppt/notesSlides/notesSlide17.xml" Id="R3fc5ab919367420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b9c72d426e4c08" /><Relationship Type="http://schemas.openxmlformats.org/officeDocument/2006/relationships/image" Target="/ppt/media/image18.png" Id="Rd60e505812ad48d5" /><Relationship Type="http://schemas.openxmlformats.org/officeDocument/2006/relationships/notesSlide" Target="/ppt/notesSlides/notesSlide18.xml" Id="R6ae2aff16fe8402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49d8a4301b41ec" /><Relationship Type="http://schemas.openxmlformats.org/officeDocument/2006/relationships/image" Target="/ppt/media/image19.png" Id="R7fb0aa2f6c2f422b" /><Relationship Type="http://schemas.openxmlformats.org/officeDocument/2006/relationships/notesSlide" Target="/ppt/notesSlides/notesSlide19.xml" Id="R3fd1bb58e69a458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543c9e3fb149c8" /><Relationship Type="http://schemas.openxmlformats.org/officeDocument/2006/relationships/image" Target="/ppt/media/image20.png" Id="R7fe92b72f5884b49" /><Relationship Type="http://schemas.openxmlformats.org/officeDocument/2006/relationships/notesSlide" Target="/ppt/notesSlides/notesSlide20.xml" Id="R2b941e4ad73e40f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ab5e1fca97466f" /><Relationship Type="http://schemas.openxmlformats.org/officeDocument/2006/relationships/image" Target="/ppt/media/image21.png" Id="Rb507c82de4a448a8" /><Relationship Type="http://schemas.openxmlformats.org/officeDocument/2006/relationships/notesSlide" Target="/ppt/notesSlides/notesSlide21.xml" Id="R7fd279000679481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3dea3319a14946" /><Relationship Type="http://schemas.openxmlformats.org/officeDocument/2006/relationships/image" Target="/ppt/media/image22.png" Id="Rc0ab931a6e4e4ab8" /><Relationship Type="http://schemas.openxmlformats.org/officeDocument/2006/relationships/notesSlide" Target="/ppt/notesSlides/notesSlide22.xml" Id="Rc0d8b50817ff415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1562ae54fa4208" /><Relationship Type="http://schemas.openxmlformats.org/officeDocument/2006/relationships/image" Target="/ppt/media/image23.png" Id="Rca5267a9373143cc" /><Relationship Type="http://schemas.openxmlformats.org/officeDocument/2006/relationships/notesSlide" Target="/ppt/notesSlides/notesSlide23.xml" Id="R953e96b5cdef40b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c5518b2eca427d" /><Relationship Type="http://schemas.openxmlformats.org/officeDocument/2006/relationships/image" Target="/ppt/media/image24.png" Id="R1eabaede82ce4632" /><Relationship Type="http://schemas.openxmlformats.org/officeDocument/2006/relationships/notesSlide" Target="/ppt/notesSlides/notesSlide24.xml" Id="R8cbe552fb22b4dd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197560aba647bc" /><Relationship Type="http://schemas.openxmlformats.org/officeDocument/2006/relationships/image" Target="/ppt/media/image25.png" Id="R5fe15e6693fa4e71" /><Relationship Type="http://schemas.openxmlformats.org/officeDocument/2006/relationships/notesSlide" Target="/ppt/notesSlides/notesSlide25.xml" Id="Rcf74cb6330b3404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d2bd88ec7146f5" /><Relationship Type="http://schemas.openxmlformats.org/officeDocument/2006/relationships/image" Target="/ppt/media/image26.png" Id="R556c20b16a3c4583" /><Relationship Type="http://schemas.openxmlformats.org/officeDocument/2006/relationships/notesSlide" Target="/ppt/notesSlides/notesSlide26.xml" Id="R95cd1571444b4cc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6b225a9f9a429b" /><Relationship Type="http://schemas.openxmlformats.org/officeDocument/2006/relationships/image" Target="/ppt/media/image27.png" Id="R629872024b9e4a48" /><Relationship Type="http://schemas.openxmlformats.org/officeDocument/2006/relationships/notesSlide" Target="/ppt/notesSlides/notesSlide27.xml" Id="R562c45c45540488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5fe84ff92c4e43" /><Relationship Type="http://schemas.openxmlformats.org/officeDocument/2006/relationships/image" Target="/ppt/media/image28.png" Id="R6a03d081f52d423f" /><Relationship Type="http://schemas.openxmlformats.org/officeDocument/2006/relationships/notesSlide" Target="/ppt/notesSlides/notesSlide28.xml" Id="R58d414969cb94be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3e3bf36c6d49f7" /><Relationship Type="http://schemas.openxmlformats.org/officeDocument/2006/relationships/image" Target="/ppt/media/image29.png" Id="R013e7127093c409a" /><Relationship Type="http://schemas.openxmlformats.org/officeDocument/2006/relationships/notesSlide" Target="/ppt/notesSlides/notesSlide29.xml" Id="R71d40b70ed0d471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9ae2f0e3340d2" /><Relationship Type="http://schemas.openxmlformats.org/officeDocument/2006/relationships/image" Target="/ppt/media/image30.png" Id="Rbe5c9266814449b3" /><Relationship Type="http://schemas.openxmlformats.org/officeDocument/2006/relationships/notesSlide" Target="/ppt/notesSlides/notesSlide30.xml" Id="R23faa6cb03e544d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f029fa23994f87" /><Relationship Type="http://schemas.openxmlformats.org/officeDocument/2006/relationships/image" Target="/ppt/media/image31.png" Id="R0c984f50eccd4010" /><Relationship Type="http://schemas.openxmlformats.org/officeDocument/2006/relationships/notesSlide" Target="/ppt/notesSlides/notesSlide31.xml" Id="R241e93a606d44e6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6025f79784655" /><Relationship Type="http://schemas.openxmlformats.org/officeDocument/2006/relationships/image" Target="/ppt/media/image32.png" Id="R88c7751e139a4906" /><Relationship Type="http://schemas.openxmlformats.org/officeDocument/2006/relationships/notesSlide" Target="/ppt/notesSlides/notesSlide32.xml" Id="R8f22a684302f4d0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57b664dad74e1f" /><Relationship Type="http://schemas.openxmlformats.org/officeDocument/2006/relationships/image" Target="/ppt/media/image33.png" Id="R6a48ed484b384fc3" /><Relationship Type="http://schemas.openxmlformats.org/officeDocument/2006/relationships/notesSlide" Target="/ppt/notesSlides/notesSlide33.xml" Id="Rfa8e7ed5c7184d3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d3516734c74673" /><Relationship Type="http://schemas.openxmlformats.org/officeDocument/2006/relationships/image" Target="/ppt/media/image34.png" Id="R475e31a709544d83" /><Relationship Type="http://schemas.openxmlformats.org/officeDocument/2006/relationships/notesSlide" Target="/ppt/notesSlides/notesSlide34.xml" Id="R5c64071a0dbb4fca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a59ded05c47c1" /><Relationship Type="http://schemas.openxmlformats.org/officeDocument/2006/relationships/image" Target="/ppt/media/image35.png" Id="R9a4397ab1fc249eb" /><Relationship Type="http://schemas.openxmlformats.org/officeDocument/2006/relationships/notesSlide" Target="/ppt/notesSlides/notesSlide35.xml" Id="R34be8befe3cc4446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cf9b3c3de64b18" /><Relationship Type="http://schemas.openxmlformats.org/officeDocument/2006/relationships/image" Target="/ppt/media/image36.png" Id="R533f3c3ff00d44a5" /><Relationship Type="http://schemas.openxmlformats.org/officeDocument/2006/relationships/notesSlide" Target="/ppt/notesSlides/notesSlide36.xml" Id="R96d1405f6a924a5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51b962064749db" /><Relationship Type="http://schemas.openxmlformats.org/officeDocument/2006/relationships/image" Target="/ppt/media/image37.png" Id="Rc0285931bcbd4ffa" /><Relationship Type="http://schemas.openxmlformats.org/officeDocument/2006/relationships/notesSlide" Target="/ppt/notesSlides/notesSlide37.xml" Id="R08c3c4c7aca34fbb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fb42dfb96a4633" /><Relationship Type="http://schemas.openxmlformats.org/officeDocument/2006/relationships/image" Target="/ppt/media/image38.png" Id="R1e7b7e6e41e747c1" /><Relationship Type="http://schemas.openxmlformats.org/officeDocument/2006/relationships/notesSlide" Target="/ppt/notesSlides/notesSlide38.xml" Id="Rcea8bc5e1ef84682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301aaf1a974d0a" /><Relationship Type="http://schemas.openxmlformats.org/officeDocument/2006/relationships/image" Target="/ppt/media/image39.png" Id="R0e3ec35c7ff14374" /><Relationship Type="http://schemas.openxmlformats.org/officeDocument/2006/relationships/notesSlide" Target="/ppt/notesSlides/notesSlide39.xml" Id="R6fdba796be3f40ad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ba19162fa44eb4" /><Relationship Type="http://schemas.openxmlformats.org/officeDocument/2006/relationships/image" Target="/ppt/media/image40.png" Id="R1aa4f424ba4d4c32" /><Relationship Type="http://schemas.openxmlformats.org/officeDocument/2006/relationships/notesSlide" Target="/ppt/notesSlides/notesSlide40.xml" Id="Raf8e8062a2da46fa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959e50de824f2d" /><Relationship Type="http://schemas.openxmlformats.org/officeDocument/2006/relationships/image" Target="/ppt/media/image41.png" Id="R4ecc57960f174b3c" /><Relationship Type="http://schemas.openxmlformats.org/officeDocument/2006/relationships/notesSlide" Target="/ppt/notesSlides/notesSlide41.xml" Id="R694f7d1e3168435e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a9f174f2af4fff" /><Relationship Type="http://schemas.openxmlformats.org/officeDocument/2006/relationships/image" Target="/ppt/media/image42.png" Id="R53f53f78f5994bdf" /><Relationship Type="http://schemas.openxmlformats.org/officeDocument/2006/relationships/notesSlide" Target="/ppt/notesSlides/notesSlide42.xml" Id="Rbf3b33a67ba44763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6b650cee6c44c5" /><Relationship Type="http://schemas.openxmlformats.org/officeDocument/2006/relationships/image" Target="/ppt/media/image43.png" Id="R372f358cd7704ca7" /><Relationship Type="http://schemas.openxmlformats.org/officeDocument/2006/relationships/notesSlide" Target="/ppt/notesSlides/notesSlide43.xml" Id="Rfc64fd5349604586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7ac471aef494e" /><Relationship Type="http://schemas.openxmlformats.org/officeDocument/2006/relationships/image" Target="/ppt/media/image44.png" Id="R7265b5aa875643c9" /><Relationship Type="http://schemas.openxmlformats.org/officeDocument/2006/relationships/notesSlide" Target="/ppt/notesSlides/notesSlide44.xml" Id="Rcfd90d1521fa489a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663a37585b47ff" /><Relationship Type="http://schemas.openxmlformats.org/officeDocument/2006/relationships/image" Target="/ppt/media/image45.png" Id="Ra37bf318033d4b47" /><Relationship Type="http://schemas.openxmlformats.org/officeDocument/2006/relationships/notesSlide" Target="/ppt/notesSlides/notesSlide45.xml" Id="R1153efae71b14c31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4fcd913399498f" /><Relationship Type="http://schemas.openxmlformats.org/officeDocument/2006/relationships/image" Target="/ppt/media/image46.png" Id="R766f8b8929c244ad" /><Relationship Type="http://schemas.openxmlformats.org/officeDocument/2006/relationships/notesSlide" Target="/ppt/notesSlides/notesSlide46.xml" Id="R0ed84bfb34824d6c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bd1fb770414441" /><Relationship Type="http://schemas.openxmlformats.org/officeDocument/2006/relationships/image" Target="/ppt/media/image47.png" Id="R18c234f74cfc48c6" /><Relationship Type="http://schemas.openxmlformats.org/officeDocument/2006/relationships/notesSlide" Target="/ppt/notesSlides/notesSlide47.xml" Id="R978fd642375b40a5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50d41bc4744e3b" /><Relationship Type="http://schemas.openxmlformats.org/officeDocument/2006/relationships/image" Target="/ppt/media/image48.png" Id="R7d42e0b4c8f5491e" /><Relationship Type="http://schemas.openxmlformats.org/officeDocument/2006/relationships/notesSlide" Target="/ppt/notesSlides/notesSlide48.xml" Id="R7e66857046bc4c0c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74002470804b54" /><Relationship Type="http://schemas.openxmlformats.org/officeDocument/2006/relationships/image" Target="/ppt/media/image49.png" Id="R0c92cd436d47413f" /><Relationship Type="http://schemas.openxmlformats.org/officeDocument/2006/relationships/notesSlide" Target="/ppt/notesSlides/notesSlide49.xml" Id="R6c609eb9b4944a8b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1e0e8092e44417" /><Relationship Type="http://schemas.openxmlformats.org/officeDocument/2006/relationships/image" Target="/ppt/media/image50.png" Id="R9bfcb1cac52b4842" /><Relationship Type="http://schemas.openxmlformats.org/officeDocument/2006/relationships/notesSlide" Target="/ppt/notesSlides/notesSlide50.xml" Id="R31808d7d98a94fb5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fc0cb102644738" /><Relationship Type="http://schemas.openxmlformats.org/officeDocument/2006/relationships/image" Target="/ppt/media/image51.png" Id="R7382ef4ad53a480f" /><Relationship Type="http://schemas.openxmlformats.org/officeDocument/2006/relationships/notesSlide" Target="/ppt/notesSlides/notesSlide51.xml" Id="R054235e9b00a4da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fcb329dd394ab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5E1181-3E11-4F95-9F07-748CE7E1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152" y="3075749"/>
            <a:ext cx="4341155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Stellar Evolution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F02D36-E295-4840-9CB8-8D61E3DC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930" y="4770107"/>
            <a:ext cx="22497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D.J. Pisano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36595F-B9E5-4A65-B623-3674D95D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0609" y="5368587"/>
            <a:ext cx="6423567" cy="5188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Associate Professor of Physics &amp; Astronomy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CAC110-BB61-4AB1-A419-1C49BBC9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350" y="5832650"/>
            <a:ext cx="197060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July 10, 2017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5A9FE7-35E8-41F4-8B62-20921F62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11C1AE-9FB6-4498-B54F-6E2E74D4E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22935B-C394-4B0D-8499-13B6425A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51</a:t>
            </a:r>
          </a:p>
        </p:txBody>
      </p:sp>
    </p:spTree>
    <p:extLst>
      <p:ext uri="{BB962C8B-B14F-4D97-AF65-F5344CB8AC3E}">
        <p14:creationId xmlns:p14="http://schemas.microsoft.com/office/powerpoint/2010/main" val="8155970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fc125ba9ef427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F40D0B-D929-4216-AC69-B77D0651F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804" y="1123884"/>
            <a:ext cx="8011966" cy="954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Clusters: stellar nurseries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B010AA-E5AE-49CF-A2F7-1EE7D4BAD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57" y="2370695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562D1A-4B25-42DF-9E23-B3542B6F4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024" y="2370743"/>
            <a:ext cx="3539662" cy="5214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we saw in Orion and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F3488D-86B6-43EC-8ADE-25F6F6D64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2" y="2721993"/>
            <a:ext cx="2729275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the simulations,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95F77-6A2B-4806-8222-31013E40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598" y="2721993"/>
            <a:ext cx="90631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C6B0A7-75B5-438F-A538-5F5257E29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2" y="3073427"/>
            <a:ext cx="256316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 in clusters.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7C3558-FA4B-4F20-8D31-8396153B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57" y="3500955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552968-E04C-412B-86DB-7E872DA7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3" y="3503566"/>
            <a:ext cx="3187330" cy="5171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Young clusters (right)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FC8349-D37D-4E1E-80C2-66048712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2" y="3852363"/>
            <a:ext cx="312426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still forming stars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D033AC-2DD4-4D61-9689-C8F9D3EB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2" y="4203687"/>
            <a:ext cx="348941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remain surrounded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E981DD-D201-4C6E-9F09-E5079DE6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2" y="4555120"/>
            <a:ext cx="296206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 hot gas and dust.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B19375-918A-467F-84DD-4DE6F70A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57" y="4982624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39FD66-1930-436F-B23F-0ACDFBBE9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3" y="4982670"/>
            <a:ext cx="3449141" cy="52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gas is an example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20AE35-FB4B-45E4-A9A1-E8DF3BFA0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2" y="5334057"/>
            <a:ext cx="66969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a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E85E3F-4FA0-4E00-B636-983A3AC0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98" y="5334057"/>
            <a:ext cx="2388194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emission nebula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9CC110-14E2-4EB7-80E5-8E9E89C9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0350" y="5334057"/>
            <a:ext cx="57659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It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5A99CD-AF45-46D7-95BF-4A9E04BB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1" y="5681165"/>
            <a:ext cx="2783394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is red from ionized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199157-D692-45D0-888A-3B5A0712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1" y="6032463"/>
            <a:ext cx="366862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hydrogen (hydrogen that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4F6E51-443C-48E9-82D3-F2029636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81" y="6383896"/>
            <a:ext cx="301608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has lost its electron).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60DB32-FE9E-423D-A994-7F3E3874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821" y="6732126"/>
            <a:ext cx="1318725" cy="3545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Dark Nebula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B4255C-5557-4622-BC88-A7A130F4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4629" y="7017963"/>
            <a:ext cx="1775091" cy="365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(molecular cloud)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4540D1-D1E1-437A-A117-39120A01C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336" y="6734047"/>
            <a:ext cx="1673250" cy="3513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Emission Nebula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71CFC9-FF1C-4795-A7F6-62052704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336" y="7027637"/>
            <a:ext cx="1273817" cy="3488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1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1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(ionized gas)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30A452-AC9E-41A2-BEE2-39FC9694D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07402E-13B2-468D-803D-10901757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CD5991-554F-4D32-9A90-BAD8DC0E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51</a:t>
            </a:r>
          </a:p>
        </p:txBody>
      </p:sp>
    </p:spTree>
    <p:extLst>
      <p:ext uri="{BB962C8B-B14F-4D97-AF65-F5344CB8AC3E}">
        <p14:creationId xmlns:p14="http://schemas.microsoft.com/office/powerpoint/2010/main" val="18769744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5781e2bbb24f5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249A04-B067-4414-ADA8-ED677C33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1771" y="1123328"/>
            <a:ext cx="3479826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Clusters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31A647-AA9B-4321-AB34-130F577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250461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B4D414-6738-480C-992C-E8A422F4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83" y="2250510"/>
            <a:ext cx="3539662" cy="5214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we saw in Orion and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49C398-3C1B-445D-969D-71F6A901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639930"/>
            <a:ext cx="2729275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the simulations,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35E94A-9E54-425A-AA47-D6521C33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157" y="2639930"/>
            <a:ext cx="90631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535B84-5524-4731-9AD3-D48EE9EE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029393"/>
            <a:ext cx="256316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 in clusters.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7166EF-F367-4FE1-9B39-F261EF48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495067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6E4084-E10F-4763-BA90-E85BAFF1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495105"/>
            <a:ext cx="3521640" cy="5214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Pleiades (right) are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0BF084-7EE6-45B9-BD55-6679595F7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884530"/>
            <a:ext cx="309205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 million years old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2014E1-FB5A-4F07-A2C4-2F4850DF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4273994"/>
            <a:ext cx="3090392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only have a little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037BE-1DBC-4BF4-8F80-26AD336F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4663457"/>
            <a:ext cx="3506342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gas and dust remaining.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6C3E2A-2195-40DE-A948-B39B8476F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129130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A9B06E-AD4E-47ED-BD38-2B1D9CAC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129176"/>
            <a:ext cx="3449141" cy="52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gas is an example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F8A4B7-92BC-46F6-8AF0-4BF89435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5518564"/>
            <a:ext cx="66969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a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429E68-7869-431D-98F3-1CBA73FE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257" y="5518564"/>
            <a:ext cx="242366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reflection nebula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38649B-21D6-49A1-AC7B-58A973AB8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8406" y="5518564"/>
            <a:ext cx="57659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It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1B40C8-9EE5-46E1-8F2B-F39A62ED2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5908032"/>
            <a:ext cx="2962667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is blue for the same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F67B05-A4F0-469B-9AB8-6E5D648A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6297659"/>
            <a:ext cx="3284964" cy="5212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reason that the sky is.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E8A374-4169-4C45-9393-7BFF09A8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4D73D0-9549-420B-8F47-37522575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FAE5D8-C7C1-4D0A-96CF-87C0F21B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51</a:t>
            </a:r>
          </a:p>
        </p:txBody>
      </p:sp>
    </p:spTree>
    <p:extLst>
      <p:ext uri="{BB962C8B-B14F-4D97-AF65-F5344CB8AC3E}">
        <p14:creationId xmlns:p14="http://schemas.microsoft.com/office/powerpoint/2010/main" val="15470384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47c64afe114ef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BC9051-5ABF-4CCC-B6F3-82A36E43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671" y="1153970"/>
            <a:ext cx="8000814" cy="866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common are different stars?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8D4071-0D46-4B82-A230-36B4323B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331700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FCBAFF-16AB-422C-AAFB-CC674778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331700"/>
            <a:ext cx="390365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mass stars are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A6A750-6DA4-4F6A-BAC8-88007262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852400"/>
            <a:ext cx="342492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very common. (K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A62B93-8F10-4DA7-9DB6-2EB94EE9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373125"/>
            <a:ext cx="255843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M stars)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AF2161-6D5A-4FE0-A388-9D6FF69E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995386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09DEAD-2C85-4EF3-910A-3AA77D9CE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995386"/>
            <a:ext cx="352116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Sun-like stars are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A2EC1B-10E8-4FC5-94B2-3C5B0D52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516125"/>
            <a:ext cx="274902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rarer (G stars)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3528FA-F36C-407E-AC80-F540928D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5138454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199A3F-2F9A-4E7C-B062-71349EE7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138454"/>
            <a:ext cx="364200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mass (O and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8022FB-6EF7-4E1F-B4A3-33D06674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654868"/>
            <a:ext cx="332573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 stars) are very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6FB64-409B-4A02-B2F2-09D25398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6175568"/>
            <a:ext cx="92553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CDCE2F-EFA4-479A-BD4C-C26879CA6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EEBCCE-FAB7-4790-BA1A-7A345611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02FA14-5F5E-4C35-A13A-E06CEF6F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51</a:t>
            </a:r>
          </a:p>
        </p:txBody>
      </p:sp>
    </p:spTree>
    <p:extLst>
      <p:ext uri="{BB962C8B-B14F-4D97-AF65-F5344CB8AC3E}">
        <p14:creationId xmlns:p14="http://schemas.microsoft.com/office/powerpoint/2010/main" val="16027327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78da533df2434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CC4C63-F24A-4372-B671-C75BBF4B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056" y="895591"/>
            <a:ext cx="682687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Implication of Mass-Luminosity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C2DBCF-0FBD-4F7F-B57B-8ABF64D4D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9215" y="1479791"/>
            <a:ext cx="1823024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4676CD-D9B8-4BE0-BECD-FA5E83D43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9200" y="2332671"/>
            <a:ext cx="7539555" cy="5199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 = More Luminosity = faster rate of fusion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9F26A7-510B-4B6E-9FDC-7C4835C9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9367" y="2797414"/>
            <a:ext cx="31804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=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6C0ACA-1D63-4F54-A5A7-E846EDF5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8286" y="2798251"/>
            <a:ext cx="5462652" cy="5201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Shorter lifetime on Main Sequence!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7AE937-EA4A-4E21-BB4B-3F41187C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4072750"/>
            <a:ext cx="3422028" cy="3418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 Stars have 40x mass of Sun, live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315EBF-6F4F-4AA9-A937-76D808BE2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4356117"/>
            <a:ext cx="1635299" cy="356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10,000x shorter.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15B9C9-DBD3-4FC3-8E60-B10536744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5240194"/>
            <a:ext cx="3258817" cy="3434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stars have 3x mass of Sun, live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3CA48E-4E35-48B8-BA2D-43D11A4D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5524048"/>
            <a:ext cx="1204293" cy="3572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5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20x shorter.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993807-CAF4-4F28-A5B7-8C09834C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6112057"/>
            <a:ext cx="3462599" cy="3508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 stars have half the mass of Sun,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F6F9BB-239D-49AC-881F-692CEB84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6402710"/>
            <a:ext cx="1817485" cy="353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3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live 7x longer.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A252CA-2C0E-4929-B7F7-B3303F0AC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F4034F-A8E0-4210-8096-CF01C764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80ECFD-9C34-45E8-B1FF-4F8E35C27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51</a:t>
            </a:r>
          </a:p>
        </p:txBody>
      </p:sp>
    </p:spTree>
    <p:extLst>
      <p:ext uri="{BB962C8B-B14F-4D97-AF65-F5344CB8AC3E}">
        <p14:creationId xmlns:p14="http://schemas.microsoft.com/office/powerpoint/2010/main" val="20855692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6366fd15eb462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222AC5-682C-4F93-A694-8B35DE1B7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152" y="3277248"/>
            <a:ext cx="4341155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Stellar Evolution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A3F78F-BAF0-40B4-B997-73BD5E3C7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0360" y="4770107"/>
            <a:ext cx="569934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happens after the main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64E37A-1CD9-4751-A95E-6B5962F6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6994" y="5290807"/>
            <a:ext cx="21516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E0009F-E421-4DE6-A314-C86999706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4A64DC-FC46-4AC4-AE18-9C8B1E0E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8BBB43-653F-4CD1-88EB-3F3FA655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51</a:t>
            </a:r>
          </a:p>
        </p:txBody>
      </p:sp>
    </p:spTree>
    <p:extLst>
      <p:ext uri="{BB962C8B-B14F-4D97-AF65-F5344CB8AC3E}">
        <p14:creationId xmlns:p14="http://schemas.microsoft.com/office/powerpoint/2010/main" val="7786698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145be6fd4849b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0F9E3A-84C6-4981-A370-C141571C4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086" y="1153629"/>
            <a:ext cx="782930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Evolution on the Main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2C5002-8DA3-4FC2-AF10-167557F8D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44" y="3102005"/>
            <a:ext cx="4193565" cy="60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main sequence stars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437416-0102-4D44-A522-E56620F72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518" y="3554851"/>
            <a:ext cx="4322324" cy="6092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consume their hydrogen,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C19976-1287-4E99-B23B-97E2B1D5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697" y="4012059"/>
            <a:ext cx="3899238" cy="6092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cores have to heat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AA1BAB-8B6B-4274-993F-0FBF0799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193" y="4465446"/>
            <a:ext cx="3852596" cy="6085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up to continue fusion. 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9C6A21-DA86-4C6C-93D2-69CB2F31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35" y="4918180"/>
            <a:ext cx="3981231" cy="608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Therefore the stars get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4D9A63-FD07-46EF-9E35-C76C3B89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463" y="5375391"/>
            <a:ext cx="4023662" cy="6089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bigger over time on the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15D6B5-FC8D-4699-9E68-EAE29F5C4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361" y="5827951"/>
            <a:ext cx="282313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sequence.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C6A2D4-BE3C-45EC-AD59-E20F5F1D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C927C4-ECB7-4BA6-B61F-F99F0BAC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929E7A-8FDD-47F9-8367-453FBD9D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51</a:t>
            </a:r>
          </a:p>
        </p:txBody>
      </p:sp>
    </p:spTree>
    <p:extLst>
      <p:ext uri="{BB962C8B-B14F-4D97-AF65-F5344CB8AC3E}">
        <p14:creationId xmlns:p14="http://schemas.microsoft.com/office/powerpoint/2010/main" val="113423005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27bd22502a447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4DB4DB-66F8-4277-9E31-CC823B43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7152" y="828522"/>
            <a:ext cx="7138590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happens after the Main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86BBF7-0C5D-45AB-9D0B-52D6D7AE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3384" y="1480479"/>
            <a:ext cx="2776148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9E803C-BAEB-41B1-BD72-7F8B455D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1293" y="2331709"/>
            <a:ext cx="769262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spend 90% of their lifetime on the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172613-B91A-4DB6-967E-413C87B9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742" y="2852409"/>
            <a:ext cx="848748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 fusing hydrogen into helium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CFA0F9-25DA-4872-A6AD-A7998BA6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5218" y="3373134"/>
            <a:ext cx="263210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their cores.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EEE5EF-F179-4950-B233-44DC0D26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00" y="4617763"/>
            <a:ext cx="853057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happens when the hydrogen runs out?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FB5693-357E-4D62-A497-93FE4E21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9E5CF1-4263-47DD-A78F-D84850C2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FA80AC-5458-4B75-893F-F17B190A0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51</a:t>
            </a:r>
          </a:p>
        </p:txBody>
      </p:sp>
    </p:spTree>
    <p:extLst>
      <p:ext uri="{BB962C8B-B14F-4D97-AF65-F5344CB8AC3E}">
        <p14:creationId xmlns:p14="http://schemas.microsoft.com/office/powerpoint/2010/main" val="822663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30c2d78d2428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DCF59B-5400-4EAE-9DF3-174B52A9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7152" y="828522"/>
            <a:ext cx="7138590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happens after the Main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01DD67-9EC5-4207-A80D-5F161627F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3384" y="1480479"/>
            <a:ext cx="2776148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2D6043-0F65-439D-8195-762ACB4DE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283760"/>
            <a:ext cx="7615859" cy="608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happens when the hydrogen runs out?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1841B6-15F9-46BB-80F1-F1327A17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282192"/>
            <a:ext cx="307723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depends on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212FED-58AF-48F7-973B-C0518B9F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563" y="3282192"/>
            <a:ext cx="111464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31577F-B109-430E-86C1-2932105F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653" y="3285883"/>
            <a:ext cx="1807311" cy="603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the star.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6E4C1D-38E8-4E7D-8EEE-CBEA8AED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2" y="3781723"/>
            <a:ext cx="35532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C813A1-1961-4139-B79D-2FCC5805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0" y="3783864"/>
            <a:ext cx="7381649" cy="606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Very low mass stars (M &lt; 0.8 solar masses)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858D4F-8950-4889-B49C-54391844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2" y="4285452"/>
            <a:ext cx="35532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EC85C0-2EC0-4577-BB3C-5765D4C1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0" y="4286592"/>
            <a:ext cx="6325505" cy="60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mass stars (M &lt; 8 solar masses)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41F156-1041-4516-953B-BEDA3FDE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2" y="4785049"/>
            <a:ext cx="35532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7AEE72-F586-459D-9B1B-DEF89420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0" y="4786227"/>
            <a:ext cx="7918851" cy="6076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mass stars with companions (binary stars)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5779FE-45FB-4060-93EC-6660CD46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2" y="5284585"/>
            <a:ext cx="35532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8995DA-3E69-42E4-AC87-50ECB14B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0" y="5285646"/>
            <a:ext cx="6411279" cy="6078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mass stars (M &gt; 8 solar masses)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678079-90A0-42D4-A75E-047E76F5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2" y="5784122"/>
            <a:ext cx="35532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BF3CD1-F127-4178-9463-565C3042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0" y="5786145"/>
            <a:ext cx="7290592" cy="606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Very high mass stars (much greater than 8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8ABAC4-377D-41E3-BE53-70E72DEE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299" y="6190483"/>
            <a:ext cx="240022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solar masses)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1F5564-BD00-400F-B75C-F3A08ED3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AD84F6-C89D-4C2F-B396-635F10F8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80D286-8C16-43E8-9339-03E7F575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51</a:t>
            </a:r>
          </a:p>
        </p:txBody>
      </p:sp>
    </p:spTree>
    <p:extLst>
      <p:ext uri="{BB962C8B-B14F-4D97-AF65-F5344CB8AC3E}">
        <p14:creationId xmlns:p14="http://schemas.microsoft.com/office/powerpoint/2010/main" val="14613704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009462e8f04ec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65BD09-DC18-4964-AA5A-21CA6F51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5738" y="1126940"/>
            <a:ext cx="5331782" cy="949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Very low mass stars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523D3B-95FB-4DBC-9E2E-F993118FD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3865" y="1652617"/>
            <a:ext cx="1876364" cy="52899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D6B66F-8F7E-4F11-BFD0-196D9F4A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369" y="5628556"/>
            <a:ext cx="7789532" cy="582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one of them is still on the main sequence.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ABEB62-3DB9-4E3F-B5C6-27CB7A83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15BF1C-B540-44DE-83C7-9395E8D3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E7D31C-9D61-4E86-BBB9-2FAA8A80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51</a:t>
            </a:r>
          </a:p>
        </p:txBody>
      </p:sp>
    </p:spTree>
    <p:extLst>
      <p:ext uri="{BB962C8B-B14F-4D97-AF65-F5344CB8AC3E}">
        <p14:creationId xmlns:p14="http://schemas.microsoft.com/office/powerpoint/2010/main" val="8455973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392a510b274d2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5D5AFC-0A95-4ABF-ADDA-6035653A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956" y="1153629"/>
            <a:ext cx="8415688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mass stars (&lt; 8 solar masses)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FD5F3F-B839-4168-B61A-B388FBFA3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331700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080EA1-110C-48D2-93ED-35B655B3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331700"/>
            <a:ext cx="797969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a star like the Sun starts to run out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72E810-EC44-4EED-A577-41EA1E71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852400"/>
            <a:ext cx="716897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hydrogen in the core, fusion slows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C583A9-9B11-4FA5-86DD-AADC6350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373125"/>
            <a:ext cx="119083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down.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FA4C94-F006-4D11-9202-918F2B4EB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995386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BF53EE-3AF4-4679-803D-FDD898FFE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995386"/>
            <a:ext cx="675699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star is no longer in hydrostatic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64B25D-CC5B-44FB-92C1-7F5B4DA9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516125"/>
            <a:ext cx="36397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equilibrium, and is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2489C6-FCA8-4445-974D-B38F6151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4970" y="4516125"/>
            <a:ext cx="296358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 of balance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F21B36-D7CE-4631-8EF6-8F880718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050" y="4516125"/>
            <a:ext cx="15814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316EBE-5C4E-4E06-8922-91E018DE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0" y="5138454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1BC11E-9274-4A7B-A77E-F0E40B18B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5" y="5138454"/>
            <a:ext cx="817019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Something has to happen to keep the star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C648E6-7B21-4B2F-825A-90DF10C2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5" y="5654868"/>
            <a:ext cx="306350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collapsing.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880F83-D48F-4BB4-9B5B-956E71413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9B6587-DC9B-4546-9C4B-4800C3B26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5E11DF-CBAC-43C9-ADD8-BD703813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51</a:t>
            </a:r>
          </a:p>
        </p:txBody>
      </p:sp>
    </p:spTree>
    <p:extLst>
      <p:ext uri="{BB962C8B-B14F-4D97-AF65-F5344CB8AC3E}">
        <p14:creationId xmlns:p14="http://schemas.microsoft.com/office/powerpoint/2010/main" val="33505738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5c9c57a82e40e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EE82C0-E256-4820-9B34-219CC650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8822" y="700519"/>
            <a:ext cx="5673334" cy="13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6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 of balance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7F9BD0-8CCB-4232-A317-2D15E5F05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965" y="2167471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76FE56-E714-4A3F-A164-8BF017B5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90" y="2168223"/>
            <a:ext cx="7845834" cy="6083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Start running out of hydrogen in the core, now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563A47-E74F-4040-8BFA-0572F988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90" y="2621057"/>
            <a:ext cx="6346973" cy="6085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outward pressure is less than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D1D859-0DB4-45B8-9F43-BFB83D50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90" y="3077793"/>
            <a:ext cx="3582008" cy="6093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gravitational collapse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6AA8DF-BE0E-469D-A608-3E727814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5F21DE-533F-4221-BDF7-7BEA9B0A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072F10-A098-4F13-A002-29852E71A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51</a:t>
            </a:r>
          </a:p>
        </p:txBody>
      </p:sp>
    </p:spTree>
    <p:extLst>
      <p:ext uri="{BB962C8B-B14F-4D97-AF65-F5344CB8AC3E}">
        <p14:creationId xmlns:p14="http://schemas.microsoft.com/office/powerpoint/2010/main" val="111461242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cf1173aee84e40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872354-5FBF-45CF-A85F-57ED37E3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942" y="700519"/>
            <a:ext cx="5673334" cy="13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6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 of balance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DE8C75-9B88-4107-8F48-20E0FC40A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969" y="2167471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D74BD9-6313-44AB-8D7E-F0C750AE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94" y="2167918"/>
            <a:ext cx="5038675" cy="6088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will happen to the core?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A417B6-CCE9-4741-8189-217B8980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DFC23B-1333-47C1-8463-2E26A6E46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5D8EA7-6BD0-40B8-B60E-EF12FF11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51</a:t>
            </a:r>
          </a:p>
        </p:txBody>
      </p:sp>
    </p:spTree>
    <p:extLst>
      <p:ext uri="{BB962C8B-B14F-4D97-AF65-F5344CB8AC3E}">
        <p14:creationId xmlns:p14="http://schemas.microsoft.com/office/powerpoint/2010/main" val="197530759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e0cd45b227436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4B616A-D10B-477E-A51A-113F50A09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877" y="828545"/>
            <a:ext cx="7886619" cy="8669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 Star becomes a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2714EA-BB07-49E0-A305-BFF512ED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825" y="1480479"/>
            <a:ext cx="2474761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75284F-7DDA-4619-A6A2-F754ECCB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3" y="2331747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5AE4A9-033F-45B5-97A3-850A22A8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9" y="2331987"/>
            <a:ext cx="3338244" cy="521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starts to collapse,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0E9B8B-2B0E-4608-AE6A-775302C19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8" y="2721216"/>
            <a:ext cx="386802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heating up central regions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BC2785-9F37-49D2-906C-414BB93C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8" y="3110679"/>
            <a:ext cx="99589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until a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1E6E0A-19E0-43BC-881C-62B41A38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9499" y="3110679"/>
            <a:ext cx="86752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shell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463B8C-F0E9-40E2-9BCF-E395EDD90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7792" y="3110679"/>
            <a:ext cx="168228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around the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A6B0BB-2E14-4CFF-B770-6A1D30C67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4" y="3500153"/>
            <a:ext cx="3268943" cy="5215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 is hot enough for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63DC6-8D99-4015-86ED-E80BDCDC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4" y="3889611"/>
            <a:ext cx="244129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hydrogen fusion.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5131D2-7A21-43A1-8A52-E4648830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9" y="4355280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6CE357-970B-48E1-ADAE-2F6C5C08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4" y="4355534"/>
            <a:ext cx="3863057" cy="5211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energy from this shell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B12F81-87E7-4861-BED6-12872425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4" y="4744743"/>
            <a:ext cx="339716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is enough to cause the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9125B9-5DB4-482B-8D9E-4AFD04003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4" y="5134550"/>
            <a:ext cx="3717749" cy="5209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rest of the star to expand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B1CF61-B164-44D9-AC5D-80AE8508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4" y="5523670"/>
            <a:ext cx="227780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into a red giant.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47115F-56E0-42BC-8480-541A6BB6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9" y="5989343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2807C2-1C22-4B26-A6E2-BF002F1E5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85" y="5991117"/>
            <a:ext cx="2025030" cy="518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stellar burp!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F709C3-E561-47FF-A1F7-8E3F25A6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89DF0E-11FF-4958-B39D-977AF3D6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BBF3D3-89F2-4F40-BB0B-7DA77C97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51</a:t>
            </a:r>
          </a:p>
        </p:txBody>
      </p:sp>
    </p:spTree>
    <p:extLst>
      <p:ext uri="{BB962C8B-B14F-4D97-AF65-F5344CB8AC3E}">
        <p14:creationId xmlns:p14="http://schemas.microsoft.com/office/powerpoint/2010/main" val="213271668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982862d52147d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39D62C-660D-4640-B015-C6FF93A3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777" y="828522"/>
            <a:ext cx="852208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Helium fusion begins at the core of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0B81F3-F37B-4276-94DC-447577A9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9517" y="1480479"/>
            <a:ext cx="1662510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giant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02C0E8-B052-4A11-9CAF-3F5F1958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2219006"/>
            <a:ext cx="3610370" cy="5212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While the exterior layers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70D78A-7446-42F5-ABCA-A46459668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2608305"/>
            <a:ext cx="359593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expand, the helium core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D9105B-74C0-4C02-848E-70E07C22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2997985"/>
            <a:ext cx="3755746" cy="5211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continues to contract and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E97E50-E273-467A-A64B-27D7FB0F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3387242"/>
            <a:ext cx="354186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eventually becomes hot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431F22-F18F-4A7F-8B95-CFE05D5A7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3776717"/>
            <a:ext cx="4518818" cy="521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enough (100 million Kelvin) for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EA81DA-EDA0-4C7D-9472-FE1922D09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4166328"/>
            <a:ext cx="4010073" cy="5212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helium to begin to fuse into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9AC6B3-D874-4C4B-8B16-F9535451B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4555647"/>
            <a:ext cx="2801907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carbon and oxygen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4FE69A-1390-4244-8AF4-230492E1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5021316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7DE5B4-F97D-40E2-B1D0-545528FE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19" y="5021316"/>
            <a:ext cx="267503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 helium fusion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976737-9D12-45D9-A1C7-87C005416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5491176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95B1A3-40E6-44E6-BE9A-DD184AA6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19" y="5491176"/>
            <a:ext cx="81507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 He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6641C2-D770-4E43-AEAD-9D6011F7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840" y="5486755"/>
            <a:ext cx="1813305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C + energy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FD6900-50D9-47F0-93E7-A7E76DD0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207" y="5543995"/>
            <a:ext cx="489637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AAE928-8394-4130-9CEE-2C5353F8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29" y="5956805"/>
            <a:ext cx="114798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 + He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B71613-9636-4A86-930C-E505576C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9847" y="5952401"/>
            <a:ext cx="1829924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O + energy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4F56EA-C882-439D-AF6E-1D334AA7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9A5CB5-21A7-45F0-967E-6BCEC6C42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5E6495-2F28-4498-83C5-19A26EBFC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51</a:t>
            </a:r>
          </a:p>
        </p:txBody>
      </p:sp>
    </p:spTree>
    <p:extLst>
      <p:ext uri="{BB962C8B-B14F-4D97-AF65-F5344CB8AC3E}">
        <p14:creationId xmlns:p14="http://schemas.microsoft.com/office/powerpoint/2010/main" val="118595445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10c45c280743d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D1D819-B16B-406C-A715-01C1E98A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85" y="982645"/>
            <a:ext cx="7206323" cy="615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 Stars become Red Giants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3A38BE-242E-4043-A89D-FFA48BF62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4151" y="6238529"/>
            <a:ext cx="1468538" cy="3644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Helium fusion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30F820-3F02-4CCC-8FF8-4E01E7E3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545" y="2042480"/>
            <a:ext cx="1720504" cy="3587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65" b="0" i="0">
                <a:solidFill>
                  <a:srgbClr val="1E487D"/>
                </a:solidFill>
                <a:latin typeface="Arial"/>
                <a:ea typeface="Arial"/>
                <a:cs typeface="Arial"/>
              </a:defRPr>
            </a:pPr>
            <a:r>
              <a:rPr sz="1765" b="0" i="0">
                <a:solidFill>
                  <a:srgbClr val="1E487D"/>
                </a:solidFill>
                <a:latin typeface="Arial"/>
                <a:ea typeface="Arial"/>
                <a:cs typeface="Arial"/>
              </a:rPr>
              <a:t>Hydrogen fusion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8B2858-D9A8-4D35-843A-F3D7B68D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585212-E1F3-48B6-8826-6C92EEF9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5BAC53-191D-4B9B-A7D7-1ED161F25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51</a:t>
            </a:r>
          </a:p>
        </p:txBody>
      </p:sp>
    </p:spTree>
    <p:extLst>
      <p:ext uri="{BB962C8B-B14F-4D97-AF65-F5344CB8AC3E}">
        <p14:creationId xmlns:p14="http://schemas.microsoft.com/office/powerpoint/2010/main" val="187437687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36c64a9402406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C7AF0D-9C88-4706-98E6-07B928DA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07AA15-6681-4CA2-9D10-E05F15BF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E5DCA5-6149-48E5-918A-59E1E7CE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51</a:t>
            </a:r>
          </a:p>
        </p:txBody>
      </p:sp>
    </p:spTree>
    <p:extLst>
      <p:ext uri="{BB962C8B-B14F-4D97-AF65-F5344CB8AC3E}">
        <p14:creationId xmlns:p14="http://schemas.microsoft.com/office/powerpoint/2010/main" val="89936876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0e505812ad48d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45AFD-6165-4390-8733-B5A992AC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839" y="926710"/>
            <a:ext cx="2699373" cy="8552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09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4209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Red Giants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8A4CB6-211C-4A46-960F-A43DE70C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4536" y="2656351"/>
            <a:ext cx="1107429" cy="3459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0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Betelgeuse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C61AB9-A3F1-49C0-A9AD-5828F05A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2656" y="6807284"/>
            <a:ext cx="1431702" cy="3647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9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9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Jupiter’s Orbit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5D1AD5-46B8-40F7-BA4A-14EF72EA3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D3823C-1393-497D-87D7-278B1E2C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B3EAA9-2C4F-47A6-ABE5-95A4B1682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51</a:t>
            </a:r>
          </a:p>
        </p:txBody>
      </p:sp>
    </p:spTree>
    <p:extLst>
      <p:ext uri="{BB962C8B-B14F-4D97-AF65-F5344CB8AC3E}">
        <p14:creationId xmlns:p14="http://schemas.microsoft.com/office/powerpoint/2010/main" val="62087884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b0aa2f6c2f422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7FD95E-2324-4FD3-96BD-29A78AD7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41" y="5701997"/>
            <a:ext cx="1543359" cy="491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Interstellar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2CBD8E-DC3D-4EA4-B25D-78D6152DE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41" y="6114676"/>
            <a:ext cx="1471117" cy="4523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 (gas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43CA97-8BAF-44AD-9449-6B98EA1A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41" y="6486685"/>
            <a:ext cx="1279974" cy="48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dust)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475306-1FF0-4B3F-A55C-73C40229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5782" y="5501798"/>
            <a:ext cx="789776" cy="500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AB70E7-9FC8-4611-940E-0524FB9B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5782" y="5915880"/>
            <a:ext cx="1397515" cy="4591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849956-D724-4C07-B94F-052F9C1F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5782" y="6300672"/>
            <a:ext cx="560595" cy="466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29C8C4-0111-44F9-B69B-8A2B87BE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145" y="5728498"/>
            <a:ext cx="615354" cy="446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09A07E-0786-4CCB-95D0-A49FB7C19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4556" y="6095177"/>
            <a:ext cx="749687" cy="48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Giant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02BF93-70C4-4DD7-9A01-9A546187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503" y="1072026"/>
            <a:ext cx="3695112" cy="7654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Life of a Star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5A16C8-CF02-467F-A391-30B299ED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F1B658-49C9-4C08-B965-84901A57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D9EFDD-CD52-4286-9104-2BACC85E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51</a:t>
            </a:r>
          </a:p>
        </p:txBody>
      </p:sp>
    </p:spTree>
    <p:extLst>
      <p:ext uri="{BB962C8B-B14F-4D97-AF65-F5344CB8AC3E}">
        <p14:creationId xmlns:p14="http://schemas.microsoft.com/office/powerpoint/2010/main" val="190211475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e92b72f5884b4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8D6A2D-D025-4D42-98AE-BAE9D5C2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8" y="2085848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4D1B44-4B60-41CE-98BA-DA17022E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62" y="2086368"/>
            <a:ext cx="4255028" cy="6087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core runs out of fuel!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BF9AB2-4BCC-4E88-AFEB-60F01D67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8" y="2631923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C25C75-2332-4B63-B32C-7C93F9DE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62" y="2632981"/>
            <a:ext cx="7881381" cy="607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Shell fusion of helium begins outside the core.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A3F764-1D99-4C86-8D02-AF38C74F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2163" y="958406"/>
            <a:ext cx="781059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happens when the star runs out of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B1DCE9-EA4A-49E3-8E18-7CF39244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296" y="1479106"/>
            <a:ext cx="155086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helium?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5987DF-CBD9-46F1-AFA3-6818211F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78356F-150F-4240-A4FE-022A6935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8197E3-4FD0-4447-AB3E-B2F1DCF58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51</a:t>
            </a:r>
          </a:p>
        </p:txBody>
      </p:sp>
    </p:spTree>
    <p:extLst>
      <p:ext uri="{BB962C8B-B14F-4D97-AF65-F5344CB8AC3E}">
        <p14:creationId xmlns:p14="http://schemas.microsoft.com/office/powerpoint/2010/main" val="174482672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07c82de4a448a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944EF1-1DF1-4475-B3CD-CA82655B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2738107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AC4194-682F-4410-8AC9-9EA07DD5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2738107"/>
            <a:ext cx="483647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core runs out of fuel!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FA35C6-244B-4DA7-869B-534D9E71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3364624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9B61F0-AA0B-40AF-970D-0F94CFF2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3364624"/>
            <a:ext cx="709407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Shell fusion begins outside the core.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1F98E3-94CB-4EFF-97DB-890F90447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3986994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D5C1A6-F4DD-422A-814C-CB6C410CA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3986994"/>
            <a:ext cx="858804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Eventually the shell fusion creates too much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7A4D50-9BA4-447F-9D0B-B4395CC5D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4503407"/>
            <a:ext cx="700031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outward pressure and energy which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C5C2B9-C7D8-4CF2-A8DE-6D65B124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5024107"/>
            <a:ext cx="834607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explosively push out the outer layers of the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7C24AD-B74D-4047-BE26-5E77059E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5544833"/>
            <a:ext cx="376013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and produce a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65AA88-3B29-471E-A6AC-8BAC26D2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9252" y="5544833"/>
            <a:ext cx="34691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planetary nebula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51BAEB-0C2F-4B39-91B4-0A5D6D37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958" y="5544833"/>
            <a:ext cx="27813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7BCBE5-AA6A-4869-96EF-67582D0A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079" y="1123707"/>
            <a:ext cx="6041713" cy="954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Mass stars (&lt; 8 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667390-B8FB-4B38-A1E6-11576730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654" y="1123327"/>
            <a:ext cx="401791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A9763A-5E9C-4A39-8A57-6BCBC459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DE181F-6759-4B20-9BCE-29CB4C90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87AFE9-6C80-422F-8B3B-9303D191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51</a:t>
            </a:r>
          </a:p>
        </p:txBody>
      </p:sp>
    </p:spTree>
    <p:extLst>
      <p:ext uri="{BB962C8B-B14F-4D97-AF65-F5344CB8AC3E}">
        <p14:creationId xmlns:p14="http://schemas.microsoft.com/office/powerpoint/2010/main" val="115482538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ab931a6e4e4ab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D79B50-14AE-47B1-BAF4-E6F43EF9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5776" y="5501796"/>
            <a:ext cx="789776" cy="500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9DD0A9-7FD1-4CD2-943B-E2FA7A08E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5776" y="5915873"/>
            <a:ext cx="1397515" cy="4591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CBCFA6-5E66-40CF-9DAF-A9AC54BF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5776" y="6300659"/>
            <a:ext cx="560595" cy="466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518688-08CA-493B-B890-7777DF20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139" y="5728485"/>
            <a:ext cx="615354" cy="446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515C13-98A7-49D9-9C99-8EA9860E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4549" y="6095165"/>
            <a:ext cx="749687" cy="48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Giant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4BB71E-2E20-4322-941F-4FDD2F2A0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3212" y="5711610"/>
            <a:ext cx="1362047" cy="4749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Planetary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5A6022-2DFD-4A3F-AA27-02DED1F0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6565" y="6096254"/>
            <a:ext cx="982097" cy="483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7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Nebula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49F595-BB55-420A-86A3-4A57BF32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9442" y="1078240"/>
            <a:ext cx="5354106" cy="845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1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1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mass stars (&lt; 8 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348EF0-56E0-4813-AE55-FD7405F7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8328" y="1229848"/>
            <a:ext cx="487825" cy="8325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0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)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E8A478-EE0F-498E-81E4-6FB3344B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41" y="5701997"/>
            <a:ext cx="1543359" cy="491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Interstellar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997B12-D587-44CA-A1BB-3F1CFBEA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41" y="6112070"/>
            <a:ext cx="2040519" cy="456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4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 (gas and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4E6E08-9D4A-4B10-B494-E51CAA69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41" y="6480072"/>
            <a:ext cx="709654" cy="4924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2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2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dust)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B6D205-4E33-4A7C-989F-70C174FE5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6077DC-6EF1-4228-9FA7-1F353B9B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9E2E6F-2F5A-4A23-89A2-30860CF2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51</a:t>
            </a:r>
          </a:p>
        </p:txBody>
      </p:sp>
    </p:spTree>
    <p:extLst>
      <p:ext uri="{BB962C8B-B14F-4D97-AF65-F5344CB8AC3E}">
        <p14:creationId xmlns:p14="http://schemas.microsoft.com/office/powerpoint/2010/main" val="61661492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5267a9373143c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2DFD08-0353-41B9-87D8-21C118D2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954" y="846408"/>
            <a:ext cx="4414916" cy="853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0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420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Planetary Nebulae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D805FC-5BFC-4ADD-9156-0EFC922B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48268B-FF33-46FC-9174-421EFA94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F98F6-7668-40B1-A08A-BD0BE7CD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51</a:t>
            </a:r>
          </a:p>
        </p:txBody>
      </p:sp>
    </p:spTree>
    <p:extLst>
      <p:ext uri="{BB962C8B-B14F-4D97-AF65-F5344CB8AC3E}">
        <p14:creationId xmlns:p14="http://schemas.microsoft.com/office/powerpoint/2010/main" val="177245032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abaede82ce463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D9EE92-3CB7-4F19-8BC6-E413E763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5" y="698132"/>
            <a:ext cx="963419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burned-out core of a low-mass star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FAE8D7-EC17-442E-BA15-94AE5389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3732" y="1350089"/>
            <a:ext cx="5572190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becomes a white dwarf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8E82F9-9183-4098-8CB2-C729AA75A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9" y="2723383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D523F4-DE2F-4CD3-B3B6-CAA2179B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64" y="2753937"/>
            <a:ext cx="8022118" cy="5586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4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4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the planetary nebula disperses, all that is left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B7CC31-9A48-4760-9A72-7C8708369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63" y="3206247"/>
            <a:ext cx="8407719" cy="5597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behind is the burned-out, hot core of the star, called a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C6FB1D-DC6D-4A25-BB7B-AE59D417D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63" y="3660087"/>
            <a:ext cx="1944627" cy="5582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4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4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E5B3B6-5F3B-4CA1-9CF9-7ABF6617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368" y="3629290"/>
            <a:ext cx="13411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4500D6-6AD3-4215-9152-773C686D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8" y="4175429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FFFCAD-048D-4DE9-B897-BC65ADA0C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63" y="4209038"/>
            <a:ext cx="6717316" cy="5535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2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2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core with remaining mass less than 1.4 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A96029-A98A-4AD8-B113-C388766C0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2258" y="4386264"/>
            <a:ext cx="102108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1DE39-168A-4BF0-8416-FE2386136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4" y="4721460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291E73-3598-4F35-8872-701BDF913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59" y="4755769"/>
            <a:ext cx="8430541" cy="552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tiny star remnants are approximately the size of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57ABE5-91D9-4BB1-B570-3A9D3C57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59" y="5204972"/>
            <a:ext cx="2005968" cy="55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planet Earth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A424F2-7626-4D94-953D-33EDDFB3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4" y="5720597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9532D7-6AF0-44C3-9589-FE84BDE22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59" y="5754376"/>
            <a:ext cx="7905992" cy="5533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cubic centimeter (like a sugar cube) of a white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D439F2-6A9E-4326-902B-F1B710C0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59" y="6203666"/>
            <a:ext cx="5660457" cy="559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star would weigh several tons.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71C0B7-896A-494E-8BEA-4192D533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61DB38-441D-44A7-B48A-85A3F911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23D541-2FB4-4550-8FBD-22855185F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51</a:t>
            </a:r>
          </a:p>
        </p:txBody>
      </p:sp>
    </p:spTree>
    <p:extLst>
      <p:ext uri="{BB962C8B-B14F-4D97-AF65-F5344CB8AC3E}">
        <p14:creationId xmlns:p14="http://schemas.microsoft.com/office/powerpoint/2010/main" val="130069939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e15e6693fa4e7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32B224-3E36-4330-AA3A-57ADB2403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696" y="6811360"/>
            <a:ext cx="1293909" cy="357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62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62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Helix Nebula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C14D13-989D-4E45-ACC1-B5C1A010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37" y="1850631"/>
            <a:ext cx="2267045" cy="6586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41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41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White Dwarf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4C32AB-9B01-4FCC-B971-59E81E084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83F3FC-71C2-4E32-B8E4-3662EA02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43265C-E4E2-4AB1-B2DA-C51E677A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51</a:t>
            </a:r>
          </a:p>
        </p:txBody>
      </p:sp>
    </p:spTree>
    <p:extLst>
      <p:ext uri="{BB962C8B-B14F-4D97-AF65-F5344CB8AC3E}">
        <p14:creationId xmlns:p14="http://schemas.microsoft.com/office/powerpoint/2010/main" val="60887372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6c20b16a3c458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5D3CE1-25CA-4E52-B1B9-0114DA2B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5776" y="5501796"/>
            <a:ext cx="789776" cy="500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29A9EB-5D00-4907-802F-3349E34E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5776" y="5915873"/>
            <a:ext cx="1397515" cy="4591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A417C3-664C-4CFE-88F6-CBA054E1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5776" y="6300659"/>
            <a:ext cx="560595" cy="466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585FA2-597B-4094-BE8B-61B1DC28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139" y="5728485"/>
            <a:ext cx="615354" cy="446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0F8DC4-2B25-4F63-BABF-066AE2D73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4549" y="6095165"/>
            <a:ext cx="749687" cy="48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Giant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BC4672-FF2E-411D-A6F5-99A6A78E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3212" y="5711610"/>
            <a:ext cx="1362047" cy="4749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Planetary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DB7CA7-9D33-4D25-BA70-6DD1189C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6565" y="6096254"/>
            <a:ext cx="982097" cy="483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7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Nebula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A185BB-9772-4B60-A39E-F683EB106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262" y="5695938"/>
            <a:ext cx="912996" cy="501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26B31D-BB9C-45E1-83BD-2026979E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966" y="6088817"/>
            <a:ext cx="833982" cy="4954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FB55AF-8CC4-4B63-B6A0-62E845CA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567" y="1094347"/>
            <a:ext cx="4644977" cy="1023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03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03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mass stars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71101F-EB6A-476D-BD48-30FE7538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568" y="1181189"/>
            <a:ext cx="1596551" cy="878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3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(&lt; 8 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139B27-9D82-4288-8598-7AB55DBF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4981" y="1352644"/>
            <a:ext cx="487826" cy="832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0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)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13C35C-D879-43CA-84F3-2CDAC0AE0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41" y="5701997"/>
            <a:ext cx="1543359" cy="491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Interstellar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6DA7EB-B4A2-438C-94C8-A07D698B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41" y="6114676"/>
            <a:ext cx="1471117" cy="4523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 (gas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7CE15D-2A34-4C31-8603-EC1AE8C7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41" y="6486685"/>
            <a:ext cx="1279974" cy="48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dust)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3402A2-1925-4146-A438-3F82CBC8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CF50C0-4AF3-4073-8334-4599167F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F11D64-D88C-442F-B13C-ED70555F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51</a:t>
            </a:r>
          </a:p>
        </p:txBody>
      </p:sp>
    </p:spTree>
    <p:extLst>
      <p:ext uri="{BB962C8B-B14F-4D97-AF65-F5344CB8AC3E}">
        <p14:creationId xmlns:p14="http://schemas.microsoft.com/office/powerpoint/2010/main" val="115053244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9872024b9e4a4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38E8E-BAEB-415C-8BCC-7B25F4428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676" y="1592211"/>
            <a:ext cx="7739081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happens to white dwarfs?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5A8DE9-07E6-4B8A-A32F-22D12236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148" y="2244168"/>
            <a:ext cx="5573148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 they just sit there??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76A5FA-23E2-4F4A-B15F-98476370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538" y="3713467"/>
            <a:ext cx="611253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If the white dwarfs are isolated,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9601C7-2E3F-467C-8146-4D482B0A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5782" y="4234167"/>
            <a:ext cx="83101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yes.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C9DF45-85D0-4536-89A0-46BC4BB43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698" y="4234167"/>
            <a:ext cx="485602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They will cool down and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556B4D-A734-4416-84E7-D4A77CEDB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3732" y="4754893"/>
            <a:ext cx="521542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become BLACK DWARFS.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DB5FC1-27C7-4681-9FB8-003F6D91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50643C-2E6A-49BA-93CF-EF3505F7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F656F-441A-422E-93A2-64A93E965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51</a:t>
            </a:r>
          </a:p>
        </p:txBody>
      </p:sp>
    </p:spTree>
    <p:extLst>
      <p:ext uri="{BB962C8B-B14F-4D97-AF65-F5344CB8AC3E}">
        <p14:creationId xmlns:p14="http://schemas.microsoft.com/office/powerpoint/2010/main" val="187819394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03d081f52d423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9C56B9-42A3-498B-A83A-12C559F72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136" y="5661452"/>
            <a:ext cx="1621648" cy="504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5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2485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white dwarf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FF6A13-4483-424D-8ED8-54627E84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048" y="1235063"/>
            <a:ext cx="8513198" cy="7567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24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24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Sirius and its White Dwarf companion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C6DF6B-AD56-4565-A5E0-25D08B7D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69D32D-25DF-4037-B6A6-479E5E1C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07A00C-2D3B-4349-AB6F-1B8E42A76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28 of 51</a:t>
            </a:r>
          </a:p>
        </p:txBody>
      </p:sp>
    </p:spTree>
    <p:extLst>
      <p:ext uri="{BB962C8B-B14F-4D97-AF65-F5344CB8AC3E}">
        <p14:creationId xmlns:p14="http://schemas.microsoft.com/office/powerpoint/2010/main" val="48351396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3e7127093c409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4B99F0-0872-4DA6-811B-218AC821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964" y="1123544"/>
            <a:ext cx="7752745" cy="954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8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98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Evolution of a Low Mass Star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C46E8E-B467-4785-90F9-0716B93BB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1F3C6B-1E82-426A-9527-5155C20E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C74DB7-E9B2-4794-A1AC-3015DA3C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29 of 51</a:t>
            </a:r>
          </a:p>
        </p:txBody>
      </p:sp>
    </p:spTree>
    <p:extLst>
      <p:ext uri="{BB962C8B-B14F-4D97-AF65-F5344CB8AC3E}">
        <p14:creationId xmlns:p14="http://schemas.microsoft.com/office/powerpoint/2010/main" val="126554251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c9266814449b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A10BF0-20B7-4ED7-9794-12F020D21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862" y="1153629"/>
            <a:ext cx="7977915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mass stars with companions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0CF6CB-4E79-4A90-B2C7-9768A1C33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439" y="2331700"/>
            <a:ext cx="844144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If a low mass star is a binary star (if it has 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6A7C47-4293-4CA6-8E9E-346BB0CEA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190" y="2852919"/>
            <a:ext cx="8294702" cy="6900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companion), it will evolve in the same way,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995223-8C0F-4A43-9C38-D6A02A6D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836" y="3373125"/>
            <a:ext cx="191081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except....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3D32B9-3FDC-4441-AB0E-B7BE2288B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669" y="3995940"/>
            <a:ext cx="8223264" cy="6899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its companion evolves and gets bigger,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5AC51-7003-4508-92D5-72C64248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236" y="4516125"/>
            <a:ext cx="750526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white dwarf can steal mass from it.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F91BD0-3786-484F-99A2-8B4C8B76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416" y="5032633"/>
            <a:ext cx="802799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stolen matter forms an external layer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0D6DBF-917C-44C2-AA1D-6F78B3E4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3037" y="5553268"/>
            <a:ext cx="818471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can quickly ignite and shine brightly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6B9049-D54A-4052-8124-63C31A95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2275" y="6073994"/>
            <a:ext cx="205547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creating a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A713B1-45AF-4C41-BE76-7C969574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921" y="6073994"/>
            <a:ext cx="104553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nova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5BECA3-142C-449F-8305-ACF34FDF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398" y="6073994"/>
            <a:ext cx="27813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2EE5D7-F698-4AF7-BF03-32B22B28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53B59B-DF4A-494C-BCF4-6F71ED3E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382A57-82AE-4797-8A6F-AA432236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30 of 51</a:t>
            </a:r>
          </a:p>
        </p:txBody>
      </p:sp>
    </p:spTree>
    <p:extLst>
      <p:ext uri="{BB962C8B-B14F-4D97-AF65-F5344CB8AC3E}">
        <p14:creationId xmlns:p14="http://schemas.microsoft.com/office/powerpoint/2010/main" val="86632314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984f50eccd4010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811B16-8484-46C7-9311-117313AF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5079" y="994143"/>
            <a:ext cx="4229898" cy="9530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What’s a Nova?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1E9498-5C81-4A37-84E0-A56CFFB97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336" y="2201827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4FAF4F-09B0-4559-89B2-2B78D6A5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275" y="2204152"/>
            <a:ext cx="4065532" cy="6057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nova occurs in binary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01CE54-6C1A-485E-BBC8-30BEC9D1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2612898"/>
            <a:ext cx="3980270" cy="6088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systems where a white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22AA97-BF61-4566-9A3E-C3F76D93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3019607"/>
            <a:ext cx="4526889" cy="608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is pulling mass from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BA8883-9BD7-4180-885B-7C237968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3429495"/>
            <a:ext cx="248542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its companion.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AF34FD-BFFD-4AD4-A0C4-F19693E6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336" y="3929066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6B1110-16B4-4901-83C6-7BB23D9A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275" y="3931349"/>
            <a:ext cx="4739689" cy="6057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nova is a relatively gentle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3D9B93-B7A4-4619-858B-C82CA7F70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4340186"/>
            <a:ext cx="4573142" cy="6087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explosion of hydrogen gas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1EA95-DB15-4147-965F-C48A6124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4746848"/>
            <a:ext cx="4273299" cy="6082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 the surface of a white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6DF200-C459-4EFC-9C37-E58753236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5157116"/>
            <a:ext cx="3663393" cy="6088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in a binary star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815740-7B17-49B8-9C97-4C9AE5118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5567355"/>
            <a:ext cx="155379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system. 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E65FBD-EED4-482E-A658-AE0E77CB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336" y="6066901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68403D-FC77-412C-A6B1-CD8B3BB1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6067278"/>
            <a:ext cx="3854517" cy="6089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process does not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58041E-C0AB-4B9A-BBF5-8EEF7444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6473748"/>
            <a:ext cx="4170883" cy="608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damage the white dwarf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4A386F-0AED-4FB5-ADE3-3A5FA587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461" y="6883941"/>
            <a:ext cx="2969210" cy="609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it can repeat.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7E872C-6D42-4C86-9373-A28F0CB4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80917D-6BFB-4973-9A77-63AFD450D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FBA0E5-89D2-49F2-8F22-61474980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31 of 51</a:t>
            </a:r>
          </a:p>
        </p:txBody>
      </p:sp>
    </p:spTree>
    <p:extLst>
      <p:ext uri="{BB962C8B-B14F-4D97-AF65-F5344CB8AC3E}">
        <p14:creationId xmlns:p14="http://schemas.microsoft.com/office/powerpoint/2010/main" val="173061307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c7751e139a490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AD456C-B4F7-46FD-A3CD-D7B15CD2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7" y="830410"/>
            <a:ext cx="5689865" cy="5472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Sometimes the mass transfer can be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CE465-C842-4825-9AB2-E4901FEA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423" y="850630"/>
            <a:ext cx="1434540" cy="5135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7" b="0" i="1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2527" b="0" i="1">
                <a:solidFill>
                  <a:srgbClr val="FF3300"/>
                </a:solidFill>
                <a:latin typeface="Arial"/>
                <a:ea typeface="Arial"/>
                <a:cs typeface="Arial"/>
              </a:rPr>
              <a:t>excessive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A88532-7BB6-4A25-B265-2013B1FA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4404" y="853033"/>
            <a:ext cx="680317" cy="5095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0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So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12554A-15AA-4B9F-8572-434DBEBD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6" y="1272501"/>
            <a:ext cx="8941986" cy="565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excessive that the white dwarf will not be able to support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5DC70B-2877-40D2-B5AB-27F9F018C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6" y="1736955"/>
            <a:ext cx="7994897" cy="546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 it gains. So, what would have been a nova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E87A4F-6EE7-4581-ADAD-295D61C8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6" y="2296782"/>
            <a:ext cx="1690118" cy="544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becomes 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ACB2F8-0868-44DB-86C6-DC4E1537E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354" y="2244083"/>
            <a:ext cx="2638695" cy="6323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12" b="1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112" b="1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 SUPERNOVA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EFAFC8-1C6F-4CFF-949F-7E2C90544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9439" y="2268432"/>
            <a:ext cx="333681" cy="5917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! 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1B4B70-88FF-4702-8946-69E1E891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F550D5-BF95-4503-A0A6-614FD362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A89057-C5DD-4053-91A3-E88E1A788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32 of 51</a:t>
            </a:r>
          </a:p>
        </p:txBody>
      </p:sp>
    </p:spTree>
    <p:extLst>
      <p:ext uri="{BB962C8B-B14F-4D97-AF65-F5344CB8AC3E}">
        <p14:creationId xmlns:p14="http://schemas.microsoft.com/office/powerpoint/2010/main" val="2089537284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48ed484b384fc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E9ED0B-0FB3-4625-BB3D-8E5BDC86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3216" y="4280062"/>
            <a:ext cx="602135" cy="3773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F15315-C300-4B39-83F2-8FAC859DC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3216" y="4591105"/>
            <a:ext cx="1058834" cy="3457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E9B78-70ED-452F-91AD-EB9ABA8E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3216" y="4878755"/>
            <a:ext cx="430262" cy="3532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51B86C-665C-480C-9FA6-CBD5DF5D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3553" y="4222406"/>
            <a:ext cx="471613" cy="337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BB6902-7B26-4AEC-BC69-969EA201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5656" y="4497311"/>
            <a:ext cx="573113" cy="3666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Giant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F5EC6B-9C29-4E65-BE32-BFB668EE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4050" y="4210860"/>
            <a:ext cx="1030667" cy="3572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5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Planetary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E2A7BE-7A0D-4BC0-AA1F-002EEE8B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250" y="4498601"/>
            <a:ext cx="747326" cy="36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Nebula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28FA3B-505A-4125-A015-99DB97E7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682" y="4198493"/>
            <a:ext cx="694657" cy="3778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AC40B4-108A-4690-8DE0-BB9CBEA5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0508" y="4492946"/>
            <a:ext cx="635676" cy="37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1F5F6C-B150-465F-A120-3A92954A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57" y="6970834"/>
            <a:ext cx="1451643" cy="320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7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Pulling material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297E11-C09A-4817-BD8F-08092B3F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57" y="7223366"/>
            <a:ext cx="713902" cy="3302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off of a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5D6A9-874F-49FB-847F-687E5D96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57" y="7490732"/>
            <a:ext cx="1401750" cy="3220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companion star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255024-4EFF-47CF-86DF-AC26CBC0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727" y="5551901"/>
            <a:ext cx="546815" cy="3573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Nova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AA0319-E328-4F7F-818F-3797809F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4121" y="7100704"/>
            <a:ext cx="1326265" cy="3498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Supernova 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35C42F-2D64-48BB-80D6-254831CF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776" y="6821593"/>
            <a:ext cx="1067943" cy="340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Leaves no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905413-D3FB-410A-85C1-73352066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776" y="7088963"/>
            <a:ext cx="967958" cy="3821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remnant!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1B880B-D6B6-4BA5-9574-2891AF964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1567" y="5461561"/>
            <a:ext cx="1293019" cy="372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C7FAF4-5A8D-4F67-B232-35C0A3E76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1567" y="5762490"/>
            <a:ext cx="1218597" cy="357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(can repeat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FBE3E1-339E-4C44-BF10-43ECDE86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1567" y="6058799"/>
            <a:ext cx="1207188" cy="350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last 3 steps)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E80ECA-A043-4452-A70B-C0C5D8E7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576" y="1094352"/>
            <a:ext cx="4644977" cy="1023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03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03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mass stars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ADE307-C28B-4FEC-BF9B-147744F9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577" y="1181194"/>
            <a:ext cx="1596551" cy="878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3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(&lt; 8 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C1BD3A-CEE9-4649-B9A8-0C92B0AC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4991" y="1352649"/>
            <a:ext cx="487826" cy="832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0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) 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0068F4-D3C2-4363-889C-596A26B6D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62" y="4365065"/>
            <a:ext cx="1041810" cy="328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Interstellar 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623E66-5EBB-4BCE-8F9B-3A10D2BB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62" y="4637484"/>
            <a:ext cx="1371835" cy="3051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 (gas and 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3BFED9-0571-41A9-8E59-F403F451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62" y="4884620"/>
            <a:ext cx="484885" cy="3306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dust)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E4631C-5E43-496C-8D7D-7D87CBA8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53C834-C3CA-4A09-9F0A-46869448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C60602-7482-4B2C-8A63-1F10454F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33 of 51</a:t>
            </a:r>
          </a:p>
        </p:txBody>
      </p:sp>
    </p:spTree>
    <p:extLst>
      <p:ext uri="{BB962C8B-B14F-4D97-AF65-F5344CB8AC3E}">
        <p14:creationId xmlns:p14="http://schemas.microsoft.com/office/powerpoint/2010/main" val="24208055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5e31a709544d8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B22947-7AC5-49DF-A249-17011FFE9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949" y="1153629"/>
            <a:ext cx="8533911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mass stars (&gt; 8 solar masses)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6EDC6A-4B35-4726-BE5F-89274992D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248057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5BE3F8-877A-4050-8905-80C2412D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248057"/>
            <a:ext cx="7646885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Like low mass stars, they will become red giants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9D69EB-6FCD-459F-A475-0858E886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586725"/>
            <a:ext cx="7892407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they finish hydrogen fusion, but they will not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89826D-754F-44B7-BEF2-C4B3FAEE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921157"/>
            <a:ext cx="7064107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become white dwarfs with planetary nebulae.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F41986-2BA6-4822-8254-A6448427A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344548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8C639-E7FC-4C4A-982F-DBB86B28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3" y="3344548"/>
            <a:ext cx="7691985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Fusion in the core continues through many more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C381B8-A83E-4AA2-B2E5-FFBB457A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683157"/>
            <a:ext cx="7302223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stages than for low mass stars.  Each stage is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4FABAE-3713-4E49-92B7-3777917C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017633"/>
            <a:ext cx="3565816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shorter than the next. 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C474DE-6B13-4C6F-B7F6-75F4F265C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4440910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F9F764-6713-47F3-B883-3996D97E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3" y="4440910"/>
            <a:ext cx="514838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Heavier elements are produced: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8DF3A9-CFFD-49C6-ABA7-471BD80D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04" y="4862043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A25215-7EBA-49D6-A0EC-7E9173AD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4862043"/>
            <a:ext cx="3863772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carbon, (over 500,000 years)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78CC13-E4D5-4FBD-9182-A43939A2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04" y="5221904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8F701D-3CAA-4346-8BD3-002CCA71F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5221904"/>
            <a:ext cx="333302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oxygen, (over 600 years)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0A0C86-3FA7-49B1-A2DC-720C1479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04" y="5577478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970353-B0FC-4FF7-81E3-B2A04A01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5577478"/>
            <a:ext cx="86575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neon,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727E52-1411-4078-A841-3EE392E0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04" y="5933078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F679AF-5B6C-40D1-86DC-E2F74B3B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5933078"/>
            <a:ext cx="3116124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silicon, (over 6 months)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6EAB1D-8FA6-4D5E-AD7C-FA001990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04" y="6292935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BA3894-204B-46A6-B6BA-EBFD73E1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6292935"/>
            <a:ext cx="4342933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so on up to iron (over 1 day)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B269A0-94DF-440D-B1D8-6067BAEE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3A58F1-9420-47D1-A5BB-3F1FF0F48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35686A-F618-4FF7-9396-752AA463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34 of 51</a:t>
            </a:r>
          </a:p>
        </p:txBody>
      </p:sp>
    </p:spTree>
    <p:extLst>
      <p:ext uri="{BB962C8B-B14F-4D97-AF65-F5344CB8AC3E}">
        <p14:creationId xmlns:p14="http://schemas.microsoft.com/office/powerpoint/2010/main" val="9619147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4397ab1fc249e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E5DD75-5119-4518-9200-E3EF57187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24" y="1187945"/>
            <a:ext cx="8454183" cy="8634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4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4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series of different types of fusion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50E3C1-0A6E-4B16-94EF-6A833A328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971" y="1837768"/>
            <a:ext cx="8400080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reactions occur in high-mass stars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BAEC11-E681-4D01-A85B-88122F1E6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AA4C65-CB82-4244-93F5-B8A7AE19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A8D28E-28AE-4CBC-BB00-E69340C3F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35 of 51</a:t>
            </a:r>
          </a:p>
        </p:txBody>
      </p:sp>
    </p:spTree>
    <p:extLst>
      <p:ext uri="{BB962C8B-B14F-4D97-AF65-F5344CB8AC3E}">
        <p14:creationId xmlns:p14="http://schemas.microsoft.com/office/powerpoint/2010/main" val="122217024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3f3c3ff00d44a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2A84F8-A0CC-44AD-801C-D5A46E4D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6374" y="796062"/>
            <a:ext cx="6111666" cy="10427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1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 runs out of fuel!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DDF9CC-F046-4552-867B-577B9575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852" y="2167463"/>
            <a:ext cx="13456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Gravity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06223A-8A62-4222-8160-382210AA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8440" y="2168747"/>
            <a:ext cx="5617082" cy="607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(       ) wants to collapse the star!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9624E1-4141-485C-9569-17890312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2D8B84-4F5E-417A-A6BE-99169533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A2239C-5C40-429F-97C0-700A52806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36 of 51</a:t>
            </a:r>
          </a:p>
        </p:txBody>
      </p:sp>
    </p:spTree>
    <p:extLst>
      <p:ext uri="{BB962C8B-B14F-4D97-AF65-F5344CB8AC3E}">
        <p14:creationId xmlns:p14="http://schemas.microsoft.com/office/powerpoint/2010/main" val="76121670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285931bcbd4ff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DA9238-8515-4C27-BBB2-B0673B58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398" y="1123410"/>
            <a:ext cx="6310022" cy="954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High-Mass Stars (&gt; 8 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C166A-33E2-4FB6-A688-0254FD09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1939" y="1267285"/>
            <a:ext cx="566182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)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130602-BA95-4071-90C6-AA620FDF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691" y="2819718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6D572B-AFFD-4C6B-8210-C0EA4E845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15" y="2819718"/>
            <a:ext cx="701953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core and outer layers run out of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94FA3F-E9BB-4F8D-B52B-027029EA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16" y="3340418"/>
            <a:ext cx="97446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fuel.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E4EAA2-F8E5-4567-B67D-5AE7D169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691" y="3962772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2FDAD7-690F-4483-8879-080B2795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15" y="3963917"/>
            <a:ext cx="7541065" cy="6889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star then collapses, due to gravity.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6A8B24-807A-4942-95B6-01793880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691" y="4585047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2AD990-FA3A-4864-9C53-14ACB1CA9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15" y="4585742"/>
            <a:ext cx="6950399" cy="6897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mass, however, is high enough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2F823B-1F63-48DD-8876-8FCB5F015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16" y="5105718"/>
            <a:ext cx="558379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that nothing can balance the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9DD4EA-8810-4823-A007-815D35623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16" y="5626447"/>
            <a:ext cx="558509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gravitational collapse and…..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F5BF53-0B93-40C1-8831-5F05F34F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6F2708-7F85-48AD-841A-B58D3670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B0D7DF-FA9C-489B-8D02-E73A7952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37 of 51</a:t>
            </a:r>
          </a:p>
        </p:txBody>
      </p:sp>
    </p:spTree>
    <p:extLst>
      <p:ext uri="{BB962C8B-B14F-4D97-AF65-F5344CB8AC3E}">
        <p14:creationId xmlns:p14="http://schemas.microsoft.com/office/powerpoint/2010/main" val="1142274114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7b7e6e41e747c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377B36-521A-4E88-B981-B9B052B95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7" y="951613"/>
            <a:ext cx="8083922" cy="14230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00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00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Supernovae -Type II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E552B1-1A96-448D-BB2A-3A875550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32" y="2768930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E23C36-BD8E-4E2C-A7F5-97AF4ED8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7" y="2768930"/>
            <a:ext cx="735681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collapsing outer layers of the star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F4F922-BEEB-4EBC-91ED-5C836701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7" y="3238859"/>
            <a:ext cx="801564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will collapse against and bounce outward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982B92-C3F9-4A7E-8C6A-3C3A413FD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7" y="3704429"/>
            <a:ext cx="706494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off the compact collapsed core in an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960B61-EF59-4D70-94C7-9DC27E60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7" y="4170167"/>
            <a:ext cx="584887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explosive event sending out a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FBA97A-505D-4E78-B8C6-6ADE0E5B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7" y="4640067"/>
            <a:ext cx="687799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shockwave. This explosive event is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55B6AE-0C44-4FB9-AA0A-599A5DEF5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7" y="5105735"/>
            <a:ext cx="164776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called a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080567-5CB5-44EB-8F3D-94DB7351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737" y="5107032"/>
            <a:ext cx="3542828" cy="6887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89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389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Type II Supernova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7D1012-E927-4DC8-BA0C-0D170342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4483" y="5105743"/>
            <a:ext cx="39813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!!!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E3370A-5B77-4DDD-BA1E-8D5509D7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42" y="5677223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8A30D3-7542-4F2F-8628-D7CD6C960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67" y="5677223"/>
            <a:ext cx="789413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During the Supernova, heavier elements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5A03B9-EE84-4DDF-B30A-A7CC527D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67" y="6142906"/>
            <a:ext cx="688014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created from fusion events, like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3AA75E-5022-4588-9C8D-1FBFC9ABD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67" y="6612806"/>
            <a:ext cx="512644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magnesium, lead, or gold.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572C7C-3EBF-4989-BF66-C54030D19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9D50D8-806E-4438-AAC2-5CA0B9F8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1CEB0B-3A20-4E11-920B-DBF4FD677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38 of 51</a:t>
            </a:r>
          </a:p>
        </p:txBody>
      </p:sp>
    </p:spTree>
    <p:extLst>
      <p:ext uri="{BB962C8B-B14F-4D97-AF65-F5344CB8AC3E}">
        <p14:creationId xmlns:p14="http://schemas.microsoft.com/office/powerpoint/2010/main" val="1973995320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3ec35c7ff14374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0AA279-49F4-4EBD-9821-E9E16018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271" y="1064783"/>
            <a:ext cx="6063550" cy="10284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0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0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Supernova Type II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AB5C46-638E-494C-841F-48BEF43C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252" y="1835541"/>
            <a:ext cx="8315894" cy="10420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1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occurred here before we did.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390F47-CF87-4F98-9882-0CE3B1661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33" y="3144839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CD31A5-88F7-4E9D-A03F-CF90D8F9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8" y="3144839"/>
            <a:ext cx="733258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atoms that created our world and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933BF9-BD77-4EC6-B59D-DBFFA248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8" y="3665539"/>
            <a:ext cx="801259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solar system come from nuclear fusion in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1FDAE1-00DD-42B0-ADCE-24197A13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8" y="4186264"/>
            <a:ext cx="680795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and from supernovae events!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17327D-5508-421F-BD14-9F0D5F667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33" y="4808525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DA5564-4663-4686-9864-7F14EFFA9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8" y="4808525"/>
            <a:ext cx="554899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are all made of star stuff!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41CC37-617A-4655-A4E4-3234E655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A567E5-6286-432E-A2A9-071654C4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3F09D5-5B8A-4FFD-9459-6E5E52DF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39 of 51</a:t>
            </a:r>
          </a:p>
        </p:txBody>
      </p:sp>
    </p:spTree>
    <p:extLst>
      <p:ext uri="{BB962C8B-B14F-4D97-AF65-F5344CB8AC3E}">
        <p14:creationId xmlns:p14="http://schemas.microsoft.com/office/powerpoint/2010/main" val="1478117074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a4f424ba4d4c3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00287-6221-4458-A2C1-660BE88A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972" y="2167471"/>
            <a:ext cx="134568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0">
                <a:solidFill>
                  <a:srgbClr val="1E487D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E487D"/>
                </a:solidFill>
                <a:latin typeface="Arial"/>
                <a:ea typeface="Arial"/>
                <a:cs typeface="Arial"/>
              </a:rPr>
              <a:t>Gravity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F39BAC-3B83-4D28-A9F7-DC3C83798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560" y="2167471"/>
            <a:ext cx="68880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(  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AC07EC-4309-47BB-AFFA-251EC5FB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858" y="2167471"/>
            <a:ext cx="27081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10F29C-D38F-4B3E-8B22-3FDA7546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9444" y="2168244"/>
            <a:ext cx="4315400" cy="608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wants to collapse the star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3E6F61-EF94-4B28-BD8B-0459EFA84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4977" y="2842782"/>
            <a:ext cx="4666961" cy="800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937" b="0" i="0">
                <a:solidFill>
                  <a:srgbClr val="1E487D"/>
                </a:solidFill>
                <a:latin typeface="Arial"/>
                <a:ea typeface="Arial"/>
                <a:cs typeface="Arial"/>
              </a:defRPr>
            </a:pPr>
            <a:r>
              <a:rPr sz="3937" b="0" i="0">
                <a:solidFill>
                  <a:srgbClr val="1E487D"/>
                </a:solidFill>
                <a:latin typeface="Arial"/>
                <a:ea typeface="Arial"/>
                <a:cs typeface="Arial"/>
              </a:rPr>
              <a:t>No outward pressure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B33EA8-4F6A-4FED-925E-9419D1B34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38" y="2880529"/>
            <a:ext cx="550469" cy="7371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28" b="0" i="0">
                <a:solidFill>
                  <a:srgbClr val="BF504C"/>
                </a:solidFill>
                <a:latin typeface="Arial"/>
                <a:ea typeface="Arial"/>
                <a:cs typeface="Arial"/>
              </a:defRPr>
            </a:pPr>
            <a:r>
              <a:rPr sz="3628" b="0" i="0">
                <a:solidFill>
                  <a:srgbClr val="BF504C"/>
                </a:solidFill>
                <a:latin typeface="Arial"/>
                <a:ea typeface="Arial"/>
                <a:cs typeface="Arial"/>
              </a:rPr>
              <a:t> =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ADA1E9-D228-474F-9F72-C966237B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466" y="2830355"/>
            <a:ext cx="2192343" cy="8207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039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039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implosion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F68AF3-AC5C-45EC-BEB6-54C4064A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3936" y="4305350"/>
            <a:ext cx="4032646" cy="800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94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94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Rebound of outer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4EABF2-3A1F-4B21-ACA1-338CF60B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3936" y="4967581"/>
            <a:ext cx="3964794" cy="7766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layers against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64DF20-E3BA-4E50-B6F0-1AB7445A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3936" y="5600432"/>
            <a:ext cx="999698" cy="801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94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94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D44C0F-8848-4140-8B40-932F35E8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5534" y="5614357"/>
            <a:ext cx="2850821" cy="7781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29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829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 = supernova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4ED44-4BDA-42A7-A0C1-A3DC4E77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0335" y="1121855"/>
            <a:ext cx="6881092" cy="10416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1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High-Mass Stars (&gt; 8 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D2592C-6006-4899-A16A-9A3B65195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6090" y="1277665"/>
            <a:ext cx="436742" cy="1043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FFE5CD-742E-4BF9-BC6A-0FEB3FE6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AFB278-0662-4FFA-B5AB-F75A95F8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DA3AD7-64EE-49A0-A345-AEBA6D73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40 of 51</a:t>
            </a:r>
          </a:p>
        </p:txBody>
      </p:sp>
    </p:spTree>
    <p:extLst>
      <p:ext uri="{BB962C8B-B14F-4D97-AF65-F5344CB8AC3E}">
        <p14:creationId xmlns:p14="http://schemas.microsoft.com/office/powerpoint/2010/main" val="148957668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cc57960f174b3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2BB46B-9CFC-4937-B5EF-AD849308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5078" y="1000759"/>
            <a:ext cx="2593925" cy="762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50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3750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Supernovae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80C217-0CF0-459C-BF5E-BE59BDC9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456" y="6796819"/>
            <a:ext cx="1074152" cy="3680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11" b="0" i="0">
                <a:solidFill>
                  <a:srgbClr val="00007F"/>
                </a:solidFill>
                <a:latin typeface="Arial"/>
                <a:ea typeface="Arial"/>
                <a:cs typeface="Arial"/>
              </a:defRPr>
            </a:pPr>
            <a:r>
              <a:rPr sz="1811" b="0" i="0">
                <a:solidFill>
                  <a:srgbClr val="00007F"/>
                </a:solidFill>
                <a:latin typeface="Arial"/>
                <a:ea typeface="Arial"/>
                <a:cs typeface="Arial"/>
              </a:rPr>
              <a:t>SN 1987A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44E88E-E9DB-4C9E-8536-91BDE057F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F90207-5BA3-419D-B902-50A5F5D3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96EF47-3CC5-42C7-BDF8-9AC7E439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41 of 51</a:t>
            </a:r>
          </a:p>
        </p:txBody>
      </p:sp>
    </p:spTree>
    <p:extLst>
      <p:ext uri="{BB962C8B-B14F-4D97-AF65-F5344CB8AC3E}">
        <p14:creationId xmlns:p14="http://schemas.microsoft.com/office/powerpoint/2010/main" val="418071856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f53f78f5994bd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32E7B1-F5DB-45A9-829A-2F0CE631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5078" y="1000759"/>
            <a:ext cx="2593925" cy="762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50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3750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Supernovae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36ADFD-D2E6-4812-9DA2-8CCF4C53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456" y="6799549"/>
            <a:ext cx="1970612" cy="363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9" b="0" i="0">
                <a:solidFill>
                  <a:srgbClr val="00007F"/>
                </a:solidFill>
                <a:latin typeface="Arial"/>
                <a:ea typeface="Arial"/>
                <a:cs typeface="Arial"/>
              </a:defRPr>
            </a:pPr>
            <a:r>
              <a:rPr sz="1789" b="0" i="0">
                <a:solidFill>
                  <a:srgbClr val="00007F"/>
                </a:solidFill>
                <a:latin typeface="Arial"/>
                <a:ea typeface="Arial"/>
                <a:cs typeface="Arial"/>
              </a:rPr>
              <a:t>SN 2011fe in M101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C16B26-0D9E-4BF2-9D93-B08016D5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7" y="6060239"/>
            <a:ext cx="1637152" cy="3540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4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August 22, 2011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666F5B-DBCC-4158-BDC0-8128F794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284" y="6060239"/>
            <a:ext cx="1637151" cy="3540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4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August 23, 2011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4F10A2-348C-4F3C-B24D-D31DE7EC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223" y="6060239"/>
            <a:ext cx="1637152" cy="3540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4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August 24, 2011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EC4620-705A-49D5-8320-39B6EDC8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58BF86-2625-4929-AB06-0941B5C3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A6C4F1-77A9-4954-B28F-D2E81D0B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42 of 51</a:t>
            </a:r>
          </a:p>
        </p:txBody>
      </p:sp>
    </p:spTree>
    <p:extLst>
      <p:ext uri="{BB962C8B-B14F-4D97-AF65-F5344CB8AC3E}">
        <p14:creationId xmlns:p14="http://schemas.microsoft.com/office/powerpoint/2010/main" val="445999285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2f358cd7704ca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CC5497-47EC-41E1-8E4F-F4A658EA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5733" y="894531"/>
            <a:ext cx="5110356" cy="841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140" b="0" i="0">
                <a:solidFill>
                  <a:srgbClr val="00007F"/>
                </a:solidFill>
                <a:latin typeface="Arial"/>
                <a:ea typeface="Arial"/>
                <a:cs typeface="Arial"/>
              </a:defRPr>
            </a:pPr>
            <a:r>
              <a:rPr sz="4140" b="0" i="0">
                <a:solidFill>
                  <a:srgbClr val="00007F"/>
                </a:solidFill>
                <a:latin typeface="Arial"/>
                <a:ea typeface="Arial"/>
                <a:cs typeface="Arial"/>
              </a:rPr>
              <a:t>Supernova Remnants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BD1C51-54B6-4499-8781-AC7C46CD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77432E-574E-49D3-9585-974A1151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DB1E08-0275-41B3-A9E0-6301A0F5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43 of 51</a:t>
            </a:r>
          </a:p>
        </p:txBody>
      </p:sp>
    </p:spTree>
    <p:extLst>
      <p:ext uri="{BB962C8B-B14F-4D97-AF65-F5344CB8AC3E}">
        <p14:creationId xmlns:p14="http://schemas.microsoft.com/office/powerpoint/2010/main" val="116613953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65b5aa875643c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380E8F-F030-4230-A887-B004FBC2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1936" y="4622356"/>
            <a:ext cx="1264841" cy="475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4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4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Big Main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77DF18-4F35-4BA5-8756-56B573EC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1936" y="5022467"/>
            <a:ext cx="1919129" cy="4579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Star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7E957C-4BEB-4EA8-A1B2-AEBA572D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6610" y="4639678"/>
            <a:ext cx="615354" cy="446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B4A81-4996-4024-B050-936135BE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025" y="5006354"/>
            <a:ext cx="749687" cy="48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Giant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852A84-6C0D-47EA-8A85-0400FBF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3244" y="4635565"/>
            <a:ext cx="970984" cy="453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Type II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070D1D-9E3C-400C-A7EB-459B9146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0954" y="5015877"/>
            <a:ext cx="1443155" cy="4689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Supernova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AD13B6-9274-4336-9D56-1824E387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191" y="1091365"/>
            <a:ext cx="6091896" cy="9217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5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5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High-Mass Stars (&gt; 8 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9206B3-2E81-4E00-A490-60A38020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8335" y="1256761"/>
            <a:ext cx="529278" cy="9072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4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4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)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8D3BDE-5BAD-4EAB-B078-EA2EA8EE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56" y="4694468"/>
            <a:ext cx="1543359" cy="491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Interstellar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62B78C-C524-41C7-8DC5-C566D00C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56" y="5107143"/>
            <a:ext cx="1471112" cy="4523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 (gas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490B0B-2BAD-4F73-8FF8-1E323958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56" y="5479145"/>
            <a:ext cx="1279974" cy="48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dust)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F1D769-FC6A-4F82-A2C6-24B8840F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9B0387-664B-4931-B509-C4888806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7870D6-2A00-43E7-9E7D-93C25581B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44 of 51</a:t>
            </a:r>
          </a:p>
        </p:txBody>
      </p:sp>
    </p:spTree>
    <p:extLst>
      <p:ext uri="{BB962C8B-B14F-4D97-AF65-F5344CB8AC3E}">
        <p14:creationId xmlns:p14="http://schemas.microsoft.com/office/powerpoint/2010/main" val="380031123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7bf318033d4b4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24E381-1FAD-4726-AF2A-B629C0CA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9101" y="939706"/>
            <a:ext cx="5564401" cy="949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Very high mass stars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5D8503-65E2-4D25-94E3-71D61C35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085852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57B992-A675-4408-BEE5-9E13B411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088055"/>
            <a:ext cx="7667175" cy="605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Depending on the exact mass of the star, the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0C160A-D218-471F-835D-F2D4B65E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539895"/>
            <a:ext cx="8259603" cy="6078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remnant of a high mass or a very high mass star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2412DB-BD62-4169-A1F5-8DDD63CA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002663"/>
            <a:ext cx="1168829" cy="5985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4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4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differ. 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2F09E3-A4A9-4B9F-8378-7448D8E7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495573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C4DF89-72E3-4FE5-99E3-04D8CC782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495573"/>
            <a:ext cx="216834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neutron star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B813E5-E1B5-44E2-9990-F51DE9D5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262" y="3996352"/>
            <a:ext cx="7896465" cy="60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 the really big ones: remaining mass of 1.4 to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A028B4-4624-4634-BFEB-0A9AE802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4401465"/>
            <a:ext cx="172585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about 3 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1AEE0F-2FF6-4CB4-A301-654D56C8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6" y="4901016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361B14-0930-4BA8-A0A0-8EF4CA47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1" y="4901016"/>
            <a:ext cx="185241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black hole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39AF7-CC3A-4F31-A1A1-B544B65B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272" y="5405648"/>
            <a:ext cx="976278" cy="6080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 the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A33B99-F615-44D3-AF35-865B59A4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939" y="5405428"/>
            <a:ext cx="3787749" cy="6084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really really big ones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93C6DE-4F54-4C3A-B3E7-C10609885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0233" y="5404740"/>
            <a:ext cx="303489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 remaining mass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F86AAE-EE74-4BA6-9350-9F871AB2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33" y="5811234"/>
            <a:ext cx="282244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greater than 3 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66BC8C-F7AE-41B8-B4A1-7BE79B73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593" y="6646594"/>
            <a:ext cx="5466907" cy="6072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will discuss these objects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CCD80F-94BD-4655-884B-A445F2C3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6911" y="7145184"/>
            <a:ext cx="4550096" cy="6086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more detail next class.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2D6BD4-F931-4825-BC0A-CD0036D7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5D2588-6BCF-49BA-9837-EABA6CC88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DDDFAB-B4F5-4A8D-9657-8F5F25E6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45 of 51</a:t>
            </a:r>
          </a:p>
        </p:txBody>
      </p:sp>
    </p:spTree>
    <p:extLst>
      <p:ext uri="{BB962C8B-B14F-4D97-AF65-F5344CB8AC3E}">
        <p14:creationId xmlns:p14="http://schemas.microsoft.com/office/powerpoint/2010/main" val="1212463670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6f8b8929c244a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9379C0-B87A-496F-857F-3D58823E3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496" y="4784916"/>
            <a:ext cx="1264841" cy="475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4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4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Big Main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3EED6A-ED96-46BA-829C-5D572A10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496" y="5184353"/>
            <a:ext cx="1397516" cy="4591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593E74-D727-4F7A-B687-6B2F90F4C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496" y="5569139"/>
            <a:ext cx="560595" cy="466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5E4F0-454C-4E00-A4E6-EEFD5AC6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330" y="5144285"/>
            <a:ext cx="615354" cy="446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B54363-16B6-44D3-AE0F-907F34E6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745" y="5510965"/>
            <a:ext cx="749687" cy="48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Giant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CAC9FA-9CEA-4259-B30D-D0745B87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8701" y="5221452"/>
            <a:ext cx="970984" cy="453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Type II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C62B40-E4FF-4151-87AB-00EE9B79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411" y="5601769"/>
            <a:ext cx="1443155" cy="4689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Supernova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281772-D5E2-48AF-B9F8-71E23795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1095" y="2351824"/>
            <a:ext cx="1212235" cy="4951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Neutron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EC398C-F638-4BDD-A918-127B1C89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0358" y="2758205"/>
            <a:ext cx="560594" cy="466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944ED2-94EC-4953-90B0-385692BE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191" y="928805"/>
            <a:ext cx="6091896" cy="9217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5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5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High-Mass Stars (&gt; 8 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97CF00-83F5-4794-BAE1-BC322F804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8335" y="1094202"/>
            <a:ext cx="529278" cy="9072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4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4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)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869966-BE51-4B55-B01F-833644B1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660" y="4629449"/>
            <a:ext cx="1411299" cy="463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Black Hole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7579ED-5259-4EEA-AB52-67F33315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80" y="4938308"/>
            <a:ext cx="1543359" cy="491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Interstellar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7E0CD3-B434-4200-AAFE-EB09CD9C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80" y="5350983"/>
            <a:ext cx="1471112" cy="4523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 (gas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ED4820-C357-4626-A98F-BDB2BD85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80" y="5722985"/>
            <a:ext cx="1279974" cy="48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dust)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B76FA8-1647-408B-B2FB-8E00789D3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5E580E-9662-4D05-AB65-630631F7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587783-0F8A-4E55-825D-9D789F55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46 of 51</a:t>
            </a:r>
          </a:p>
        </p:txBody>
      </p:sp>
    </p:spTree>
    <p:extLst>
      <p:ext uri="{BB962C8B-B14F-4D97-AF65-F5344CB8AC3E}">
        <p14:creationId xmlns:p14="http://schemas.microsoft.com/office/powerpoint/2010/main" val="19434487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c234f74cfc48c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2C1F54-DA0B-4630-9E30-497A6DE0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038" y="1123613"/>
            <a:ext cx="7884359" cy="954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8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98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Evolution of a High Mass Star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739E6A-EF6A-4FA2-80DF-4FA7E982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05541C-6B2A-416F-A6F3-B5CF385E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B23780-B4BB-4FE0-9F46-9FA49B13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47 of 51</a:t>
            </a:r>
          </a:p>
        </p:txBody>
      </p:sp>
    </p:spTree>
    <p:extLst>
      <p:ext uri="{BB962C8B-B14F-4D97-AF65-F5344CB8AC3E}">
        <p14:creationId xmlns:p14="http://schemas.microsoft.com/office/powerpoint/2010/main" val="75767369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42e0b4c8f5491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55B0CC-F14D-44D0-A865-BE3E2341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054" y="795515"/>
            <a:ext cx="795932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 following lists, in the correct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7B5C6E-B630-488D-BE98-E299B9E26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459" y="1316689"/>
            <a:ext cx="8152833" cy="6900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order, is a possible evolutionary path for 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E8763D-5A06-463F-BCF6-C6FFAAE5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2105" y="1832684"/>
            <a:ext cx="99859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1DE84B-D421-4BD0-B460-CB2B5E18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51" y="2734085"/>
            <a:ext cx="348121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E45D13-7B85-4074-8E94-E47D05FF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6" y="2739729"/>
            <a:ext cx="6695055" cy="518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Giant, Neutron Star, White Dwarf, nothing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274C9F-B2F6-4208-B3FA-9852B606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3" y="3220917"/>
            <a:ext cx="34796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F40A93-5C44-4708-96F2-32DA3CB03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6" y="3226859"/>
            <a:ext cx="5950613" cy="5184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Giant, Type I Supernova, Black Hole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B3FAB1-5B23-458E-98BC-31DDCC7B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3" y="3707753"/>
            <a:ext cx="36655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8E645C-5995-4E51-B6DC-E7973C4F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6" y="3713604"/>
            <a:ext cx="7159680" cy="5185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Giant, Type II Supernova, Planetary Nebula,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A88FFE-9B7A-4F65-B54E-A70B7E98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6" y="4101280"/>
            <a:ext cx="187909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Neutron Star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A04FFD-A754-4DDE-83F2-649D26D0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3" y="4584054"/>
            <a:ext cx="36655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2862B3-88CD-42F2-B5CE-4A679BD64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6" y="4588658"/>
            <a:ext cx="6120370" cy="5206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Giant, Planetary Nebula, White Dwarf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548AEA-8CFF-4112-BF6D-BBBCA4F6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3" y="5070885"/>
            <a:ext cx="34796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2695EB-4FBF-4566-ADDF-D22047E9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6" y="5075427"/>
            <a:ext cx="5904972" cy="52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Giant, Planetary Nebula, Black Hole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51A45B-1CFA-4E9C-A0B2-510C7724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A730F-19EE-4B41-9108-8A163B9C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10499A-10A1-438B-85A6-936D84DC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48 of 51</a:t>
            </a:r>
          </a:p>
        </p:txBody>
      </p:sp>
    </p:spTree>
    <p:extLst>
      <p:ext uri="{BB962C8B-B14F-4D97-AF65-F5344CB8AC3E}">
        <p14:creationId xmlns:p14="http://schemas.microsoft.com/office/powerpoint/2010/main" val="200635792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92cd436d47413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FC52A4-198F-44DA-8EFB-BD2131B1D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554" y="1252881"/>
            <a:ext cx="7909008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a white dwarf to become a nova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BE87CF-3529-4E73-8B8F-457EA96B6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9144" y="1837081"/>
            <a:ext cx="4744491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is necessary for it 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19D510-F60F-4304-A997-15E8D4C7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23" y="2736087"/>
            <a:ext cx="39943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9E1AA-CD83-4632-99F7-4E66404B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2" y="2736424"/>
            <a:ext cx="4278709" cy="6090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have a binary companion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622FBA-2DC8-4059-B55F-F103077F5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09" y="3303355"/>
            <a:ext cx="39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CC0E8A-E60E-4D9E-957D-2A6DEF0C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2" y="3303564"/>
            <a:ext cx="3518077" cy="6092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become a black hole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2CF6AB-550A-4773-8E34-D0D6662E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09" y="3870619"/>
            <a:ext cx="41955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041E95-6E80-44D0-950F-C26EF20BA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2" y="3871426"/>
            <a:ext cx="6026822" cy="6082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have begun life as a high-mass star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C0A850-469B-43A3-8380-7A12C671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09" y="4437926"/>
            <a:ext cx="41955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CBA471-ED5B-4192-97FA-0D7B8DA3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82" y="4438124"/>
            <a:ext cx="4280331" cy="6092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rejoin the main sequence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0FE4F9-97F4-4A32-BA00-08477B63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8E5738-85E4-4614-8772-56322C79D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2AE92D-83A9-4341-95F9-6D0BD555D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49 of 51</a:t>
            </a:r>
          </a:p>
        </p:txBody>
      </p:sp>
    </p:spTree>
    <p:extLst>
      <p:ext uri="{BB962C8B-B14F-4D97-AF65-F5344CB8AC3E}">
        <p14:creationId xmlns:p14="http://schemas.microsoft.com/office/powerpoint/2010/main" val="450418304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cb1cac52b484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CC04D-1E6C-4927-8811-6BF9A83E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230" y="828522"/>
            <a:ext cx="8100950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did astronomers figure all of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23D025-69A2-452D-A560-DDC7EF77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8165" y="1480479"/>
            <a:ext cx="2686208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out???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837903-D1BE-444A-A741-ECBB5BD7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6474" y="2333914"/>
            <a:ext cx="3067857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Clusters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2D700C-A30C-4198-AC46-2202DF85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07" y="3021725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6AC6E4-51A8-43A7-A611-378A7A16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2" y="3021725"/>
            <a:ext cx="735781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Since stars form in clusters, you get a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8D2BCF-E3FE-4146-B338-11B8DEA78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2" y="3542470"/>
            <a:ext cx="803640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snapshot of stellar evolution at a moment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A9B921-16AC-4FD8-90BC-B6344D6F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2" y="4058977"/>
            <a:ext cx="577624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time for all masses of stars.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A67D0B-E087-4470-BB10-5B0029A82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07" y="4681233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17D326-12FC-49C9-AD2B-0654F62C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2" y="4681233"/>
            <a:ext cx="809635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observe stars of different masses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EB7548-B6B1-4DA2-B2C8-C87D42CA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2" y="5201907"/>
            <a:ext cx="68722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 different stages of their evolution.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F35BA3-0568-425B-A337-6FE7B324B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95F43B-F171-4DD8-9658-ACE41583A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148FDE-3B6F-4902-963B-85141261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50 of 51</a:t>
            </a:r>
          </a:p>
        </p:txBody>
      </p:sp>
    </p:spTree>
    <p:extLst>
      <p:ext uri="{BB962C8B-B14F-4D97-AF65-F5344CB8AC3E}">
        <p14:creationId xmlns:p14="http://schemas.microsoft.com/office/powerpoint/2010/main" val="950055595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82ef4ad53a480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7AB21C-516C-4FB5-800A-43156251C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7294" y="958405"/>
            <a:ext cx="258485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Example HR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50E660-A23B-4E8E-A175-7D4D2F5E6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6349" y="1479105"/>
            <a:ext cx="188768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Diagrams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E13296-C47B-45C3-AAAF-E88A1F1C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1" y="2331741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F9536B-6275-4880-A4DB-0B8B0F3A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2331741"/>
            <a:ext cx="335969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HR diagrams look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D194F-455D-4997-A1A2-A321FB0F2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2722081"/>
            <a:ext cx="3963724" cy="52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different for star clusters of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FB662C-B495-4FEB-9E63-3E8FDCF7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3111021"/>
            <a:ext cx="2269809" cy="5209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different ages. 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361EE4-CF6C-4570-AC0B-7D66B7A5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1" y="3576346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95B40D-EA96-489C-A78D-E643BCB9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3579027"/>
            <a:ext cx="3043483" cy="5170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Young clusters have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781287-43DB-40B4-918E-63A08842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3965810"/>
            <a:ext cx="326832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massive stars already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8F8893-A905-428D-93F9-62838512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4355698"/>
            <a:ext cx="3101515" cy="520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evolving off the main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049ED8-58D0-4EDB-8FBC-A216DDAC0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4744737"/>
            <a:ext cx="381324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while low mass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3C971C-7D2F-4AD7-9F25-8B048FBF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5134568"/>
            <a:ext cx="3662777" cy="520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have yet to reach 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36786F-2831-4880-8628-416CBE81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1" y="5599868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D5A9B1-94DA-4380-AD3B-D61D5CDB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5600025"/>
            <a:ext cx="3972903" cy="521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Old Clusters only have low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4C5DA1-CAE2-4A24-BE1A-C44C93B0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5989684"/>
            <a:ext cx="4042143" cy="5209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 stars still on the main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491A9C-B3A2-4A55-AA91-508FFE4DA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54" y="6378770"/>
            <a:ext cx="1538332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926AD4-35EB-4EA9-A6F6-03DD80867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BB679A-1F00-4BBC-A326-5B3B0B50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DD6C16-3C54-4355-8DF2-8BA5FAF3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51 of 51</a:t>
            </a:r>
          </a:p>
        </p:txBody>
      </p:sp>
    </p:spTree>
    <p:extLst>
      <p:ext uri="{BB962C8B-B14F-4D97-AF65-F5344CB8AC3E}">
        <p14:creationId xmlns:p14="http://schemas.microsoft.com/office/powerpoint/2010/main" val="18575284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Stellar evolution</dc:title>
  <dcterms:created xsi:type="dcterms:W3CDTF">2026-09-26T20:03:22.2080000Z</dcterms:created>
  <dcterms:modified xsi:type="dcterms:W3CDTF">2026-09-26T20:03:22.2080000Z</dcterms:modified>
</coreProperties>
</file>