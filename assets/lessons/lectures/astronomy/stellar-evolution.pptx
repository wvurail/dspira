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482987928f64909" /><Relationship Type="http://schemas.openxmlformats.org/officeDocument/2006/relationships/extended-properties" Target="/docProps/app.xml" Id="R79d53fb2dd80420b" /><Relationship Type="http://schemas.openxmlformats.org/officeDocument/2006/relationships/officeDocument" Target="/ppt/presentation.xml" Id="Ra3e64eeb2873428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38e14a5d1314e5d"/>
  </p:sldMasterIdLst>
  <p:notesMasterIdLst>
    <p:notesMasterId xmlns:r="http://schemas.openxmlformats.org/officeDocument/2006/relationships" r:id="Rcf97185289bb41b0"/>
  </p:notesMasterIdLst>
  <p:sldIdLst>
    <p:sldId xmlns:r="http://schemas.openxmlformats.org/officeDocument/2006/relationships" id="256" r:id="Rf540d3a6ee8d48e7"/>
    <p:sldId xmlns:r="http://schemas.openxmlformats.org/officeDocument/2006/relationships" id="257" r:id="R018a689a0ef84b27"/>
    <p:sldId xmlns:r="http://schemas.openxmlformats.org/officeDocument/2006/relationships" id="258" r:id="Ra9df34a8b1974883"/>
    <p:sldId xmlns:r="http://schemas.openxmlformats.org/officeDocument/2006/relationships" id="259" r:id="R8038d80114594a0b"/>
    <p:sldId xmlns:r="http://schemas.openxmlformats.org/officeDocument/2006/relationships" id="260" r:id="R673ad40d2a2d4aea"/>
    <p:sldId xmlns:r="http://schemas.openxmlformats.org/officeDocument/2006/relationships" id="261" r:id="Rf6d56485645d4721"/>
    <p:sldId xmlns:r="http://schemas.openxmlformats.org/officeDocument/2006/relationships" id="262" r:id="Refb73229a8b54c7e"/>
    <p:sldId xmlns:r="http://schemas.openxmlformats.org/officeDocument/2006/relationships" id="263" r:id="Rea2dce902f954a87"/>
    <p:sldId xmlns:r="http://schemas.openxmlformats.org/officeDocument/2006/relationships" id="264" r:id="R844e7d6c728e4f0a"/>
    <p:sldId xmlns:r="http://schemas.openxmlformats.org/officeDocument/2006/relationships" id="265" r:id="Raa331da163bc4b9f"/>
    <p:sldId xmlns:r="http://schemas.openxmlformats.org/officeDocument/2006/relationships" id="266" r:id="R12e490dd684d488a"/>
    <p:sldId xmlns:r="http://schemas.openxmlformats.org/officeDocument/2006/relationships" id="267" r:id="Rfcb4261179a345a6"/>
    <p:sldId xmlns:r="http://schemas.openxmlformats.org/officeDocument/2006/relationships" id="268" r:id="Raf57298db5ed4ee9"/>
    <p:sldId xmlns:r="http://schemas.openxmlformats.org/officeDocument/2006/relationships" id="269" r:id="R85c625c42eaa4b38"/>
    <p:sldId xmlns:r="http://schemas.openxmlformats.org/officeDocument/2006/relationships" id="270" r:id="R4e923a7180504d9a"/>
    <p:sldId xmlns:r="http://schemas.openxmlformats.org/officeDocument/2006/relationships" id="271" r:id="Rc1867a833c124a2c"/>
    <p:sldId xmlns:r="http://schemas.openxmlformats.org/officeDocument/2006/relationships" id="272" r:id="Rbd70d92ba06f467b"/>
    <p:sldId xmlns:r="http://schemas.openxmlformats.org/officeDocument/2006/relationships" id="273" r:id="R08caaf4b72d14b4f"/>
    <p:sldId xmlns:r="http://schemas.openxmlformats.org/officeDocument/2006/relationships" id="274" r:id="R6ee4bad096fd4f74"/>
    <p:sldId xmlns:r="http://schemas.openxmlformats.org/officeDocument/2006/relationships" id="275" r:id="R4fa4a91775144f41"/>
    <p:sldId xmlns:r="http://schemas.openxmlformats.org/officeDocument/2006/relationships" id="276" r:id="R009c47626d0b48c4"/>
    <p:sldId xmlns:r="http://schemas.openxmlformats.org/officeDocument/2006/relationships" id="277" r:id="Rdb5e295203fe4e19"/>
    <p:sldId xmlns:r="http://schemas.openxmlformats.org/officeDocument/2006/relationships" id="278" r:id="R0ab46a5ce5414d3b"/>
    <p:sldId xmlns:r="http://schemas.openxmlformats.org/officeDocument/2006/relationships" id="279" r:id="R7c613d010ef149e6"/>
    <p:sldId xmlns:r="http://schemas.openxmlformats.org/officeDocument/2006/relationships" id="280" r:id="Rbbd45a1ac5ef4263"/>
    <p:sldId xmlns:r="http://schemas.openxmlformats.org/officeDocument/2006/relationships" id="281" r:id="R101a12b89a9f41fe"/>
    <p:sldId xmlns:r="http://schemas.openxmlformats.org/officeDocument/2006/relationships" id="282" r:id="Raef09274cd94477e"/>
    <p:sldId xmlns:r="http://schemas.openxmlformats.org/officeDocument/2006/relationships" id="283" r:id="R2e0f27d897cd4eee"/>
    <p:sldId xmlns:r="http://schemas.openxmlformats.org/officeDocument/2006/relationships" id="284" r:id="Re8d8c2f534fe494c"/>
    <p:sldId xmlns:r="http://schemas.openxmlformats.org/officeDocument/2006/relationships" id="285" r:id="R3fba71568b454562"/>
    <p:sldId xmlns:r="http://schemas.openxmlformats.org/officeDocument/2006/relationships" id="286" r:id="R2c61bf64ca284eb5"/>
    <p:sldId xmlns:r="http://schemas.openxmlformats.org/officeDocument/2006/relationships" id="287" r:id="Rf3179adf32fc4a47"/>
    <p:sldId xmlns:r="http://schemas.openxmlformats.org/officeDocument/2006/relationships" id="288" r:id="R552c72369cec44e1"/>
    <p:sldId xmlns:r="http://schemas.openxmlformats.org/officeDocument/2006/relationships" id="289" r:id="Ra099047b3ff24e45"/>
    <p:sldId xmlns:r="http://schemas.openxmlformats.org/officeDocument/2006/relationships" id="290" r:id="R30d7a41c33434730"/>
    <p:sldId xmlns:r="http://schemas.openxmlformats.org/officeDocument/2006/relationships" id="291" r:id="R5bb1c9c09e4041e3"/>
    <p:sldId xmlns:r="http://schemas.openxmlformats.org/officeDocument/2006/relationships" id="292" r:id="R8f0210c0fdd040e4"/>
    <p:sldId xmlns:r="http://schemas.openxmlformats.org/officeDocument/2006/relationships" id="293" r:id="Rdef12b4270aa489a"/>
    <p:sldId xmlns:r="http://schemas.openxmlformats.org/officeDocument/2006/relationships" id="294" r:id="R5b17df0538fd4286"/>
    <p:sldId xmlns:r="http://schemas.openxmlformats.org/officeDocument/2006/relationships" id="295" r:id="Re4e2bdfa09c549d5"/>
    <p:sldId xmlns:r="http://schemas.openxmlformats.org/officeDocument/2006/relationships" id="296" r:id="R113fd286077742e1"/>
    <p:sldId xmlns:r="http://schemas.openxmlformats.org/officeDocument/2006/relationships" id="297" r:id="Rfbf51db55ca64df3"/>
    <p:sldId xmlns:r="http://schemas.openxmlformats.org/officeDocument/2006/relationships" id="298" r:id="Rb6524df6af9d46d4"/>
    <p:sldId xmlns:r="http://schemas.openxmlformats.org/officeDocument/2006/relationships" id="299" r:id="Rab9b75628f4746bb"/>
    <p:sldId xmlns:r="http://schemas.openxmlformats.org/officeDocument/2006/relationships" id="300" r:id="Rc5a1f4558d45403e"/>
    <p:sldId xmlns:r="http://schemas.openxmlformats.org/officeDocument/2006/relationships" id="301" r:id="Re818f1368a8c49b6"/>
    <p:sldId xmlns:r="http://schemas.openxmlformats.org/officeDocument/2006/relationships" id="302" r:id="R76b1b15048214d17"/>
    <p:sldId xmlns:r="http://schemas.openxmlformats.org/officeDocument/2006/relationships" id="303" r:id="Recbf521c42f24288"/>
    <p:sldId xmlns:r="http://schemas.openxmlformats.org/officeDocument/2006/relationships" id="304" r:id="R6a866a6a730b44ff"/>
    <p:sldId xmlns:r="http://schemas.openxmlformats.org/officeDocument/2006/relationships" id="305" r:id="Rf0d63186eb64444e"/>
    <p:sldId xmlns:r="http://schemas.openxmlformats.org/officeDocument/2006/relationships" id="306" r:id="R089f583088bc4b48"/>
  </p:sldIdLst>
  <p:sldSz cx="10058400" cy="84582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e755d5c2813404c" /><Relationship Type="http://schemas.openxmlformats.org/officeDocument/2006/relationships/slideMaster" Target="/ppt/slideMasters/slideMaster1.xml" Id="R638e14a5d1314e5d" /><Relationship Type="http://schemas.openxmlformats.org/officeDocument/2006/relationships/notesMaster" Target="/ppt/notesMasters/notesMaster1.xml" Id="Rcf97185289bb41b0" /><Relationship Type="http://schemas.openxmlformats.org/officeDocument/2006/relationships/presProps" Target="/ppt/presProps.xml" Id="Rfe4a9334532e4f1a" /><Relationship Type="http://schemas.openxmlformats.org/officeDocument/2006/relationships/tableStyles" Target="/ppt/tableStyles.xml" Id="R1655ee34f7c34874" /><Relationship Type="http://schemas.openxmlformats.org/officeDocument/2006/relationships/slide" Target="/ppt/slides/slide1.xml" Id="Rf540d3a6ee8d48e7" /><Relationship Type="http://schemas.openxmlformats.org/officeDocument/2006/relationships/slide" Target="/ppt/slides/slide2.xml" Id="R018a689a0ef84b27" /><Relationship Type="http://schemas.openxmlformats.org/officeDocument/2006/relationships/slide" Target="/ppt/slides/slide3.xml" Id="Ra9df34a8b1974883" /><Relationship Type="http://schemas.openxmlformats.org/officeDocument/2006/relationships/slide" Target="/ppt/slides/slide4.xml" Id="R8038d80114594a0b" /><Relationship Type="http://schemas.openxmlformats.org/officeDocument/2006/relationships/slide" Target="/ppt/slides/slide5.xml" Id="R673ad40d2a2d4aea" /><Relationship Type="http://schemas.openxmlformats.org/officeDocument/2006/relationships/slide" Target="/ppt/slides/slide6.xml" Id="Rf6d56485645d4721" /><Relationship Type="http://schemas.openxmlformats.org/officeDocument/2006/relationships/slide" Target="/ppt/slides/slide7.xml" Id="Refb73229a8b54c7e" /><Relationship Type="http://schemas.openxmlformats.org/officeDocument/2006/relationships/slide" Target="/ppt/slides/slide8.xml" Id="Rea2dce902f954a87" /><Relationship Type="http://schemas.openxmlformats.org/officeDocument/2006/relationships/slide" Target="/ppt/slides/slide9.xml" Id="R844e7d6c728e4f0a" /><Relationship Type="http://schemas.openxmlformats.org/officeDocument/2006/relationships/slide" Target="/ppt/slides/slide10.xml" Id="Raa331da163bc4b9f" /><Relationship Type="http://schemas.openxmlformats.org/officeDocument/2006/relationships/slide" Target="/ppt/slides/slide11.xml" Id="R12e490dd684d488a" /><Relationship Type="http://schemas.openxmlformats.org/officeDocument/2006/relationships/slide" Target="/ppt/slides/slide12.xml" Id="Rfcb4261179a345a6" /><Relationship Type="http://schemas.openxmlformats.org/officeDocument/2006/relationships/slide" Target="/ppt/slides/slide13.xml" Id="Raf57298db5ed4ee9" /><Relationship Type="http://schemas.openxmlformats.org/officeDocument/2006/relationships/slide" Target="/ppt/slides/slide14.xml" Id="R85c625c42eaa4b38" /><Relationship Type="http://schemas.openxmlformats.org/officeDocument/2006/relationships/slide" Target="/ppt/slides/slide15.xml" Id="R4e923a7180504d9a" /><Relationship Type="http://schemas.openxmlformats.org/officeDocument/2006/relationships/slide" Target="/ppt/slides/slide16.xml" Id="Rc1867a833c124a2c" /><Relationship Type="http://schemas.openxmlformats.org/officeDocument/2006/relationships/slide" Target="/ppt/slides/slide17.xml" Id="Rbd70d92ba06f467b" /><Relationship Type="http://schemas.openxmlformats.org/officeDocument/2006/relationships/slide" Target="/ppt/slides/slide18.xml" Id="R08caaf4b72d14b4f" /><Relationship Type="http://schemas.openxmlformats.org/officeDocument/2006/relationships/slide" Target="/ppt/slides/slide19.xml" Id="R6ee4bad096fd4f74" /><Relationship Type="http://schemas.openxmlformats.org/officeDocument/2006/relationships/slide" Target="/ppt/slides/slide20.xml" Id="R4fa4a91775144f41" /><Relationship Type="http://schemas.openxmlformats.org/officeDocument/2006/relationships/slide" Target="/ppt/slides/slide21.xml" Id="R009c47626d0b48c4" /><Relationship Type="http://schemas.openxmlformats.org/officeDocument/2006/relationships/slide" Target="/ppt/slides/slide22.xml" Id="Rdb5e295203fe4e19" /><Relationship Type="http://schemas.openxmlformats.org/officeDocument/2006/relationships/slide" Target="/ppt/slides/slide23.xml" Id="R0ab46a5ce5414d3b" /><Relationship Type="http://schemas.openxmlformats.org/officeDocument/2006/relationships/slide" Target="/ppt/slides/slide24.xml" Id="R7c613d010ef149e6" /><Relationship Type="http://schemas.openxmlformats.org/officeDocument/2006/relationships/slide" Target="/ppt/slides/slide25.xml" Id="Rbbd45a1ac5ef4263" /><Relationship Type="http://schemas.openxmlformats.org/officeDocument/2006/relationships/slide" Target="/ppt/slides/slide26.xml" Id="R101a12b89a9f41fe" /><Relationship Type="http://schemas.openxmlformats.org/officeDocument/2006/relationships/slide" Target="/ppt/slides/slide27.xml" Id="Raef09274cd94477e" /><Relationship Type="http://schemas.openxmlformats.org/officeDocument/2006/relationships/slide" Target="/ppt/slides/slide28.xml" Id="R2e0f27d897cd4eee" /><Relationship Type="http://schemas.openxmlformats.org/officeDocument/2006/relationships/slide" Target="/ppt/slides/slide29.xml" Id="Re8d8c2f534fe494c" /><Relationship Type="http://schemas.openxmlformats.org/officeDocument/2006/relationships/slide" Target="/ppt/slides/slide30.xml" Id="R3fba71568b454562" /><Relationship Type="http://schemas.openxmlformats.org/officeDocument/2006/relationships/slide" Target="/ppt/slides/slide31.xml" Id="R2c61bf64ca284eb5" /><Relationship Type="http://schemas.openxmlformats.org/officeDocument/2006/relationships/slide" Target="/ppt/slides/slide32.xml" Id="Rf3179adf32fc4a47" /><Relationship Type="http://schemas.openxmlformats.org/officeDocument/2006/relationships/slide" Target="/ppt/slides/slide33.xml" Id="R552c72369cec44e1" /><Relationship Type="http://schemas.openxmlformats.org/officeDocument/2006/relationships/slide" Target="/ppt/slides/slide34.xml" Id="Ra099047b3ff24e45" /><Relationship Type="http://schemas.openxmlformats.org/officeDocument/2006/relationships/slide" Target="/ppt/slides/slide35.xml" Id="R30d7a41c33434730" /><Relationship Type="http://schemas.openxmlformats.org/officeDocument/2006/relationships/slide" Target="/ppt/slides/slide36.xml" Id="R5bb1c9c09e4041e3" /><Relationship Type="http://schemas.openxmlformats.org/officeDocument/2006/relationships/slide" Target="/ppt/slides/slide37.xml" Id="R8f0210c0fdd040e4" /><Relationship Type="http://schemas.openxmlformats.org/officeDocument/2006/relationships/slide" Target="/ppt/slides/slide38.xml" Id="Rdef12b4270aa489a" /><Relationship Type="http://schemas.openxmlformats.org/officeDocument/2006/relationships/slide" Target="/ppt/slides/slide39.xml" Id="R5b17df0538fd4286" /><Relationship Type="http://schemas.openxmlformats.org/officeDocument/2006/relationships/slide" Target="/ppt/slides/slide40.xml" Id="Re4e2bdfa09c549d5" /><Relationship Type="http://schemas.openxmlformats.org/officeDocument/2006/relationships/slide" Target="/ppt/slides/slide41.xml" Id="R113fd286077742e1" /><Relationship Type="http://schemas.openxmlformats.org/officeDocument/2006/relationships/slide" Target="/ppt/slides/slide42.xml" Id="Rfbf51db55ca64df3" /><Relationship Type="http://schemas.openxmlformats.org/officeDocument/2006/relationships/slide" Target="/ppt/slides/slide43.xml" Id="Rb6524df6af9d46d4" /><Relationship Type="http://schemas.openxmlformats.org/officeDocument/2006/relationships/slide" Target="/ppt/slides/slide44.xml" Id="Rab9b75628f4746bb" /><Relationship Type="http://schemas.openxmlformats.org/officeDocument/2006/relationships/slide" Target="/ppt/slides/slide45.xml" Id="Rc5a1f4558d45403e" /><Relationship Type="http://schemas.openxmlformats.org/officeDocument/2006/relationships/slide" Target="/ppt/slides/slide46.xml" Id="Re818f1368a8c49b6" /><Relationship Type="http://schemas.openxmlformats.org/officeDocument/2006/relationships/slide" Target="/ppt/slides/slide47.xml" Id="R76b1b15048214d17" /><Relationship Type="http://schemas.openxmlformats.org/officeDocument/2006/relationships/slide" Target="/ppt/slides/slide48.xml" Id="Recbf521c42f24288" /><Relationship Type="http://schemas.openxmlformats.org/officeDocument/2006/relationships/slide" Target="/ppt/slides/slide49.xml" Id="R6a866a6a730b44ff" /><Relationship Type="http://schemas.openxmlformats.org/officeDocument/2006/relationships/slide" Target="/ppt/slides/slide50.xml" Id="Rf0d63186eb64444e" /><Relationship Type="http://schemas.openxmlformats.org/officeDocument/2006/relationships/slide" Target="/ppt/slides/slide51.xml" Id="R089f583088bc4b4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a361823640441d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32cbef1c8424c5d" /><Relationship Type="http://schemas.openxmlformats.org/officeDocument/2006/relationships/notesMaster" Target="/ppt/notesMasters/notesMaster1.xml" Id="R35061c0c4fde491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d340c2d93944f2b" /><Relationship Type="http://schemas.openxmlformats.org/officeDocument/2006/relationships/notesMaster" Target="/ppt/notesMasters/notesMaster1.xml" Id="R6f29a971cd6d464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0c2c5b532a94d4e" /><Relationship Type="http://schemas.openxmlformats.org/officeDocument/2006/relationships/notesMaster" Target="/ppt/notesMasters/notesMaster1.xml" Id="Ree4e46258f974e5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cfa7c0a3e4045ee" /><Relationship Type="http://schemas.openxmlformats.org/officeDocument/2006/relationships/notesMaster" Target="/ppt/notesMasters/notesMaster1.xml" Id="R008b80b5122c43a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c663a8da9c146de" /><Relationship Type="http://schemas.openxmlformats.org/officeDocument/2006/relationships/notesMaster" Target="/ppt/notesMasters/notesMaster1.xml" Id="R6d33f2da25464f6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76e6754c4ca4f36" /><Relationship Type="http://schemas.openxmlformats.org/officeDocument/2006/relationships/notesMaster" Target="/ppt/notesMasters/notesMaster1.xml" Id="Rdda3e7f69531402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0477e43489840f0" /><Relationship Type="http://schemas.openxmlformats.org/officeDocument/2006/relationships/notesMaster" Target="/ppt/notesMasters/notesMaster1.xml" Id="R92b5dadb7a1a4cf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623392f1aa84576" /><Relationship Type="http://schemas.openxmlformats.org/officeDocument/2006/relationships/notesMaster" Target="/ppt/notesMasters/notesMaster1.xml" Id="R386e63382d90415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2806809afbb4042" /><Relationship Type="http://schemas.openxmlformats.org/officeDocument/2006/relationships/notesMaster" Target="/ppt/notesMasters/notesMaster1.xml" Id="R7e27bd50c809431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d72270484b343b9" /><Relationship Type="http://schemas.openxmlformats.org/officeDocument/2006/relationships/notesMaster" Target="/ppt/notesMasters/notesMaster1.xml" Id="Re1440db587fb4de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849fecf7a0b4672" /><Relationship Type="http://schemas.openxmlformats.org/officeDocument/2006/relationships/notesMaster" Target="/ppt/notesMasters/notesMaster1.xml" Id="R16455eabfc9c4c6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800e8e92972482c" /><Relationship Type="http://schemas.openxmlformats.org/officeDocument/2006/relationships/notesMaster" Target="/ppt/notesMasters/notesMaster1.xml" Id="Rb588ddbeb377491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f097ac5dfb74d59" /><Relationship Type="http://schemas.openxmlformats.org/officeDocument/2006/relationships/notesMaster" Target="/ppt/notesMasters/notesMaster1.xml" Id="R9adf5164cfd3412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3660252545fe4317" /><Relationship Type="http://schemas.openxmlformats.org/officeDocument/2006/relationships/notesMaster" Target="/ppt/notesMasters/notesMaster1.xml" Id="R89e8c61317e54164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3854c70b67374c31" /><Relationship Type="http://schemas.openxmlformats.org/officeDocument/2006/relationships/notesMaster" Target="/ppt/notesMasters/notesMaster1.xml" Id="Ref3094a630ae41ad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fd114fe9ec284733" /><Relationship Type="http://schemas.openxmlformats.org/officeDocument/2006/relationships/notesMaster" Target="/ppt/notesMasters/notesMaster1.xml" Id="R61b7becc4abd4c90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42473f21c2274022" /><Relationship Type="http://schemas.openxmlformats.org/officeDocument/2006/relationships/notesMaster" Target="/ppt/notesMasters/notesMaster1.xml" Id="Rdd64893125d44eb4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34e98e458fe94417" /><Relationship Type="http://schemas.openxmlformats.org/officeDocument/2006/relationships/notesMaster" Target="/ppt/notesMasters/notesMaster1.xml" Id="R5f9fd1bb9fad4745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05129d4d46df4731" /><Relationship Type="http://schemas.openxmlformats.org/officeDocument/2006/relationships/notesMaster" Target="/ppt/notesMasters/notesMaster1.xml" Id="Rf07023d0fc1f4571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9040a8cd9f7b48dc" /><Relationship Type="http://schemas.openxmlformats.org/officeDocument/2006/relationships/notesMaster" Target="/ppt/notesMasters/notesMaster1.xml" Id="R0abf63a7c8ff44bd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bb5330c6cb094102" /><Relationship Type="http://schemas.openxmlformats.org/officeDocument/2006/relationships/notesMaster" Target="/ppt/notesMasters/notesMaster1.xml" Id="Rea5a95e6c17c4e9b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4b7b8b6268874680" /><Relationship Type="http://schemas.openxmlformats.org/officeDocument/2006/relationships/notesMaster" Target="/ppt/notesMasters/notesMaster1.xml" Id="Re8566fadd14348d5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15c8d9f186334121" /><Relationship Type="http://schemas.openxmlformats.org/officeDocument/2006/relationships/notesMaster" Target="/ppt/notesMasters/notesMaster1.xml" Id="R574fc6ac5d46491b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c343f11fe17f4476" /><Relationship Type="http://schemas.openxmlformats.org/officeDocument/2006/relationships/notesMaster" Target="/ppt/notesMasters/notesMaster1.xml" Id="R62855cfaf21546e0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d1900d2d3a0b44ea" /><Relationship Type="http://schemas.openxmlformats.org/officeDocument/2006/relationships/notesMaster" Target="/ppt/notesMasters/notesMaster1.xml" Id="R70fa1b2a504c46c2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bc2ea4db17c5457c" /><Relationship Type="http://schemas.openxmlformats.org/officeDocument/2006/relationships/notesMaster" Target="/ppt/notesMasters/notesMaster1.xml" Id="R5707c8d6d0634b69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dad876f4baa44dfa" /><Relationship Type="http://schemas.openxmlformats.org/officeDocument/2006/relationships/notesMaster" Target="/ppt/notesMasters/notesMaster1.xml" Id="Rb05d229ba54a4b2a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d50a436e0f884f6b" /><Relationship Type="http://schemas.openxmlformats.org/officeDocument/2006/relationships/notesMaster" Target="/ppt/notesMasters/notesMaster1.xml" Id="Rcf4f81a766834682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cd50e18e03114fa5" /><Relationship Type="http://schemas.openxmlformats.org/officeDocument/2006/relationships/notesMaster" Target="/ppt/notesMasters/notesMaster1.xml" Id="R158c030d6c2f40d0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9a7c774744f0457a" /><Relationship Type="http://schemas.openxmlformats.org/officeDocument/2006/relationships/notesMaster" Target="/ppt/notesMasters/notesMaster1.xml" Id="R574fee2686bc4a60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53cb5c0c67b34c34" /><Relationship Type="http://schemas.openxmlformats.org/officeDocument/2006/relationships/notesMaster" Target="/ppt/notesMasters/notesMaster1.xml" Id="R866e51eae6f548cf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41e9cc619aa742a6" /><Relationship Type="http://schemas.openxmlformats.org/officeDocument/2006/relationships/notesMaster" Target="/ppt/notesMasters/notesMaster1.xml" Id="R85c9d6d451384e21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76871f9ea2234e0f" /><Relationship Type="http://schemas.openxmlformats.org/officeDocument/2006/relationships/notesMaster" Target="/ppt/notesMasters/notesMaster1.xml" Id="R8eacfe20cb3245c7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fced2edf442b4b6d" /><Relationship Type="http://schemas.openxmlformats.org/officeDocument/2006/relationships/notesMaster" Target="/ppt/notesMasters/notesMaster1.xml" Id="R9b3fd75277d945b4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636b6771ddfb445f" /><Relationship Type="http://schemas.openxmlformats.org/officeDocument/2006/relationships/notesMaster" Target="/ppt/notesMasters/notesMaster1.xml" Id="Rb61dbba1094d48d5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50ed4b40d91143c7" /><Relationship Type="http://schemas.openxmlformats.org/officeDocument/2006/relationships/notesMaster" Target="/ppt/notesMasters/notesMaster1.xml" Id="R47bee803ae7c4223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c7df06b570ec47be" /><Relationship Type="http://schemas.openxmlformats.org/officeDocument/2006/relationships/notesMaster" Target="/ppt/notesMasters/notesMaster1.xml" Id="R54a01b6f5ca846af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0a93506cd0154a42" /><Relationship Type="http://schemas.openxmlformats.org/officeDocument/2006/relationships/notesMaster" Target="/ppt/notesMasters/notesMaster1.xml" Id="Rc96f9eb6a86c4612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fa87796d96e24588" /><Relationship Type="http://schemas.openxmlformats.org/officeDocument/2006/relationships/notesMaster" Target="/ppt/notesMasters/notesMaster1.xml" Id="R0e653d68e64e4b37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627462e5294c4e21" /><Relationship Type="http://schemas.openxmlformats.org/officeDocument/2006/relationships/notesMaster" Target="/ppt/notesMasters/notesMaster1.xml" Id="R7e00d39199a440e2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bfaaab00eb7a46d6" /><Relationship Type="http://schemas.openxmlformats.org/officeDocument/2006/relationships/notesMaster" Target="/ppt/notesMasters/notesMaster1.xml" Id="Ra5d5d97ffbac445f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b83e91de1e384923" /><Relationship Type="http://schemas.openxmlformats.org/officeDocument/2006/relationships/notesMaster" Target="/ppt/notesMasters/notesMaster1.xml" Id="R0851e608d23f48f9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7865efff475a45e1" /><Relationship Type="http://schemas.openxmlformats.org/officeDocument/2006/relationships/notesMaster" Target="/ppt/notesMasters/notesMaster1.xml" Id="Rbc4d41fc3dc64088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764d4a4205844974" /><Relationship Type="http://schemas.openxmlformats.org/officeDocument/2006/relationships/notesMaster" Target="/ppt/notesMasters/notesMaster1.xml" Id="R0798b75d82734150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001150a7aa7e437e" /><Relationship Type="http://schemas.openxmlformats.org/officeDocument/2006/relationships/notesMaster" Target="/ppt/notesMasters/notesMaster1.xml" Id="R3025671061374df0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2c3ff4021234411a" /><Relationship Type="http://schemas.openxmlformats.org/officeDocument/2006/relationships/notesMaster" Target="/ppt/notesMasters/notesMaster1.xml" Id="R20db52237f07499d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35943ccead204390" /><Relationship Type="http://schemas.openxmlformats.org/officeDocument/2006/relationships/notesMaster" Target="/ppt/notesMasters/notesMaster1.xml" Id="R3e8c0108ee6d428a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dc68c7f7c41048cd" /><Relationship Type="http://schemas.openxmlformats.org/officeDocument/2006/relationships/notesMaster" Target="/ppt/notesMasters/notesMaster1.xml" Id="R33e790eca7ca46f3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04f83cea3b0840f5" /><Relationship Type="http://schemas.openxmlformats.org/officeDocument/2006/relationships/notesMaster" Target="/ppt/notesMasters/notesMaster1.xml" Id="R4d05b69399f24129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3d8c24452ee54018" /><Relationship Type="http://schemas.openxmlformats.org/officeDocument/2006/relationships/notesMaster" Target="/ppt/notesMasters/notesMaster1.xml" Id="R3511437027204f92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cb5af750124c4106" /><Relationship Type="http://schemas.openxmlformats.org/officeDocument/2006/relationships/notesMaster" Target="/ppt/notesMasters/notesMaster1.xml" Id="Rbec84182b2de4d5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assets/lessons/lectures/astronomy/stellar-evolution.pdf, page 1.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assets/lessons/lectures/astronomy/stellar-evolution.pdf, page 2.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assets/lessons/lectures/astronomy/stellar-evolution.pdf, page 3.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assets/lessons/lectures/astronomy/stellar-evolution.pdf, page 4.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assets/lessons/lectures/astronomy/stellar-evolution.pdf, page 5.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assets/lessons/lectures/astronomy/stellar-evolution.pdf, page 6.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assets/lessons/lectures/astronomy/stellar-evolution.pdf, page 7.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assets/lessons/lectures/astronomy/stellar-evolution.pdf, page 8.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assets/lessons/lectures/astronomy/stellar-evolution.pdf, page 9.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assets/lessons/lectures/astronomy/stellar-evolution.pdf, page 10.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assets/lessons/lectures/astronomy/stellar-evolution.pdf, page 11.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assets/lessons/lectures/astronomy/stellar-evolution.pdf, page 12.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assets/lessons/lectures/astronomy/stellar-evolution.pdf, page 13.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assets/lessons/lectures/astronomy/stellar-evolution.pdf, page 14.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assets/lessons/lectures/astronomy/stellar-evolution.pdf, page 15.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assets/lessons/lectures/astronomy/stellar-evolution.pdf, page 16.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assets/lessons/lectures/astronomy/stellar-evolution.pdf, page 17.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assets/lessons/lectures/astronomy/stellar-evolution.pdf, page 18.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assets/lessons/lectures/astronomy/stellar-evolution.pdf, page 19.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assets/lessons/lectures/astronomy/stellar-evolution.pdf, page 20.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assets/lessons/lectures/astronomy/stellar-evolution.pdf, page 21.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assets/lessons/lectures/astronomy/stellar-evolution.pdf, page 22.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assets/lessons/lectures/astronomy/stellar-evolution.pdf, page 23.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assets/lessons/lectures/astronomy/stellar-evolution.pdf, page 24.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assets/lessons/lectures/astronomy/stellar-evolution.pdf, page 25.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assets/lessons/lectures/astronomy/stellar-evolution.pdf, page 26.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assets/lessons/lectures/astronomy/stellar-evolution.pdf, page 27.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assets/lessons/lectures/astronomy/stellar-evolution.pdf, page 28.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assets/lessons/lectures/astronomy/stellar-evolution.pdf, page 29.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assets/lessons/lectures/astronomy/stellar-evolution.pdf, page 30.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assets/lessons/lectures/astronomy/stellar-evolution.pdf, page 31.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assets/lessons/lectures/astronomy/stellar-evolution.pdf, page 32.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assets/lessons/lectures/astronomy/stellar-evolution.pdf, page 33.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assets/lessons/lectures/astronomy/stellar-evolution.pdf, page 34.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assets/lessons/lectures/astronomy/stellar-evolution.pdf, page 35.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assets/lessons/lectures/astronomy/stellar-evolution.pdf, page 36.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assets/lessons/lectures/astronomy/stellar-evolution.pdf, page 37.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assets/lessons/lectures/astronomy/stellar-evolution.pdf, page 38.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assets/lessons/lectures/astronomy/stellar-evolution.pdf, page 39.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assets/lessons/lectures/astronomy/stellar-evolution.pdf, page 40.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assets/lessons/lectures/astronomy/stellar-evolution.pdf, page 41.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assets/lessons/lectures/astronomy/stellar-evolution.pdf, page 42.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assets/lessons/lectures/astronomy/stellar-evolution.pdf, page 43.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assets/lessons/lectures/astronomy/stellar-evolution.pdf, page 44.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assets/lessons/lectures/astronomy/stellar-evolution.pdf, page 45.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assets/lessons/lectures/astronomy/stellar-evolution.pdf, page 46.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assets/lessons/lectures/astronomy/stellar-evolution.pdf, page 47.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assets/lessons/lectures/astronomy/stellar-evolution.pdf, page 48.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assets/lessons/lectures/astronomy/stellar-evolution.pdf, page 49.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assets/lessons/lectures/astronomy/stellar-evolution.pdf, page 50.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assets/lessons/lectures/astronomy/stellar-evolution.pdf, page 51.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f5caab114b5486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9eb3590536a48d6" /><Relationship Type="http://schemas.openxmlformats.org/officeDocument/2006/relationships/slideLayout" Target="/ppt/slideLayouts/slideLayout1.xml" Id="Rb4d22e3479454a1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4d22e3479454a1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fca2c7a56b473e" /><Relationship Type="http://schemas.openxmlformats.org/officeDocument/2006/relationships/image" Target="/ppt/media/image.png" Id="Rc1fcb329dd394ab6" /><Relationship Type="http://schemas.openxmlformats.org/officeDocument/2006/relationships/notesSlide" Target="/ppt/notesSlides/notesSlide1.xml" Id="R881aa862ac27416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8378621af541e9" /><Relationship Type="http://schemas.openxmlformats.org/officeDocument/2006/relationships/image" Target="/ppt/media/image2.png" Id="R23fc125ba9ef4278" /><Relationship Type="http://schemas.openxmlformats.org/officeDocument/2006/relationships/notesSlide" Target="/ppt/notesSlides/notesSlide2.xml" Id="Rdb6e2ac5a457483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e0050184d44b7d" /><Relationship Type="http://schemas.openxmlformats.org/officeDocument/2006/relationships/image" Target="/ppt/media/image3.png" Id="R2c5781e2bbb24f51" /><Relationship Type="http://schemas.openxmlformats.org/officeDocument/2006/relationships/notesSlide" Target="/ppt/notesSlides/notesSlide3.xml" Id="R49c3832bc4f14be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d9d7c8eba44ff6" /><Relationship Type="http://schemas.openxmlformats.org/officeDocument/2006/relationships/image" Target="/ppt/media/image4.png" Id="Ra247c64afe114efe" /><Relationship Type="http://schemas.openxmlformats.org/officeDocument/2006/relationships/notesSlide" Target="/ppt/notesSlides/notesSlide4.xml" Id="Read33d47f865411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d7b09a861d426d" /><Relationship Type="http://schemas.openxmlformats.org/officeDocument/2006/relationships/image" Target="/ppt/media/image5.png" Id="R8378da533df2434b" /><Relationship Type="http://schemas.openxmlformats.org/officeDocument/2006/relationships/notesSlide" Target="/ppt/notesSlides/notesSlide5.xml" Id="Ra1f3a91aaf7846d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967fe49b484670" /><Relationship Type="http://schemas.openxmlformats.org/officeDocument/2006/relationships/image" Target="/ppt/media/image6.png" Id="R5b6366fd15eb462f" /><Relationship Type="http://schemas.openxmlformats.org/officeDocument/2006/relationships/notesSlide" Target="/ppt/notesSlides/notesSlide6.xml" Id="Rd26d52bfa8be418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f988e8a5284269" /><Relationship Type="http://schemas.openxmlformats.org/officeDocument/2006/relationships/image" Target="/ppt/media/image7.png" Id="R8c145be6fd4849b6" /><Relationship Type="http://schemas.openxmlformats.org/officeDocument/2006/relationships/notesSlide" Target="/ppt/notesSlides/notesSlide7.xml" Id="R6ace0c22e4534b2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7b66a2743f4914" /><Relationship Type="http://schemas.openxmlformats.org/officeDocument/2006/relationships/image" Target="/ppt/media/image8.png" Id="Re327bd22502a4477" /><Relationship Type="http://schemas.openxmlformats.org/officeDocument/2006/relationships/notesSlide" Target="/ppt/notesSlides/notesSlide8.xml" Id="R730f5ecba051450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7ba49f17644941" /><Relationship Type="http://schemas.openxmlformats.org/officeDocument/2006/relationships/image" Target="/ppt/media/image9.png" Id="Rf8530c2d78d24283" /><Relationship Type="http://schemas.openxmlformats.org/officeDocument/2006/relationships/notesSlide" Target="/ppt/notesSlides/notesSlide9.xml" Id="R58909e2963f149c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5f0026910a4fda" /><Relationship Type="http://schemas.openxmlformats.org/officeDocument/2006/relationships/image" Target="/ppt/media/image10.png" Id="R1a009462e8f04ecf" /><Relationship Type="http://schemas.openxmlformats.org/officeDocument/2006/relationships/notesSlide" Target="/ppt/notesSlides/notesSlide10.xml" Id="Rfe74bbbb0408492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9d33a2e0c64f1a" /><Relationship Type="http://schemas.openxmlformats.org/officeDocument/2006/relationships/image" Target="/ppt/media/image11.png" Id="Rd2392a510b274d2b" /><Relationship Type="http://schemas.openxmlformats.org/officeDocument/2006/relationships/notesSlide" Target="/ppt/notesSlides/notesSlide11.xml" Id="R3fae63f788ab428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29647e38e64f27" /><Relationship Type="http://schemas.openxmlformats.org/officeDocument/2006/relationships/image" Target="/ppt/media/image12.png" Id="R0f5c9c57a82e40e6" /><Relationship Type="http://schemas.openxmlformats.org/officeDocument/2006/relationships/notesSlide" Target="/ppt/notesSlides/notesSlide12.xml" Id="Rce1846ead6924e4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507d088d314027" /><Relationship Type="http://schemas.openxmlformats.org/officeDocument/2006/relationships/image" Target="/ppt/media/image13.png" Id="R30cf1173aee84e40" /><Relationship Type="http://schemas.openxmlformats.org/officeDocument/2006/relationships/notesSlide" Target="/ppt/notesSlides/notesSlide13.xml" Id="Rf4a528bda9a148ba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3c3980b4d548b3" /><Relationship Type="http://schemas.openxmlformats.org/officeDocument/2006/relationships/image" Target="/ppt/media/image14.png" Id="R23e0cd45b2274363" /><Relationship Type="http://schemas.openxmlformats.org/officeDocument/2006/relationships/notesSlide" Target="/ppt/notesSlides/notesSlide14.xml" Id="Rf99e60ecd48f4d5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12ccd408c948a4" /><Relationship Type="http://schemas.openxmlformats.org/officeDocument/2006/relationships/image" Target="/ppt/media/image15.png" Id="R93982862d52147d2" /><Relationship Type="http://schemas.openxmlformats.org/officeDocument/2006/relationships/notesSlide" Target="/ppt/notesSlides/notesSlide15.xml" Id="R83ed18093546450e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866ce11dcf4d91" /><Relationship Type="http://schemas.openxmlformats.org/officeDocument/2006/relationships/image" Target="/ppt/media/image16.png" Id="R8610c45c280743dc" /><Relationship Type="http://schemas.openxmlformats.org/officeDocument/2006/relationships/notesSlide" Target="/ppt/notesSlides/notesSlide16.xml" Id="R81bccb7a07c74d2b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474d7afdb94130" /><Relationship Type="http://schemas.openxmlformats.org/officeDocument/2006/relationships/image" Target="/ppt/media/image17.png" Id="R9136c64a9402406e" /><Relationship Type="http://schemas.openxmlformats.org/officeDocument/2006/relationships/notesSlide" Target="/ppt/notesSlides/notesSlide17.xml" Id="R3fc5ab9193674209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b9c72d426e4c08" /><Relationship Type="http://schemas.openxmlformats.org/officeDocument/2006/relationships/image" Target="/ppt/media/image18.png" Id="Rd60e505812ad48d5" /><Relationship Type="http://schemas.openxmlformats.org/officeDocument/2006/relationships/notesSlide" Target="/ppt/notesSlides/notesSlide18.xml" Id="R6ae2aff16fe84026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49d8a4301b41ec" /><Relationship Type="http://schemas.openxmlformats.org/officeDocument/2006/relationships/image" Target="/ppt/media/image19.png" Id="R7fb0aa2f6c2f422b" /><Relationship Type="http://schemas.openxmlformats.org/officeDocument/2006/relationships/notesSlide" Target="/ppt/notesSlides/notesSlide19.xml" Id="R3fd1bb58e69a4580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543c9e3fb149c8" /><Relationship Type="http://schemas.openxmlformats.org/officeDocument/2006/relationships/image" Target="/ppt/media/image20.png" Id="R7fe92b72f5884b49" /><Relationship Type="http://schemas.openxmlformats.org/officeDocument/2006/relationships/notesSlide" Target="/ppt/notesSlides/notesSlide20.xml" Id="R2b941e4ad73e40f0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ab5e1fca97466f" /><Relationship Type="http://schemas.openxmlformats.org/officeDocument/2006/relationships/image" Target="/ppt/media/image21.png" Id="Rb507c82de4a448a8" /><Relationship Type="http://schemas.openxmlformats.org/officeDocument/2006/relationships/notesSlide" Target="/ppt/notesSlides/notesSlide21.xml" Id="R7fd2790006794811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3dea3319a14946" /><Relationship Type="http://schemas.openxmlformats.org/officeDocument/2006/relationships/image" Target="/ppt/media/image22.png" Id="Rc0ab931a6e4e4ab8" /><Relationship Type="http://schemas.openxmlformats.org/officeDocument/2006/relationships/notesSlide" Target="/ppt/notesSlides/notesSlide22.xml" Id="Rc0d8b50817ff4151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1562ae54fa4208" /><Relationship Type="http://schemas.openxmlformats.org/officeDocument/2006/relationships/image" Target="/ppt/media/image23.png" Id="Rca5267a9373143cc" /><Relationship Type="http://schemas.openxmlformats.org/officeDocument/2006/relationships/notesSlide" Target="/ppt/notesSlides/notesSlide23.xml" Id="R953e96b5cdef40b1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c5518b2eca427d" /><Relationship Type="http://schemas.openxmlformats.org/officeDocument/2006/relationships/image" Target="/ppt/media/image24.png" Id="R1eabaede82ce4632" /><Relationship Type="http://schemas.openxmlformats.org/officeDocument/2006/relationships/notesSlide" Target="/ppt/notesSlides/notesSlide24.xml" Id="R8cbe552fb22b4dd9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197560aba647bc" /><Relationship Type="http://schemas.openxmlformats.org/officeDocument/2006/relationships/image" Target="/ppt/media/image25.png" Id="R5fe15e6693fa4e71" /><Relationship Type="http://schemas.openxmlformats.org/officeDocument/2006/relationships/notesSlide" Target="/ppt/notesSlides/notesSlide25.xml" Id="Rcf74cb6330b34043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d2bd88ec7146f5" /><Relationship Type="http://schemas.openxmlformats.org/officeDocument/2006/relationships/image" Target="/ppt/media/image26.png" Id="R556c20b16a3c4583" /><Relationship Type="http://schemas.openxmlformats.org/officeDocument/2006/relationships/notesSlide" Target="/ppt/notesSlides/notesSlide26.xml" Id="R95cd1571444b4ccb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6b225a9f9a429b" /><Relationship Type="http://schemas.openxmlformats.org/officeDocument/2006/relationships/image" Target="/ppt/media/image27.png" Id="R629872024b9e4a48" /><Relationship Type="http://schemas.openxmlformats.org/officeDocument/2006/relationships/notesSlide" Target="/ppt/notesSlides/notesSlide27.xml" Id="R562c45c45540488f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5fe84ff92c4e43" /><Relationship Type="http://schemas.openxmlformats.org/officeDocument/2006/relationships/image" Target="/ppt/media/image28.png" Id="R6a03d081f52d423f" /><Relationship Type="http://schemas.openxmlformats.org/officeDocument/2006/relationships/notesSlide" Target="/ppt/notesSlides/notesSlide28.xml" Id="R58d414969cb94be1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3e3bf36c6d49f7" /><Relationship Type="http://schemas.openxmlformats.org/officeDocument/2006/relationships/image" Target="/ppt/media/image29.png" Id="R013e7127093c409a" /><Relationship Type="http://schemas.openxmlformats.org/officeDocument/2006/relationships/notesSlide" Target="/ppt/notesSlides/notesSlide29.xml" Id="R71d40b70ed0d4716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89ae2f0e3340d2" /><Relationship Type="http://schemas.openxmlformats.org/officeDocument/2006/relationships/image" Target="/ppt/media/image30.png" Id="Rbe5c9266814449b3" /><Relationship Type="http://schemas.openxmlformats.org/officeDocument/2006/relationships/notesSlide" Target="/ppt/notesSlides/notesSlide30.xml" Id="R23faa6cb03e544dc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f029fa23994f87" /><Relationship Type="http://schemas.openxmlformats.org/officeDocument/2006/relationships/image" Target="/ppt/media/image31.png" Id="R0c984f50eccd4010" /><Relationship Type="http://schemas.openxmlformats.org/officeDocument/2006/relationships/notesSlide" Target="/ppt/notesSlides/notesSlide31.xml" Id="R241e93a606d44e63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b6025f79784655" /><Relationship Type="http://schemas.openxmlformats.org/officeDocument/2006/relationships/image" Target="/ppt/media/image32.png" Id="R88c7751e139a4906" /><Relationship Type="http://schemas.openxmlformats.org/officeDocument/2006/relationships/notesSlide" Target="/ppt/notesSlides/notesSlide32.xml" Id="R8f22a684302f4d0a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57b664dad74e1f" /><Relationship Type="http://schemas.openxmlformats.org/officeDocument/2006/relationships/image" Target="/ppt/media/image33.png" Id="R6a48ed484b384fc3" /><Relationship Type="http://schemas.openxmlformats.org/officeDocument/2006/relationships/notesSlide" Target="/ppt/notesSlides/notesSlide33.xml" Id="Rfa8e7ed5c7184d3c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d3516734c74673" /><Relationship Type="http://schemas.openxmlformats.org/officeDocument/2006/relationships/image" Target="/ppt/media/image34.png" Id="R475e31a709544d83" /><Relationship Type="http://schemas.openxmlformats.org/officeDocument/2006/relationships/notesSlide" Target="/ppt/notesSlides/notesSlide34.xml" Id="R5c64071a0dbb4fca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7a59ded05c47c1" /><Relationship Type="http://schemas.openxmlformats.org/officeDocument/2006/relationships/image" Target="/ppt/media/image35.png" Id="R9a4397ab1fc249eb" /><Relationship Type="http://schemas.openxmlformats.org/officeDocument/2006/relationships/notesSlide" Target="/ppt/notesSlides/notesSlide35.xml" Id="R34be8befe3cc4446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cf9b3c3de64b18" /><Relationship Type="http://schemas.openxmlformats.org/officeDocument/2006/relationships/image" Target="/ppt/media/image36.png" Id="R533f3c3ff00d44a5" /><Relationship Type="http://schemas.openxmlformats.org/officeDocument/2006/relationships/notesSlide" Target="/ppt/notesSlides/notesSlide36.xml" Id="R96d1405f6a924a51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51b962064749db" /><Relationship Type="http://schemas.openxmlformats.org/officeDocument/2006/relationships/image" Target="/ppt/media/image37.png" Id="Rc0285931bcbd4ffa" /><Relationship Type="http://schemas.openxmlformats.org/officeDocument/2006/relationships/notesSlide" Target="/ppt/notesSlides/notesSlide37.xml" Id="R08c3c4c7aca34fbb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fb42dfb96a4633" /><Relationship Type="http://schemas.openxmlformats.org/officeDocument/2006/relationships/image" Target="/ppt/media/image38.png" Id="R1e7b7e6e41e747c1" /><Relationship Type="http://schemas.openxmlformats.org/officeDocument/2006/relationships/notesSlide" Target="/ppt/notesSlides/notesSlide38.xml" Id="Rcea8bc5e1ef84682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301aaf1a974d0a" /><Relationship Type="http://schemas.openxmlformats.org/officeDocument/2006/relationships/image" Target="/ppt/media/image39.png" Id="R0e3ec35c7ff14374" /><Relationship Type="http://schemas.openxmlformats.org/officeDocument/2006/relationships/notesSlide" Target="/ppt/notesSlides/notesSlide39.xml" Id="R6fdba796be3f40ad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ba19162fa44eb4" /><Relationship Type="http://schemas.openxmlformats.org/officeDocument/2006/relationships/image" Target="/ppt/media/image40.png" Id="R1aa4f424ba4d4c32" /><Relationship Type="http://schemas.openxmlformats.org/officeDocument/2006/relationships/notesSlide" Target="/ppt/notesSlides/notesSlide40.xml" Id="Raf8e8062a2da46fa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959e50de824f2d" /><Relationship Type="http://schemas.openxmlformats.org/officeDocument/2006/relationships/image" Target="/ppt/media/image41.png" Id="R4ecc57960f174b3c" /><Relationship Type="http://schemas.openxmlformats.org/officeDocument/2006/relationships/notesSlide" Target="/ppt/notesSlides/notesSlide41.xml" Id="R694f7d1e3168435e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a9f174f2af4fff" /><Relationship Type="http://schemas.openxmlformats.org/officeDocument/2006/relationships/image" Target="/ppt/media/image42.png" Id="R53f53f78f5994bdf" /><Relationship Type="http://schemas.openxmlformats.org/officeDocument/2006/relationships/notesSlide" Target="/ppt/notesSlides/notesSlide42.xml" Id="Rbf3b33a67ba44763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6b650cee6c44c5" /><Relationship Type="http://schemas.openxmlformats.org/officeDocument/2006/relationships/image" Target="/ppt/media/image43.png" Id="R372f358cd7704ca7" /><Relationship Type="http://schemas.openxmlformats.org/officeDocument/2006/relationships/notesSlide" Target="/ppt/notesSlides/notesSlide43.xml" Id="Rfc64fd5349604586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97ac471aef494e" /><Relationship Type="http://schemas.openxmlformats.org/officeDocument/2006/relationships/image" Target="/ppt/media/image44.png" Id="R7265b5aa875643c9" /><Relationship Type="http://schemas.openxmlformats.org/officeDocument/2006/relationships/notesSlide" Target="/ppt/notesSlides/notesSlide44.xml" Id="Rcfd90d1521fa489a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663a37585b47ff" /><Relationship Type="http://schemas.openxmlformats.org/officeDocument/2006/relationships/image" Target="/ppt/media/image45.png" Id="Ra37bf318033d4b47" /><Relationship Type="http://schemas.openxmlformats.org/officeDocument/2006/relationships/notesSlide" Target="/ppt/notesSlides/notesSlide45.xml" Id="R1153efae71b14c31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4fcd913399498f" /><Relationship Type="http://schemas.openxmlformats.org/officeDocument/2006/relationships/image" Target="/ppt/media/image46.png" Id="R766f8b8929c244ad" /><Relationship Type="http://schemas.openxmlformats.org/officeDocument/2006/relationships/notesSlide" Target="/ppt/notesSlides/notesSlide46.xml" Id="R0ed84bfb34824d6c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bd1fb770414441" /><Relationship Type="http://schemas.openxmlformats.org/officeDocument/2006/relationships/image" Target="/ppt/media/image47.png" Id="R18c234f74cfc48c6" /><Relationship Type="http://schemas.openxmlformats.org/officeDocument/2006/relationships/notesSlide" Target="/ppt/notesSlides/notesSlide47.xml" Id="R978fd642375b40a5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50d41bc4744e3b" /><Relationship Type="http://schemas.openxmlformats.org/officeDocument/2006/relationships/image" Target="/ppt/media/image48.png" Id="R7d42e0b4c8f5491e" /><Relationship Type="http://schemas.openxmlformats.org/officeDocument/2006/relationships/notesSlide" Target="/ppt/notesSlides/notesSlide48.xml" Id="R7e66857046bc4c0c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74002470804b54" /><Relationship Type="http://schemas.openxmlformats.org/officeDocument/2006/relationships/image" Target="/ppt/media/image49.png" Id="R0c92cd436d47413f" /><Relationship Type="http://schemas.openxmlformats.org/officeDocument/2006/relationships/notesSlide" Target="/ppt/notesSlides/notesSlide49.xml" Id="R6c609eb9b4944a8b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1e0e8092e44417" /><Relationship Type="http://schemas.openxmlformats.org/officeDocument/2006/relationships/image" Target="/ppt/media/image50.png" Id="R9bfcb1cac52b4842" /><Relationship Type="http://schemas.openxmlformats.org/officeDocument/2006/relationships/notesSlide" Target="/ppt/notesSlides/notesSlide50.xml" Id="R31808d7d98a94fb5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fc0cb102644738" /><Relationship Type="http://schemas.openxmlformats.org/officeDocument/2006/relationships/image" Target="/ppt/media/image51.png" Id="R7382ef4ad53a480f" /><Relationship Type="http://schemas.openxmlformats.org/officeDocument/2006/relationships/notesSlide" Target="/ppt/notesSlides/notesSlide51.xml" Id="R054235e9b00a4da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fcb329dd394ab6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5E1181-3E11-4F95-9F07-748CE7E15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1152" y="3075749"/>
            <a:ext cx="4341155" cy="95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7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Stellar Evolution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F02D36-E295-4840-9CB8-8D61E3DC2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7930" y="4770107"/>
            <a:ext cx="2249781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D.J. Pisano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36595F-B9E5-4A65-B623-3674D95DF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0609" y="5368587"/>
            <a:ext cx="6423567" cy="5188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5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5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Associate Professor of Physics &amp; Astronomy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CAC110-BB61-4AB1-A419-1C49BBC93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350" y="5832650"/>
            <a:ext cx="1970606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July 10, 2017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11C1AE-9FB6-4498-B54F-6E2E74D4E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22935B-C394-4B0D-8499-13B6425AC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 of 51</a:t>
            </a:r>
          </a:p>
        </p:txBody>
      </p:sp>
      <p:sp>
        <p:nvSpPr>
          <p:cNvPr id="10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1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2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3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81559706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fc125ba9ef4278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F40D0B-D929-4216-AC69-B77D0651F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5804" y="1123884"/>
            <a:ext cx="8011966" cy="954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9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9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 Clusters: stellar nurseries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B010AA-E5AE-49CF-A2F7-1EE7D4BAD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057" y="2370695"/>
            <a:ext cx="152188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562D1A-4B25-42DF-9E23-B3542B6F4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024" y="2370743"/>
            <a:ext cx="3539662" cy="52146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As we saw in Orion and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F3488D-86B6-43EC-8ADE-25F6F6D64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82" y="2721993"/>
            <a:ext cx="2729275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 the simulations,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595F77-6A2B-4806-8222-31013E406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598" y="2721993"/>
            <a:ext cx="906316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stars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C6B0A7-75B5-438F-A538-5F5257E29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82" y="3073427"/>
            <a:ext cx="2563168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form in clusters.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7C3558-FA4B-4F20-8D31-8396153B8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057" y="3500955"/>
            <a:ext cx="152188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552968-E04C-412B-86DB-7E872DA70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83" y="3503566"/>
            <a:ext cx="3187330" cy="51719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4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4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Young clusters (right)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FC8349-D37D-4E1E-80C2-66048712C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82" y="3852363"/>
            <a:ext cx="3124263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are still forming stars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D033AC-2DD4-4D61-9689-C8F9D3EBF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82" y="4203687"/>
            <a:ext cx="3489410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and remain surrounded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E981DD-D201-4C6E-9F09-E5079DE62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82" y="4555120"/>
            <a:ext cx="2962069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by hot gas and dust.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EB19375-918A-467F-84DD-4DE6F70AE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057" y="4982624"/>
            <a:ext cx="152188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139FD66-1930-436F-B23F-0ACDFBBE9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83" y="4982670"/>
            <a:ext cx="3449141" cy="52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This gas is an example 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720AE35-FB4B-45E4-A9A1-E8DF3BFA0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82" y="5334057"/>
            <a:ext cx="669693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of a 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2E85E3F-4FA0-4E00-B636-983A3AC04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98" y="5334057"/>
            <a:ext cx="2388194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emission nebula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39CC110-14E2-4EB7-80E5-8E9E89C99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0350" y="5334057"/>
            <a:ext cx="576599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  It 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C5A99CD-AF45-46D7-95BF-4A9E04BB5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81" y="5681165"/>
            <a:ext cx="2783394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is red from ionized 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9199157-D692-45D0-888A-3B5A0712D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81" y="6032463"/>
            <a:ext cx="3668628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hydrogen (hydrogen that 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E4F6E51-443C-48E9-82D3-F2029636A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81" y="6383896"/>
            <a:ext cx="3016080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has lost its electron).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C60DB32-FE9E-423D-A994-7F3E38744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821" y="6732126"/>
            <a:ext cx="1318725" cy="35458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4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4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Dark Nebula 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1B4255C-5557-4622-BC88-A7A130F4A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4629" y="7017963"/>
            <a:ext cx="1775091" cy="3650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9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9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(molecular cloud)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74540D1-D1E1-437A-A117-39120A01C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0336" y="6734047"/>
            <a:ext cx="1673250" cy="3513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2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Emission Nebula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A71CFC9-FF1C-4795-A7F6-620527044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0336" y="7027637"/>
            <a:ext cx="1273817" cy="34889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1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1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(ionized gas)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207402E-13B2-468D-803D-109017579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DCD5991-554F-4D32-9A90-BAD8DC0EE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 of 51</a:t>
            </a:r>
          </a:p>
        </p:txBody>
      </p:sp>
      <p:sp>
        <p:nvSpPr>
          <p:cNvPr id="29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30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31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32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87697442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5781e2bbb24f51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249A04-B067-4414-ADA8-ED677C336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1771" y="1123328"/>
            <a:ext cx="3479826" cy="95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7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 Clusters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31A647-AA9B-4321-AB34-130F5773F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2250461"/>
            <a:ext cx="152188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B4D414-6738-480C-992C-E8A422F45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583" y="2250510"/>
            <a:ext cx="3539662" cy="52146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As we saw in Orion and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49C398-3C1B-445D-969D-71F6A901E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2639930"/>
            <a:ext cx="2729275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 the simulations,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35E94A-9E54-425A-AA47-D6521C33E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2157" y="2639930"/>
            <a:ext cx="906316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stars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535B84-5524-4731-9AD3-D48EE9EE8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3029393"/>
            <a:ext cx="2563168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form in clusters.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7166EF-F367-4FE1-9B39-F261EF483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3495067"/>
            <a:ext cx="152188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6E4084-E10F-4763-BA90-E85BAFF1A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3495105"/>
            <a:ext cx="3521640" cy="5214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Pleiades (right) are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0BF084-7EE6-45B9-BD55-6679595F7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3884530"/>
            <a:ext cx="3092059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100 million years old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2014E1-FB5A-4F07-A2C4-2F4850DFD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4273994"/>
            <a:ext cx="3090392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and only have a little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3037BE-1DBC-4BF4-8F80-26AD336F2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4663457"/>
            <a:ext cx="3506342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gas and dust remaining.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6C3E2A-2195-40DE-A948-B39B8476F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5129130"/>
            <a:ext cx="152188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5A9B06E-AD4E-47ED-BD38-2B1D9CAC5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5129176"/>
            <a:ext cx="3449141" cy="52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This gas is an example 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F8A4B7-92BC-46F6-8AF0-4BF894359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5518564"/>
            <a:ext cx="669693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of a 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B429E68-7869-431D-98F3-1CBA73FE6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257" y="5518564"/>
            <a:ext cx="2423661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reflection nebula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38649B-21D6-49A1-AC7B-58A973AB8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8406" y="5518564"/>
            <a:ext cx="576599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  It 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E1B40C8-9EE5-46E1-8F2B-F39A62ED2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0" y="5908032"/>
            <a:ext cx="2962667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is blue for the same 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9F67B05-A4F0-469B-9AB8-6E5D648AD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0" y="6297659"/>
            <a:ext cx="3284964" cy="5212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reason that the sky is. 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74D73D0-9549-420B-8F47-37522575B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DFAE5D8-C7C1-4D0A-96CF-87C0F21B4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 of 51</a:t>
            </a:r>
          </a:p>
        </p:txBody>
      </p:sp>
      <p:sp>
        <p:nvSpPr>
          <p:cNvPr id="24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25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26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7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54703846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47c64afe114efe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BC9051-5ABF-4CCC-B6F3-82A36E438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671" y="1153970"/>
            <a:ext cx="8000814" cy="8664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How common are different stars?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8D4071-0D46-4B82-A230-36B4323B6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2331700"/>
            <a:ext cx="18923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FCBAFF-16AB-422C-AAFB-CC6747789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2331700"/>
            <a:ext cx="3903658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Low mass stars are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A6A750-6DA4-4F6A-BAC8-88007262C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2852400"/>
            <a:ext cx="3424928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very common. (K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A62B93-8F10-4DA7-9DB6-2EB94EE99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3373125"/>
            <a:ext cx="2558434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and M stars)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AF2161-6D5A-4FE0-A388-9D6FF69E5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3995386"/>
            <a:ext cx="18923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09DEAD-2C85-4EF3-910A-3AA77D9CE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3995386"/>
            <a:ext cx="3521164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Sun-like stars are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A2EC1B-10E8-4FC5-94B2-3C5B0D522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4516125"/>
            <a:ext cx="2749025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rarer (G stars)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3528FA-F36C-407E-AC80-F540928D5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5138454"/>
            <a:ext cx="18923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199A3F-2F9A-4E7C-B062-71349EE7C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5138454"/>
            <a:ext cx="3642007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High mass (O and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D8022FB-6EF7-4E1F-B4A3-33D06674C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5654868"/>
            <a:ext cx="3325739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 stars) are very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B6FB64-409B-4A02-B2F2-09D253988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6175568"/>
            <a:ext cx="925535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rare.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CEEBCCE-FAB7-4790-BA1A-7A3456114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802FA14-5F5E-4C35-A13A-E06CEF6F8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4 of 51</a:t>
            </a:r>
          </a:p>
        </p:txBody>
      </p:sp>
      <p:sp>
        <p:nvSpPr>
          <p:cNvPr id="18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9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20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1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60273275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78da533df2434b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CC4C63-F24A-4372-B671-C75BBF4B0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056" y="895591"/>
            <a:ext cx="6826879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8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Implication of Mass-Luminosity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C2DBCF-0FBD-4F7F-B57B-8ABF64D4D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9215" y="1479791"/>
            <a:ext cx="1823024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8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Relation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4676CD-D9B8-4BE0-BECD-FA5E83D43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9200" y="2332671"/>
            <a:ext cx="7539555" cy="51999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5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5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More mass = More Luminosity = faster rate of fusion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9F26A7-510B-4B6E-9FDC-7C4835C91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9367" y="2797414"/>
            <a:ext cx="318041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=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6C0ACA-1D63-4F54-A5A7-E846EDF55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8286" y="2798251"/>
            <a:ext cx="5462652" cy="5201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0" b="1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0" b="1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Shorter lifetime on Main Sequence!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7AE937-EA4A-4E21-BB4B-3F41187C9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1761" y="4072750"/>
            <a:ext cx="3422028" cy="3418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8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8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 Stars have 40x mass of Sun, live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315EBF-6F4F-4AA9-A937-76D808BE2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1761" y="4356117"/>
            <a:ext cx="1635299" cy="356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5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5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10,000x shorter.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15B9C9-DBD3-4FC3-8E60-B10536744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1761" y="5240194"/>
            <a:ext cx="3258817" cy="3434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9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9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 stars have 3x mass of Sun, live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3CA48E-4E35-48B8-BA2D-43D11A4D0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1761" y="5524048"/>
            <a:ext cx="1204293" cy="35722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5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5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20x shorter.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993807-CAF4-4F28-A5B7-8C09834CA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1761" y="6112057"/>
            <a:ext cx="3462599" cy="3508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2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 stars have half the mass of Sun,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F6F9BB-239D-49AC-881F-692CEB84E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1761" y="6402710"/>
            <a:ext cx="1817485" cy="3532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3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3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and live 7x longer.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5F4034F-A8E0-4210-8096-CF01C7643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680ECFD-9C34-45E8-B1FF-4F8E35C27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5 of 51</a:t>
            </a:r>
          </a:p>
        </p:txBody>
      </p:sp>
      <p:sp>
        <p:nvSpPr>
          <p:cNvPr id="17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8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9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0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208556927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6366fd15eb462f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222AC5-682C-4F93-A694-8B35DE1B7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1152" y="3277248"/>
            <a:ext cx="4341155" cy="95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7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Stellar Evolution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A3F78F-BAF0-40B4-B997-73BD5E3C7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0360" y="4770107"/>
            <a:ext cx="5699348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 happens after the main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64E37A-1CD9-4751-A95E-6B5962F63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6994" y="5290807"/>
            <a:ext cx="2151678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sequence?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4A64DC-FC46-4AC4-AE18-9C8B1E0E2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8BBB43-653F-4CD1-88EB-3F3FA655C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6 of 51</a:t>
            </a:r>
          </a:p>
        </p:txBody>
      </p:sp>
      <p:sp>
        <p:nvSpPr>
          <p:cNvPr id="9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0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1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2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77866985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145be6fd4849b6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0F9E3A-84C6-4981-A370-C141571C4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086" y="1153629"/>
            <a:ext cx="7829304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Evolution on the Main Sequence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2C5002-8DA3-4FC2-AF10-167557F8D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444" y="3102005"/>
            <a:ext cx="4193565" cy="6090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As main sequence stars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437416-0102-4D44-A522-E56620F72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518" y="3554851"/>
            <a:ext cx="4322324" cy="6092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consume their hydrogen,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C19976-1287-4E99-B23B-97E2B1D54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697" y="4012059"/>
            <a:ext cx="3899238" cy="6092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cores have to heat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AA1BAB-8B6B-4274-993F-0FBF0799D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193" y="4465446"/>
            <a:ext cx="3852596" cy="6085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up to continue fusion. 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9C6A21-DA86-4C6C-93D2-69CB2F31C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35" y="4918180"/>
            <a:ext cx="3981231" cy="6089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Therefore the stars get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4D9A63-FD07-46EF-9E35-C76C3B89A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463" y="5375391"/>
            <a:ext cx="4023662" cy="6089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bigger over time on the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15D6B5-FC8D-4699-9E68-EAE29F5C4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361" y="5827951"/>
            <a:ext cx="2823137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main sequence.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C927C4-ECB7-4BA6-B61F-F99F0BACE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3929E7A-8FDD-47F9-8367-453FBD9D9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7 of 51</a:t>
            </a:r>
          </a:p>
        </p:txBody>
      </p:sp>
      <p:sp>
        <p:nvSpPr>
          <p:cNvPr id="14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5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6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7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13423005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27bd22502a4477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4DB4DB-66F8-4277-9E31-CC823B433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7152" y="828522"/>
            <a:ext cx="7138590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 happens after the Main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86BBF7-0C5D-45AB-9D0B-52D6D7AE0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3384" y="1480479"/>
            <a:ext cx="2776148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Sequence?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9E803C-BAEB-41B1-BD72-7F8B455DD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1293" y="2331709"/>
            <a:ext cx="7692624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Stars spend 90% of their lifetime on the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172613-B91A-4DB6-967E-413C87B95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742" y="2852409"/>
            <a:ext cx="8487489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main sequence fusing hydrogen into helium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CFA0F9-25DA-4872-A6AD-A7998BA6C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5218" y="3373134"/>
            <a:ext cx="2632104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 their cores.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EEE5EF-F179-4950-B233-44DC0D26E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100" y="4617763"/>
            <a:ext cx="8530576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 happens when the hydrogen runs out?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9E5CF1-4263-47DD-A78F-D84850C28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FA80AC-5458-4B75-893F-F17B190A0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8 of 51</a:t>
            </a:r>
          </a:p>
        </p:txBody>
      </p:sp>
      <p:sp>
        <p:nvSpPr>
          <p:cNvPr id="12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3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4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5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8226632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530c2d78d24283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DCF59B-5400-4EAE-9DF3-174B52A98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7152" y="828522"/>
            <a:ext cx="7138590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 happens after the Main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01DD67-9EC5-4207-A80D-5F161627F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3384" y="1480479"/>
            <a:ext cx="2776148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Sequence?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2D6043-0F65-439D-8195-762ACB4DE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2283760"/>
            <a:ext cx="7615859" cy="6085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 happens when the hydrogen runs out?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1841B6-15F9-46BB-80F1-F1327A176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3282192"/>
            <a:ext cx="3077237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It depends on the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212FED-58AF-48F7-973B-C0518B9F8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3563" y="3282192"/>
            <a:ext cx="1114649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mass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31577F-B109-430E-86C1-2932105F4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8653" y="3285883"/>
            <a:ext cx="1807311" cy="6034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7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7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of the star.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6E4C1D-38E8-4E7D-8EEE-CBEA8AED1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2" y="3781723"/>
            <a:ext cx="355321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C813A1-1961-4139-B79D-2FCC5805E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300" y="3783864"/>
            <a:ext cx="7381649" cy="606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8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8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Very low mass stars (M &lt; 0.8 solar masses)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858D4F-8950-4889-B49C-543918448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2" y="4285452"/>
            <a:ext cx="355321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8EC85C0-2EC0-4577-BB3C-5765D4C15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300" y="4286592"/>
            <a:ext cx="6325505" cy="60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Low mass stars (M &lt; 8 solar masses)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41F156-1041-4516-953B-BEDA3FDE9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2" y="4785049"/>
            <a:ext cx="355321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7AEE72-F586-459D-9B1B-DEF894207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300" y="4786227"/>
            <a:ext cx="7918851" cy="6076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Low mass stars with companions (binary stars)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35779FE-45FB-4060-93EC-6660CD468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2" y="5284585"/>
            <a:ext cx="355321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8995DA-3E69-42E4-AC87-50ECB14B2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300" y="5285646"/>
            <a:ext cx="6411279" cy="6078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High mass stars (M &gt; 8 solar masses)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C678079-90A0-42D4-A75E-047E76F5E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2" y="5784122"/>
            <a:ext cx="355321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5.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4BF3CD1-F127-4178-9463-565C30428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300" y="5786145"/>
            <a:ext cx="7290592" cy="6062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8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8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Very high mass stars (much greater than 8 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D8ABAC4-377D-41E3-BE53-70E72DEE8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299" y="6190483"/>
            <a:ext cx="2400223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solar masses)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EAD84F6-C89D-4C2F-B396-635F10F8B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A80D286-8C16-43E8-9339-03E7F575F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9 of 51</a:t>
            </a:r>
          </a:p>
        </p:txBody>
      </p:sp>
      <p:sp>
        <p:nvSpPr>
          <p:cNvPr id="23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24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25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6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46137040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009462e8f04ecf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65BD09-DC18-4964-AA5A-21CA6F51E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5738" y="1126940"/>
            <a:ext cx="5331782" cy="9490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7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7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Very low mass stars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523D3B-95FB-4DBC-9E2E-F993118FD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3865" y="1652617"/>
            <a:ext cx="1876364" cy="52899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0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0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D6B66F-8F7E-4F11-BFD0-196D9F4A2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7369" y="5628556"/>
            <a:ext cx="7789532" cy="5825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Every one of them is still on the main sequence.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15BF1C-B540-44DE-83C7-9395E8D36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E7D31C-9D61-4E86-BBB9-2FAA8A80A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10 of 51</a:t>
            </a:r>
          </a:p>
        </p:txBody>
      </p:sp>
      <p:sp>
        <p:nvSpPr>
          <p:cNvPr id="9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0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1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2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84559737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392a510b274d2b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5D5AFC-0A95-4ABF-ADDA-6035653AC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956" y="1153629"/>
            <a:ext cx="8415688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Low mass stars (&lt; 8 solar masses)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FD5F3F-B839-4168-B61A-B388FBFA3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2331700"/>
            <a:ext cx="18923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080EA1-110C-48D2-93ED-35B655B37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2331700"/>
            <a:ext cx="7979695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When a star like the Sun starts to run out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72E810-EC44-4EED-A577-41EA1E71C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2852400"/>
            <a:ext cx="7168971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of hydrogen in the core, fusion slows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C583A9-9B11-4FA5-86DD-AADC6350E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3373125"/>
            <a:ext cx="1190832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down.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FA4C94-F006-4D11-9202-918F2B4EB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3995386"/>
            <a:ext cx="18923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BF53EE-3AF4-4679-803D-FDD898FFE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3995386"/>
            <a:ext cx="6756996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star is no longer in hydrostatic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64B25D-CC5B-44FB-92C1-7F5B4DA9F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4516125"/>
            <a:ext cx="3639781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equilibrium, and is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2489C6-FCA8-4445-974D-B38F61518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4970" y="4516125"/>
            <a:ext cx="2963589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out of balance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F21B36-D7CE-4631-8EF6-8F8807188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1050" y="4516125"/>
            <a:ext cx="158141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316EBE-5C4E-4E06-8922-91E018DE7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30" y="5138454"/>
            <a:ext cx="18923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1BC11E-9274-4A7B-A77E-F0E40B18B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55" y="5138454"/>
            <a:ext cx="8170198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Something has to happen to keep the star 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BC648E6-7B21-4B2F-825A-90DF10C2C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55" y="5654868"/>
            <a:ext cx="3063504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from collapsing.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39B6587-DC9B-4546-9C4B-4800C3B26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35E11DF-CBAC-43C9-ADD8-BD703813A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11 of 51</a:t>
            </a:r>
          </a:p>
        </p:txBody>
      </p:sp>
      <p:sp>
        <p:nvSpPr>
          <p:cNvPr id="19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20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21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2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33505738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5c9c57a82e40e6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EE82C0-E256-4820-9B34-219CC6509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8822" y="700519"/>
            <a:ext cx="5673334" cy="1300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64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64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Out of balance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7F9BD0-8CCB-4232-A317-2D15E5F05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5965" y="2167471"/>
            <a:ext cx="171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76FE56-E714-4A3F-A164-8BF017B50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90" y="2168223"/>
            <a:ext cx="7845834" cy="6083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Start running out of hydrogen in the core, now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563A47-E74F-4040-8BFA-0572F988B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90" y="2621057"/>
            <a:ext cx="6346973" cy="6085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outward pressure is less than the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D1D859-0DB4-45B8-9F43-BFB83D506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90" y="3077793"/>
            <a:ext cx="3582008" cy="60934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gravitational collapse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5F21DE-533F-4221-BDF7-7BEA9B0AF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072F10-A098-4F13-A002-29852E71A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12 of 51</a:t>
            </a:r>
          </a:p>
        </p:txBody>
      </p:sp>
      <p:sp>
        <p:nvSpPr>
          <p:cNvPr id="11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2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3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4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11461242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cf1173aee84e40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872354-5FBF-45CF-A85F-57ED37E3C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942" y="700519"/>
            <a:ext cx="5673334" cy="1300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64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64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Out of balance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DE8C75-9B88-4107-8F48-20E0FC40A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5969" y="2167471"/>
            <a:ext cx="171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D74BD9-6313-44AB-8D7E-F0C750AE9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94" y="2167918"/>
            <a:ext cx="5038675" cy="60885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 will happen to the core?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DFC23B-1333-47C1-8463-2E26A6E46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5D8EA7-6BD0-40B8-B60E-EF12FF11B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13 of 51</a:t>
            </a:r>
          </a:p>
        </p:txBody>
      </p:sp>
      <p:sp>
        <p:nvSpPr>
          <p:cNvPr id="9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0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1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2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97530759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e0cd45b2274363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4B616A-D10B-477E-A51A-113F50A09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877" y="828545"/>
            <a:ext cx="7886619" cy="8669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Main Sequence Star becomes a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2714EA-BB07-49E0-A305-BFF512ED7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3825" y="1480479"/>
            <a:ext cx="2474761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Red Giant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75284F-7DDA-4619-A6A2-F754ECCB1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3" y="2331747"/>
            <a:ext cx="152188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5AE4A9-033F-45B5-97A3-850A22A84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39" y="2331987"/>
            <a:ext cx="3338244" cy="5211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 starts to collapse,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0E9B8B-2B0E-4608-AE6A-775302C19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38" y="2721216"/>
            <a:ext cx="3868023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heating up central regions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BC2785-9F37-49D2-906C-414BB93C1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38" y="3110679"/>
            <a:ext cx="995891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until a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1E6E0A-19E0-43BC-881C-62B41A383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9499" y="3110679"/>
            <a:ext cx="867523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1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1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shell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463B8C-F0E9-40E2-9BCF-E395EDD90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7792" y="3110679"/>
            <a:ext cx="1682281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around the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A6B0BB-2E14-4CFF-B770-6A1D30C67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4" y="3500153"/>
            <a:ext cx="3268943" cy="5215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core is hot enough for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C63DC6-8D99-4015-86ED-E80BDCDC8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4" y="3889611"/>
            <a:ext cx="2441296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hydrogen fusion.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5131D2-7A21-43A1-8A52-E46488307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9" y="4355280"/>
            <a:ext cx="152188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6CE357-970B-48E1-ADAE-2F6C5C085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4" y="4355534"/>
            <a:ext cx="3863057" cy="5211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energy from this shell 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9B12F81-87E7-4861-BED6-128724254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4" y="4744743"/>
            <a:ext cx="3397169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is enough to cause the 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9125B9-5DB4-482B-8D9E-4AFD04003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4" y="5134550"/>
            <a:ext cx="3717749" cy="5209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rest of the star to expand 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6B1CF61-B164-44D9-AC5D-80AE85087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4" y="5523670"/>
            <a:ext cx="2277809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into a red giant.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747115F-56E0-42BC-8480-541A6BB68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9" y="5989343"/>
            <a:ext cx="152188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02807C2-1C22-4B26-A6E2-BF002F1E5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585" y="5991117"/>
            <a:ext cx="2025030" cy="5185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5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5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 stellar burp!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E89DF0E-11FF-4958-B39D-977AF3D67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8BBF3D3-89F2-4F40-BB0B-7DA77C971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14 of 51</a:t>
            </a:r>
          </a:p>
        </p:txBody>
      </p:sp>
      <p:sp>
        <p:nvSpPr>
          <p:cNvPr id="23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24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25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6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213271668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982862d52147d2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39D62C-660D-4640-B015-C6FF93A3E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777" y="828522"/>
            <a:ext cx="8522083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Helium fusion begins at the core of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0B81F3-F37B-4276-94DC-447577A98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9517" y="1480479"/>
            <a:ext cx="1662510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 giant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02C0E8-B052-4A11-9CAF-3F5F19585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6" y="2219006"/>
            <a:ext cx="3610370" cy="5212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While the exterior layers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70D78A-7446-42F5-ABCA-A46459668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6" y="2608305"/>
            <a:ext cx="3595936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expand, the helium core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D9105B-74C0-4C02-848E-70E07C221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6" y="2997985"/>
            <a:ext cx="3755746" cy="5211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continues to contract and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E97E50-E273-467A-A64B-27D7FB0F0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6" y="3387242"/>
            <a:ext cx="3541860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eventually becomes hot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431F22-F18F-4A7F-8B95-CFE05D5A7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6" y="3776717"/>
            <a:ext cx="4518818" cy="5215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enough (100 million Kelvin) for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EA81DA-EDA0-4C7D-9472-FE1922D09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6" y="4166328"/>
            <a:ext cx="4010073" cy="5212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helium to begin to fuse into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9AC6B3-D874-4C4B-8B16-F9535451B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6" y="4555647"/>
            <a:ext cx="2801907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carbon and oxygen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4FE69A-1390-4244-8AF4-230492E14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6" y="5021316"/>
            <a:ext cx="152188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7DE5B4-F97D-40E2-B1D0-545528FE4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219" y="5021316"/>
            <a:ext cx="2675031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core helium fusion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0976737-9D12-45D9-A1C7-87C005416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6" y="5491176"/>
            <a:ext cx="152188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B95B1A3-40E6-44E6-BE9A-DD184AA60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219" y="5491176"/>
            <a:ext cx="815073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 He 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26641C2-D770-4E43-AEAD-9D6011F72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6840" y="5486755"/>
            <a:ext cx="1813305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C + energy 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CFD6900-50D9-47F0-93E7-A7E76DD02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1207" y="5543995"/>
            <a:ext cx="489637" cy="4334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3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3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and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1AAE928-8394-4130-9CEE-2C5353F8C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229" y="5956805"/>
            <a:ext cx="1147980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 + He 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0B71613-9636-4A86-930C-E505576C9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9847" y="5952401"/>
            <a:ext cx="1829924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O + energy 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89A5CB5-21A7-45F0-967E-6BCEC6C42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15E6495-2F28-4498-83C5-19A26EBFC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15 of 51</a:t>
            </a:r>
          </a:p>
        </p:txBody>
      </p:sp>
      <p:sp>
        <p:nvSpPr>
          <p:cNvPr id="23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24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25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6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185954455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10c45c280743dc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D1D819-B16B-406C-A715-01C1E98A7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5385" y="982645"/>
            <a:ext cx="7206323" cy="615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2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2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Main Sequence Stars become Red Giants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3A38BE-242E-4043-A89D-FFA48BF62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4151" y="6238529"/>
            <a:ext cx="1468538" cy="3644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9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9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Helium fusion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30F820-3F02-4CCC-8FF8-4E01E7E3F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0545" y="2042480"/>
            <a:ext cx="1720504" cy="3587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65" b="0" i="0">
                <a:solidFill>
                  <a:srgbClr val="1E487D"/>
                </a:solidFill>
                <a:latin typeface="Arial"/>
                <a:ea typeface="Arial"/>
                <a:cs typeface="Arial"/>
              </a:defRPr>
            </a:pPr>
            <a:r>
              <a:rPr sz="1765" b="0" i="0">
                <a:solidFill>
                  <a:srgbClr val="1E487D"/>
                </a:solidFill>
                <a:latin typeface="Arial"/>
                <a:ea typeface="Arial"/>
                <a:cs typeface="Arial"/>
              </a:rPr>
              <a:t>Hydrogen fusion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585212-E1F3-48B6-8826-6C92EEF9F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5BAC53-191D-4B9B-A7D7-1ED161F25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16 of 51</a:t>
            </a:r>
          </a:p>
        </p:txBody>
      </p:sp>
      <p:sp>
        <p:nvSpPr>
          <p:cNvPr id="9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0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1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2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874376875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36c64a9402406e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07AA15-6681-4CA2-9D10-E05F15BF1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E5DCA5-6149-48E5-918A-59E1E7CE1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17 of 51</a:t>
            </a:r>
          </a:p>
        </p:txBody>
      </p:sp>
      <p:sp>
        <p:nvSpPr>
          <p:cNvPr id="6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7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8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9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899368760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0e505812ad48d5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945AFD-6165-4390-8733-B5A992AC5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1839" y="926710"/>
            <a:ext cx="2699373" cy="85525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09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4209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Red Giants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8A4CB6-211C-4A46-960F-A43DE70CE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4536" y="2656351"/>
            <a:ext cx="1107429" cy="3459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03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03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Betelgeuse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C61AB9-A3F1-49C0-A9AD-5828F05AC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2656" y="6807284"/>
            <a:ext cx="1431702" cy="3647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95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95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Jupiter’s Orbit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D3823C-1393-497D-87D7-278B1E2C6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B3EAA9-2C4F-47A6-ABE5-95A4B1682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18 of 51</a:t>
            </a:r>
          </a:p>
        </p:txBody>
      </p:sp>
      <p:sp>
        <p:nvSpPr>
          <p:cNvPr id="9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0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1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2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620878845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b0aa2f6c2f422b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7FD95E-2324-4FD3-96BD-29A78AD75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041" y="5701997"/>
            <a:ext cx="1543359" cy="4910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1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Interstellar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2CBD8E-DC3D-4EA4-B25D-78D6152DE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041" y="6114676"/>
            <a:ext cx="1471117" cy="4523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2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2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Cloud (gas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43CA97-8BAF-44AD-9449-6B98EA1A1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041" y="6486685"/>
            <a:ext cx="1279974" cy="4814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6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6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and dust)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475306-1FF0-4B3F-A55C-73C402294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5782" y="5501798"/>
            <a:ext cx="789776" cy="5001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6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6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Main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AB70E7-9FC8-4611-940E-0524FB9BF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5782" y="5915880"/>
            <a:ext cx="1397515" cy="4591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5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Sequence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849956-D724-4C07-B94F-052F9C1FD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5782" y="6300672"/>
            <a:ext cx="560595" cy="4669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9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9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29C8C4-0111-44F9-B69B-8A2B87BE3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8145" y="5728498"/>
            <a:ext cx="615354" cy="4468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9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9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Red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09A07E-0786-4CCB-95D0-A49FB7C19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4556" y="6095177"/>
            <a:ext cx="749687" cy="48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8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8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Giant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02BF93-70C4-4DD7-9A01-9A5461875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503" y="1072026"/>
            <a:ext cx="3695112" cy="7654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Life of a Star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EF1B658-49C9-4C08-B965-84901A57F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1D9EFDD-CD52-4286-9104-2BACC85E7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19 of 51</a:t>
            </a:r>
          </a:p>
        </p:txBody>
      </p:sp>
      <p:sp>
        <p:nvSpPr>
          <p:cNvPr id="15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6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7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8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902114754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e92b72f5884b49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8D6A2D-D025-4D42-98AE-BAE9D5C29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8" y="2085848"/>
            <a:ext cx="171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4D1B44-4B60-41CE-98BA-DA17022E5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662" y="2086368"/>
            <a:ext cx="4255028" cy="60873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core runs out of fuel!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BF9AB2-4BCC-4E88-AFEB-60F01D67E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8" y="2631923"/>
            <a:ext cx="171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C25C75-2332-4B63-B32C-7C93F9DEC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662" y="2632981"/>
            <a:ext cx="7881381" cy="607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Shell fusion of helium begins outside the core.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A3F764-1D99-4C86-8D02-AF38C74F7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2163" y="958406"/>
            <a:ext cx="7810595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 happens when the star runs out of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B1DCE9-EA4A-49E3-8E18-7CF392440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5296" y="1479106"/>
            <a:ext cx="1550865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helium?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778356F-150F-4240-A4FE-022A69351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8197E3-4FD0-4447-AB3E-B2F1DCF58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20 of 51</a:t>
            </a:r>
          </a:p>
        </p:txBody>
      </p:sp>
      <p:sp>
        <p:nvSpPr>
          <p:cNvPr id="12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3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4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5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744826726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07c82de4a448a8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944EF1-1DF1-4475-B3CD-CA82655B0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7" y="2738107"/>
            <a:ext cx="18923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AC4194-682F-4410-8AC9-9EA07DD59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902" y="2738107"/>
            <a:ext cx="4836479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core runs out of fuel!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FA35C6-244B-4DA7-869B-534D9E713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7" y="3364624"/>
            <a:ext cx="18923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9B61F0-AA0B-40AF-970D-0F94CFF2B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902" y="3364624"/>
            <a:ext cx="7094071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Shell fusion begins outside the core.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1F98E3-94CB-4EFF-97DB-890F90447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7" y="3986994"/>
            <a:ext cx="18923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D5C1A6-F4DD-422A-814C-CB6C410CA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902" y="3986994"/>
            <a:ext cx="8588048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Eventually the shell fusion creates too much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7A4D50-9BA4-447F-9D0B-B4395CC5D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902" y="4503407"/>
            <a:ext cx="7000312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outward pressure and energy which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FC5C2B9-C7D8-4CF2-A8DE-6D65B1247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902" y="5024107"/>
            <a:ext cx="8346075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explosively push out the outer layers of the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7C24AD-B74D-4047-BE26-5E77059EA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902" y="5544833"/>
            <a:ext cx="3760138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 and produce a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65AA88-3B29-471E-A6AC-8BAC26D27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9252" y="5544833"/>
            <a:ext cx="3469181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1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1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planetary nebula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A51BAEB-0C2F-4B39-91B4-0A5D6D37C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958" y="5544833"/>
            <a:ext cx="278138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F7BCBE5-AA6A-4869-96EF-67582D0A9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4079" y="1123707"/>
            <a:ext cx="6041713" cy="9544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9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9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Low Mass stars (&lt; 8 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F667390-B8FB-4B38-A1E6-115767302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1654" y="1123327"/>
            <a:ext cx="401791" cy="95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7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) 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CDE181F-6759-4B20-9BCE-29CB4C904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487AFE9-6C80-422F-8B3B-9303D1915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21 of 51</a:t>
            </a:r>
          </a:p>
        </p:txBody>
      </p:sp>
      <p:sp>
        <p:nvSpPr>
          <p:cNvPr id="19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20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21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2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154825380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ab931a6e4e4ab8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D79B50-14AE-47B1-BAF4-E6F43EF90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5776" y="5501796"/>
            <a:ext cx="789776" cy="5001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6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6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Main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9DD0A9-7FD1-4CD2-943B-E2FA7A08E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5776" y="5915873"/>
            <a:ext cx="1397515" cy="4591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5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Sequence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CBCFA6-5E66-40CF-9DAF-A9AC54BFF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5776" y="6300659"/>
            <a:ext cx="560595" cy="4669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9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9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518688-08CA-493B-B890-7777DF200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8139" y="5728485"/>
            <a:ext cx="615354" cy="4468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9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9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Red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515C13-98A7-49D9-9C99-8EA9860E4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4549" y="6095165"/>
            <a:ext cx="749687" cy="48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8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8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Giant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4BB71E-2E20-4322-941F-4FDD2F2A0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3212" y="5711610"/>
            <a:ext cx="1362047" cy="4749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Planetary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5A6022-2DFD-4A3F-AA27-02DED1F09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6565" y="6096254"/>
            <a:ext cx="982097" cy="483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7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7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Nebula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49F595-BB55-420A-86A3-4A57BF329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9442" y="1078240"/>
            <a:ext cx="5354106" cy="8453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16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16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Low mass stars (&lt; 8 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348EF0-56E0-4813-AE55-FD7405F74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8328" y="1229848"/>
            <a:ext cx="487825" cy="8325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09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9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)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E8A478-EE0F-498E-81E4-6FB3344B5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041" y="5701997"/>
            <a:ext cx="1543359" cy="4910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1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Interstellar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B997B12-D587-44CA-A1BB-3F1CFBEA9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041" y="6112070"/>
            <a:ext cx="2040519" cy="456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4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4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Cloud (gas and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4E6E08-9D4A-4B10-B494-E51CAA690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041" y="6480072"/>
            <a:ext cx="709654" cy="4924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2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2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dust)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D6077DC-6EF1-4228-9FA7-1F353B9BA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69E2E6F-2F5A-4A23-89A2-30860CF22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22 of 51</a:t>
            </a:r>
          </a:p>
        </p:txBody>
      </p:sp>
      <p:sp>
        <p:nvSpPr>
          <p:cNvPr id="18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9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20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1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616614927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5267a9373143cc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2DFD08-0353-41B9-87D8-21C118D2B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3954" y="846408"/>
            <a:ext cx="4414916" cy="8536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01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4201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Planetary Nebulae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48268B-FF33-46FC-9174-421EFA94A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FF98F6-7668-40B1-A08A-BD0BE7CD9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23 of 51</a:t>
            </a:r>
          </a:p>
        </p:txBody>
      </p:sp>
      <p:sp>
        <p:nvSpPr>
          <p:cNvPr id="7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8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9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0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772450322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abaede82ce4632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D9EE92-3CB7-4F19-8BC6-E413E7638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945" y="698132"/>
            <a:ext cx="9634194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burned-out core of a low-mass star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FAE8D7-EC17-442E-BA15-94AE53892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3732" y="1350089"/>
            <a:ext cx="5572190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becomes a white dwarf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8E82F9-9183-4098-8CB2-C729AA75A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339" y="2723383"/>
            <a:ext cx="171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D523F4-DE2F-4CD3-B3B6-CAA2179B4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464" y="2753937"/>
            <a:ext cx="8022118" cy="5586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4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4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When the planetary nebula disperses, all that is left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B7CC31-9A48-4760-9A72-7C8708369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463" y="3206247"/>
            <a:ext cx="8407719" cy="5597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5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5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behind is the burned-out, hot core of the star, called a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C6FB1D-DC6D-4A25-BB7B-AE59D417D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463" y="3660087"/>
            <a:ext cx="1944627" cy="5582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47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47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white dwarf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E5B3B6-5F3B-4CA1-9CF9-7ABF66179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8368" y="3629290"/>
            <a:ext cx="134112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4500D6-6AD3-4215-9152-773C686D2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338" y="4175429"/>
            <a:ext cx="171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FFFCAD-048D-4DE9-B897-BC65ADA0C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463" y="4209038"/>
            <a:ext cx="6717316" cy="5535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2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2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 core with remaining mass less than 1.4 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A96029-A98A-4AD8-B113-C388766C0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2258" y="4386264"/>
            <a:ext cx="102108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F61DE39-168A-4BF0-8416-FE2386136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334" y="4721460"/>
            <a:ext cx="171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291E73-3598-4F35-8872-701BDF913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459" y="4755769"/>
            <a:ext cx="8430541" cy="5524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1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1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These tiny star remnants are approximately the size of 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557ABE5-91D9-4BB1-B570-3A9D3C576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459" y="5204972"/>
            <a:ext cx="2005968" cy="558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5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5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planet Earth 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1A424F2-7626-4D94-953D-33EDDFB33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334" y="5720597"/>
            <a:ext cx="171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59532D7-6AF0-44C3-9589-FE84BDE22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459" y="5754376"/>
            <a:ext cx="7905992" cy="5533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2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2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 cubic centimeter (like a sugar cube) of a white 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DD439F2-6A9E-4326-902B-F1B710C0D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459" y="6203666"/>
            <a:ext cx="5660457" cy="559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5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5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dwarf star would weigh several tons.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161DB38-441D-44A7-B48A-85A3F9119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223D541-2FB4-4550-8FBD-22855185F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24 of 51</a:t>
            </a:r>
          </a:p>
        </p:txBody>
      </p:sp>
      <p:sp>
        <p:nvSpPr>
          <p:cNvPr id="22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23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24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5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300699393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e15e6693fa4e71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32B224-3E36-4330-AA3A-57ADB2403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7696" y="6811360"/>
            <a:ext cx="1293909" cy="3579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62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62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Helix Nebula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C14D13-989D-4E45-ACC1-B5C1A0106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937" y="1850631"/>
            <a:ext cx="2267045" cy="6586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41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41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White Dwarf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83F3FC-71C2-4E32-B8E4-3662EA02C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43265C-E4E2-4AB1-B2DA-C51E677AB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25 of 51</a:t>
            </a:r>
          </a:p>
        </p:txBody>
      </p:sp>
      <p:sp>
        <p:nvSpPr>
          <p:cNvPr id="8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9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0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1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608873728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6c20b16a3c4583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5D3CE1-25CA-4E52-B1B9-0114DA2B9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5776" y="5501796"/>
            <a:ext cx="789776" cy="5001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6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6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Main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29A9EB-5D00-4907-802F-3349E34E1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5776" y="5915873"/>
            <a:ext cx="1397515" cy="4591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5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Sequence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A417C3-664C-4CFE-88F6-CBA054E17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5776" y="6300659"/>
            <a:ext cx="560595" cy="4669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9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9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585FA2-597B-4094-BE8B-61B1DC28F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8139" y="5728485"/>
            <a:ext cx="615354" cy="4468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9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9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Red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0F8DC4-2B25-4F63-BABF-066AE2D73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4549" y="6095165"/>
            <a:ext cx="749687" cy="48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8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8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Giant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BC4672-FF2E-411D-A6F5-99A6A78E3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3212" y="5711610"/>
            <a:ext cx="1362047" cy="4749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Planetary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DB7CA7-9D33-4D25-BA70-6DD1189C0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6565" y="6096254"/>
            <a:ext cx="982097" cy="483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7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7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Nebula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A185BB-9772-4B60-A39E-F683EB106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262" y="5695938"/>
            <a:ext cx="912996" cy="501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6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6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White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26B31D-BB9C-45E1-83BD-2026979EC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2966" y="6088817"/>
            <a:ext cx="833982" cy="49543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3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3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Dwarf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FB55AF-8CC4-4B63-B6A0-62E845CA3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6567" y="1094347"/>
            <a:ext cx="4644977" cy="1023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503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03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Low mass stars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71101F-EB6A-476D-BD48-30FE75381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3568" y="1181189"/>
            <a:ext cx="1596551" cy="8784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32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32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(&lt; 8 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139B27-9D82-4288-8598-7AB55DBF6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4981" y="1352644"/>
            <a:ext cx="487826" cy="8325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09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9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) 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13C35C-D879-43CA-84F3-2CDAC0AE0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041" y="5701997"/>
            <a:ext cx="1543359" cy="4910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1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Interstellar 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E6DA7EB-B4A2-438C-94C8-A07D698BB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041" y="6114676"/>
            <a:ext cx="1471117" cy="4523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2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2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Cloud (gas 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57CE15D-2A34-4C31-8603-EC1AE8C7D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041" y="6486685"/>
            <a:ext cx="1279974" cy="4814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6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6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and dust)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4CF50C0-4AF3-4073-8334-4599167FB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EF11D64-D88C-442F-B13C-ED70555F5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26 of 51</a:t>
            </a:r>
          </a:p>
        </p:txBody>
      </p:sp>
      <p:sp>
        <p:nvSpPr>
          <p:cNvPr id="21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22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23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4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150532442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9872024b9e4a48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538E8E-BAEB-415C-8BCC-7B25F4428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676" y="1592211"/>
            <a:ext cx="7739081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 happens to white dwarfs?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5A8DE9-07E6-4B8A-A32F-22D12236A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148" y="2244168"/>
            <a:ext cx="5573148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Do they just sit there??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76A5FA-23E2-4F4A-B15F-984763702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4538" y="3713467"/>
            <a:ext cx="6112531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If the white dwarfs are isolated,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9601C7-2E3F-467C-8146-4D482B0AA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5782" y="4234167"/>
            <a:ext cx="831016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yes.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C9DF45-85D0-4536-89A0-46BC4BB43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8698" y="4234167"/>
            <a:ext cx="4856022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They will cool down and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556B4D-A734-4416-84E7-D4A77CEDB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3732" y="4754893"/>
            <a:ext cx="5215426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become BLACK DWARFS.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50643C-2E6A-49BA-93CF-EF3505F72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EF656F-441A-422E-93A2-64A93E965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27 of 51</a:t>
            </a:r>
          </a:p>
        </p:txBody>
      </p:sp>
      <p:sp>
        <p:nvSpPr>
          <p:cNvPr id="12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3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4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5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878193949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03d081f52d423f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9C56B9-42A3-498B-A83A-12C559F72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5136" y="5661452"/>
            <a:ext cx="1621648" cy="504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85" b="0" i="0">
                <a:solidFill>
                  <a:srgbClr val="FFFF00"/>
                </a:solidFill>
                <a:latin typeface="Arial"/>
                <a:ea typeface="Arial"/>
                <a:cs typeface="Arial"/>
              </a:defRPr>
            </a:pPr>
            <a:r>
              <a:rPr sz="2485" b="0" i="0">
                <a:solidFill>
                  <a:srgbClr val="FFFF00"/>
                </a:solidFill>
                <a:latin typeface="Arial"/>
                <a:ea typeface="Arial"/>
                <a:cs typeface="Arial"/>
              </a:rPr>
              <a:t>white dwarf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FF6A13-4483-424D-8ED8-54627E84A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048" y="1235063"/>
            <a:ext cx="8513198" cy="75672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724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724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Sirius and its White Dwarf companion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69D32D-25DF-4037-B6A6-479E5E1CA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07A00C-2D3B-4349-AB6F-1B8E42A76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28 of 51</a:t>
            </a:r>
          </a:p>
        </p:txBody>
      </p:sp>
      <p:sp>
        <p:nvSpPr>
          <p:cNvPr id="8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9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0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1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483513967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3e7127093c409a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4B99F0-0872-4DA6-811B-218AC8214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5964" y="1123544"/>
            <a:ext cx="7752745" cy="9546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98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698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Evolution of a Low Mass Star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1F3C6B-1E82-426A-9527-5155C20E7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C74DB7-E9B2-4794-A1AC-3015DA3C3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29 of 51</a:t>
            </a:r>
          </a:p>
        </p:txBody>
      </p:sp>
      <p:sp>
        <p:nvSpPr>
          <p:cNvPr id="7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8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9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0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265542512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5c9266814449b3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A10BF0-20B7-4ED7-9794-12F020D21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862" y="1153629"/>
            <a:ext cx="7977915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Low mass stars with companions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0CF6CB-4E79-4A90-B2C7-9768A1C33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439" y="2331700"/>
            <a:ext cx="8441444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If a low mass star is a binary star (if it has a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6A7C47-4293-4CA6-8E9E-346BB0CEA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190" y="2852919"/>
            <a:ext cx="8294702" cy="6900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39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39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companion), it will evolve in the same way,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995223-8C0F-4A43-9C38-D6A02A6D8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7836" y="3373125"/>
            <a:ext cx="1910815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except....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3D32B9-3FDC-4441-AB0E-B7BE2288B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669" y="3995940"/>
            <a:ext cx="8223264" cy="6899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39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39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As its companion evolves and gets bigger,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E5AC51-7003-4508-92D5-72C642482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0236" y="4516125"/>
            <a:ext cx="7505265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white dwarf can steal mass from it.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F91BD0-3786-484F-99A2-8B4C8B762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7416" y="5032633"/>
            <a:ext cx="8027996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stolen matter forms an external layer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0D6DBF-917C-44C2-AA1D-6F78B3E49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3037" y="5553268"/>
            <a:ext cx="8184719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which can quickly ignite and shine brightly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6B9049-D54A-4052-8124-63C31A959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2275" y="6073994"/>
            <a:ext cx="2055475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creating a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1A713B1-45AF-4C41-BE76-7C969574C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8921" y="6073994"/>
            <a:ext cx="1045533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1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1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nova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5BECA3-142C-449F-8305-ACF34FDF6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6398" y="6073994"/>
            <a:ext cx="278138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 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153B59B-DF4A-494C-BCF4-6F71ED3E0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5382A57-82AE-4797-8A6F-AA4322361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30 of 51</a:t>
            </a:r>
          </a:p>
        </p:txBody>
      </p:sp>
      <p:sp>
        <p:nvSpPr>
          <p:cNvPr id="17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8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9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0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866323143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984f50eccd4010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811B16-8484-46C7-9311-117313AF0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5079" y="994143"/>
            <a:ext cx="4229898" cy="95305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9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9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What’s a Nova?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1E9498-5C81-4A37-84E0-A56CFFB97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0336" y="2201827"/>
            <a:ext cx="171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4FAF4F-09B0-4559-89B2-2B78D6A59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5275" y="2204152"/>
            <a:ext cx="4065532" cy="6057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8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8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 nova occurs in binary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01CE54-6C1A-485E-BBC8-30BEC9D15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5461" y="2612898"/>
            <a:ext cx="3980270" cy="6088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systems where a white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22AA97-BF61-4566-9A3E-C3F76D938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5461" y="3019607"/>
            <a:ext cx="4526889" cy="6084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dwarf is pulling mass from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BA8883-9BD7-4180-885B-7C2379682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5461" y="3429495"/>
            <a:ext cx="2485428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its companion.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2AF34FD-BFFD-4AD4-A0C4-F19693E68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0336" y="3929066"/>
            <a:ext cx="171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6B1110-16B4-4901-83C6-7BB23D9AC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5275" y="3931349"/>
            <a:ext cx="4739689" cy="6057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8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8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 nova is a relatively gentle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3D9B93-B7A4-4619-858B-C82CA7F70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5461" y="4340186"/>
            <a:ext cx="4573142" cy="6087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explosion of hydrogen gas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41EA95-DB15-4147-965F-C48A6124B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5461" y="4746848"/>
            <a:ext cx="4273299" cy="6082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 the surface of a white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26DF200-C459-4EFC-9C37-E58753236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5461" y="5157116"/>
            <a:ext cx="3663393" cy="60889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dwarf in a binary star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3815740-7B17-49B8-9C97-4C9AE5118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5461" y="5567355"/>
            <a:ext cx="1553794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system.  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5E65FBD-EED4-482E-A658-AE0E77CB5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0336" y="6066901"/>
            <a:ext cx="171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68403D-FC77-412C-A6B1-CD8B3BB10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5461" y="6067278"/>
            <a:ext cx="3854517" cy="6089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This process does not 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758041E-C0AB-4B9A-BBF5-8EEF74446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5461" y="6473748"/>
            <a:ext cx="4170883" cy="608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damage the white dwarf 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94A386F-0AED-4FB5-ADE3-3A5FA587C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5461" y="6883941"/>
            <a:ext cx="2969210" cy="6095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and it can repeat.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B80917D-6BFB-4973-9A77-63AFD450D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7FBA0E5-89D2-49F2-8F22-614749801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31 of 51</a:t>
            </a:r>
          </a:p>
        </p:txBody>
      </p:sp>
      <p:sp>
        <p:nvSpPr>
          <p:cNvPr id="22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23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24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5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730613076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c7751e139a4906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AD456C-B4F7-46FD-A3CD-D7B15CD2C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337" y="830410"/>
            <a:ext cx="5689865" cy="54720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9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9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Sometimes the mass transfer can be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6CE465-C842-4825-9AB2-E4901FEAD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423" y="850630"/>
            <a:ext cx="1434540" cy="51350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27" b="0" i="1">
                <a:solidFill>
                  <a:srgbClr val="FF3300"/>
                </a:solidFill>
                <a:latin typeface="Arial"/>
                <a:ea typeface="Arial"/>
                <a:cs typeface="Arial"/>
              </a:defRPr>
            </a:pPr>
            <a:r>
              <a:rPr sz="2527" b="0" i="1">
                <a:solidFill>
                  <a:srgbClr val="FF3300"/>
                </a:solidFill>
                <a:latin typeface="Arial"/>
                <a:ea typeface="Arial"/>
                <a:cs typeface="Arial"/>
              </a:rPr>
              <a:t>excessive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A88532-7BB6-4A25-B265-2013B1FA3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4404" y="853033"/>
            <a:ext cx="680317" cy="5095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0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0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 So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12554A-15AA-4B9F-8572-434DBEBD8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336" y="1272501"/>
            <a:ext cx="8941986" cy="5653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8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8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excessive that the white dwarf will not be able to support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5DC70B-2877-40D2-B5AB-27F9F018C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336" y="1736955"/>
            <a:ext cx="7994897" cy="546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8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8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mass it gains. So, what would have been a nova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E87A4F-6EE7-4581-ADAD-295D61C83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336" y="2296782"/>
            <a:ext cx="1690118" cy="5445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8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8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becomes 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ACB2F8-0868-44DB-86C6-DC4E1537E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8354" y="2244083"/>
            <a:ext cx="2638695" cy="6323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112" b="1" i="0">
                <a:solidFill>
                  <a:srgbClr val="FF3300"/>
                </a:solidFill>
                <a:latin typeface="Arial"/>
                <a:ea typeface="Arial"/>
                <a:cs typeface="Arial"/>
              </a:defRPr>
            </a:pPr>
            <a:r>
              <a:rPr sz="3112" b="1" i="0">
                <a:solidFill>
                  <a:srgbClr val="FF3300"/>
                </a:solidFill>
                <a:latin typeface="Arial"/>
                <a:ea typeface="Arial"/>
                <a:cs typeface="Arial"/>
              </a:rPr>
              <a:t> SUPERNOVA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EFAFC8-1C6F-4CFF-949F-7E2C90544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9439" y="2268432"/>
            <a:ext cx="333681" cy="5917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1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1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! 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F550D5-BF95-4503-A0A6-614FD3622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EA89057-C5DD-4053-91A3-E88E1A788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32 of 51</a:t>
            </a:r>
          </a:p>
        </p:txBody>
      </p:sp>
      <p:sp>
        <p:nvSpPr>
          <p:cNvPr id="14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5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6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7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2089537284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48ed484b384fc3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E9ED0B-0FB3-4625-BB3D-8E5BDC869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3216" y="4280062"/>
            <a:ext cx="602135" cy="3773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5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5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Main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F15315-C300-4B39-83F2-8FAC859DC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3216" y="4591105"/>
            <a:ext cx="1058834" cy="3457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0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0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Sequence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7E9B78-70ED-452F-91AD-EB9ABA8E9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3216" y="4878755"/>
            <a:ext cx="430262" cy="35320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3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3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51B86C-665C-480C-9FA6-CBD5DF5D8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3553" y="4222406"/>
            <a:ext cx="471613" cy="3379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6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6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Red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BB6902-7B26-4AEC-BC69-969EA2011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5656" y="4497311"/>
            <a:ext cx="573113" cy="3666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Giant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F5EC6B-9C29-4E65-BE32-BFB668EED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4050" y="4210860"/>
            <a:ext cx="1030667" cy="3572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5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5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Planetary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E2A7BE-7A0D-4BC0-AA1F-002EEE8B3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8250" y="4498601"/>
            <a:ext cx="747326" cy="36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9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9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Nebula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28FA3B-505A-4125-A015-99DB97E75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8682" y="4198493"/>
            <a:ext cx="694657" cy="3778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5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5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White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AC40B4-108A-4690-8DE0-BB9CBEA54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0508" y="4492946"/>
            <a:ext cx="635676" cy="373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4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4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Dwarf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1F5F6C-B150-465F-A120-3A92954AD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057" y="6970834"/>
            <a:ext cx="1451643" cy="320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7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Pulling material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297E11-C09A-4817-BD8F-08092B3F6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057" y="7223366"/>
            <a:ext cx="713902" cy="3302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2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2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off of a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45D6A9-874F-49FB-847F-687E5D96E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057" y="7490732"/>
            <a:ext cx="1401750" cy="3220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8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8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companion star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8255024-4EFF-47CF-86DF-AC26CBC09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5727" y="5551901"/>
            <a:ext cx="546815" cy="3573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5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5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Nova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7AA0319-E328-4F7F-818F-3797809F6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4121" y="7100704"/>
            <a:ext cx="1326265" cy="3498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2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Supernova Ia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35C42F-2D64-48BB-80D6-254831CF8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9776" y="6821593"/>
            <a:ext cx="1067943" cy="3409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7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7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Leaves no 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8905413-D3FB-410A-85C1-733520661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9776" y="7088963"/>
            <a:ext cx="967958" cy="3821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8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8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remnant!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01B880B-D6B6-4BA5-9574-2891AF964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1567" y="5461561"/>
            <a:ext cx="1293019" cy="3724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White Dwarf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BC7FAF4-5A8D-4F67-B232-35C0A3E76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1567" y="5762490"/>
            <a:ext cx="1218597" cy="3577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6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6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(can repeat 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9FBE3E1-339E-4C44-BF10-43ECDE869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1567" y="6058799"/>
            <a:ext cx="1207188" cy="3507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2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last 3 steps)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8E80ECA-A043-4452-A70B-C0C5D8E7D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6576" y="1094352"/>
            <a:ext cx="4644977" cy="1023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503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03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Low mass stars 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5ADE307-C28B-4FEC-BF9B-147744F9D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3577" y="1181194"/>
            <a:ext cx="1596551" cy="8784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32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32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(&lt; 8 M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8C1BD3A-CEE9-4649-B9A8-0C92B0AC9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4991" y="1352649"/>
            <a:ext cx="487826" cy="8325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09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9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) 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F0068F4-D3C2-4363-889C-596A26B6D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062" y="4365065"/>
            <a:ext cx="1041810" cy="32878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1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1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Interstellar 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2623E66-5EBB-4BCE-8F9B-3A10D2BB8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062" y="4637484"/>
            <a:ext cx="1371835" cy="3051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0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0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Cloud (gas and 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B3BFED9-0571-41A9-8E59-F403F4512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062" y="4884620"/>
            <a:ext cx="484885" cy="3306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2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2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dust)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D53C834-C3CA-4A09-9F0A-468694489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CC60602-7482-4B2C-8A63-1F10454F8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33 of 51</a:t>
            </a:r>
          </a:p>
        </p:txBody>
      </p:sp>
      <p:sp>
        <p:nvSpPr>
          <p:cNvPr id="31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32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33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34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242080555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5e31a709544d83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B22947-7AC5-49DF-A249-17011FFE9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949" y="1153629"/>
            <a:ext cx="8533911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High mass stars (&gt; 8 solar masses)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6EDC6A-4B35-4726-BE5F-89274992D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2248057"/>
            <a:ext cx="161078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5BE3F8-877A-4050-8905-80C2412DC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2248057"/>
            <a:ext cx="7646885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Like low mass stars, they will become red giants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9D69EB-6FCD-459F-A475-0858E8864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2586725"/>
            <a:ext cx="7892407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when they finish hydrogen fusion, but they will not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89826D-754F-44B7-BEF2-C4B3FAEED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2921157"/>
            <a:ext cx="7064107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become white dwarfs with planetary nebulae.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F41986-2BA6-4822-8254-A6448427A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3344548"/>
            <a:ext cx="161079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78C639-E7FC-4C4A-982F-DBB86B28B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3" y="3344548"/>
            <a:ext cx="7691985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Fusion in the core continues through many more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C381B8-A83E-4AA2-B2E5-FFBB457AD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3683157"/>
            <a:ext cx="7302223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stages than for low mass stars.  Each stage is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4FABAE-3713-4E49-92B7-3777917C0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4017633"/>
            <a:ext cx="3565816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shorter than the next. 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C474DE-6B13-4C6F-B7F6-75F4F265C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4440910"/>
            <a:ext cx="161079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F9F764-6713-47F3-B883-3996D97E6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3" y="4440910"/>
            <a:ext cx="5148389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Heavier elements are produced: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8DF3A9-CFFD-49C6-ABA7-471BD80DD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4304" y="4862043"/>
            <a:ext cx="202861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A25215-7EBA-49D6-A0EC-7E9173AD3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8722" y="4862043"/>
            <a:ext cx="3863772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carbon, (over 500,000 years)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978CC13-E4D5-4FBD-9182-A43939A26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4304" y="5221904"/>
            <a:ext cx="202861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A8F701D-3CAA-4346-8BD3-002CCA71F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8722" y="5221904"/>
            <a:ext cx="3333025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oxygen, (over 600 years)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40A0C86-3FA7-49B1-A2DC-720C14790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4304" y="5577478"/>
            <a:ext cx="202861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4970353-B0FC-4FF7-81E3-B2A04A01D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8722" y="5577478"/>
            <a:ext cx="865757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neon, 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1727E52-1411-4078-A841-3EE392E03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4304" y="5933078"/>
            <a:ext cx="202861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BF679AF-5B6C-40D1-86DC-E2F74B3BC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8722" y="5933078"/>
            <a:ext cx="3116124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silicon, (over 6 months)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06EAB1D-8FA6-4D5E-AD7C-FA0019909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4304" y="6292935"/>
            <a:ext cx="202861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9BA3894-204B-46A6-B6BA-EBFD73E1D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8722" y="6292935"/>
            <a:ext cx="4342933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and so on up to iron (over 1 day)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E3A58F1-9420-47D1-A5BB-3F1FF0F48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535686A-F618-4FF7-9396-752AA463D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34 of 51</a:t>
            </a:r>
          </a:p>
        </p:txBody>
      </p:sp>
      <p:sp>
        <p:nvSpPr>
          <p:cNvPr id="27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28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29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30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96191470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4397ab1fc249eb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E5DD75-5119-4518-9200-E3EF57187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24" y="1187945"/>
            <a:ext cx="8454183" cy="86343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4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4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 series of different types of fusion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50E3C1-0A6E-4B16-94EF-6A833A328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971" y="1837768"/>
            <a:ext cx="8400080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reactions occur in high-mass stars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AA4C65-CB82-4244-93F5-B8A7AE198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3A8D28E-28AE-4CBC-BB00-E69340C3F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35 of 51</a:t>
            </a:r>
          </a:p>
        </p:txBody>
      </p:sp>
      <p:sp>
        <p:nvSpPr>
          <p:cNvPr id="8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9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0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1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222170245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3f3c3ff00d44a5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2A84F8-A0CC-44AD-801C-D5A46E4D4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6374" y="796062"/>
            <a:ext cx="6111666" cy="10427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513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13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Core runs out of fuel!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DDF9CC-F046-4552-867B-577B95759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852" y="2167463"/>
            <a:ext cx="1345688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Gravity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06223A-8A62-4222-8160-382210AA9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8440" y="2168747"/>
            <a:ext cx="5617082" cy="6074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8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8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(       ) wants to collapse the star!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2D8B84-4F5E-417A-A6BE-991695332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A2239C-5C40-429F-97C0-700A52806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36 of 51</a:t>
            </a:r>
          </a:p>
        </p:txBody>
      </p:sp>
      <p:sp>
        <p:nvSpPr>
          <p:cNvPr id="9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0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1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2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761216704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285931bcbd4ffa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DA9238-8515-4C27-BBB2-B0673B58D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9398" y="1123410"/>
            <a:ext cx="6310022" cy="9549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9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9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High-Mass Stars (&gt; 8 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4C166A-33E2-4FB6-A688-0254FD09B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1939" y="1267285"/>
            <a:ext cx="566182" cy="95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7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)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130602-BA95-4071-90C6-AA620FDFD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4691" y="2819718"/>
            <a:ext cx="18923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6D572B-AFFD-4C6B-8210-C0EA4E845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815" y="2819718"/>
            <a:ext cx="7019531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core and outer layers run out of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94FA3F-E9BB-4F8D-B52B-027029EAB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816" y="3340418"/>
            <a:ext cx="97446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fuel.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E4EAA2-F8E5-4567-B67D-5AE7D1698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4691" y="3962772"/>
            <a:ext cx="18923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2FDAD7-690F-4483-8879-080B27952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815" y="3963917"/>
            <a:ext cx="7541065" cy="6889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39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39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star then collapses, due to gravity.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6A8B24-807A-4942-95B6-017938808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4691" y="4585047"/>
            <a:ext cx="18923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2AD990-FA3A-4864-9C53-14ACB1CA9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815" y="4585742"/>
            <a:ext cx="6950399" cy="6897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39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39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mass, however, is high enough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22F823B-1F63-48DD-8876-8FCB5F015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816" y="5105718"/>
            <a:ext cx="5583795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that nothing can balance the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9DD4EA-8810-4823-A007-815D35623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816" y="5626447"/>
            <a:ext cx="5585091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gravitational collapse and…..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36F2708-7F85-48AD-841A-B58D36704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B0D7DF-FA9C-489B-8D02-E73A79522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37 of 51</a:t>
            </a:r>
          </a:p>
        </p:txBody>
      </p:sp>
      <p:sp>
        <p:nvSpPr>
          <p:cNvPr id="17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8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9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0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142274114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7b7e6e41e747c1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377B36-521A-4E88-B981-B9B052B95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647" y="951613"/>
            <a:ext cx="8083922" cy="14230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700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700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Supernovae -Type II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E552B1-1A96-448D-BB2A-3A875550A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132" y="2768930"/>
            <a:ext cx="18923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E23C36-BD8E-4E2C-A7F5-97AF4ED8B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7257" y="2768930"/>
            <a:ext cx="7356813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collapsing outer layers of the star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F4F922-BEEB-4EBC-91ED-5C8367013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7257" y="3238859"/>
            <a:ext cx="8015641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will collapse against and bounce outward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982B92-C3F9-4A7E-8C6A-3C3A413FD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7257" y="3704429"/>
            <a:ext cx="7064945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off the compact collapsed core in an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960B61-EF59-4D70-94C7-9DC27E60D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7257" y="4170167"/>
            <a:ext cx="5848877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explosive event sending out a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FBA97A-505D-4E78-B8C6-6ADE0E5B2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7257" y="4640067"/>
            <a:ext cx="6877997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shockwave. This explosive event is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55B6AE-0C44-4FB9-AA0A-599A5DEF5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7257" y="5105735"/>
            <a:ext cx="1647766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called a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080567-5CB5-44EB-8F3D-94DB7351A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8737" y="5107032"/>
            <a:ext cx="3542828" cy="68873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389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3389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Type II Supernova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7D1012-E927-4DC8-BA0C-0D1703425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4483" y="5105743"/>
            <a:ext cx="398136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!!!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E3370A-5B77-4DDD-BA1E-8D5509D7A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142" y="5677223"/>
            <a:ext cx="18923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8A30D3-7542-4F2F-8628-D7CD6C960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7267" y="5677223"/>
            <a:ext cx="7894136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During the Supernova, heavier elements 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5A03B9-EE84-4DDF-B30A-A7CC527DD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7267" y="6142906"/>
            <a:ext cx="6880147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are created from fusion events, like 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3AA75E-5022-4588-9C8D-1FBFC9ABD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7267" y="6612806"/>
            <a:ext cx="5126443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magnesium, lead, or gold. 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A9D50D8-806E-4438-AAC2-5CA0B9F8E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D1CEB0B-3A20-4E11-920B-DBF4FD677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38 of 51</a:t>
            </a:r>
          </a:p>
        </p:txBody>
      </p:sp>
      <p:sp>
        <p:nvSpPr>
          <p:cNvPr id="20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21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22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3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973995320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3ec35c7ff14374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0AA279-49F4-4EBD-9821-E9E16018E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7271" y="1064783"/>
            <a:ext cx="6063550" cy="102842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506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06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 Supernova Type II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AB5C46-638E-494C-841F-48BEF43C9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252" y="1835541"/>
            <a:ext cx="8315894" cy="10420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512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12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occurred here before we did.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390F47-CF87-4F98-9882-0CE3B1661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133" y="3144839"/>
            <a:ext cx="18923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CD31A5-88F7-4E9D-A03F-CF90D8F96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7258" y="3144839"/>
            <a:ext cx="7332583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atoms that created our world and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933BF9-BD77-4EC6-B59D-DBFFA2485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7258" y="3665539"/>
            <a:ext cx="8012595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solar system come from nuclear fusion in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1FDAE1-00DD-42B0-ADCE-24197A13B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7258" y="4186264"/>
            <a:ext cx="680795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stars and from supernovae events!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17327D-5508-421F-BD14-9F0D5F667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133" y="4808525"/>
            <a:ext cx="18923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DA5564-4663-4686-9864-7F14EFFA9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7258" y="4808525"/>
            <a:ext cx="5548992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We are all made of star stuff!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A567E5-6286-432E-A2A9-071654C4F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3F09D5-5B8A-4FFD-9459-6E5E52DF7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39 of 51</a:t>
            </a:r>
          </a:p>
        </p:txBody>
      </p:sp>
      <p:sp>
        <p:nvSpPr>
          <p:cNvPr id="14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5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6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7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478117074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a4f424ba4d4c32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700287-6221-4458-A2C1-660BE88AD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5972" y="2167471"/>
            <a:ext cx="1345689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1" i="0">
                <a:solidFill>
                  <a:srgbClr val="1E487D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1E487D"/>
                </a:solidFill>
                <a:latin typeface="Arial"/>
                <a:ea typeface="Arial"/>
                <a:cs typeface="Arial"/>
              </a:rPr>
              <a:t>Gravity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F39BAC-3B83-4D28-A9F7-DC3C83798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560" y="2167471"/>
            <a:ext cx="688803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(  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AC07EC-4309-47BB-AFFA-251EC5FBA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7858" y="2167471"/>
            <a:ext cx="27081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)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10F29C-D38F-4B3E-8B22-3FDA75465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9444" y="2168244"/>
            <a:ext cx="4315400" cy="6083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4" b="0" i="0">
                <a:solidFill>
                  <a:srgbClr val="FF3300"/>
                </a:solidFill>
                <a:latin typeface="Arial"/>
                <a:ea typeface="Arial"/>
                <a:cs typeface="Arial"/>
              </a:defRPr>
            </a:pPr>
            <a:r>
              <a:rPr sz="2994" b="0" i="0">
                <a:solidFill>
                  <a:srgbClr val="FF3300"/>
                </a:solidFill>
                <a:latin typeface="Arial"/>
                <a:ea typeface="Arial"/>
                <a:cs typeface="Arial"/>
              </a:rPr>
              <a:t>wants to collapse the star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3E6F61-EF94-4B28-BD8B-0459EFA84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4977" y="2842782"/>
            <a:ext cx="4666961" cy="8000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937" b="0" i="0">
                <a:solidFill>
                  <a:srgbClr val="1E487D"/>
                </a:solidFill>
                <a:latin typeface="Arial"/>
                <a:ea typeface="Arial"/>
                <a:cs typeface="Arial"/>
              </a:defRPr>
            </a:pPr>
            <a:r>
              <a:rPr sz="3937" b="0" i="0">
                <a:solidFill>
                  <a:srgbClr val="1E487D"/>
                </a:solidFill>
                <a:latin typeface="Arial"/>
                <a:ea typeface="Arial"/>
                <a:cs typeface="Arial"/>
              </a:rPr>
              <a:t>No outward pressure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B33EA8-4F6A-4FED-925E-9419D1B34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3838" y="2880529"/>
            <a:ext cx="550469" cy="73716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628" b="0" i="0">
                <a:solidFill>
                  <a:srgbClr val="BF504C"/>
                </a:solidFill>
                <a:latin typeface="Arial"/>
                <a:ea typeface="Arial"/>
                <a:cs typeface="Arial"/>
              </a:defRPr>
            </a:pPr>
            <a:r>
              <a:rPr sz="3628" b="0" i="0">
                <a:solidFill>
                  <a:srgbClr val="BF504C"/>
                </a:solidFill>
                <a:latin typeface="Arial"/>
                <a:ea typeface="Arial"/>
                <a:cs typeface="Arial"/>
              </a:rPr>
              <a:t> =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ADA1E9-D228-474F-9F72-C966237B4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5466" y="2830355"/>
            <a:ext cx="2192343" cy="8207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039" b="0" i="0">
                <a:solidFill>
                  <a:srgbClr val="FF3300"/>
                </a:solidFill>
                <a:latin typeface="Arial"/>
                <a:ea typeface="Arial"/>
                <a:cs typeface="Arial"/>
              </a:defRPr>
            </a:pPr>
            <a:r>
              <a:rPr sz="4039" b="0" i="0">
                <a:solidFill>
                  <a:srgbClr val="FF3300"/>
                </a:solidFill>
                <a:latin typeface="Arial"/>
                <a:ea typeface="Arial"/>
                <a:cs typeface="Arial"/>
              </a:rPr>
              <a:t>implosion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F68AF3-AC5C-45EC-BEB6-54C4064A5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3936" y="4305350"/>
            <a:ext cx="4032646" cy="800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94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94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Rebound of outer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4EABF2-3A1F-4B21-ACA1-338CF60B6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3936" y="4967581"/>
            <a:ext cx="3964794" cy="7766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2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82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layers against the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64DF20-E3BA-4E50-B6F0-1AB7445A3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3936" y="5600432"/>
            <a:ext cx="999698" cy="80135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94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94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core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6D44C0F-8848-4140-8B40-932F35E85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5534" y="5614357"/>
            <a:ext cx="2850821" cy="7781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29" b="0" i="0">
                <a:solidFill>
                  <a:srgbClr val="FF3300"/>
                </a:solidFill>
                <a:latin typeface="Arial"/>
                <a:ea typeface="Arial"/>
                <a:cs typeface="Arial"/>
              </a:defRPr>
            </a:pPr>
            <a:r>
              <a:rPr sz="3829" b="0" i="0">
                <a:solidFill>
                  <a:srgbClr val="FF3300"/>
                </a:solidFill>
                <a:latin typeface="Arial"/>
                <a:ea typeface="Arial"/>
                <a:cs typeface="Arial"/>
              </a:rPr>
              <a:t> = supernova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D4ED44-4BDA-42A7-A0C1-A3DC4E775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0335" y="1121855"/>
            <a:ext cx="6881092" cy="10416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512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12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High-Mass Stars (&gt; 8 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2D2592C-6006-4899-A16A-9A3B65195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6090" y="1277665"/>
            <a:ext cx="436742" cy="10430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51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1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)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AFB278-0662-4FFA-B5AB-F75A95F8F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2DA3AD7-64EE-49A0-A345-AEBA6D73F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40 of 51</a:t>
            </a:r>
          </a:p>
        </p:txBody>
      </p:sp>
      <p:sp>
        <p:nvSpPr>
          <p:cNvPr id="19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20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21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2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489576682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cc57960f174b3c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2BB46B-9CFC-4937-B5EF-AD8493081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5078" y="1000759"/>
            <a:ext cx="2593925" cy="76202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750" b="0" i="0">
                <a:solidFill>
                  <a:srgbClr val="0000FF"/>
                </a:solidFill>
                <a:latin typeface="Arial"/>
                <a:ea typeface="Arial"/>
                <a:cs typeface="Arial"/>
              </a:defRPr>
            </a:pPr>
            <a:r>
              <a:rPr sz="3750" b="0" i="0">
                <a:solidFill>
                  <a:srgbClr val="0000FF"/>
                </a:solidFill>
                <a:latin typeface="Arial"/>
                <a:ea typeface="Arial"/>
                <a:cs typeface="Arial"/>
              </a:rPr>
              <a:t>Supernovae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80C217-0CF0-459C-BF5E-BE59BDC95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9456" y="6796819"/>
            <a:ext cx="1074152" cy="36809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11" b="0" i="0">
                <a:solidFill>
                  <a:srgbClr val="00007F"/>
                </a:solidFill>
                <a:latin typeface="Arial"/>
                <a:ea typeface="Arial"/>
                <a:cs typeface="Arial"/>
              </a:defRPr>
            </a:pPr>
            <a:r>
              <a:rPr sz="1811" b="0" i="0">
                <a:solidFill>
                  <a:srgbClr val="00007F"/>
                </a:solidFill>
                <a:latin typeface="Arial"/>
                <a:ea typeface="Arial"/>
                <a:cs typeface="Arial"/>
              </a:rPr>
              <a:t>SN 1987A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F90207-5BA3-419D-B902-50A5F5D3A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96EF47-3CC5-42C7-BDF8-9AC7E4392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41 of 51</a:t>
            </a:r>
          </a:p>
        </p:txBody>
      </p:sp>
      <p:sp>
        <p:nvSpPr>
          <p:cNvPr id="8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9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0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1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418071856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f53f78f5994bdf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32E7B1-F5DB-45A9-829A-2F0CE6315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5078" y="1000759"/>
            <a:ext cx="2593925" cy="76202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750" b="0" i="0">
                <a:solidFill>
                  <a:srgbClr val="0000FF"/>
                </a:solidFill>
                <a:latin typeface="Arial"/>
                <a:ea typeface="Arial"/>
                <a:cs typeface="Arial"/>
              </a:defRPr>
            </a:pPr>
            <a:r>
              <a:rPr sz="3750" b="0" i="0">
                <a:solidFill>
                  <a:srgbClr val="0000FF"/>
                </a:solidFill>
                <a:latin typeface="Arial"/>
                <a:ea typeface="Arial"/>
                <a:cs typeface="Arial"/>
              </a:rPr>
              <a:t>Supernovae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36ADFD-D2E6-4812-9DA2-8CCF4C532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9456" y="6799549"/>
            <a:ext cx="1970612" cy="363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89" b="0" i="0">
                <a:solidFill>
                  <a:srgbClr val="00007F"/>
                </a:solidFill>
                <a:latin typeface="Arial"/>
                <a:ea typeface="Arial"/>
                <a:cs typeface="Arial"/>
              </a:defRPr>
            </a:pPr>
            <a:r>
              <a:rPr sz="1789" b="0" i="0">
                <a:solidFill>
                  <a:srgbClr val="00007F"/>
                </a:solidFill>
                <a:latin typeface="Arial"/>
                <a:ea typeface="Arial"/>
                <a:cs typeface="Arial"/>
              </a:rPr>
              <a:t>SN 2011fe in M101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C16B26-0D9E-4BF2-9D93-B08016D5C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5297" y="6060239"/>
            <a:ext cx="1637152" cy="3540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4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4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August 22, 2011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666F5B-DBCC-4158-BDC0-8128F7941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0284" y="6060239"/>
            <a:ext cx="1637151" cy="3540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4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4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August 23, 2011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4F10A2-348C-4F3C-B24D-D31DE7EC2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223" y="6060239"/>
            <a:ext cx="1637152" cy="3540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4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4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August 24, 2011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158BF86-2625-4929-AB06-0941B5C38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A6C4F1-77A9-4954-B28F-D2E81D0B9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42 of 51</a:t>
            </a:r>
          </a:p>
        </p:txBody>
      </p:sp>
      <p:sp>
        <p:nvSpPr>
          <p:cNvPr id="11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2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3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4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445999285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2f358cd7704ca7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CC5497-47EC-41E1-8E4F-F4A658EAF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5733" y="894531"/>
            <a:ext cx="5110356" cy="8411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140" b="0" i="0">
                <a:solidFill>
                  <a:srgbClr val="00007F"/>
                </a:solidFill>
                <a:latin typeface="Arial"/>
                <a:ea typeface="Arial"/>
                <a:cs typeface="Arial"/>
              </a:defRPr>
            </a:pPr>
            <a:r>
              <a:rPr sz="4140" b="0" i="0">
                <a:solidFill>
                  <a:srgbClr val="00007F"/>
                </a:solidFill>
                <a:latin typeface="Arial"/>
                <a:ea typeface="Arial"/>
                <a:cs typeface="Arial"/>
              </a:rPr>
              <a:t>Supernova Remnants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77432E-574E-49D3-9585-974A11519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DB1E08-0275-41B3-A9E0-6301A0F5D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43 of 51</a:t>
            </a:r>
          </a:p>
        </p:txBody>
      </p:sp>
      <p:sp>
        <p:nvSpPr>
          <p:cNvPr id="7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8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9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0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166139535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65b5aa875643c9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380E8F-F030-4230-A887-B004FBC26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1936" y="4622356"/>
            <a:ext cx="1264841" cy="4757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4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4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Big Main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77DF18-4F35-4BA5-8756-56B573EC9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1936" y="5022467"/>
            <a:ext cx="1919129" cy="4579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5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Sequence Star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7E957C-4BEB-4EA8-A1B2-AEBA572DB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6610" y="4639678"/>
            <a:ext cx="615354" cy="4468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9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9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Red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3B4A81-4996-4024-B050-936135BEF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3025" y="5006354"/>
            <a:ext cx="749687" cy="48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8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8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Giant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852A84-6C0D-47EA-8A85-0400FBF92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3244" y="4635565"/>
            <a:ext cx="970984" cy="453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Type II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070D1D-9E3C-400C-A7EB-459B91465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0954" y="5015877"/>
            <a:ext cx="1443155" cy="4689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0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0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Supernova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AD13B6-9274-4336-9D56-1824E387E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2191" y="1091365"/>
            <a:ext cx="6091896" cy="9217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53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53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High-Mass Stars (&gt; 8 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9206B3-2E81-4E00-A490-60A380205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8335" y="1256761"/>
            <a:ext cx="529278" cy="9072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46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46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)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98D3BDE-5BAD-4EAB-B078-EA2EA8EEA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056" y="4694468"/>
            <a:ext cx="1543359" cy="4910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1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Interstellar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62B78C-C524-41C7-8DC5-C566D00CB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056" y="5107143"/>
            <a:ext cx="1471112" cy="4523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2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2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Cloud (gas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490B0B-2BAD-4F73-8FF8-1E323958E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056" y="5479145"/>
            <a:ext cx="1279974" cy="4814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6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6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and dust)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09B0387-664B-4931-B509-C48888061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7870D6-2A00-43E7-9E7D-93C25581B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44 of 51</a:t>
            </a:r>
          </a:p>
        </p:txBody>
      </p:sp>
      <p:sp>
        <p:nvSpPr>
          <p:cNvPr id="17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8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9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0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380031123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7bf318033d4b47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24E381-1FAD-4726-AF2A-B629C0CAB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9101" y="939706"/>
            <a:ext cx="5564401" cy="9492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7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7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Very high mass stars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5D8503-65E2-4D25-94E3-71D61C35C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2085852"/>
            <a:ext cx="171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57B992-A675-4408-BEE5-9E13B411C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2088055"/>
            <a:ext cx="7667175" cy="605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8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8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Depending on the exact mass of the star, the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0C160A-D218-471F-835D-F2D4B65ED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2539895"/>
            <a:ext cx="8259603" cy="60780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remnant of a high mass or a very high mass star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2412DB-BD62-4169-A1F5-8DDD63CAC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3002663"/>
            <a:ext cx="1168829" cy="5985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4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4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differ. 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2F09E3-A4A9-4B9F-8378-7448D8E7B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3495573"/>
            <a:ext cx="171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C4DF89-72E3-4FE5-99E3-04D8CC782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3495573"/>
            <a:ext cx="2168349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neutron star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B813E5-E1B5-44E2-9990-F51DE9D53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4262" y="3996352"/>
            <a:ext cx="7896465" cy="60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8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8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– the really big ones: remaining mass of 1.4 to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A028B4-4624-4634-BFEB-0A9AE8025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8722" y="4401465"/>
            <a:ext cx="1725853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about 3 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1AEE0F-2FF6-4CB4-A301-654D56C81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26" y="4901016"/>
            <a:ext cx="171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361B14-0930-4BA8-A0A0-8EF4CA471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51" y="4901016"/>
            <a:ext cx="1852418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black hole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039AF7-CC3A-4F31-A1A1-B544B65B3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4272" y="5405648"/>
            <a:ext cx="976278" cy="6080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– the 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DA33B99-F615-44D3-AF35-865B59A49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0939" y="5405428"/>
            <a:ext cx="3787749" cy="6084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4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4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really really big ones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93C6DE-4F54-4C3A-B3E7-C10609885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0233" y="5404740"/>
            <a:ext cx="3034893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: remaining mass 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AF86AAE-EE74-4BA6-9350-9F871AB20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8733" y="5811234"/>
            <a:ext cx="2822448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greater than 3 M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166BC8C-F7AE-41B8-B4A1-7BE79B73A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9593" y="6646594"/>
            <a:ext cx="5466907" cy="60723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88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88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We will discuss these objects 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6CCD80F-94BD-4655-884B-A445F2C37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6911" y="7145184"/>
            <a:ext cx="4550096" cy="6086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6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6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 more detail next class.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75D2588-6BCF-49BA-9837-EABA6CC88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DDDDFAB-B4F5-4A8D-9657-8F5F25E63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45 of 51</a:t>
            </a:r>
          </a:p>
        </p:txBody>
      </p:sp>
      <p:sp>
        <p:nvSpPr>
          <p:cNvPr id="23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24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25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6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212463670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6f8b8929c244ad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9379C0-B87A-496F-857F-3D58823E3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4496" y="4784916"/>
            <a:ext cx="1264841" cy="4757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4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4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Big Main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3EED6A-ED96-46BA-829C-5D572A105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4496" y="5184353"/>
            <a:ext cx="1397516" cy="4591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5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Sequence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593E74-D727-4F7A-B687-6B2F90F4C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4496" y="5569139"/>
            <a:ext cx="560595" cy="4669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9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9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35E4F0-454C-4E00-A4E6-EEFD5AC6E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330" y="5144285"/>
            <a:ext cx="615354" cy="4468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9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9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Red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B54363-16B6-44D3-AE0F-907F34E65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745" y="5510965"/>
            <a:ext cx="749687" cy="48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8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8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Giant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CAC9FA-9CEA-4259-B30D-D0745B872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8701" y="5221452"/>
            <a:ext cx="970984" cy="453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Type II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C62B40-E4FF-4151-87AB-00EE9B795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411" y="5601769"/>
            <a:ext cx="1443155" cy="4689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0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0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Supernova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281772-D5E2-48AF-B9F8-71E237953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1095" y="2351824"/>
            <a:ext cx="1212235" cy="4951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3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3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Neutron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BEC398C-F638-4BDD-A918-127B1C895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0358" y="2758205"/>
            <a:ext cx="560594" cy="4669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9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9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944ED2-94EC-4953-90B0-385692BEC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2191" y="928805"/>
            <a:ext cx="6091896" cy="9217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53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53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High-Mass Stars (&gt; 8 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97CF00-83F5-4794-BAE1-BC322F804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8335" y="1094202"/>
            <a:ext cx="529278" cy="9072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46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46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)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1869966-BE51-4B55-B01F-833644B12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6660" y="4629449"/>
            <a:ext cx="1411299" cy="463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8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8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Black Hole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17579ED-5259-4EEA-AB52-67F33315E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80" y="4938308"/>
            <a:ext cx="1543359" cy="4910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1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Interstellar 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07E0CD3-B434-4200-AAFE-EB09CD9C5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80" y="5350983"/>
            <a:ext cx="1471112" cy="4523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2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2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Cloud (gas 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0ED4820-C357-4626-A98F-BDB2BD859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80" y="5722985"/>
            <a:ext cx="1279974" cy="4814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6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6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and dust)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F5E580E-9662-4D05-AB65-630631F71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A587783-0F8A-4E55-825D-9D789F551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46 of 51</a:t>
            </a:r>
          </a:p>
        </p:txBody>
      </p:sp>
      <p:sp>
        <p:nvSpPr>
          <p:cNvPr id="21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22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23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4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94344874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c234f74cfc48c6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2C1F54-DA0B-4630-9E30-497A6DE04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038" y="1123613"/>
            <a:ext cx="7884359" cy="954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98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698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Evolution of a High Mass Star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05541C-6B2A-416F-A6F3-B5CF385E0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B23780-B4BB-4FE0-9F46-9FA49B13B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47 of 51</a:t>
            </a:r>
          </a:p>
        </p:txBody>
      </p:sp>
      <p:sp>
        <p:nvSpPr>
          <p:cNvPr id="7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8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9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0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757673693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42e0b4c8f5491e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55B0CC-F14D-44D0-A865-BE3E2341D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054" y="795515"/>
            <a:ext cx="795932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Which of the following lists, in the correct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7B5C6E-B630-488D-BE98-E299B9E26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459" y="1316689"/>
            <a:ext cx="8152833" cy="6900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39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39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order, is a possible evolutionary path for a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E8763D-5A06-463F-BCF6-C6FFAAE50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2105" y="1832684"/>
            <a:ext cx="998598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1DE84B-D421-4BD0-B460-CB2B5E18A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451" y="2734085"/>
            <a:ext cx="348121" cy="52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E45D13-7B85-4074-8E94-E47D05FF2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5586" y="2739729"/>
            <a:ext cx="6695055" cy="5189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5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5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Red Giant, Neutron Star, White Dwarf, nothing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274C9F-B2F6-4208-B3FA-9852B6063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3" y="3220917"/>
            <a:ext cx="347960" cy="52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F40A93-5C44-4708-96F2-32DA3CB03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5586" y="3226859"/>
            <a:ext cx="5950613" cy="5184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5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5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Red Giant, Type I Supernova, Black Hole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B3FAB1-5B23-458E-98BC-31DDCC7BC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3" y="3707753"/>
            <a:ext cx="366550" cy="52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8E645C-5995-4E51-B6DC-E7973C4F1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5586" y="3713604"/>
            <a:ext cx="7159680" cy="5185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5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5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Red Giant, Type II Supernova, Planetary Nebula,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EA88FFE-9B7A-4F65-B54E-A70B7E98E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5586" y="4101280"/>
            <a:ext cx="1879099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Neutron Star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A04FFD-A754-4DDE-83F2-649D26D0D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3" y="4584054"/>
            <a:ext cx="366550" cy="52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2862B3-88CD-42F2-B5CE-4A679BD64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5586" y="4588658"/>
            <a:ext cx="6120370" cy="5206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Red Giant, Planetary Nebula, White Dwarf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548AEA-8CFF-4112-BF6D-BBBCA4F6F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3" y="5070885"/>
            <a:ext cx="347960" cy="52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32695EB-4FBF-4566-ADDF-D22047E92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5586" y="5075427"/>
            <a:ext cx="5904972" cy="52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Red Giant, Planetary Nebula, Black Hole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13A730F-19EE-4B41-9108-8A163B9CD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B10499A-10A1-438B-85A6-936D84DCB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48 of 51</a:t>
            </a:r>
          </a:p>
        </p:txBody>
      </p:sp>
      <p:sp>
        <p:nvSpPr>
          <p:cNvPr id="20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21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22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3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2006357921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92cd436d47413f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FC52A4-198F-44DA-8EFB-BD2131B1D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554" y="1252881"/>
            <a:ext cx="7909008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8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For a white dwarf to become a nova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BE87CF-3529-4E73-8B8F-457EA96B6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9144" y="1837081"/>
            <a:ext cx="4744491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8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it is necessary for it to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19D510-F60F-4304-A997-15E8D4C72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423" y="2736087"/>
            <a:ext cx="399436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49E1AA-CD83-4632-99F7-4E66404B1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5582" y="2736424"/>
            <a:ext cx="4278709" cy="6090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have a binary companion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622FBA-2DC8-4059-B55F-F103077F5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09" y="3303355"/>
            <a:ext cx="399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CC0E8A-E60E-4D9E-957D-2A6DEF0C4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5582" y="3303564"/>
            <a:ext cx="3518077" cy="6092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become a black hole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2CF6AB-550A-4773-8E34-D0D6662E6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09" y="3870619"/>
            <a:ext cx="419557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041E95-6E80-44D0-950F-C26EF20BA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5582" y="3871426"/>
            <a:ext cx="6026822" cy="60825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have begun life as a high-mass star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C0A850-469B-43A3-8380-7A12C671E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09" y="4437926"/>
            <a:ext cx="419557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CBA471-ED5B-4192-97FA-0D7B8DA33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5582" y="4438124"/>
            <a:ext cx="4280331" cy="6092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rejoin the main sequence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8E5738-85E4-4614-8772-56322C79D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32AE92D-83A9-4341-95F9-6D0BD555D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49 of 51</a:t>
            </a:r>
          </a:p>
        </p:txBody>
      </p:sp>
      <p:sp>
        <p:nvSpPr>
          <p:cNvPr id="16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7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8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9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450418304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fcb1cac52b4842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ACC04D-1E6C-4927-8811-6BF9A83EB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230" y="828522"/>
            <a:ext cx="8100950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How did astronomers figure all of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23D025-69A2-452D-A560-DDC7EF773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8165" y="1480479"/>
            <a:ext cx="2686208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this out???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837903-D1BE-444A-A741-ECBB5BD76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6474" y="2333914"/>
            <a:ext cx="3067857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833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 Clusters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2D700C-A30C-4198-AC46-2202DF857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07" y="3021725"/>
            <a:ext cx="18923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6AC6E4-51A8-43A7-A611-378A7A166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32" y="3021725"/>
            <a:ext cx="735781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Since stars form in clusters, you get a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8D2BCF-E3FE-4146-B338-11B8DEA78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32" y="3542470"/>
            <a:ext cx="803640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snapshot of stellar evolution at a moment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A9B921-16AC-4FD8-90BC-B6344D6F5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32" y="4058977"/>
            <a:ext cx="5776248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of time for all masses of stars.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A67D0B-E087-4470-BB10-5B0029A82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07" y="4681233"/>
            <a:ext cx="18923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17D326-12FC-49C9-AD2B-0654F62C0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32" y="4681233"/>
            <a:ext cx="8096353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We can observe stars of different masses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7EB7548-B6B1-4DA2-B2C8-C87D42CA1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32" y="5201907"/>
            <a:ext cx="6872281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at different stages of their evolution.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95F43B-F171-4DD8-9658-ACE41583A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9148FDE-3B6F-4902-963B-851412611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50 of 51</a:t>
            </a:r>
          </a:p>
        </p:txBody>
      </p:sp>
      <p:sp>
        <p:nvSpPr>
          <p:cNvPr id="16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7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8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9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950055595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82ef4ad53a480f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7AB21C-516C-4FB5-800A-43156251C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7294" y="958405"/>
            <a:ext cx="2584855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Example HR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50E660-A23B-4E8E-A175-7D4D2F5E6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6349" y="1479105"/>
            <a:ext cx="1887682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Diagrams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E13296-C47B-45C3-AAAF-E88A1F1C7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1" y="2331741"/>
            <a:ext cx="152188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F9536B-6275-4880-A4DB-0B8B0F3A9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054" y="2331741"/>
            <a:ext cx="3359699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HR diagrams look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AD194F-455D-4997-A1A2-A321FB0F2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054" y="2722081"/>
            <a:ext cx="3963724" cy="5200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different for star clusters of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FB662C-B495-4FEB-9E63-3E8FDCF77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054" y="3111021"/>
            <a:ext cx="2269809" cy="52096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different ages. 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361EE4-CF6C-4570-AC0B-7D66B7A5E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1" y="3576346"/>
            <a:ext cx="152188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95B40D-EA96-489C-A78D-E643BCB94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054" y="3579027"/>
            <a:ext cx="3043483" cy="5170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4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4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Young clusters have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781287-43DB-40B4-918E-63A088425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054" y="3965810"/>
            <a:ext cx="3268323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massive stars already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A8F8893-A905-428D-93F9-628385122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054" y="4355698"/>
            <a:ext cx="3101515" cy="520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evolving off the main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049ED8-58D0-4EDB-8FBC-A216DDAC0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054" y="4744737"/>
            <a:ext cx="3813241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sequence while low mass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3C971C-7D2F-4AD7-9F25-8B048FBF9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054" y="5134568"/>
            <a:ext cx="3662777" cy="52093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stars have yet to reach it.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836786F-2831-4880-8628-416CBE812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1" y="5599868"/>
            <a:ext cx="152188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1D5A9B1-94DA-4380-AD3B-D61D5CDBC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054" y="5600025"/>
            <a:ext cx="3972903" cy="5212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Old Clusters only have low 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04C5DA1-CAE2-4A24-BE1A-C44C93B03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054" y="5989684"/>
            <a:ext cx="4042143" cy="5209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mass stars still on the main 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A491A9C-B3A2-4A55-AA91-508FFE4DA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054" y="6378770"/>
            <a:ext cx="1538332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sequence.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DBB679A-1F00-4BBC-A326-5B3B0B50E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BDD6C16-3C54-4355-8DF2-8BA5FAF30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51 of 51</a:t>
            </a:r>
          </a:p>
        </p:txBody>
      </p:sp>
      <p:sp>
        <p:nvSpPr>
          <p:cNvPr id="22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23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24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5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85752847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WVU DSPIRA</dc:creator>
  <lastModifiedBy>WVU DSPIRA</lastModifiedBy>
  <dc:title>Stellar evolution</dc:title>
  <dcterms:created xsi:type="dcterms:W3CDTF">2026-09-26T20:03:22.2080000Z</dcterms:created>
  <dcterms:modified xsi:type="dcterms:W3CDTF">2026-09-26T20:03:22.2080000Z</dcterms:modified>
</coreProperties>
</file>