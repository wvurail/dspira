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5781485d394ca8" /><Relationship Type="http://schemas.openxmlformats.org/officeDocument/2006/relationships/extended-properties" Target="/docProps/app.xml" Id="R39df49f4dd074e93" /><Relationship Type="http://schemas.openxmlformats.org/officeDocument/2006/relationships/officeDocument" Target="/ppt/presentation.xml" Id="Re8810158c30a46db" /></Relationships>
</file>

<file path=ppt/presentation.xml><?xml version="1.0" encoding="utf-8"?>
<p:presentation xmlns:p="http://schemas.openxmlformats.org/presentationml/2006/main">
  <p:sldMasterIdLst>
    <p:sldMasterId xmlns:ns0="http://schemas.openxmlformats.org/officeDocument/2006/relationships" id="2147483648" ns0:id="rIdWvuMaster"/>
  </p:sldMasterIdLst>
  <p:notesMasterIdLst>
    <p:notesMasterId xmlns:r="http://schemas.openxmlformats.org/officeDocument/2006/relationships" r:id="Re9ac29b6019d4a3d"/>
  </p:notesMasterIdLst>
  <p:sldIdLst>
    <p:sldId xmlns:r="http://schemas.openxmlformats.org/officeDocument/2006/relationships" id="256" r:id="Rbe62416acda44d00"/>
    <p:sldId xmlns:r="http://schemas.openxmlformats.org/officeDocument/2006/relationships" id="257" r:id="R274bfd5310ea48a7"/>
    <p:sldId xmlns:r="http://schemas.openxmlformats.org/officeDocument/2006/relationships" id="258" r:id="R6bdd67432ee44aff"/>
    <p:sldId xmlns:r="http://schemas.openxmlformats.org/officeDocument/2006/relationships" id="259" r:id="R69ed39f15ae34a14"/>
    <p:sldId xmlns:r="http://schemas.openxmlformats.org/officeDocument/2006/relationships" id="260" r:id="Rb187eb75ea0f4b6e"/>
    <p:sldId xmlns:r="http://schemas.openxmlformats.org/officeDocument/2006/relationships" id="261" r:id="R084b368b77ac4e98"/>
    <p:sldId xmlns:r="http://schemas.openxmlformats.org/officeDocument/2006/relationships" id="262" r:id="R828a688803914e72"/>
    <p:sldId xmlns:r="http://schemas.openxmlformats.org/officeDocument/2006/relationships" id="263" r:id="R68c2b79128694298"/>
    <p:sldId xmlns:r="http://schemas.openxmlformats.org/officeDocument/2006/relationships" id="264" r:id="Rd127b57e769d4ddd"/>
    <p:sldId xmlns:r="http://schemas.openxmlformats.org/officeDocument/2006/relationships" id="265" r:id="R06d6778bb8f94a9e"/>
    <p:sldId xmlns:r="http://schemas.openxmlformats.org/officeDocument/2006/relationships" id="266" r:id="Rf8dd444724ed4e29"/>
    <p:sldId xmlns:r="http://schemas.openxmlformats.org/officeDocument/2006/relationships" id="267" r:id="R3d909103f29843ab"/>
    <p:sldId xmlns:r="http://schemas.openxmlformats.org/officeDocument/2006/relationships" id="268" r:id="Rc64b426c476b4cfa"/>
    <p:sldId xmlns:r="http://schemas.openxmlformats.org/officeDocument/2006/relationships" id="269" r:id="R6f97e46117f847d7"/>
    <p:sldId xmlns:r="http://schemas.openxmlformats.org/officeDocument/2006/relationships" id="270" r:id="R7332570d7b154348"/>
    <p:sldId xmlns:r="http://schemas.openxmlformats.org/officeDocument/2006/relationships" id="271" r:id="Rd8891ae3519a415d"/>
    <p:sldId xmlns:r="http://schemas.openxmlformats.org/officeDocument/2006/relationships" id="272" r:id="R56ab9c98f85f4eb6"/>
    <p:sldId xmlns:r="http://schemas.openxmlformats.org/officeDocument/2006/relationships" id="273" r:id="R39d3139fbd344db4"/>
    <p:sldId xmlns:r="http://schemas.openxmlformats.org/officeDocument/2006/relationships" id="274" r:id="R5c23df4b03db46d5"/>
    <p:sldId xmlns:r="http://schemas.openxmlformats.org/officeDocument/2006/relationships" id="275" r:id="Rd7c859a492af4fe3"/>
    <p:sldId xmlns:r="http://schemas.openxmlformats.org/officeDocument/2006/relationships" id="276" r:id="R4e84bd2eae704722"/>
    <p:sldId xmlns:r="http://schemas.openxmlformats.org/officeDocument/2006/relationships" id="277" r:id="Rc6e2c4d9b6ee448e"/>
    <p:sldId xmlns:r="http://schemas.openxmlformats.org/officeDocument/2006/relationships" id="278" r:id="R2f4018c3b04740cb"/>
    <p:sldId xmlns:r="http://schemas.openxmlformats.org/officeDocument/2006/relationships" id="279" r:id="R2aa404a144434cf4"/>
    <p:sldId xmlns:r="http://schemas.openxmlformats.org/officeDocument/2006/relationships" id="280" r:id="Rcdcff886618547f3"/>
    <p:sldId xmlns:r="http://schemas.openxmlformats.org/officeDocument/2006/relationships" id="281" r:id="Re4eae62341704373"/>
    <p:sldId xmlns:r="http://schemas.openxmlformats.org/officeDocument/2006/relationships" id="282" r:id="Rb39c4b3ece99454f"/>
    <p:sldId xmlns:r="http://schemas.openxmlformats.org/officeDocument/2006/relationships" id="283" r:id="R4193c14cd805439d"/>
    <p:sldId xmlns:r="http://schemas.openxmlformats.org/officeDocument/2006/relationships" id="284" r:id="R95cf4a48399e4137"/>
    <p:sldId xmlns:r="http://schemas.openxmlformats.org/officeDocument/2006/relationships" id="285" r:id="Rb077fcb43dcd4944"/>
    <p:sldId xmlns:r="http://schemas.openxmlformats.org/officeDocument/2006/relationships" id="286" r:id="R7ec136e42ead4d16"/>
    <p:sldId xmlns:r="http://schemas.openxmlformats.org/officeDocument/2006/relationships" id="287" r:id="R3a645423cbeb48b1"/>
    <p:sldId xmlns:r="http://schemas.openxmlformats.org/officeDocument/2006/relationships" id="288" r:id="Rebaebe5ba7ea446b"/>
    <p:sldId xmlns:r="http://schemas.openxmlformats.org/officeDocument/2006/relationships" id="289" r:id="Rd15e7f7412ef4f5a"/>
    <p:sldId xmlns:r="http://schemas.openxmlformats.org/officeDocument/2006/relationships" id="290" r:id="Re8ad0640f6ac4c41"/>
    <p:sldId xmlns:r="http://schemas.openxmlformats.org/officeDocument/2006/relationships" id="291" r:id="R76f42d6ff9124220"/>
    <p:sldId xmlns:r="http://schemas.openxmlformats.org/officeDocument/2006/relationships" id="292" r:id="R6a7535c314394d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b6eaa53aed464f3c"/><Relationship Type="http://schemas.openxmlformats.org/officeDocument/2006/relationships/notesMaster" Target="/ppt/notesMasters/notesMaster1.xml" Id="Re9ac29b6019d4a3d"/><Relationship Type="http://schemas.openxmlformats.org/officeDocument/2006/relationships/presProps" Target="/ppt/presProps.xml" Id="R6b989fd7dd134b37"/><Relationship Type="http://schemas.openxmlformats.org/officeDocument/2006/relationships/tableStyles" Target="/ppt/tableStyles.xml" Id="R4d80ffb7b4654e8f"/><Relationship Type="http://schemas.openxmlformats.org/officeDocument/2006/relationships/slide" Target="/ppt/slides/slide1.xml" Id="Rbe62416acda44d00"/><Relationship Type="http://schemas.openxmlformats.org/officeDocument/2006/relationships/slide" Target="/ppt/slides/slide2.xml" Id="R274bfd5310ea48a7"/><Relationship Type="http://schemas.openxmlformats.org/officeDocument/2006/relationships/slide" Target="/ppt/slides/slide3.xml" Id="R6bdd67432ee44aff"/><Relationship Type="http://schemas.openxmlformats.org/officeDocument/2006/relationships/slide" Target="/ppt/slides/slide4.xml" Id="R69ed39f15ae34a14"/><Relationship Type="http://schemas.openxmlformats.org/officeDocument/2006/relationships/slide" Target="/ppt/slides/slide5.xml" Id="Rb187eb75ea0f4b6e"/><Relationship Type="http://schemas.openxmlformats.org/officeDocument/2006/relationships/slide" Target="/ppt/slides/slide6.xml" Id="R084b368b77ac4e98"/><Relationship Type="http://schemas.openxmlformats.org/officeDocument/2006/relationships/slide" Target="/ppt/slides/slide7.xml" Id="R828a688803914e72"/><Relationship Type="http://schemas.openxmlformats.org/officeDocument/2006/relationships/slide" Target="/ppt/slides/slide8.xml" Id="R68c2b79128694298"/><Relationship Type="http://schemas.openxmlformats.org/officeDocument/2006/relationships/slide" Target="/ppt/slides/slide9.xml" Id="Rd127b57e769d4ddd"/><Relationship Type="http://schemas.openxmlformats.org/officeDocument/2006/relationships/slide" Target="/ppt/slides/slide10.xml" Id="R06d6778bb8f94a9e"/><Relationship Type="http://schemas.openxmlformats.org/officeDocument/2006/relationships/slide" Target="/ppt/slides/slide11.xml" Id="Rf8dd444724ed4e29"/><Relationship Type="http://schemas.openxmlformats.org/officeDocument/2006/relationships/slide" Target="/ppt/slides/slide12.xml" Id="R3d909103f29843ab"/><Relationship Type="http://schemas.openxmlformats.org/officeDocument/2006/relationships/slide" Target="/ppt/slides/slide13.xml" Id="Rc64b426c476b4cfa"/><Relationship Type="http://schemas.openxmlformats.org/officeDocument/2006/relationships/slide" Target="/ppt/slides/slide14.xml" Id="R6f97e46117f847d7"/><Relationship Type="http://schemas.openxmlformats.org/officeDocument/2006/relationships/slide" Target="/ppt/slides/slide15.xml" Id="R7332570d7b154348"/><Relationship Type="http://schemas.openxmlformats.org/officeDocument/2006/relationships/slide" Target="/ppt/slides/slide16.xml" Id="Rd8891ae3519a415d"/><Relationship Type="http://schemas.openxmlformats.org/officeDocument/2006/relationships/slide" Target="/ppt/slides/slide17.xml" Id="R56ab9c98f85f4eb6"/><Relationship Type="http://schemas.openxmlformats.org/officeDocument/2006/relationships/slide" Target="/ppt/slides/slide18.xml" Id="R39d3139fbd344db4"/><Relationship Type="http://schemas.openxmlformats.org/officeDocument/2006/relationships/slide" Target="/ppt/slides/slide19.xml" Id="R5c23df4b03db46d5"/><Relationship Type="http://schemas.openxmlformats.org/officeDocument/2006/relationships/slide" Target="/ppt/slides/slide20.xml" Id="Rd7c859a492af4fe3"/><Relationship Type="http://schemas.openxmlformats.org/officeDocument/2006/relationships/slide" Target="/ppt/slides/slide21.xml" Id="R4e84bd2eae704722"/><Relationship Type="http://schemas.openxmlformats.org/officeDocument/2006/relationships/slide" Target="/ppt/slides/slide22.xml" Id="Rc6e2c4d9b6ee448e"/><Relationship Type="http://schemas.openxmlformats.org/officeDocument/2006/relationships/slide" Target="/ppt/slides/slide23.xml" Id="R2f4018c3b04740cb"/><Relationship Type="http://schemas.openxmlformats.org/officeDocument/2006/relationships/slide" Target="/ppt/slides/slide24.xml" Id="R2aa404a144434cf4"/><Relationship Type="http://schemas.openxmlformats.org/officeDocument/2006/relationships/slide" Target="/ppt/slides/slide25.xml" Id="Rcdcff886618547f3"/><Relationship Type="http://schemas.openxmlformats.org/officeDocument/2006/relationships/slide" Target="/ppt/slides/slide26.xml" Id="Re4eae62341704373"/><Relationship Type="http://schemas.openxmlformats.org/officeDocument/2006/relationships/slide" Target="/ppt/slides/slide27.xml" Id="Rb39c4b3ece99454f"/><Relationship Type="http://schemas.openxmlformats.org/officeDocument/2006/relationships/slide" Target="/ppt/slides/slide28.xml" Id="R4193c14cd805439d"/><Relationship Type="http://schemas.openxmlformats.org/officeDocument/2006/relationships/slide" Target="/ppt/slides/slide29.xml" Id="R95cf4a48399e4137"/><Relationship Type="http://schemas.openxmlformats.org/officeDocument/2006/relationships/slide" Target="/ppt/slides/slide30.xml" Id="Rb077fcb43dcd4944"/><Relationship Type="http://schemas.openxmlformats.org/officeDocument/2006/relationships/slide" Target="/ppt/slides/slide31.xml" Id="R7ec136e42ead4d16"/><Relationship Type="http://schemas.openxmlformats.org/officeDocument/2006/relationships/slide" Target="/ppt/slides/slide32.xml" Id="R3a645423cbeb48b1"/><Relationship Type="http://schemas.openxmlformats.org/officeDocument/2006/relationships/slide" Target="/ppt/slides/slide33.xml" Id="Rebaebe5ba7ea446b"/><Relationship Type="http://schemas.openxmlformats.org/officeDocument/2006/relationships/slide" Target="/ppt/slides/slide34.xml" Id="Rd15e7f7412ef4f5a"/><Relationship Type="http://schemas.openxmlformats.org/officeDocument/2006/relationships/slide" Target="/ppt/slides/slide35.xml" Id="Re8ad0640f6ac4c41"/><Relationship Type="http://schemas.openxmlformats.org/officeDocument/2006/relationships/slide" Target="/ppt/slides/slide36.xml" Id="R76f42d6ff9124220"/><Relationship Type="http://schemas.openxmlformats.org/officeDocument/2006/relationships/slide" Target="/ppt/slides/slide37.xml" Id="R6a7535c314394d3c"/><Relationship Id="rIdWvuMaster" Type="http://schemas.openxmlformats.org/officeDocument/2006/relationships/slideMaster" Target="slideMasters/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c1f071101245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27e710e51a40de" /><Relationship Type="http://schemas.openxmlformats.org/officeDocument/2006/relationships/notesMaster" Target="/ppt/notesMasters/notesMaster1.xml" Id="R5e6aecca7ecc48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06231998114683" /><Relationship Type="http://schemas.openxmlformats.org/officeDocument/2006/relationships/notesMaster" Target="/ppt/notesMasters/notesMaster1.xml" Id="Rc374125a6db847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b01a47e3614cc6" /><Relationship Type="http://schemas.openxmlformats.org/officeDocument/2006/relationships/notesMaster" Target="/ppt/notesMasters/notesMaster1.xml" Id="R1ecdbb452b274a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198725f0074fad" /><Relationship Type="http://schemas.openxmlformats.org/officeDocument/2006/relationships/notesMaster" Target="/ppt/notesMasters/notesMaster1.xml" Id="R7e7efaa443cd4c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a5788703b44e03" /><Relationship Type="http://schemas.openxmlformats.org/officeDocument/2006/relationships/notesMaster" Target="/ppt/notesMasters/notesMaster1.xml" Id="Ra40b358dfe4744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3c20c1e14e4b9e" /><Relationship Type="http://schemas.openxmlformats.org/officeDocument/2006/relationships/notesMaster" Target="/ppt/notesMasters/notesMaster1.xml" Id="R1b7f125bdc534f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153a63d05c4545" /><Relationship Type="http://schemas.openxmlformats.org/officeDocument/2006/relationships/notesMaster" Target="/ppt/notesMasters/notesMaster1.xml" Id="Rc9818ab8053841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16878fbda84895" /><Relationship Type="http://schemas.openxmlformats.org/officeDocument/2006/relationships/notesMaster" Target="/ppt/notesMasters/notesMaster1.xml" Id="R5e44023821c54e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72ce80db504eaf" /><Relationship Type="http://schemas.openxmlformats.org/officeDocument/2006/relationships/notesMaster" Target="/ppt/notesMasters/notesMaster1.xml" Id="R9df621239f9a4d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564ae25ae64b6b" /><Relationship Type="http://schemas.openxmlformats.org/officeDocument/2006/relationships/notesMaster" Target="/ppt/notesMasters/notesMaster1.xml" Id="Re857bcfc1f494d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46df0f771f4951" /><Relationship Type="http://schemas.openxmlformats.org/officeDocument/2006/relationships/notesMaster" Target="/ppt/notesMasters/notesMaster1.xml" Id="R09d5ad4b99ee41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5e1ae24cb24058" /><Relationship Type="http://schemas.openxmlformats.org/officeDocument/2006/relationships/notesMaster" Target="/ppt/notesMasters/notesMaster1.xml" Id="Rcdb28f52693048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92449dd727466e" /><Relationship Type="http://schemas.openxmlformats.org/officeDocument/2006/relationships/notesMaster" Target="/ppt/notesMasters/notesMaster1.xml" Id="R1a5436ea59a643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19cf0414a84b1a" /><Relationship Type="http://schemas.openxmlformats.org/officeDocument/2006/relationships/notesMaster" Target="/ppt/notesMasters/notesMaster1.xml" Id="Rf27ff93322bf46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61f95882274081" /><Relationship Type="http://schemas.openxmlformats.org/officeDocument/2006/relationships/notesMaster" Target="/ppt/notesMasters/notesMaster1.xml" Id="R23c0fbbe9bcb44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98218537404ab7" /><Relationship Type="http://schemas.openxmlformats.org/officeDocument/2006/relationships/notesMaster" Target="/ppt/notesMasters/notesMaster1.xml" Id="Rb24dc23438624f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44f28d564a4fad" /><Relationship Type="http://schemas.openxmlformats.org/officeDocument/2006/relationships/notesMaster" Target="/ppt/notesMasters/notesMaster1.xml" Id="R27ee0b98373544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0c7e16eace49f1" /><Relationship Type="http://schemas.openxmlformats.org/officeDocument/2006/relationships/notesMaster" Target="/ppt/notesMasters/notesMaster1.xml" Id="R5d96a878ccc64c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74b7c795144cd2" /><Relationship Type="http://schemas.openxmlformats.org/officeDocument/2006/relationships/notesMaster" Target="/ppt/notesMasters/notesMaster1.xml" Id="R7cf8964e7eec4f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15d871a43d84a96" /><Relationship Type="http://schemas.openxmlformats.org/officeDocument/2006/relationships/notesMaster" Target="/ppt/notesMasters/notesMaster1.xml" Id="R21aa7dc5bddf43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da8ab9e3d146b6" /><Relationship Type="http://schemas.openxmlformats.org/officeDocument/2006/relationships/notesMaster" Target="/ppt/notesMasters/notesMaster1.xml" Id="Ra339e83035f54a3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f590d9142e64844" /><Relationship Type="http://schemas.openxmlformats.org/officeDocument/2006/relationships/notesMaster" Target="/ppt/notesMasters/notesMaster1.xml" Id="R784cdefefb4941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88b1cb7421b46af" /><Relationship Type="http://schemas.openxmlformats.org/officeDocument/2006/relationships/notesMaster" Target="/ppt/notesMasters/notesMaster1.xml" Id="Rf34b57e731e043b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ccd5b7907a54fa8" /><Relationship Type="http://schemas.openxmlformats.org/officeDocument/2006/relationships/notesMaster" Target="/ppt/notesMasters/notesMaster1.xml" Id="Ra2a83bc7fb8e4be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186522747f485e" /><Relationship Type="http://schemas.openxmlformats.org/officeDocument/2006/relationships/notesMaster" Target="/ppt/notesMasters/notesMaster1.xml" Id="R24e8b262673345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3e7debfa2e94b0a" /><Relationship Type="http://schemas.openxmlformats.org/officeDocument/2006/relationships/notesMaster" Target="/ppt/notesMasters/notesMaster1.xml" Id="Re23a94424b454d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7dac8c215394fdd" /><Relationship Type="http://schemas.openxmlformats.org/officeDocument/2006/relationships/notesMaster" Target="/ppt/notesMasters/notesMaster1.xml" Id="R9e4dfb2958bf49b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de41480cdf94d87" /><Relationship Type="http://schemas.openxmlformats.org/officeDocument/2006/relationships/notesMaster" Target="/ppt/notesMasters/notesMaster1.xml" Id="Rd7178231dfd3406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1cd814cc9b84ef0" /><Relationship Type="http://schemas.openxmlformats.org/officeDocument/2006/relationships/notesMaster" Target="/ppt/notesMasters/notesMaster1.xml" Id="Rabf72ff1ee92427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5dba0bcc0bf4be0" /><Relationship Type="http://schemas.openxmlformats.org/officeDocument/2006/relationships/notesMaster" Target="/ppt/notesMasters/notesMaster1.xml" Id="R5f2bd01bf16c4cd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eeb55c764574ff7" /><Relationship Type="http://schemas.openxmlformats.org/officeDocument/2006/relationships/notesMaster" Target="/ppt/notesMasters/notesMaster1.xml" Id="Rf0d4b8005a4142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ff9316c7b104bf1" /><Relationship Type="http://schemas.openxmlformats.org/officeDocument/2006/relationships/notesMaster" Target="/ppt/notesMasters/notesMaster1.xml" Id="Rb0fb0ffd68124bd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bddfc72d6574f6c" /><Relationship Type="http://schemas.openxmlformats.org/officeDocument/2006/relationships/notesMaster" Target="/ppt/notesMasters/notesMaster1.xml" Id="R19d2dbbc9d6a49f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71c5594006a4f0e" /><Relationship Type="http://schemas.openxmlformats.org/officeDocument/2006/relationships/notesMaster" Target="/ppt/notesMasters/notesMaster1.xml" Id="R45c0f72c0b534ac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7d61fef1fef4c9b" /><Relationship Type="http://schemas.openxmlformats.org/officeDocument/2006/relationships/notesMaster" Target="/ppt/notesMasters/notesMaster1.xml" Id="R54cc7ab7ca90401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3414728130144d0" /><Relationship Type="http://schemas.openxmlformats.org/officeDocument/2006/relationships/notesMaster" Target="/ppt/notesMasters/notesMaster1.xml" Id="R9ad5ed3beed7445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18faadc96ba44f9" /><Relationship Type="http://schemas.openxmlformats.org/officeDocument/2006/relationships/notesMaster" Target="/ppt/notesMasters/notesMaster1.xml" Id="R9da11be8700d46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10.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11.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12.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13.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14.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15.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16.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17.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18.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19.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20.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21.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22.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23.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24.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25.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26.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27.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28.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29.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30.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31.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32.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33.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34.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35.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36.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edition: assets/lessons/lectures/astronomy/doppler-effect-and-telescopes.pdf, page 37. Original author and figure credits remain on the slide. Text is editable; illustrations retain their source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sson title title 0">
            <a:extLst>
              <a:ext uri="{FF2B5EF4-FFF2-40B4-BE49-F238E27FC236}">
                <a16:creationId xmlns:a16="http://schemas.microsoft.com/office/drawing/2014/main" id="{D0D053A8-BBDF-4114-AC0C-F41E42B0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9545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[Lesson title]</a:t>
            </a:r>
          </a:p>
        </p:txBody>
      </p:sp>
      <p:sp>
        <p:nvSpPr>
          <p:cNvPr id="2" name="Lesson title subtitle 1">
            <a:extLst>
              <a:ext uri="{FF2B5EF4-FFF2-40B4-BE49-F238E27FC236}">
                <a16:creationId xmlns:a16="http://schemas.microsoft.com/office/drawing/2014/main" id="{ACBDC2AF-F434-4371-8E2A-17CCF7344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2194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 short description of the investigation]</a:t>
            </a:r>
          </a:p>
        </p:txBody>
      </p:sp>
      <p:sp>
        <p:nvSpPr>
          <p:cNvPr id="3" name="Lesson title body 2">
            <a:extLst>
              <a:ext uri="{FF2B5EF4-FFF2-40B4-BE49-F238E27FC236}">
                <a16:creationId xmlns:a16="http://schemas.microsoft.com/office/drawing/2014/main" id="{D8956F49-2416-4C96-921B-614B43DC6B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4591050"/>
            <a:ext cx="10572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[Teacher or school]</a:t>
            </a:r>
          </a:p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[Course / grade level]   [Date]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and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and goals title 0">
            <a:extLst>
              <a:ext uri="{FF2B5EF4-FFF2-40B4-BE49-F238E27FC236}">
                <a16:creationId xmlns:a16="http://schemas.microsoft.com/office/drawing/2014/main" id="{D08231EE-6C7C-42AD-8215-BCBB995F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Our investigation</a:t>
            </a:r>
          </a:p>
        </p:txBody>
      </p:sp>
      <p:sp>
        <p:nvSpPr>
          <p:cNvPr id="2" name="Question and goals body 1">
            <a:extLst>
              <a:ext uri="{FF2B5EF4-FFF2-40B4-BE49-F238E27FC236}">
                <a16:creationId xmlns:a16="http://schemas.microsoft.com/office/drawing/2014/main" id="{5A4E4205-F64E-4654-BD6B-D20017501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Essential question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investigate?]</a:t>
            </a:r>
          </a:p>
        </p:txBody>
      </p:sp>
      <p:sp>
        <p:nvSpPr>
          <p:cNvPr id="3" name="Question and goals body 2">
            <a:extLst>
              <a:ext uri="{FF2B5EF4-FFF2-40B4-BE49-F238E27FC236}">
                <a16:creationId xmlns:a16="http://schemas.microsoft.com/office/drawing/2014/main" id="{BF9EAF2D-1060-4815-9524-5F06F4856F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985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Learning goals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be able to explain or do?]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nation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lanation and figure title 0">
            <a:extLst>
              <a:ext uri="{FF2B5EF4-FFF2-40B4-BE49-F238E27FC236}">
                <a16:creationId xmlns:a16="http://schemas.microsoft.com/office/drawing/2014/main" id="{C54DEB96-2C44-49CE-960C-EEA88B04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[Key idea]</a:t>
            </a:r>
          </a:p>
        </p:txBody>
      </p:sp>
      <p:sp>
        <p:nvSpPr>
          <p:cNvPr id="2" name="Explanation and figure body 1">
            <a:extLst>
              <a:ext uri="{FF2B5EF4-FFF2-40B4-BE49-F238E27FC236}">
                <a16:creationId xmlns:a16="http://schemas.microsoft.com/office/drawing/2014/main" id="{74965947-62A8-4AED-A214-D22E1DB5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5025"/>
            <a:ext cx="4524375" cy="3400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the main idea.]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[Define a new term or connect it to prior learning.]</a:t>
            </a:r>
          </a:p>
        </p:txBody>
      </p:sp>
      <p:sp>
        <p:nvSpPr>
          <p:cNvPr id="3" name="Explanation and figure content 2">
            <a:extLst>
              <a:ext uri="{FF2B5EF4-FFF2-40B4-BE49-F238E27FC236}">
                <a16:creationId xmlns:a16="http://schemas.microsoft.com/office/drawing/2014/main" id="{93F0CF8A-0D56-484D-8008-C069FB2AFB4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591175" y="2114550"/>
            <a:ext cx="5991225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figure or diagram]</a:t>
            </a:r>
          </a:p>
        </p:txBody>
      </p:sp>
      <p:sp>
        <p:nvSpPr>
          <p:cNvPr id="4" name="Explanation and figure body 3">
            <a:extLst>
              <a:ext uri="{FF2B5EF4-FFF2-40B4-BE49-F238E27FC236}">
                <a16:creationId xmlns:a16="http://schemas.microsoft.com/office/drawing/2014/main" id="{B76FA5E4-B6C8-43B1-871F-4C2029154E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591175" y="5353050"/>
            <a:ext cx="59912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[Figure caption and source credit]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vity steps title 0">
            <a:extLst>
              <a:ext uri="{FF2B5EF4-FFF2-40B4-BE49-F238E27FC236}">
                <a16:creationId xmlns:a16="http://schemas.microsoft.com/office/drawing/2014/main" id="{4A75A923-A588-498D-8C3D-05C7B27B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[Activity title]</a:t>
            </a:r>
          </a:p>
        </p:txBody>
      </p:sp>
      <p:sp>
        <p:nvSpPr>
          <p:cNvPr id="2" name="Activity steps body 1">
            <a:extLst>
              <a:ext uri="{FF2B5EF4-FFF2-40B4-BE49-F238E27FC236}">
                <a16:creationId xmlns:a16="http://schemas.microsoft.com/office/drawing/2014/main" id="{F15A3904-D261-4581-891D-0D974E46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setup.]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measurement and units.]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how to record the result.]</a:t>
            </a:r>
          </a:p>
        </p:txBody>
      </p:sp>
      <p:sp>
        <p:nvSpPr>
          <p:cNvPr id="3" name="Activity steps body 2">
            <a:extLst>
              <a:ext uri="{FF2B5EF4-FFF2-40B4-BE49-F238E27FC236}">
                <a16:creationId xmlns:a16="http://schemas.microsoft.com/office/drawing/2014/main" id="{332D626C-8C62-4762-8A19-77DFBBDD37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5816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[Add relevant safety or supervision instructions.]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or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or visual title 0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[Observation or result]</a:t>
            </a:r>
          </a:p>
        </p:txBody>
      </p:sp>
      <p:sp>
        <p:nvSpPr>
          <p:cNvPr id="2" name="Data or visual content 1">
            <a:extLst>
              <a:ext uri="{FF2B5EF4-FFF2-40B4-BE49-F238E27FC236}">
                <a16:creationId xmlns:a16="http://schemas.microsoft.com/office/drawing/2014/main" id="{3A617E8B-975F-4DBD-9A97-0A174C27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95500"/>
            <a:ext cx="10972800" cy="3219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graph, table, or image]</a:t>
            </a:r>
          </a:p>
        </p:txBody>
      </p:sp>
      <p:sp>
        <p:nvSpPr>
          <p:cNvPr id="3" name="Data or visual body 2">
            <a:extLst>
              <a:ext uri="{FF2B5EF4-FFF2-40B4-BE49-F238E27FC236}">
                <a16:creationId xmlns:a16="http://schemas.microsoft.com/office/drawing/2014/main" id="{DFE3AC5B-7812-46A8-BB38-963FC170F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4578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evidence. Include units, a caption, and source credits.]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ussion and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ussion and reflection title 0">
            <a:extLst>
              <a:ext uri="{FF2B5EF4-FFF2-40B4-BE49-F238E27FC236}">
                <a16:creationId xmlns:a16="http://schemas.microsoft.com/office/drawing/2014/main" id="{1A0C5B13-4DC7-4BB2-8032-5A841983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What did we learn?</a:t>
            </a:r>
          </a:p>
        </p:txBody>
      </p:sp>
      <p:sp>
        <p:nvSpPr>
          <p:cNvPr id="2" name="Discussion and reflection body 1">
            <a:extLst>
              <a:ext uri="{FF2B5EF4-FFF2-40B4-BE49-F238E27FC236}">
                <a16:creationId xmlns:a16="http://schemas.microsoft.com/office/drawing/2014/main" id="{73737ED5-7D24-4242-A1DB-9FC8EF99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467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pattern do the results show?]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evidence supports your explanation?]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would you investigate next?]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VU DSPI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VU navy banner">
            <a:extLst>
              <a:ext uri="{FF2B5EF4-FFF2-40B4-BE49-F238E27FC236}">
                <a16:creationId xmlns:a16="http://schemas.microsoft.com/office/drawing/2014/main" id="{6D4F5CCA-FF43-4F29-8399-ACE93C08B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2855"/>
          </a:solidFill>
          <a:ln w="0">
            <a:noFill/>
          </a:ln>
        </p:spPr>
      </p:sp>
      <p:sp>
        <p:nvSpPr>
          <p:cNvPr id="2" name="WVU gold rule">
            <a:extLst>
              <a:ext uri="{FF2B5EF4-FFF2-40B4-BE49-F238E27FC236}">
                <a16:creationId xmlns:a16="http://schemas.microsoft.com/office/drawing/2014/main" id="{B7F9BFBD-7E36-451D-96E5-BC2ED296FC2E}"/>
              </a:ext>
            </a:extLst>
          </p:cNvPr>
          <p:cNvSpPr>
            <a:spLocks noGrp="1"/>
          </p:cNvSpPr>
          <p:nvPr/>
        </p:nvSpPr>
        <p:spPr>
          <a:xfrm>
            <a:off x="0" y="552450"/>
            <a:ext cx="12192000" cy="38100"/>
          </a:xfrm>
          <a:prstGeom prst="rect">
            <a:avLst/>
          </a:prstGeom>
          <a:solidFill>
            <a:srgbClr val="EEAA00"/>
          </a:solidFill>
          <a:ln w="0">
            <a:noFill/>
          </a:ln>
        </p:spPr>
      </p:sp>
      <p:sp>
        <p:nvSpPr>
          <p:cNvPr id="3" name="WVU DSPIRA brand">
            <a:extLst>
              <a:ext uri="{FF2B5EF4-FFF2-40B4-BE49-F238E27FC236}">
                <a16:creationId xmlns:a16="http://schemas.microsoft.com/office/drawing/2014/main" id="{81DC7FEE-6B94-4036-9AF5-8A342A05842A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4" name="University name">
            <a:extLst>
              <a:ext uri="{FF2B5EF4-FFF2-40B4-BE49-F238E27FC236}">
                <a16:creationId xmlns:a16="http://schemas.microsoft.com/office/drawing/2014/main" id="{86DE04A2-939A-456D-B0E1-0BD64EC5EF56}"/>
              </a:ext>
            </a:extLst>
          </p:cNvPr>
          <p:cNvSpPr>
            <a:spLocks noGrp="1"/>
          </p:cNvSpPr>
          <p:nvPr/>
        </p:nvSpPr>
        <p:spPr>
          <a:xfrm>
            <a:off x="7715250" y="161925"/>
            <a:ext cx="4019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  <p:sp>
        <p:nvSpPr>
          <p:cNvPr id="5" name="Website">
            <a:extLst>
              <a:ext uri="{FF2B5EF4-FFF2-40B4-BE49-F238E27FC236}">
                <a16:creationId xmlns:a16="http://schemas.microsoft.com/office/drawing/2014/main" id="{1895C86C-2B15-4605-AD65-E205FDC66179}"/>
              </a:ext>
            </a:extLst>
          </p:cNvPr>
          <p:cNvSpPr>
            <a:spLocks noGrp="1"/>
          </p:cNvSpPr>
          <p:nvPr/>
        </p:nvSpPr>
        <p:spPr>
          <a:xfrm>
            <a:off x="457200" y="63722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rail.wvu.edu/dspira</a:t>
            </a:r>
          </a:p>
        </p:txBody>
      </p:sp>
      <p:sp>
        <p:nvSpPr>
          <p:cNvPr id="6" name="Automatic slide number">
            <a:extLst>
              <a:ext uri="{FF2B5EF4-FFF2-40B4-BE49-F238E27FC236}">
                <a16:creationId xmlns:a16="http://schemas.microsoft.com/office/drawing/2014/main" id="{4AD0E30E-B026-44BD-ABE4-8BF1D7897EFE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fld id="{018D423B-F0A3-4876-8334-4B6CD5BE88A3}" type="slidenum"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‹#›</a:t>
            </a:fld>
            <a:endParaRPr sz="1200" b="0">
              <a:solidFill>
                <a:srgbClr val="454545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232f77bc22d346de"/><Relationship Type="http://schemas.openxmlformats.org/officeDocument/2006/relationships/image" Target="/ppt/media/image.png" Id="R607f2461edc44fc7"/><Relationship Type="http://schemas.openxmlformats.org/officeDocument/2006/relationships/notesSlide" Target="/ppt/notesSlides/notesSlide1.xml" Id="R88c40595f0894e62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18472a86499f48e6"/><Relationship Type="http://schemas.openxmlformats.org/officeDocument/2006/relationships/image" Target="/ppt/media/image2.png" Id="Re7b1d7670f77423f"/><Relationship Type="http://schemas.openxmlformats.org/officeDocument/2006/relationships/notesSlide" Target="/ppt/notesSlides/notesSlide2.xml" Id="R9b476a6e398a490f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8ac7bc9a3914892"/><Relationship Type="http://schemas.openxmlformats.org/officeDocument/2006/relationships/image" Target="/ppt/media/image3.png" Id="R5cbd97a588b0448a"/><Relationship Type="http://schemas.openxmlformats.org/officeDocument/2006/relationships/notesSlide" Target="/ppt/notesSlides/notesSlide3.xml" Id="R22736e762f4b43c1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4cd863222d444982"/><Relationship Type="http://schemas.openxmlformats.org/officeDocument/2006/relationships/image" Target="/ppt/media/image4.png" Id="Rfbd541a5effe439f"/><Relationship Type="http://schemas.openxmlformats.org/officeDocument/2006/relationships/notesSlide" Target="/ppt/notesSlides/notesSlide4.xml" Id="R2300c9b8dcf842be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b3593648d444782"/><Relationship Type="http://schemas.openxmlformats.org/officeDocument/2006/relationships/image" Target="/ppt/media/image5.png" Id="R388d064caf684474"/><Relationship Type="http://schemas.openxmlformats.org/officeDocument/2006/relationships/notesSlide" Target="/ppt/notesSlides/notesSlide5.xml" Id="Rab9a295ca8a74c44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5dd53e9b6f7347c1"/><Relationship Type="http://schemas.openxmlformats.org/officeDocument/2006/relationships/image" Target="/ppt/media/image6.png" Id="R81096c2d103c482c"/><Relationship Type="http://schemas.openxmlformats.org/officeDocument/2006/relationships/notesSlide" Target="/ppt/notesSlides/notesSlide6.xml" Id="Ra879895e21fa44de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87d35b95e704655"/><Relationship Type="http://schemas.openxmlformats.org/officeDocument/2006/relationships/image" Target="/ppt/media/image7.png" Id="Rda9d58243978428f"/><Relationship Type="http://schemas.openxmlformats.org/officeDocument/2006/relationships/notesSlide" Target="/ppt/notesSlides/notesSlide7.xml" Id="R7d689f30512c4941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b1c80a827c2e41f4"/><Relationship Type="http://schemas.openxmlformats.org/officeDocument/2006/relationships/image" Target="/ppt/media/image8.png" Id="Rf2f7b0063954443d"/><Relationship Type="http://schemas.openxmlformats.org/officeDocument/2006/relationships/notesSlide" Target="/ppt/notesSlides/notesSlide8.xml" Id="Rcddb2ab47e984273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5d0b8a4fd114569"/><Relationship Type="http://schemas.openxmlformats.org/officeDocument/2006/relationships/image" Target="/ppt/media/image9.png" Id="Rafc43b342f574a45"/><Relationship Type="http://schemas.openxmlformats.org/officeDocument/2006/relationships/notesSlide" Target="/ppt/notesSlides/notesSlide9.xml" Id="R2018ae1bd3f546d0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5d71fb2b41de4358"/><Relationship Type="http://schemas.openxmlformats.org/officeDocument/2006/relationships/image" Target="/ppt/media/image10.png" Id="R9e310b68891a472d"/><Relationship Type="http://schemas.openxmlformats.org/officeDocument/2006/relationships/notesSlide" Target="/ppt/notesSlides/notesSlide10.xml" Id="Ra1c9eda2690e42e0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140d7925ff0e409e"/><Relationship Type="http://schemas.openxmlformats.org/officeDocument/2006/relationships/image" Target="/ppt/media/image11.png" Id="Ra90ce302c51545ea"/><Relationship Type="http://schemas.openxmlformats.org/officeDocument/2006/relationships/notesSlide" Target="/ppt/notesSlides/notesSlide11.xml" Id="R489fcf604a2846a1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17fc3b856164a05"/><Relationship Type="http://schemas.openxmlformats.org/officeDocument/2006/relationships/image" Target="/ppt/media/image12.png" Id="R45d36f9038ea4c6a"/><Relationship Type="http://schemas.openxmlformats.org/officeDocument/2006/relationships/notesSlide" Target="/ppt/notesSlides/notesSlide12.xml" Id="Rb2aba066e0a54ebd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0969ccbbdfd4416c"/><Relationship Type="http://schemas.openxmlformats.org/officeDocument/2006/relationships/image" Target="/ppt/media/image13.png" Id="Rfc744356b66c44f3"/><Relationship Type="http://schemas.openxmlformats.org/officeDocument/2006/relationships/notesSlide" Target="/ppt/notesSlides/notesSlide13.xml" Id="R004b5bde13ad4c62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7e293b9f7154447"/><Relationship Type="http://schemas.openxmlformats.org/officeDocument/2006/relationships/image" Target="/ppt/media/image14.png" Id="Rae39369c6d52486d"/><Relationship Type="http://schemas.openxmlformats.org/officeDocument/2006/relationships/notesSlide" Target="/ppt/notesSlides/notesSlide14.xml" Id="R18cb042ba9ad4d9f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aa783703e2b4cb3"/><Relationship Type="http://schemas.openxmlformats.org/officeDocument/2006/relationships/image" Target="/ppt/media/image15.png" Id="Rfb59ea1d73e945b3"/><Relationship Type="http://schemas.openxmlformats.org/officeDocument/2006/relationships/notesSlide" Target="/ppt/notesSlides/notesSlide15.xml" Id="R1303085a9b6d4e1b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369e2a3bee54155"/><Relationship Type="http://schemas.openxmlformats.org/officeDocument/2006/relationships/image" Target="/ppt/media/image16.png" Id="Re6aa9c97dbc846b3"/><Relationship Type="http://schemas.openxmlformats.org/officeDocument/2006/relationships/notesSlide" Target="/ppt/notesSlides/notesSlide16.xml" Id="R2340fe67496442a5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81e6548333e641af"/><Relationship Type="http://schemas.openxmlformats.org/officeDocument/2006/relationships/image" Target="/ppt/media/image17.png" Id="R17e342f9ea964e2a"/><Relationship Type="http://schemas.openxmlformats.org/officeDocument/2006/relationships/notesSlide" Target="/ppt/notesSlides/notesSlide17.xml" Id="R6a95303b4ced46fd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06d59fd92d7b4b11"/><Relationship Type="http://schemas.openxmlformats.org/officeDocument/2006/relationships/image" Target="/ppt/media/image18.png" Id="R0980d9d3c27b44b4"/><Relationship Type="http://schemas.openxmlformats.org/officeDocument/2006/relationships/notesSlide" Target="/ppt/notesSlides/notesSlide18.xml" Id="R4c260172469743bd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06d5b80aadb5441e"/><Relationship Type="http://schemas.openxmlformats.org/officeDocument/2006/relationships/image" Target="/ppt/media/image19.png" Id="Rb034053958d0485f"/><Relationship Type="http://schemas.openxmlformats.org/officeDocument/2006/relationships/notesSlide" Target="/ppt/notesSlides/notesSlide19.xml" Id="Race82b62192c4dd5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14c49d3cfdf04458"/><Relationship Type="http://schemas.openxmlformats.org/officeDocument/2006/relationships/image" Target="/ppt/media/image20.png" Id="Rcf4a0b29c1c64c28"/><Relationship Type="http://schemas.openxmlformats.org/officeDocument/2006/relationships/notesSlide" Target="/ppt/notesSlides/notesSlide20.xml" Id="R2f650380e26047c3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4fcce8d281c44e20"/><Relationship Type="http://schemas.openxmlformats.org/officeDocument/2006/relationships/image" Target="/ppt/media/image21.png" Id="R2df29821a3764bcd"/><Relationship Type="http://schemas.openxmlformats.org/officeDocument/2006/relationships/notesSlide" Target="/ppt/notesSlides/notesSlide21.xml" Id="Rc60a78ebf3a349b0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0d5ec1bb498b4452"/><Relationship Type="http://schemas.openxmlformats.org/officeDocument/2006/relationships/image" Target="/ppt/media/image22.png" Id="Rc0f99b3e9d1143d5"/><Relationship Type="http://schemas.openxmlformats.org/officeDocument/2006/relationships/notesSlide" Target="/ppt/notesSlides/notesSlide22.xml" Id="R989a45eeac8444b9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4228ded55e845e3"/><Relationship Type="http://schemas.openxmlformats.org/officeDocument/2006/relationships/image" Target="/ppt/media/image23.png" Id="R00af3da10d92458c"/><Relationship Type="http://schemas.openxmlformats.org/officeDocument/2006/relationships/notesSlide" Target="/ppt/notesSlides/notesSlide23.xml" Id="R95b8c523d19647fe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ff0ce0ee199426b"/><Relationship Type="http://schemas.openxmlformats.org/officeDocument/2006/relationships/image" Target="/ppt/media/image24.png" Id="Rf2ee790cd8f94123"/><Relationship Type="http://schemas.openxmlformats.org/officeDocument/2006/relationships/notesSlide" Target="/ppt/notesSlides/notesSlide24.xml" Id="Re3c99e4c2b5a4f63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6e18f07def34d86"/><Relationship Type="http://schemas.openxmlformats.org/officeDocument/2006/relationships/image" Target="/ppt/media/image25.png" Id="R30cce70836c14eef"/><Relationship Type="http://schemas.openxmlformats.org/officeDocument/2006/relationships/notesSlide" Target="/ppt/notesSlides/notesSlide25.xml" Id="Rbf858c8044834e66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ae37a3609db64bae"/><Relationship Type="http://schemas.openxmlformats.org/officeDocument/2006/relationships/image" Target="/ppt/media/image26.png" Id="Rf823a5809c8c4e15"/><Relationship Type="http://schemas.openxmlformats.org/officeDocument/2006/relationships/notesSlide" Target="/ppt/notesSlides/notesSlide26.xml" Id="Ra4a02043e0444f62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29f261a895cd4fc1"/><Relationship Type="http://schemas.openxmlformats.org/officeDocument/2006/relationships/image" Target="/ppt/media/image27.png" Id="R999d4463239243e7"/><Relationship Type="http://schemas.openxmlformats.org/officeDocument/2006/relationships/notesSlide" Target="/ppt/notesSlides/notesSlide27.xml" Id="R9b83928552ed46f1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cacabd4fd2774c08"/><Relationship Type="http://schemas.openxmlformats.org/officeDocument/2006/relationships/image" Target="/ppt/media/image28.png" Id="Rd236b91d4e6a4ba7"/><Relationship Type="http://schemas.openxmlformats.org/officeDocument/2006/relationships/notesSlide" Target="/ppt/notesSlides/notesSlide28.xml" Id="R4f0d0c3c22eb4a22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4c6491073fbd4c2e"/><Relationship Type="http://schemas.openxmlformats.org/officeDocument/2006/relationships/image" Target="/ppt/media/image29.png" Id="Rc101301fe5ab4259"/><Relationship Type="http://schemas.openxmlformats.org/officeDocument/2006/relationships/notesSlide" Target="/ppt/notesSlides/notesSlide29.xml" Id="Rb385a6a50dfb439f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1935790ca7d44d98"/><Relationship Type="http://schemas.openxmlformats.org/officeDocument/2006/relationships/image" Target="/ppt/media/image30.png" Id="R4570c2ce109946c5"/><Relationship Type="http://schemas.openxmlformats.org/officeDocument/2006/relationships/notesSlide" Target="/ppt/notesSlides/notesSlide30.xml" Id="Rb653a3f4153e4b52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3a3d2e6e5a964986"/><Relationship Type="http://schemas.openxmlformats.org/officeDocument/2006/relationships/image" Target="/ppt/media/image31.png" Id="Re23553ad67fa42e2"/><Relationship Type="http://schemas.openxmlformats.org/officeDocument/2006/relationships/notesSlide" Target="/ppt/notesSlides/notesSlide31.xml" Id="R06643ab2dab84615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02e38a774a73443c"/><Relationship Type="http://schemas.openxmlformats.org/officeDocument/2006/relationships/image" Target="/ppt/media/image32.png" Id="R32f77d1cb13f49ca"/><Relationship Type="http://schemas.openxmlformats.org/officeDocument/2006/relationships/notesSlide" Target="/ppt/notesSlides/notesSlide32.xml" Id="Rbd0bdfa6f93f4bad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ce4b6565a464555"/><Relationship Type="http://schemas.openxmlformats.org/officeDocument/2006/relationships/image" Target="/ppt/media/image33.png" Id="R691f201dcb3b4ba3"/><Relationship Type="http://schemas.openxmlformats.org/officeDocument/2006/relationships/notesSlide" Target="/ppt/notesSlides/notesSlide33.xml" Id="Rbb273cd4aa624316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68f890775ed94510"/><Relationship Type="http://schemas.openxmlformats.org/officeDocument/2006/relationships/image" Target="/ppt/media/image34.png" Id="R756967f1042d4291"/><Relationship Type="http://schemas.openxmlformats.org/officeDocument/2006/relationships/notesSlide" Target="/ppt/notesSlides/notesSlide34.xml" Id="R61600157ebba4b21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d401ed25bb8b4c74"/><Relationship Type="http://schemas.openxmlformats.org/officeDocument/2006/relationships/image" Target="/ppt/media/image35.png" Id="R6ebd2a0a8022475d"/><Relationship Type="http://schemas.openxmlformats.org/officeDocument/2006/relationships/notesSlide" Target="/ppt/notesSlides/notesSlide35.xml" Id="Ra33aa30839714d64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3b97775c4c4d48a3"/><Relationship Type="http://schemas.openxmlformats.org/officeDocument/2006/relationships/image" Target="/ppt/media/image36.png" Id="Rfdc4042db5344d96"/><Relationship Type="http://schemas.openxmlformats.org/officeDocument/2006/relationships/notesSlide" Target="/ppt/notesSlides/notesSlide36.xml" Id="Rd72e548a5f3e4e16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5.xml" Id="R760abaa010eb40d4"/><Relationship Type="http://schemas.openxmlformats.org/officeDocument/2006/relationships/image" Target="/ppt/media/image37.png" Id="Ra897377b2cff41cb"/><Relationship Type="http://schemas.openxmlformats.org/officeDocument/2006/relationships/notesSlide" Target="/ppt/notesSlides/notesSlide37.xml" Id="R313e7321ee5c4ac2"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Doppler Effect Telescopes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A7B25-40EE-435F-9E08-C52DEE4F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872" y="2095500"/>
            <a:ext cx="914829" cy="6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7BDF8-DDDF-461E-A634-6718F70B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4" y="2808879"/>
            <a:ext cx="1581754" cy="485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D.J. Pisano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0D310-1A44-4C40-9554-B02EBCE8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891" y="3229652"/>
            <a:ext cx="4516218" cy="36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Associate Professor of Physics &amp; Astronomy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222DB-F730-4CE8-908A-DAD2C418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057" y="3555921"/>
            <a:ext cx="1258111" cy="366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July 7, 2017</a:t>
            </a:r>
          </a:p>
        </p:txBody>
      </p:sp>
    </p:spTree>
    <p:extLst>
      <p:ext uri="{BB962C8B-B14F-4D97-AF65-F5344CB8AC3E}">
        <p14:creationId xmlns:p14="http://schemas.microsoft.com/office/powerpoint/2010/main" val="1389780845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Electromagnetic Spectrum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1d7670f77423f"/>
          <ns0:srcRect xmlns:ns0="http://schemas.openxmlformats.org/drawingml/2006/main" l="2237" r="2670" t="23810" b="27544"/>
          <a:stretch xmlns:a="http://schemas.openxmlformats.org/drawingml/2006/main"/>
        </p:blipFill>
        <p:spPr>
          <a:xfrm xmlns:a="http://schemas.openxmlformats.org/drawingml/2006/main">
            <a:off x="2593353" y="2095500"/>
            <a:ext cx="7005294" cy="276916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60E89-568F-4249-B396-3F561232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067" y="5652186"/>
            <a:ext cx="4341184" cy="271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34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334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Lower Frequency = Longer Wavelength = Low Energy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51A6A-A083-4E70-91C8-3E4C0AF9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233" y="5887012"/>
            <a:ext cx="4513725" cy="272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41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341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Higher Frequency = Shorter Wavelength = High Energy </a:t>
            </a:r>
          </a:p>
        </p:txBody>
      </p:sp>
    </p:spTree>
    <p:extLst>
      <p:ext uri="{BB962C8B-B14F-4D97-AF65-F5344CB8AC3E}">
        <p14:creationId xmlns:p14="http://schemas.microsoft.com/office/powerpoint/2010/main" val="402915239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Sun’s Spectrum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d97a588b0448a"/>
          <ns0:srcRect xmlns:ns0="http://schemas.openxmlformats.org/drawingml/2006/main" l="1299" r="1299" t="35014" b="13445"/>
          <a:stretch xmlns:a="http://schemas.openxmlformats.org/drawingml/2006/main"/>
        </p:blipFill>
        <p:spPr>
          <a:xfrm xmlns:a="http://schemas.openxmlformats.org/drawingml/2006/main">
            <a:off x="1197429" y="2095500"/>
            <a:ext cx="9797143" cy="40059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91135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Stellar absorption spectra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541a5effe439f"/>
          <ns0:srcRect xmlns:ns0="http://schemas.openxmlformats.org/drawingml/2006/main" l="2092" r="46537" t="7096" b="2614"/>
          <a:stretch xmlns:a="http://schemas.openxmlformats.org/drawingml/2006/main"/>
        </p:blipFill>
        <p:spPr>
          <a:xfrm xmlns:a="http://schemas.openxmlformats.org/drawingml/2006/main">
            <a:off x="3352634" y="2095500"/>
            <a:ext cx="2992314" cy="4064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A2F5F-8B77-41FE-A935-E9B6D29F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415" y="2717388"/>
            <a:ext cx="1343909" cy="553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22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2722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All stars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5884E-3589-46CE-9B9D-01A8648A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055" y="3129274"/>
            <a:ext cx="2130382" cy="553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22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2722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produce dark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A0547-E5DB-47A8-A4AE-7DB4F274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011" y="3543605"/>
            <a:ext cx="2360354" cy="553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22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2722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line absorption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75864-6E95-4084-ABDA-3E942C47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075" y="3952987"/>
            <a:ext cx="1249128" cy="553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22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2722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spectra: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01EAA-2E64-4E35-B9F5-5E058F04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872" y="4784098"/>
            <a:ext cx="903388" cy="553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22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2722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481153283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Kirchoff’s Law #3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d064caf684474"/>
          <ns0:srcRect xmlns:ns0="http://schemas.openxmlformats.org/drawingml/2006/main" l="17460" r="14719" t="56209" b="4762"/>
          <a:stretch xmlns:a="http://schemas.openxmlformats.org/drawingml/2006/main"/>
        </p:blipFill>
        <p:spPr>
          <a:xfrm xmlns:a="http://schemas.openxmlformats.org/drawingml/2006/main">
            <a:off x="3606397" y="3882703"/>
            <a:ext cx="5120071" cy="227679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938DE-8F5B-41A3-9595-9507D6F9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40" y="2095500"/>
            <a:ext cx="5569759" cy="456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light from a hot, dense object passes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CA2BE-1A2E-458D-991C-05C60E88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643" y="2436164"/>
            <a:ext cx="6267750" cy="45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 a cooler, low density gas, the result is an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22ACC-986C-4F31-8773-01CA992F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952" y="2778327"/>
            <a:ext cx="2844915" cy="45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4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4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absorption spectrum.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3CF19-D62D-4DE8-9041-0A870FD2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539" y="2778303"/>
            <a:ext cx="3480622" cy="457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absorption lines are at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50DC8-AAF7-4722-AEDC-D82F0C3E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840" y="3118545"/>
            <a:ext cx="6284812" cy="4565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location as the emission lines would be.</a:t>
            </a:r>
          </a:p>
        </p:txBody>
      </p:sp>
    </p:spTree>
    <p:extLst>
      <p:ext uri="{BB962C8B-B14F-4D97-AF65-F5344CB8AC3E}">
        <p14:creationId xmlns:p14="http://schemas.microsoft.com/office/powerpoint/2010/main" val="395910428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Doppler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D0F05-343A-4197-B558-5A7E609B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651" y="2095500"/>
            <a:ext cx="691641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Definition:  The change in wavelength of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5F6FC-2359-4C62-8D4B-80EEF0B7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820" y="2554941"/>
            <a:ext cx="6773142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due to the relative motion between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179E0-8038-41FA-B2B6-A4217707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820" y="3014405"/>
            <a:ext cx="725653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source and the observer along the line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FAEB6-B05B-4884-85A4-3C764156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820" y="3470090"/>
            <a:ext cx="136833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sight.</a:t>
            </a:r>
          </a:p>
        </p:txBody>
      </p:sp>
    </p:spTree>
    <p:extLst>
      <p:ext uri="{BB962C8B-B14F-4D97-AF65-F5344CB8AC3E}">
        <p14:creationId xmlns:p14="http://schemas.microsoft.com/office/powerpoint/2010/main" val="2037197539"/>
      </p:ext>
    </p:extLst>
  </p:cSld>
</p:sld>
</file>

<file path=ppt/slides/slide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Doppler Effect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d58243978428f"/>
          <ns0:srcRect xmlns:ns0="http://schemas.openxmlformats.org/drawingml/2006/main" l="16378" r="15801" t="41176" b="15126"/>
          <a:stretch xmlns:a="http://schemas.openxmlformats.org/drawingml/2006/main"/>
        </p:blipFill>
        <p:spPr>
          <a:xfrm xmlns:a="http://schemas.openxmlformats.org/drawingml/2006/main">
            <a:off x="3556876" y="3034383"/>
            <a:ext cx="5284232" cy="263087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F67E3-2D9A-421A-B1B0-2451CDDC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162" y="2095500"/>
            <a:ext cx="6487676" cy="470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1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Doppler effect is the same for light as it is for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A239B-177A-4E66-B09E-77DB1FEC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995" y="2445175"/>
            <a:ext cx="1075538" cy="472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sound. 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A8C17-2E52-4688-9F11-03946529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162" y="5755500"/>
            <a:ext cx="1905218" cy="4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higher frequency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045A9-807F-4E9B-A092-A3E05D6A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387" y="5755500"/>
            <a:ext cx="1807365" cy="4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frequency</a:t>
            </a:r>
          </a:p>
        </p:txBody>
      </p:sp>
    </p:spTree>
    <p:extLst>
      <p:ext uri="{BB962C8B-B14F-4D97-AF65-F5344CB8AC3E}">
        <p14:creationId xmlns:p14="http://schemas.microsoft.com/office/powerpoint/2010/main" val="74974421"/>
      </p:ext>
    </p:extLst>
  </p:cSld>
</p:sld>
</file>

<file path=ppt/slides/slide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Doppler Effect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7b0063954443d"/>
          <ns0:srcRect xmlns:ns0="http://schemas.openxmlformats.org/drawingml/2006/main" l="17460" r="20418" t="37442" b="13072"/>
          <a:stretch xmlns:a="http://schemas.openxmlformats.org/drawingml/2006/main"/>
        </p:blipFill>
        <p:spPr>
          <a:xfrm xmlns:a="http://schemas.openxmlformats.org/drawingml/2006/main">
            <a:off x="3641199" y="2809522"/>
            <a:ext cx="4840132" cy="297940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8C68B-F785-420F-BC24-3A552DAB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162" y="2095500"/>
            <a:ext cx="6487676" cy="470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1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1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Doppler effect is the same for light as it is for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26036-C674-498C-A510-CC983215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995" y="2445175"/>
            <a:ext cx="1075538" cy="472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sound. 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BF5CC-23A7-4538-9175-02014E73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162" y="5755500"/>
            <a:ext cx="1905218" cy="4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higher frequency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06B40-FDAF-4192-B8FA-F78C3307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387" y="5755500"/>
            <a:ext cx="1807365" cy="4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frequency</a:t>
            </a:r>
          </a:p>
        </p:txBody>
      </p:sp>
    </p:spTree>
    <p:extLst>
      <p:ext uri="{BB962C8B-B14F-4D97-AF65-F5344CB8AC3E}">
        <p14:creationId xmlns:p14="http://schemas.microsoft.com/office/powerpoint/2010/main" val="1013651842"/>
      </p:ext>
    </p:extLst>
  </p:cSld>
</p:sld>
</file>

<file path=ppt/slides/slide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Doppler Effect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43b342f574a45"/>
          <ns0:srcRect xmlns:ns0="http://schemas.openxmlformats.org/drawingml/2006/main" l="9235" r="1659" t="39029" b="9430"/>
          <a:stretch xmlns:a="http://schemas.openxmlformats.org/drawingml/2006/main"/>
        </p:blipFill>
        <p:spPr>
          <a:xfrm xmlns:a="http://schemas.openxmlformats.org/drawingml/2006/main">
            <a:off x="2758280" y="3025440"/>
            <a:ext cx="6675439" cy="298367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5D71C-960B-4CF8-AC65-36BEEF91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414" y="2095500"/>
            <a:ext cx="119974" cy="418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18CEB-AC54-43DD-8834-BFBF0AFD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365" y="2095500"/>
            <a:ext cx="5588109" cy="418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something which is giving off light moves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CF206-A629-4567-8C5E-72FB055D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364" y="2376097"/>
            <a:ext cx="946166" cy="418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1" b="0" i="0">
                <a:solidFill>
                  <a:srgbClr val="3366FF"/>
                </a:solidFill>
                <a:latin typeface="Arial"/>
                <a:ea typeface="Arial"/>
                <a:cs typeface="Arial"/>
              </a:defRPr>
            </a:pPr>
            <a:r>
              <a:rPr sz="2061" b="0" i="0">
                <a:solidFill>
                  <a:srgbClr val="3366FF"/>
                </a:solidFill>
                <a:latin typeface="Arial"/>
                <a:ea typeface="Arial"/>
                <a:cs typeface="Arial"/>
              </a:rPr>
              <a:t>towards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F4EDC-8D77-4581-BEE9-72C3DA88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153" y="2376097"/>
            <a:ext cx="407163" cy="418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or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048CD-37A9-4CFF-A9FA-C6356E1F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163" y="2376097"/>
            <a:ext cx="640054" cy="418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1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61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A94DC-65DC-4360-B385-B7CFF60B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839" y="2376097"/>
            <a:ext cx="3835045" cy="418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from you, the wavelength of the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E386F-58DC-499A-977F-15A1851C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364" y="2659893"/>
            <a:ext cx="3935708" cy="418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emitted light is changed or shifted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03701-C792-489E-A6F1-04F1CCC5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343" y="3500523"/>
            <a:ext cx="314944" cy="262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V=0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43146-0489-4E9D-822F-ECE6B783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643" y="4794651"/>
            <a:ext cx="599702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redshift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8671F-5B29-418F-9F26-4BDD3C49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04" y="5877055"/>
            <a:ext cx="676418" cy="282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blueshift</a:t>
            </a:r>
          </a:p>
        </p:txBody>
      </p:sp>
    </p:spTree>
    <p:extLst>
      <p:ext uri="{BB962C8B-B14F-4D97-AF65-F5344CB8AC3E}">
        <p14:creationId xmlns:p14="http://schemas.microsoft.com/office/powerpoint/2010/main" val="531430223"/>
      </p:ext>
    </p:extLst>
  </p:cSld>
</p:sld>
</file>

<file path=ppt/slides/slide1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Doppler Effect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10b68891a472d"/>
          <ns0:srcRect xmlns:ns0="http://schemas.openxmlformats.org/drawingml/2006/main" l="14863" r="2381" t="54809" b="2614"/>
          <a:stretch xmlns:a="http://schemas.openxmlformats.org/drawingml/2006/main"/>
        </p:blipFill>
        <p:spPr>
          <a:xfrm xmlns:a="http://schemas.openxmlformats.org/drawingml/2006/main">
            <a:off x="3693716" y="4123817"/>
            <a:ext cx="5120457" cy="203568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C0DB6-ADC7-4D9A-8E6E-FECDC04F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828" y="2095504"/>
            <a:ext cx="116404" cy="4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95A7E-E0E2-47EB-989F-737ACA2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433" y="2095504"/>
            <a:ext cx="111889" cy="4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AA467-FA35-4CEB-BC37-73126242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690" y="2095500"/>
            <a:ext cx="2563118" cy="4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2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2092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Along the line of sight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6985A-62E1-4701-920E-221E8EC7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197" y="2095500"/>
            <a:ext cx="1499707" cy="4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” means the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C25BA-9AA5-48F4-8F4C-C2BC8BD6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441" y="2384574"/>
            <a:ext cx="4083420" cy="4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Doppler Effect happens only if the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0249A-2CB2-48CE-BCEB-B88C676F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441" y="2670971"/>
            <a:ext cx="3657846" cy="4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 which is emitting light is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8BC36-3C24-42D6-98B8-79ED4525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7729" y="2670971"/>
            <a:ext cx="1042255" cy="4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2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2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moving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B2F08-EED8-4633-8129-90F0A3E0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433" y="2957463"/>
            <a:ext cx="1116361" cy="4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2" b="1" i="1">
                <a:solidFill>
                  <a:srgbClr val="3366FF"/>
                </a:solidFill>
                <a:latin typeface="Arial"/>
                <a:ea typeface="Arial"/>
                <a:cs typeface="Arial"/>
              </a:defRPr>
            </a:pPr>
            <a:r>
              <a:rPr sz="2092" b="1" i="1">
                <a:solidFill>
                  <a:srgbClr val="3366FF"/>
                </a:solidFill>
                <a:latin typeface="Arial"/>
                <a:ea typeface="Arial"/>
                <a:cs typeface="Arial"/>
              </a:rPr>
              <a:t>towards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8317D-A905-4951-A8B7-4760B590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07" y="2957463"/>
            <a:ext cx="909654" cy="4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2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2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you or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23AA5-1505-450C-850D-86CF0750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255" y="2957463"/>
            <a:ext cx="1338048" cy="4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2" b="1" i="1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2092" b="1" i="1">
                <a:solidFill>
                  <a:srgbClr val="FF3300"/>
                </a:solidFill>
                <a:latin typeface="Arial"/>
                <a:ea typeface="Arial"/>
                <a:cs typeface="Arial"/>
              </a:rPr>
              <a:t>away from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57641-7D60-488D-97FE-B3DD2B89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5865" y="2957463"/>
            <a:ext cx="570275" cy="4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2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2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you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3BE86-4A6F-4AAF-8630-3D72DCD4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574" y="2957463"/>
            <a:ext cx="97280" cy="42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04529-311C-4E99-9857-EA7E4547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186" y="3303411"/>
            <a:ext cx="2143991" cy="373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An object moving 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BC533-3BB8-4329-BC81-02E1D9B4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497" y="3302558"/>
            <a:ext cx="1306299" cy="374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side to side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AC761-D4C2-4C27-8B0A-BD18E6D5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665" y="3302558"/>
            <a:ext cx="439027" cy="374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” or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046D0-402A-496E-8C7F-42A5F55A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472" y="3555151"/>
            <a:ext cx="1566209" cy="374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perpendicular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0A808-A640-4445-A545-363FFCC1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558" y="3555291"/>
            <a:ext cx="2437137" cy="374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relative to your line of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E5ED2-828B-474B-807B-1BE7FA59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472" y="3807766"/>
            <a:ext cx="1034959" cy="374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sight, will 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9B4C6F-12D3-4365-9EB9-6069CBDC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199" y="3807766"/>
            <a:ext cx="386384" cy="374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45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5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A8132-60DA-432A-9407-D6416E5E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146" y="3808578"/>
            <a:ext cx="3027162" cy="37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experience a Doppler Effect.</a:t>
            </a:r>
          </a:p>
        </p:txBody>
      </p:sp>
    </p:spTree>
    <p:extLst>
      <p:ext uri="{BB962C8B-B14F-4D97-AF65-F5344CB8AC3E}">
        <p14:creationId xmlns:p14="http://schemas.microsoft.com/office/powerpoint/2010/main" val="582038786"/>
      </p:ext>
    </p:extLst>
  </p:cSld>
</p:sld>
</file>

<file path=ppt/slides/slide1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Astronomy Application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ce302c51545ea"/>
          <ns0:srcRect xmlns:ns0="http://schemas.openxmlformats.org/drawingml/2006/main" l="9235" r="1732" t="26517" b="12605"/>
          <a:stretch xmlns:a="http://schemas.openxmlformats.org/drawingml/2006/main"/>
        </p:blipFill>
        <p:spPr>
          <a:xfrm xmlns:a="http://schemas.openxmlformats.org/drawingml/2006/main">
            <a:off x="2250160" y="2095500"/>
            <a:ext cx="7691681" cy="4064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E7640-86E4-4403-AF4D-79A6AE1D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102" y="2640859"/>
            <a:ext cx="363184" cy="302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V=0</a:t>
            </a:r>
          </a:p>
        </p:txBody>
      </p:sp>
    </p:spTree>
    <p:extLst>
      <p:ext uri="{BB962C8B-B14F-4D97-AF65-F5344CB8AC3E}">
        <p14:creationId xmlns:p14="http://schemas.microsoft.com/office/powerpoint/2010/main" val="1756141738"/>
      </p:ext>
    </p:extLst>
  </p:cSld>
</p:sld>
</file>

<file path=ppt/slides/slide1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Doppler effect and telescopes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28A76-B6B5-492C-ACD6-494CA2D0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124" y="2095500"/>
            <a:ext cx="308775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 Questions</a:t>
            </a:r>
          </a:p>
        </p:txBody>
      </p:sp>
    </p:spTree>
    <p:extLst>
      <p:ext uri="{BB962C8B-B14F-4D97-AF65-F5344CB8AC3E}">
        <p14:creationId xmlns:p14="http://schemas.microsoft.com/office/powerpoint/2010/main" val="401808059"/>
      </p:ext>
    </p:extLst>
  </p:cSld>
</p:sld>
</file>

<file path=ppt/slides/slide1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Doppler Effect causes light from a source moving away to: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03739-D658-41B9-A80F-A2F1206F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77" y="2095500"/>
            <a:ext cx="393484" cy="60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B9844-6E1E-457E-B558-19424DC0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201" y="2099049"/>
            <a:ext cx="5677023" cy="603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71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2971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be shifted to shorter wavelengths.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6C044-2AF1-43D0-B634-305F63F9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963" y="2642993"/>
            <a:ext cx="393298" cy="60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10C67-2E5B-4238-97BE-163411A6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201" y="2646544"/>
            <a:ext cx="5551406" cy="603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71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2971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be shifted to longer wavelengths.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9D387-6E9E-490C-8235-6D77818B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963" y="3186859"/>
            <a:ext cx="415474" cy="609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45341-7399-4B87-B070-34D3485F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201" y="3190409"/>
            <a:ext cx="2529685" cy="603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71" b="0" i="0">
                <a:solidFill>
                  <a:srgbClr val="FF3300"/>
                </a:solidFill>
                <a:latin typeface="Arial"/>
                <a:ea typeface="Arial"/>
                <a:cs typeface="Arial"/>
              </a:defRPr>
            </a:pPr>
            <a:r>
              <a:rPr sz="2971" b="0" i="0">
                <a:solidFill>
                  <a:srgbClr val="FF3300"/>
                </a:solidFill>
                <a:latin typeface="Arial"/>
                <a:ea typeface="Arial"/>
                <a:cs typeface="Arial"/>
              </a:rPr>
              <a:t>be unchanged.</a:t>
            </a:r>
          </a:p>
        </p:txBody>
      </p:sp>
    </p:spTree>
    <p:extLst>
      <p:ext uri="{BB962C8B-B14F-4D97-AF65-F5344CB8AC3E}">
        <p14:creationId xmlns:p14="http://schemas.microsoft.com/office/powerpoint/2010/main" val="1763543595"/>
      </p:ext>
    </p:extLst>
  </p:cSld>
</p:sld>
</file>

<file path=ppt/slides/slide1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Doppler effect and telescopes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9369c6d52486d"/>
          <ns0:srcRect xmlns:ns0="http://schemas.openxmlformats.org/drawingml/2006/main" l="45238" r="29870" t="26144" b="45658"/>
          <a:stretch xmlns:a="http://schemas.openxmlformats.org/drawingml/2006/main"/>
        </p:blipFill>
        <p:spPr>
          <a:xfrm xmlns:a="http://schemas.openxmlformats.org/drawingml/2006/main">
            <a:off x="5670961" y="3309885"/>
            <a:ext cx="2019947" cy="17681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18316-D20C-4F2E-BAFA-5F86E11C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023" y="2095500"/>
            <a:ext cx="6548719" cy="419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Consider the following spectra.  The lab spectrum is not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D0F07-1FCF-4487-A4E5-93B84F00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023" y="2409648"/>
            <a:ext cx="7001954" cy="419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moving, the remainder are from stars that are either moving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F4DAA-3ECD-4C52-B3C0-7310F035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023" y="2723757"/>
            <a:ext cx="4656875" cy="419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towards or away from us or are at rest. 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1D270-8FFA-461C-BA6D-F589EAE4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023" y="5360293"/>
            <a:ext cx="4616054" cy="419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star shows the greatest redshift?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E2460-2C03-4499-97CA-5AB657EC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023" y="5739083"/>
            <a:ext cx="3109343" cy="42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 = they are all the same)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D65F3-929D-4A85-95F4-D06F266F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51" y="3101228"/>
            <a:ext cx="319909" cy="23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6AD50-557C-49D9-AFE3-DC221CD3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950" y="3110071"/>
            <a:ext cx="278029" cy="22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A43EE-D17C-49C9-B00B-B1A7E1A6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065" y="3382255"/>
            <a:ext cx="892397" cy="224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 Spectrum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A54D4-B9DC-4E0A-9E6D-ADBF7D8C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712" y="3760956"/>
            <a:ext cx="417271" cy="228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6F8E9-8815-434D-BA12-F8D0F622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656" y="4142386"/>
            <a:ext cx="416964" cy="22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03DB1-6C63-4B4A-AD31-A0ABF0C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656" y="4487616"/>
            <a:ext cx="416964" cy="223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3DB9D-C262-44C5-BD62-E61FBFEB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475" y="4812628"/>
            <a:ext cx="425417" cy="228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D</a:t>
            </a:r>
          </a:p>
        </p:txBody>
      </p:sp>
    </p:spTree>
    <p:extLst>
      <p:ext uri="{BB962C8B-B14F-4D97-AF65-F5344CB8AC3E}">
        <p14:creationId xmlns:p14="http://schemas.microsoft.com/office/powerpoint/2010/main" val="543868348"/>
      </p:ext>
    </p:extLst>
  </p:cSld>
</p:sld>
</file>

<file path=ppt/slides/slide1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Doppler effect and telescopes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9ea1d73e945b3"/>
          <ns0:srcRect xmlns:ns0="http://schemas.openxmlformats.org/drawingml/2006/main" l="45238" r="29870" t="26144" b="45658"/>
          <a:stretch xmlns:a="http://schemas.openxmlformats.org/drawingml/2006/main"/>
        </p:blipFill>
        <p:spPr>
          <a:xfrm xmlns:a="http://schemas.openxmlformats.org/drawingml/2006/main">
            <a:off x="5670961" y="3309885"/>
            <a:ext cx="2019947" cy="17681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D8535-0383-4E92-921A-2536A3FF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023" y="2095500"/>
            <a:ext cx="6548719" cy="419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Consider the following spectra.  The lab spectrum is not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576B0-52B8-4B58-99CD-36CE70B7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023" y="2409648"/>
            <a:ext cx="7001954" cy="419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moving, the remainder are from stars that are either moving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20532-4293-49EA-AB8E-E4D876B6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023" y="2723757"/>
            <a:ext cx="4656875" cy="419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towards or away from us or are at rest. 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40C4C-5D02-4A91-83C2-5AE4D875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023" y="5360271"/>
            <a:ext cx="4733340" cy="420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star shows the greatest blueshift?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8F709-DDFF-4DD4-8823-360468F3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023" y="5739083"/>
            <a:ext cx="3109343" cy="42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 = they are all the same)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21D0D-38BC-4064-BB3B-EB449A1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51" y="3101228"/>
            <a:ext cx="319909" cy="23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7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109B6-1B63-47C9-894E-7D4FC822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950" y="3110071"/>
            <a:ext cx="278029" cy="22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9C05E-64F0-4C99-983E-96CE5564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065" y="3382255"/>
            <a:ext cx="892397" cy="224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 Spectrum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DCCBC-00FB-4EDD-BEA3-51D8E7C2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712" y="3760956"/>
            <a:ext cx="417271" cy="228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0E90C-E65C-4BB8-9093-739F097B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656" y="4142386"/>
            <a:ext cx="416964" cy="228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C6B95-A952-42FF-B61E-342B137B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656" y="4487616"/>
            <a:ext cx="416964" cy="223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5BA80-C4E0-4255-AC98-0C8359D6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475" y="4812628"/>
            <a:ext cx="425417" cy="228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 D</a:t>
            </a:r>
          </a:p>
        </p:txBody>
      </p:sp>
    </p:spTree>
    <p:extLst>
      <p:ext uri="{BB962C8B-B14F-4D97-AF65-F5344CB8AC3E}">
        <p14:creationId xmlns:p14="http://schemas.microsoft.com/office/powerpoint/2010/main" val="795420363"/>
      </p:ext>
    </p:extLst>
  </p:cSld>
</p:sld>
</file>

<file path=ppt/slides/slide1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Doppler shift: review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3D6BD-A294-4F1E-A648-915CC2C5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871" y="2095500"/>
            <a:ext cx="751956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bright star  is moving toward Earth.  If you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C5C44-7789-4460-8E1B-9A8580FF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37" y="2555031"/>
            <a:ext cx="7792119" cy="60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were to look at the spectrum of this star, what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EBAD8-C415-469D-9436-C4BBABF1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540" y="3014409"/>
            <a:ext cx="302393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would it look like?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D36A1-4DD8-4235-80D4-64066C17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43" y="4226595"/>
            <a:ext cx="259788" cy="38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6D181-D720-4784-95D2-6E5D89CE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903" y="4226930"/>
            <a:ext cx="7333451" cy="38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absorption spectrum that is redshifted relative to an unmoving star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37E77-1DA3-41BA-936F-B3CAD7FB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166" y="4570234"/>
            <a:ext cx="259671" cy="38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F1846-B7AF-4B7E-80A7-EE06AE2F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910" y="4570527"/>
            <a:ext cx="7161925" cy="382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emission spectrum that is redshifted relative to an unmoving 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EC358-E4EF-4CDC-B619-84CDC527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166" y="4913878"/>
            <a:ext cx="273082" cy="38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8DBAA-DF51-4D32-ADAB-AF93DE9C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909" y="4914167"/>
            <a:ext cx="7348360" cy="382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continuous spectrum that is blueshifted relative to an unmoving star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EFA5F-B941-4494-B5D6-2915ABF9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166" y="5257527"/>
            <a:ext cx="273082" cy="38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DCE34-4DC3-42DE-BCFA-804B64C1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909" y="5257829"/>
            <a:ext cx="7440831" cy="381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absorption spectrum that is blueshifted relative to an unmoving star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C2217-F2EB-4F9A-ACA1-95DDDCD0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166" y="5601175"/>
            <a:ext cx="259671" cy="38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0326D-6975-4435-8EFB-36EEE974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909" y="5601498"/>
            <a:ext cx="7240973" cy="38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continuous spectrum that is redshifted relative to an unmoving star</a:t>
            </a:r>
          </a:p>
        </p:txBody>
      </p:sp>
    </p:spTree>
    <p:extLst>
      <p:ext uri="{BB962C8B-B14F-4D97-AF65-F5344CB8AC3E}">
        <p14:creationId xmlns:p14="http://schemas.microsoft.com/office/powerpoint/2010/main" val="695105868"/>
      </p:ext>
    </p:extLst>
  </p:cSld>
</p:sld>
</file>

<file path=ppt/slides/slide1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But to look at this light....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5C946-34FB-4072-9C5C-679DF249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788" y="2095500"/>
            <a:ext cx="4666424" cy="602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need to use telescopes.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502EA-B0B4-4BC7-9E1C-9088D16C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184" y="3401754"/>
            <a:ext cx="991592" cy="609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491116477"/>
      </p:ext>
    </p:extLst>
  </p:cSld>
</p:sld>
</file>

<file path=ppt/slides/slide1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Three main functions of a telescope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60FD2-C9ED-47F4-8A25-3F9EE70E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176" y="2095500"/>
            <a:ext cx="304085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 important!!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C4169-00CE-40E9-87E1-49FC6D37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176" y="2590518"/>
            <a:ext cx="151279" cy="537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83578-785F-44E2-90C9-D7197E0A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345" y="2590818"/>
            <a:ext cx="2914644" cy="537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4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Gather More 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7AD16-BFDE-410E-B3E2-10DF9907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372" y="2590710"/>
            <a:ext cx="2954164" cy="537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(bigger Is better)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5889D-E6FE-4DFD-94E1-310682F2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881" y="2590518"/>
            <a:ext cx="1206942" cy="537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47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7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making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22EAA-4B8C-4CA3-82E8-98201FF6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345" y="2952976"/>
            <a:ext cx="3459451" cy="537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4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objects appear brighter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61A30-EDE5-4179-A70F-416C89AF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176" y="3393550"/>
            <a:ext cx="1710802" cy="537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followed by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34D5D-0DE2-4F97-A945-25D816D8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176" y="3834313"/>
            <a:ext cx="151279" cy="537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8C7A2-F679-430B-A486-7C93716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345" y="3834313"/>
            <a:ext cx="2472480" cy="537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see fine detail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2DF43-735A-4B0D-8B29-66CF2DC3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734" y="4269489"/>
            <a:ext cx="2297952" cy="460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(called resolution)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1FB89-2A28-4D9F-BB67-BB56B826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176" y="4652583"/>
            <a:ext cx="2973273" cy="537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least important,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AFEE2-423F-4B38-80B1-D3A07CF9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176" y="5093106"/>
            <a:ext cx="151279" cy="537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33556-5FBB-4573-9026-B98AA21F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345" y="5093106"/>
            <a:ext cx="1206944" cy="537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magnify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FC1CC-DBA5-4001-AC57-C0A7365C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734" y="5545366"/>
            <a:ext cx="4193155" cy="3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magnification = (objective lens focal length 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08D6B-9564-4545-B113-D5775725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103" y="5522555"/>
            <a:ext cx="100076" cy="382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297F8-A6A2-4E2C-95C4-A0BAA671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561" y="5545041"/>
            <a:ext cx="2635624" cy="345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eyepiece lens focal length)</a:t>
            </a:r>
          </a:p>
        </p:txBody>
      </p:sp>
    </p:spTree>
    <p:extLst>
      <p:ext uri="{BB962C8B-B14F-4D97-AF65-F5344CB8AC3E}">
        <p14:creationId xmlns:p14="http://schemas.microsoft.com/office/powerpoint/2010/main" val="812530819"/>
      </p:ext>
    </p:extLst>
  </p:cSld>
</p:sld>
</file>

<file path=ppt/slides/slide1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Doppler effect and telescopes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4053958d0485f"/>
          <ns0:srcRect xmlns:ns0="http://schemas.openxmlformats.org/drawingml/2006/main" l="2886" r="2886" t="6816" b="7843"/>
          <a:stretch xmlns:a="http://schemas.openxmlformats.org/drawingml/2006/main"/>
        </p:blipFill>
        <p:spPr>
          <a:xfrm xmlns:a="http://schemas.openxmlformats.org/drawingml/2006/main">
            <a:off x="3192508" y="2095500"/>
            <a:ext cx="5806985" cy="4064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0CF01-4DA7-4381-A22B-A7BEE684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792" y="4490337"/>
            <a:ext cx="920785" cy="383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8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larger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C7CB7-E19A-4363-9D83-EBB79BFD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51" y="4801975"/>
            <a:ext cx="1565195" cy="391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2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2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 lens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1879A-D016-4BCD-B467-3D203FCF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454" y="5124605"/>
            <a:ext cx="1193494" cy="38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9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9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provides a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AA8C1-633F-4BCC-A3A8-9E838A39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408" y="5431486"/>
            <a:ext cx="1029597" cy="405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9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9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brighter (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06E19-D2F2-45CE-B91F-27A233A0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222" y="5427862"/>
            <a:ext cx="444549" cy="411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0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9AFB5-8767-4BA2-B038-1C756E09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948" y="5750849"/>
            <a:ext cx="711598" cy="400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72" b="0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72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0120C-E0F8-43FD-8D54-CE6AD770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683" y="5759615"/>
            <a:ext cx="820039" cy="386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) image</a:t>
            </a:r>
          </a:p>
        </p:txBody>
      </p:sp>
    </p:spTree>
    <p:extLst>
      <p:ext uri="{BB962C8B-B14F-4D97-AF65-F5344CB8AC3E}">
        <p14:creationId xmlns:p14="http://schemas.microsoft.com/office/powerpoint/2010/main" val="2040312353"/>
      </p:ext>
    </p:extLst>
  </p:cSld>
</p:sld>
</file>

<file path=ppt/slides/slide2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Examples of Telescopes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a0b29c1c64c28"/>
          <ns0:srcRect xmlns:ns0="http://schemas.openxmlformats.org/drawingml/2006/main" l="1299" r="1299" t="23343" b="2614"/>
          <a:stretch xmlns:a="http://schemas.openxmlformats.org/drawingml/2006/main"/>
        </p:blipFill>
        <p:spPr>
          <a:xfrm xmlns:a="http://schemas.openxmlformats.org/drawingml/2006/main">
            <a:off x="2636731" y="2095500"/>
            <a:ext cx="6918537" cy="4064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F0186-DC84-4C77-AE3C-5C07B985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985" y="2399383"/>
            <a:ext cx="841446" cy="249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2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Gamma-ray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B3DCE-B9DC-4AAE-BB16-FB453347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985" y="2611409"/>
            <a:ext cx="376376" cy="24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81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81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X-ray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98394-E9A7-4811-917E-2665262C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710" y="2164952"/>
            <a:ext cx="500987" cy="239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8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41C66-5C01-47AD-9AB7-69875463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633" y="2513880"/>
            <a:ext cx="585155" cy="263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9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9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Infrared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4037A-4087-431B-B83A-C18D2953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985" y="4578013"/>
            <a:ext cx="1032502" cy="253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IR/Microwave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C10D7-C2D9-46C2-898C-2F0ABA34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365" y="4386255"/>
            <a:ext cx="423794" cy="248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Radio</a:t>
            </a:r>
          </a:p>
        </p:txBody>
      </p:sp>
    </p:spTree>
    <p:extLst>
      <p:ext uri="{BB962C8B-B14F-4D97-AF65-F5344CB8AC3E}">
        <p14:creationId xmlns:p14="http://schemas.microsoft.com/office/powerpoint/2010/main" val="1748445762"/>
      </p:ext>
    </p:extLst>
  </p:cSld>
</p:sld>
</file>

<file path=ppt/slides/slide2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Why go into space?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0DD02-05AE-4B9F-AF61-1C8285AB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367" y="2095500"/>
            <a:ext cx="6258242" cy="606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get above the atmosphere.  Why?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DBA38-8098-4D42-B9CC-D8B27EF2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367" y="3195534"/>
            <a:ext cx="35133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8C342-ED17-4C2D-AA91-ED9244C8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620" y="3195534"/>
            <a:ext cx="68300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atmosphere distorts some light that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11805-C010-42C3-AB5A-E9CDC560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621" y="3651192"/>
            <a:ext cx="3421619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reaches the ground.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C943F-B58E-4050-88A9-ADEA6197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367" y="4204001"/>
            <a:ext cx="351334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1A68C-D328-4E90-98D8-FAD61059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620" y="4204001"/>
            <a:ext cx="6489441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 light does not reach the ground.</a:t>
            </a:r>
          </a:p>
        </p:txBody>
      </p:sp>
    </p:spTree>
    <p:extLst>
      <p:ext uri="{BB962C8B-B14F-4D97-AF65-F5344CB8AC3E}">
        <p14:creationId xmlns:p14="http://schemas.microsoft.com/office/powerpoint/2010/main" val="116385070"/>
      </p:ext>
    </p:extLst>
  </p:cSld>
</p:sld>
</file>

<file path=ppt/slides/slide2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The Hubble Space Telescope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99b3e9d1143d5"/>
          <ns0:srcRect xmlns:ns0="http://schemas.openxmlformats.org/drawingml/2006/main" l="2886" r="31169" t="2614" b="3641"/>
          <a:stretch xmlns:a="http://schemas.openxmlformats.org/drawingml/2006/main"/>
        </p:blipFill>
        <p:spPr>
          <a:xfrm xmlns:a="http://schemas.openxmlformats.org/drawingml/2006/main">
            <a:off x="3414746" y="2095500"/>
            <a:ext cx="3699697" cy="4064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B2400-5412-431A-B45E-FC09FD15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594" y="2610894"/>
            <a:ext cx="1307850" cy="385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above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4E8D3-1FA0-4B79-9A1D-F79F7A78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3061" y="2901324"/>
            <a:ext cx="834055" cy="385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Earth’s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2A26F-BBBE-420F-9320-5C0799D9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743" y="3191770"/>
            <a:ext cx="1427038" cy="385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atmosphere,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2A835-91AB-4C57-B430-48C01619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484" y="3479824"/>
            <a:ext cx="1253412" cy="385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Hubble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F4165-F228-430D-B30F-CADE2614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362" y="3770254"/>
            <a:ext cx="771484" cy="385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Space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17037-4D55-44B9-934F-61980873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613" y="4064467"/>
            <a:ext cx="1173094" cy="379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Telescope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0C9E2-3328-4AEB-B5D0-4F3B9C62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770" y="4348754"/>
            <a:ext cx="998885" cy="385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provides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D6D35-F520-449A-8FEB-0697A399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770" y="4639185"/>
            <a:ext cx="999275" cy="385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stunning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8806E-2DD0-40FF-A28C-ABDA1588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3052" y="4929629"/>
            <a:ext cx="1454202" cy="385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details about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EB829-D7BE-4496-8EA4-161E0980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942" y="5217683"/>
            <a:ext cx="1333586" cy="385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9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9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universe</a:t>
            </a:r>
          </a:p>
        </p:txBody>
      </p:sp>
    </p:spTree>
    <p:extLst>
      <p:ext uri="{BB962C8B-B14F-4D97-AF65-F5344CB8AC3E}">
        <p14:creationId xmlns:p14="http://schemas.microsoft.com/office/powerpoint/2010/main" val="1712279824"/>
      </p:ext>
    </p:extLst>
  </p:cSld>
</p:sld>
</file>

<file path=ppt/slides/slide2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Earth’s atmosphere hinders astronomical research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f3da10d92458c"/>
          <ns0:srcRect xmlns:ns0="http://schemas.openxmlformats.org/drawingml/2006/main" l="1299" r="1299" t="40243" b="2614"/>
          <a:stretch xmlns:a="http://schemas.openxmlformats.org/drawingml/2006/main"/>
        </p:blipFill>
        <p:spPr>
          <a:xfrm xmlns:a="http://schemas.openxmlformats.org/drawingml/2006/main">
            <a:off x="2896668" y="3258772"/>
            <a:ext cx="6398664" cy="290072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94AE6-ED1C-4EE3-B438-D5FA4143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187" y="2097001"/>
            <a:ext cx="1793602" cy="232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of stars taken with a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F9120-0054-4874-8539-F9094122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187" y="2288138"/>
            <a:ext cx="1611992" cy="231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telescope on the Earth’s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D0054-12AB-4663-AEB7-3E5989D5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187" y="2477990"/>
            <a:ext cx="495061" cy="233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59996-86ED-4A53-94F3-FEBF898B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299" y="2095500"/>
            <a:ext cx="2131237" cy="23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picture taken with Hubble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3236A-B1B1-4504-8C6F-629D4599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299" y="2293324"/>
            <a:ext cx="2328259" cy="22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0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Space Telescope high above Earth’s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AD05C-8E11-40BB-975A-87351A20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299" y="2473915"/>
            <a:ext cx="1351977" cy="24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blurring atmosphere</a:t>
            </a:r>
          </a:p>
        </p:txBody>
      </p:sp>
    </p:spTree>
    <p:extLst>
      <p:ext uri="{BB962C8B-B14F-4D97-AF65-F5344CB8AC3E}">
        <p14:creationId xmlns:p14="http://schemas.microsoft.com/office/powerpoint/2010/main" val="1317341020"/>
      </p:ext>
    </p:extLst>
  </p:cSld>
</p:sld>
</file>

<file path=ppt/slides/slide2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Not all EM radiation can penetrate Earth’s atmosphere.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e790cd8f94123"/>
          <ns0:srcRect xmlns:ns0="http://schemas.openxmlformats.org/drawingml/2006/main" l="1299" r="1299" t="17274" b="2614"/>
          <a:stretch xmlns:a="http://schemas.openxmlformats.org/drawingml/2006/main"/>
        </p:blipFill>
        <p:spPr>
          <a:xfrm xmlns:a="http://schemas.openxmlformats.org/drawingml/2006/main">
            <a:off x="2898797" y="2095500"/>
            <a:ext cx="6394406" cy="406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08401"/>
      </p:ext>
    </p:extLst>
  </p:cSld>
</p:sld>
</file>

<file path=ppt/slides/slide2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Factors in locating telescopes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ce70836c14eef"/>
          <ns0:srcRect xmlns:ns0="http://schemas.openxmlformats.org/drawingml/2006/main" l="5988" r="5988" t="38002" b="4669"/>
          <a:stretch xmlns:a="http://schemas.openxmlformats.org/drawingml/2006/main"/>
        </p:blipFill>
        <p:spPr>
          <a:xfrm xmlns:a="http://schemas.openxmlformats.org/drawingml/2006/main">
            <a:off x="2892255" y="2934747"/>
            <a:ext cx="6407490" cy="322475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EC41B-42B1-4FF8-8F8F-78DCD72F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154" y="2095500"/>
            <a:ext cx="6085923" cy="438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visible light telescopes:  good weather, stable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A02E4-67E2-49DF-BA2E-6816F622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97" y="2422593"/>
            <a:ext cx="5628083" cy="44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atmosphere (good “seeing”), away from lights.</a:t>
            </a:r>
          </a:p>
        </p:txBody>
      </p:sp>
    </p:spTree>
    <p:extLst>
      <p:ext uri="{BB962C8B-B14F-4D97-AF65-F5344CB8AC3E}">
        <p14:creationId xmlns:p14="http://schemas.microsoft.com/office/powerpoint/2010/main" val="1884690166"/>
      </p:ext>
    </p:extLst>
  </p:cSld>
</p:sld>
</file>

<file path=ppt/slides/slide2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Factors in locating telescopes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6D215-8D92-4789-AD90-C91770A2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880" y="2095500"/>
            <a:ext cx="8358241" cy="605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8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8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ultraviolet, x-ray, gamma-ray telescopes:  the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DBDD4-92A2-426C-A205-8B94484D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005" y="2547143"/>
            <a:ext cx="7947268" cy="608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 doesn’t penetrate the atmosphere, so you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0C07D-1BB1-46BD-A3C0-1E04D54F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005" y="3004421"/>
            <a:ext cx="7418369" cy="607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need to put your telescope on a balloon, an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77702-3DFD-45CA-8C77-8D153679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005" y="3457233"/>
            <a:ext cx="5307105" cy="608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9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airplane, a rocket, or a satellite.</a:t>
            </a:r>
          </a:p>
        </p:txBody>
      </p:sp>
    </p:spTree>
    <p:extLst>
      <p:ext uri="{BB962C8B-B14F-4D97-AF65-F5344CB8AC3E}">
        <p14:creationId xmlns:p14="http://schemas.microsoft.com/office/powerpoint/2010/main" val="670383224"/>
      </p:ext>
    </p:extLst>
  </p:cSld>
</p:sld>
</file>

<file path=ppt/slides/slide2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Factors in locating telescopes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17909-DA16-48F2-95E0-1896C424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659" y="2095500"/>
            <a:ext cx="6861595" cy="530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infrared telescopes: the light is blocked by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0D6B0-DDF6-4340-8D90-9F18AA1C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380" y="2454083"/>
            <a:ext cx="7116831" cy="530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water and oxygen, so dry locations.  Mountains,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B3DE9-3133-4E1E-BCCB-687BA4E6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380" y="2809056"/>
            <a:ext cx="5142273" cy="530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aircraft, satellites, the South Pole.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C395F-0A90-47F7-8B28-F2B35A7E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659" y="3684551"/>
            <a:ext cx="7192302" cy="530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microwave telescopes:  the same conditions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A0D0D-AE97-46FE-A33A-CBC9C3CB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380" y="4041289"/>
            <a:ext cx="2549953" cy="527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 infrared apply.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F782C-5DDA-4F3F-B3EA-1D363381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659" y="4911309"/>
            <a:ext cx="7249745" cy="530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radio telescopes:  away from cellphones and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CD052-9404-4772-9639-C7354DF5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380" y="5269811"/>
            <a:ext cx="7265961" cy="530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radio stations, microwave ovens, cars, airplanes,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57302-B714-4E46-9530-6C7F0FCB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380" y="5627374"/>
            <a:ext cx="1985367" cy="532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1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1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people, etc…</a:t>
            </a:r>
          </a:p>
        </p:txBody>
      </p:sp>
    </p:spTree>
    <p:extLst>
      <p:ext uri="{BB962C8B-B14F-4D97-AF65-F5344CB8AC3E}">
        <p14:creationId xmlns:p14="http://schemas.microsoft.com/office/powerpoint/2010/main" val="1473953792"/>
      </p:ext>
    </p:extLst>
  </p:cSld>
</p:sld>
</file>

<file path=ppt/slides/slide2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Why put a telescope in WV?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6b91d4e6a4ba7"/>
          <ns0:srcRect xmlns:ns0="http://schemas.openxmlformats.org/drawingml/2006/main" l="55339" r="1299" t="2614" b="2614"/>
          <a:stretch xmlns:a="http://schemas.openxmlformats.org/drawingml/2006/main"/>
        </p:blipFill>
        <p:spPr>
          <a:xfrm xmlns:a="http://schemas.openxmlformats.org/drawingml/2006/main">
            <a:off x="6314536" y="2095500"/>
            <a:ext cx="2406368" cy="4064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3A452-3161-4C75-9846-E32D4EB0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095" y="3061606"/>
            <a:ext cx="88871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B0ED7-8E57-4FDA-B8EB-E269C144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543" y="3061606"/>
            <a:ext cx="2331933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 are very few people.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544A9-6AE6-4F38-A78A-1A7D760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095" y="3292812"/>
            <a:ext cx="88871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C47DB-50D9-4C1E-B519-5D61C081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543" y="3292812"/>
            <a:ext cx="2330985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 is a “National Radio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BED13-9EBE-4653-B090-74777AA3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543" y="3479683"/>
            <a:ext cx="1047144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Quiet Zone”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8E5B5-4309-415E-B415-FF77B99A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095" y="3713239"/>
            <a:ext cx="88871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E0F2B-C696-4A7E-8024-F4AEA26E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543" y="3713239"/>
            <a:ext cx="2451294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Therefore, no cellphones or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A7444-80C9-4844-AA6B-E9A85CF3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543" y="3900096"/>
            <a:ext cx="1997591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radio stations near the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9302C-A393-4736-898A-D91C3447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543" y="4084635"/>
            <a:ext cx="1003487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telescopes.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0C378-3864-411E-8C17-4A614A7E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095" y="4318206"/>
            <a:ext cx="88871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C5F34-F24C-43DA-901A-57C0B7D9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49" y="4318206"/>
            <a:ext cx="2422660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Also, no microwaves, Wii’s,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2192B-9F5A-4855-A2A9-D8B6B803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543" y="4505027"/>
            <a:ext cx="2579907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wireless phones/networks, or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99E73-B4D7-4027-9BB9-314AF82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543" y="4689525"/>
            <a:ext cx="2558374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cars with sparkplugs close to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7AC63-06BB-4943-ACAA-06F0D42B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543" y="4876393"/>
            <a:ext cx="1328006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telescopes.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AEE98-2BCB-4971-A969-64A6A04D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095" y="5109949"/>
            <a:ext cx="88871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85077-927A-47A7-A437-34A88E61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543" y="5109949"/>
            <a:ext cx="2655475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Minimizes light pollution in the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356B1-3BCF-46A0-959A-07285DBB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543" y="5296806"/>
            <a:ext cx="2072225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 of radio frequency 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5FEBD-333A-407B-9263-A9DA0007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543" y="5481342"/>
            <a:ext cx="1596071" cy="310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interference (RFI).</a:t>
            </a:r>
          </a:p>
        </p:txBody>
      </p:sp>
    </p:spTree>
    <p:extLst>
      <p:ext uri="{BB962C8B-B14F-4D97-AF65-F5344CB8AC3E}">
        <p14:creationId xmlns:p14="http://schemas.microsoft.com/office/powerpoint/2010/main" val="1954650376"/>
      </p:ext>
    </p:extLst>
  </p:cSld>
</p:sld>
</file>

<file path=ppt/slides/slide2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Choosing a telescope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321EB-01AD-4A54-BF32-B46758E2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413" y="2095500"/>
            <a:ext cx="5552118" cy="535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Imagine you’re the head of a funding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2E01D-F44A-4928-879C-BF543E81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789" y="2497409"/>
            <a:ext cx="5955383" cy="53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agency that can afford to build only one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8DCC8-00B2-4EC4-9E0C-B07D077B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555" y="2899212"/>
            <a:ext cx="6035819" cy="535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telescope.  Which of the three proposed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AB3B5-F4F7-4DB4-B74A-6CF4E05B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189" y="3301069"/>
            <a:ext cx="6519622" cy="535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telescopes below would be best to support?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95931-E1D2-48A9-B947-B8766920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105" y="3990059"/>
            <a:ext cx="274762" cy="41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24291-A282-4CB1-94F1-B17C16C9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610" y="3992403"/>
            <a:ext cx="4245730" cy="41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44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44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 gamma ray telescope in Antarctica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F041A-1853-400D-A681-39D3F50E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233" y="4365690"/>
            <a:ext cx="274634" cy="41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9D7A7-99D7-419F-B1B8-E577DED2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610" y="4367109"/>
            <a:ext cx="4798149" cy="416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5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5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 radio telescope in orbit above the Earth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09294-59CE-4353-AAFB-42A3E605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233" y="4741338"/>
            <a:ext cx="288602" cy="41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89661-7E66-47A1-991C-59E147AD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610" y="4742674"/>
            <a:ext cx="5727284" cy="417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53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53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 visible telescope located high on a mountain in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1C566-1392-458D-AEC8-3174494F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738" y="5052941"/>
            <a:ext cx="577964" cy="41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4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64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Peru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5A58C-A77F-41F1-A3A1-F536CB95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233" y="5428617"/>
            <a:ext cx="288602" cy="41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F571E-ED7E-427F-9ECA-8EFE7D77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610" y="5429120"/>
            <a:ext cx="5338881" cy="418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5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5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An ultraviolet telescope located in the Mojave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B9E28-FFC4-43BA-B02D-734E0D5C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738" y="5740172"/>
            <a:ext cx="752431" cy="41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64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064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desert</a:t>
            </a:r>
          </a:p>
        </p:txBody>
      </p:sp>
    </p:spTree>
    <p:extLst>
      <p:ext uri="{BB962C8B-B14F-4D97-AF65-F5344CB8AC3E}">
        <p14:creationId xmlns:p14="http://schemas.microsoft.com/office/powerpoint/2010/main" val="1481001461"/>
      </p:ext>
    </p:extLst>
  </p:cSld>
</p:sld>
</file>

<file path=ppt/slides/slide3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Stars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8A739-7A5E-4360-BF0E-CBB592D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539" y="2095500"/>
            <a:ext cx="16696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0A01E-DD90-407A-8F03-DA70E998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708" y="2095500"/>
            <a:ext cx="613275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 what do we know about stars by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3265F-E214-4961-97BB-F5586448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708" y="2554941"/>
            <a:ext cx="2850957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observing them?</a:t>
            </a:r>
          </a:p>
        </p:txBody>
      </p:sp>
    </p:spTree>
    <p:extLst>
      <p:ext uri="{BB962C8B-B14F-4D97-AF65-F5344CB8AC3E}">
        <p14:creationId xmlns:p14="http://schemas.microsoft.com/office/powerpoint/2010/main" val="978194732"/>
      </p:ext>
    </p:extLst>
  </p:cSld>
</p:sld>
</file>

<file path=ppt/slides/slide3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Spectra of different stars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553ad67fa42e2"/>
          <ns0:srcRect xmlns:ns0="http://schemas.openxmlformats.org/drawingml/2006/main" l="51299" r="1299" t="2708" b="2708"/>
          <a:stretch xmlns:a="http://schemas.openxmlformats.org/drawingml/2006/main"/>
        </p:blipFill>
        <p:spPr>
          <a:xfrm xmlns:a="http://schemas.openxmlformats.org/drawingml/2006/main">
            <a:off x="6090303" y="2095500"/>
            <a:ext cx="2635783" cy="4064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2E9AC-C18B-4FB6-97C2-EE31BF72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430" y="2795051"/>
            <a:ext cx="2382762" cy="38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(at the same distance)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DC85D-8451-4B3C-8E71-AD786225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914" y="3881122"/>
            <a:ext cx="2024946" cy="336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star is hottest?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7EBBE-C1C9-478D-A49F-A1280F63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914" y="4182943"/>
            <a:ext cx="2060537" cy="336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star is coolest?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A3F1B-BCAB-437F-BD10-C04DD13B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914" y="4484974"/>
            <a:ext cx="2410374" cy="336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 you see any patterns?</a:t>
            </a:r>
          </a:p>
        </p:txBody>
      </p:sp>
    </p:spTree>
    <p:extLst>
      <p:ext uri="{BB962C8B-B14F-4D97-AF65-F5344CB8AC3E}">
        <p14:creationId xmlns:p14="http://schemas.microsoft.com/office/powerpoint/2010/main" val="1569548670"/>
      </p:ext>
    </p:extLst>
  </p:cSld>
</p:sld>
</file>

<file path=ppt/slides/slide3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Spectral Classification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77d1cb13f49ca"/>
          <ns0:srcRect xmlns:ns0="http://schemas.openxmlformats.org/drawingml/2006/main" l="17460" r="14719" t="39122" b="5882"/>
          <a:stretch xmlns:a="http://schemas.openxmlformats.org/drawingml/2006/main"/>
        </p:blipFill>
        <p:spPr>
          <a:xfrm xmlns:a="http://schemas.openxmlformats.org/drawingml/2006/main">
            <a:off x="3709850" y="3103682"/>
            <a:ext cx="4876857" cy="305581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F4F16-C383-45DE-8DF4-8A815347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900" y="2095500"/>
            <a:ext cx="6178199" cy="434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These are the same spectra in the same order you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B4615-E663-4159-AD9F-53E20C94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16" y="2419161"/>
            <a:ext cx="5819614" cy="434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looked at them before (ordered by temperature).</a:t>
            </a:r>
          </a:p>
        </p:txBody>
      </p:sp>
    </p:spTree>
    <p:extLst>
      <p:ext uri="{BB962C8B-B14F-4D97-AF65-F5344CB8AC3E}">
        <p14:creationId xmlns:p14="http://schemas.microsoft.com/office/powerpoint/2010/main" val="1027160245"/>
      </p:ext>
    </p:extLst>
  </p:cSld>
</p:sld>
</file>

<file path=ppt/slides/slide3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Spectral Classification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f201dcb3b4ba3"/>
          <ns0:srcRect xmlns:ns0="http://schemas.openxmlformats.org/drawingml/2006/main" l="17460" r="14719" t="39122" b="5882"/>
          <a:stretch xmlns:a="http://schemas.openxmlformats.org/drawingml/2006/main"/>
        </p:blipFill>
        <p:spPr>
          <a:xfrm xmlns:a="http://schemas.openxmlformats.org/drawingml/2006/main">
            <a:off x="3550399" y="2898549"/>
            <a:ext cx="5204235" cy="326095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7527E-1EFA-4303-B49D-932AD5D9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959" y="2095500"/>
            <a:ext cx="6572081" cy="46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Notice that different lines appear and disappear as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EC7EE-2E74-402E-9E0C-CC27474C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284" y="2440119"/>
            <a:ext cx="3331081" cy="46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temperature changes.</a:t>
            </a:r>
          </a:p>
        </p:txBody>
      </p:sp>
    </p:spTree>
    <p:extLst>
      <p:ext uri="{BB962C8B-B14F-4D97-AF65-F5344CB8AC3E}">
        <p14:creationId xmlns:p14="http://schemas.microsoft.com/office/powerpoint/2010/main" val="200299222"/>
      </p:ext>
    </p:extLst>
  </p:cSld>
</p:sld>
</file>

<file path=ppt/slides/slide3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Spectral Classification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967f1042d4291"/>
          <ns0:srcRect xmlns:ns0="http://schemas.openxmlformats.org/drawingml/2006/main" l="21212" r="22944" t="46125" b="5696"/>
          <a:stretch xmlns:a="http://schemas.openxmlformats.org/drawingml/2006/main"/>
        </p:blipFill>
        <p:spPr>
          <a:xfrm xmlns:a="http://schemas.openxmlformats.org/drawingml/2006/main">
            <a:off x="3841898" y="3310725"/>
            <a:ext cx="4273162" cy="28487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783B0-0DCC-45D0-8807-714100C9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514" y="2095500"/>
            <a:ext cx="6400972" cy="462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 measuring the relative depths of each line, we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E9EC0-D8FD-480B-8EB5-A40357EF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500" y="2440899"/>
            <a:ext cx="5164225" cy="46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7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7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determine the temperature of a star.</a:t>
            </a:r>
          </a:p>
        </p:txBody>
      </p:sp>
    </p:spTree>
    <p:extLst>
      <p:ext uri="{BB962C8B-B14F-4D97-AF65-F5344CB8AC3E}">
        <p14:creationId xmlns:p14="http://schemas.microsoft.com/office/powerpoint/2010/main" val="305060425"/>
      </p:ext>
    </p:extLst>
  </p:cSld>
</p:sld>
</file>

<file path=ppt/slides/slide3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Summary of Spectral Classes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d2a0a8022475d"/>
          <ns0:srcRect xmlns:ns0="http://schemas.openxmlformats.org/drawingml/2006/main" l="6133" r="7864" t="26797" b="30812"/>
          <a:stretch xmlns:a="http://schemas.openxmlformats.org/drawingml/2006/main"/>
        </p:blipFill>
        <p:spPr>
          <a:xfrm xmlns:a="http://schemas.openxmlformats.org/drawingml/2006/main">
            <a:off x="1770743" y="2095500"/>
            <a:ext cx="8650514" cy="32947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0123"/>
      </p:ext>
    </p:extLst>
  </p:cSld>
</p:sld>
</file>

<file path=ppt/slides/slide3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2800" b="1">
                <a:solidFill>
                  <a:srgbClr val="002855"/>
                </a:solidFill>
                <a:latin typeface="Arial"/>
              </a:rPr>
              <a:t>Stars are classified by their spectra as O, B, A, F, G, K, and M spectral types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D4EAB-1847-4738-AFFB-0F52644D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839" y="2095500"/>
            <a:ext cx="140259" cy="48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6ECE2-D425-4454-9236-141AB606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773" y="2098070"/>
            <a:ext cx="2044209" cy="485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B A F G K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221A2-1632-47BE-B3E2-2C6CA164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839" y="2497319"/>
            <a:ext cx="140259" cy="48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08F7E-6C2E-4F09-8BA4-1A731031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773" y="2497319"/>
            <a:ext cx="2352205" cy="48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hottest to coolest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72F76-9783-40FE-AFA8-6D5A2015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839" y="2902829"/>
            <a:ext cx="140259" cy="48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9" b="0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409" b="0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F165F-CD36-4294-8985-1D165D00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773" y="2902829"/>
            <a:ext cx="918788" cy="48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9" b="0" i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2409" b="0" i="0">
                <a:solidFill>
                  <a:srgbClr val="0000FF"/>
                </a:solidFill>
                <a:latin typeface="Arial"/>
                <a:ea typeface="Arial"/>
                <a:cs typeface="Arial"/>
              </a:rPr>
              <a:t>bluish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737C7-92B2-4947-8F30-C3D2B0F0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862" y="2902829"/>
            <a:ext cx="374315" cy="48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96A1B-4151-425D-9E79-B2A0F135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351" y="2902829"/>
            <a:ext cx="1037623" cy="48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9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409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reddish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59779-BCF9-46D8-8359-9522A4F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839" y="3308247"/>
            <a:ext cx="140259" cy="48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8000C-A0D2-4715-9548-6DCC736E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773" y="3308247"/>
            <a:ext cx="6610388" cy="48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class is further divided from 0-9 (e.g. A0 is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D298C-90A6-4D5E-801E-FF4DDE28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773" y="3636872"/>
            <a:ext cx="4877803" cy="48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hotter than A9, A9 is hotter than F0)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B06052-332A-403A-AE8B-FA9AF9B1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839" y="4041859"/>
            <a:ext cx="140260" cy="48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6C66D-1D86-4D8D-B68A-907F493F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624" y="4041859"/>
            <a:ext cx="5092903" cy="48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important sequence to remember: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B4B66-EE55-4339-ADE4-8837A292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3" y="4441713"/>
            <a:ext cx="176642" cy="412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C4CC9-6A0B-4E1E-9939-BC37C3B2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696" y="4441713"/>
            <a:ext cx="4124537" cy="412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Oh Be a Fine Guy (or Girl), Kiss 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09223-0A12-4D97-9985-2BFCF31B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3" y="4780818"/>
            <a:ext cx="176642" cy="412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FADC9-A087-408B-BB76-3820CA62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696" y="4780818"/>
            <a:ext cx="5969266" cy="412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Overseas Broadcast - A Flash: Godzilla Kills Mothra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EAE37-EB96-4DFC-810C-42E9415A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3" y="5123660"/>
            <a:ext cx="176642" cy="412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F11F5-F42F-460F-B452-6D283C46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696" y="5124253"/>
            <a:ext cx="3398304" cy="411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Oh, Boy, An F Grade Kills 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462F9E-0612-4CA7-999A-E4F2ACCE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623" y="5466476"/>
            <a:ext cx="176642" cy="412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E1A43-60BD-409D-83EA-F626C25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696" y="5466476"/>
            <a:ext cx="5565005" cy="412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Bad Astronomers Forget Generally Known 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DE6F67-8027-4C63-AFF0-088EB8C9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697" y="5746647"/>
            <a:ext cx="1430290" cy="412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Mnemonics.</a:t>
            </a:r>
          </a:p>
        </p:txBody>
      </p:sp>
    </p:spTree>
    <p:extLst>
      <p:ext uri="{BB962C8B-B14F-4D97-AF65-F5344CB8AC3E}">
        <p14:creationId xmlns:p14="http://schemas.microsoft.com/office/powerpoint/2010/main" val="1162043525"/>
      </p:ext>
    </p:extLst>
  </p:cSld>
</p:sld>
</file>

<file path=ppt/slides/slide3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For thousands of nearby stars we can find: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FF084-4953-4D2C-9C11-B18A1C11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902" y="2095500"/>
            <a:ext cx="160126" cy="6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F8F5B-8B59-4BB3-8558-F7C510E9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610" y="2095500"/>
            <a:ext cx="3178328" cy="6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total luminosity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D7B82-3895-441D-9D62-4CE7F1C6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902" y="2643151"/>
            <a:ext cx="160126" cy="6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35C7D-6C17-41F0-A090-5B7BC999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610" y="2643151"/>
            <a:ext cx="5760548" cy="6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temperature (color or spectral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107EB-B4BD-4967-8FCD-1E204035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610" y="3101519"/>
            <a:ext cx="978835" cy="6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type)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D3675-2187-431B-BBB7-8823D455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902" y="3649148"/>
            <a:ext cx="160126" cy="6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14B30-865F-4B35-BC9D-3D1091EE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610" y="3649148"/>
            <a:ext cx="2733813" cy="6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size (radius)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67343-4DB6-4AEC-B292-E673B90C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902" y="4196799"/>
            <a:ext cx="160126" cy="6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E6087-BE19-4424-8B08-C0DD7F1A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610" y="4196799"/>
            <a:ext cx="2078542" cy="60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distance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D9026-F296-45FD-B1A9-646C0932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400" y="4841506"/>
            <a:ext cx="5796698" cy="459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6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WE FIND ANY RHYME, REASON, OR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632C0-A75D-4A44-A89C-BC323094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924" y="5265609"/>
            <a:ext cx="2402709" cy="437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5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5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RELATIONSHIPS?</a:t>
            </a:r>
          </a:p>
        </p:txBody>
      </p:sp>
    </p:spTree>
    <p:extLst>
      <p:ext uri="{BB962C8B-B14F-4D97-AF65-F5344CB8AC3E}">
        <p14:creationId xmlns:p14="http://schemas.microsoft.com/office/powerpoint/2010/main" val="2028694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ready.pptx" id="{6D5A5D80-B59F-47FE-A006-FBFC2926142F}" vid="{69CEE3E8-36C9-43B0-A0FB-27FA92D72A34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WVU DSPIRA</dc:creator>
  <lastModifiedBy>WVU DSPIRA</lastModifiedBy>
  <dc:title>Doppler effect and telescopes</dc:title>
  <dcterms:created xsi:type="dcterms:W3CDTF">2026-09-26T20:03:10.9120000Z</dcterms:created>
  <dcterms:modified xsi:type="dcterms:W3CDTF">2026-09-26T20:03:10.9120000Z</dcterms:modified>
</coreProperties>
</file>