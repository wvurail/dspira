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a5781485d394ca8" /><Relationship Type="http://schemas.openxmlformats.org/officeDocument/2006/relationships/extended-properties" Target="/docProps/app.xml" Id="R39df49f4dd074e93" /><Relationship Type="http://schemas.openxmlformats.org/officeDocument/2006/relationships/officeDocument" Target="/ppt/presentation.xml" Id="Re8810158c30a46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fe5a655b1cb4f0e"/>
  </p:sldMasterIdLst>
  <p:notesMasterIdLst>
    <p:notesMasterId xmlns:r="http://schemas.openxmlformats.org/officeDocument/2006/relationships" r:id="Re9ac29b6019d4a3d"/>
  </p:notesMasterIdLst>
  <p:sldIdLst>
    <p:sldId xmlns:r="http://schemas.openxmlformats.org/officeDocument/2006/relationships" id="256" r:id="Rbe62416acda44d00"/>
    <p:sldId xmlns:r="http://schemas.openxmlformats.org/officeDocument/2006/relationships" id="257" r:id="R274bfd5310ea48a7"/>
    <p:sldId xmlns:r="http://schemas.openxmlformats.org/officeDocument/2006/relationships" id="258" r:id="R6bdd67432ee44aff"/>
    <p:sldId xmlns:r="http://schemas.openxmlformats.org/officeDocument/2006/relationships" id="259" r:id="R69ed39f15ae34a14"/>
    <p:sldId xmlns:r="http://schemas.openxmlformats.org/officeDocument/2006/relationships" id="260" r:id="Rb187eb75ea0f4b6e"/>
    <p:sldId xmlns:r="http://schemas.openxmlformats.org/officeDocument/2006/relationships" id="261" r:id="R084b368b77ac4e98"/>
    <p:sldId xmlns:r="http://schemas.openxmlformats.org/officeDocument/2006/relationships" id="262" r:id="R828a688803914e72"/>
    <p:sldId xmlns:r="http://schemas.openxmlformats.org/officeDocument/2006/relationships" id="263" r:id="R68c2b79128694298"/>
    <p:sldId xmlns:r="http://schemas.openxmlformats.org/officeDocument/2006/relationships" id="264" r:id="Rd127b57e769d4ddd"/>
    <p:sldId xmlns:r="http://schemas.openxmlformats.org/officeDocument/2006/relationships" id="265" r:id="R06d6778bb8f94a9e"/>
    <p:sldId xmlns:r="http://schemas.openxmlformats.org/officeDocument/2006/relationships" id="266" r:id="Rf8dd444724ed4e29"/>
    <p:sldId xmlns:r="http://schemas.openxmlformats.org/officeDocument/2006/relationships" id="267" r:id="R3d909103f29843ab"/>
    <p:sldId xmlns:r="http://schemas.openxmlformats.org/officeDocument/2006/relationships" id="268" r:id="Rc64b426c476b4cfa"/>
    <p:sldId xmlns:r="http://schemas.openxmlformats.org/officeDocument/2006/relationships" id="269" r:id="R6f97e46117f847d7"/>
    <p:sldId xmlns:r="http://schemas.openxmlformats.org/officeDocument/2006/relationships" id="270" r:id="R7332570d7b154348"/>
    <p:sldId xmlns:r="http://schemas.openxmlformats.org/officeDocument/2006/relationships" id="271" r:id="Rd8891ae3519a415d"/>
    <p:sldId xmlns:r="http://schemas.openxmlformats.org/officeDocument/2006/relationships" id="272" r:id="R56ab9c98f85f4eb6"/>
    <p:sldId xmlns:r="http://schemas.openxmlformats.org/officeDocument/2006/relationships" id="273" r:id="R39d3139fbd344db4"/>
    <p:sldId xmlns:r="http://schemas.openxmlformats.org/officeDocument/2006/relationships" id="274" r:id="R5c23df4b03db46d5"/>
    <p:sldId xmlns:r="http://schemas.openxmlformats.org/officeDocument/2006/relationships" id="275" r:id="Rd7c859a492af4fe3"/>
    <p:sldId xmlns:r="http://schemas.openxmlformats.org/officeDocument/2006/relationships" id="276" r:id="R4e84bd2eae704722"/>
    <p:sldId xmlns:r="http://schemas.openxmlformats.org/officeDocument/2006/relationships" id="277" r:id="Rc6e2c4d9b6ee448e"/>
    <p:sldId xmlns:r="http://schemas.openxmlformats.org/officeDocument/2006/relationships" id="278" r:id="R2f4018c3b04740cb"/>
    <p:sldId xmlns:r="http://schemas.openxmlformats.org/officeDocument/2006/relationships" id="279" r:id="R2aa404a144434cf4"/>
    <p:sldId xmlns:r="http://schemas.openxmlformats.org/officeDocument/2006/relationships" id="280" r:id="Rcdcff886618547f3"/>
    <p:sldId xmlns:r="http://schemas.openxmlformats.org/officeDocument/2006/relationships" id="281" r:id="Re4eae62341704373"/>
    <p:sldId xmlns:r="http://schemas.openxmlformats.org/officeDocument/2006/relationships" id="282" r:id="Rb39c4b3ece99454f"/>
    <p:sldId xmlns:r="http://schemas.openxmlformats.org/officeDocument/2006/relationships" id="283" r:id="R4193c14cd805439d"/>
    <p:sldId xmlns:r="http://schemas.openxmlformats.org/officeDocument/2006/relationships" id="284" r:id="R95cf4a48399e4137"/>
    <p:sldId xmlns:r="http://schemas.openxmlformats.org/officeDocument/2006/relationships" id="285" r:id="Rb077fcb43dcd4944"/>
    <p:sldId xmlns:r="http://schemas.openxmlformats.org/officeDocument/2006/relationships" id="286" r:id="R7ec136e42ead4d16"/>
    <p:sldId xmlns:r="http://schemas.openxmlformats.org/officeDocument/2006/relationships" id="287" r:id="R3a645423cbeb48b1"/>
    <p:sldId xmlns:r="http://schemas.openxmlformats.org/officeDocument/2006/relationships" id="288" r:id="Rebaebe5ba7ea446b"/>
    <p:sldId xmlns:r="http://schemas.openxmlformats.org/officeDocument/2006/relationships" id="289" r:id="Rd15e7f7412ef4f5a"/>
    <p:sldId xmlns:r="http://schemas.openxmlformats.org/officeDocument/2006/relationships" id="290" r:id="Re8ad0640f6ac4c41"/>
    <p:sldId xmlns:r="http://schemas.openxmlformats.org/officeDocument/2006/relationships" id="291" r:id="R76f42d6ff9124220"/>
    <p:sldId xmlns:r="http://schemas.openxmlformats.org/officeDocument/2006/relationships" id="292" r:id="R6a7535c314394d3c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6eaa53aed464f3c" /><Relationship Type="http://schemas.openxmlformats.org/officeDocument/2006/relationships/slideMaster" Target="/ppt/slideMasters/slideMaster1.xml" Id="Rbfe5a655b1cb4f0e" /><Relationship Type="http://schemas.openxmlformats.org/officeDocument/2006/relationships/notesMaster" Target="/ppt/notesMasters/notesMaster1.xml" Id="Re9ac29b6019d4a3d" /><Relationship Type="http://schemas.openxmlformats.org/officeDocument/2006/relationships/presProps" Target="/ppt/presProps.xml" Id="R6b989fd7dd134b37" /><Relationship Type="http://schemas.openxmlformats.org/officeDocument/2006/relationships/tableStyles" Target="/ppt/tableStyles.xml" Id="R4d80ffb7b4654e8f" /><Relationship Type="http://schemas.openxmlformats.org/officeDocument/2006/relationships/slide" Target="/ppt/slides/slide1.xml" Id="Rbe62416acda44d00" /><Relationship Type="http://schemas.openxmlformats.org/officeDocument/2006/relationships/slide" Target="/ppt/slides/slide2.xml" Id="R274bfd5310ea48a7" /><Relationship Type="http://schemas.openxmlformats.org/officeDocument/2006/relationships/slide" Target="/ppt/slides/slide3.xml" Id="R6bdd67432ee44aff" /><Relationship Type="http://schemas.openxmlformats.org/officeDocument/2006/relationships/slide" Target="/ppt/slides/slide4.xml" Id="R69ed39f15ae34a14" /><Relationship Type="http://schemas.openxmlformats.org/officeDocument/2006/relationships/slide" Target="/ppt/slides/slide5.xml" Id="Rb187eb75ea0f4b6e" /><Relationship Type="http://schemas.openxmlformats.org/officeDocument/2006/relationships/slide" Target="/ppt/slides/slide6.xml" Id="R084b368b77ac4e98" /><Relationship Type="http://schemas.openxmlformats.org/officeDocument/2006/relationships/slide" Target="/ppt/slides/slide7.xml" Id="R828a688803914e72" /><Relationship Type="http://schemas.openxmlformats.org/officeDocument/2006/relationships/slide" Target="/ppt/slides/slide8.xml" Id="R68c2b79128694298" /><Relationship Type="http://schemas.openxmlformats.org/officeDocument/2006/relationships/slide" Target="/ppt/slides/slide9.xml" Id="Rd127b57e769d4ddd" /><Relationship Type="http://schemas.openxmlformats.org/officeDocument/2006/relationships/slide" Target="/ppt/slides/slide10.xml" Id="R06d6778bb8f94a9e" /><Relationship Type="http://schemas.openxmlformats.org/officeDocument/2006/relationships/slide" Target="/ppt/slides/slide11.xml" Id="Rf8dd444724ed4e29" /><Relationship Type="http://schemas.openxmlformats.org/officeDocument/2006/relationships/slide" Target="/ppt/slides/slide12.xml" Id="R3d909103f29843ab" /><Relationship Type="http://schemas.openxmlformats.org/officeDocument/2006/relationships/slide" Target="/ppt/slides/slide13.xml" Id="Rc64b426c476b4cfa" /><Relationship Type="http://schemas.openxmlformats.org/officeDocument/2006/relationships/slide" Target="/ppt/slides/slide14.xml" Id="R6f97e46117f847d7" /><Relationship Type="http://schemas.openxmlformats.org/officeDocument/2006/relationships/slide" Target="/ppt/slides/slide15.xml" Id="R7332570d7b154348" /><Relationship Type="http://schemas.openxmlformats.org/officeDocument/2006/relationships/slide" Target="/ppt/slides/slide16.xml" Id="Rd8891ae3519a415d" /><Relationship Type="http://schemas.openxmlformats.org/officeDocument/2006/relationships/slide" Target="/ppt/slides/slide17.xml" Id="R56ab9c98f85f4eb6" /><Relationship Type="http://schemas.openxmlformats.org/officeDocument/2006/relationships/slide" Target="/ppt/slides/slide18.xml" Id="R39d3139fbd344db4" /><Relationship Type="http://schemas.openxmlformats.org/officeDocument/2006/relationships/slide" Target="/ppt/slides/slide19.xml" Id="R5c23df4b03db46d5" /><Relationship Type="http://schemas.openxmlformats.org/officeDocument/2006/relationships/slide" Target="/ppt/slides/slide20.xml" Id="Rd7c859a492af4fe3" /><Relationship Type="http://schemas.openxmlformats.org/officeDocument/2006/relationships/slide" Target="/ppt/slides/slide21.xml" Id="R4e84bd2eae704722" /><Relationship Type="http://schemas.openxmlformats.org/officeDocument/2006/relationships/slide" Target="/ppt/slides/slide22.xml" Id="Rc6e2c4d9b6ee448e" /><Relationship Type="http://schemas.openxmlformats.org/officeDocument/2006/relationships/slide" Target="/ppt/slides/slide23.xml" Id="R2f4018c3b04740cb" /><Relationship Type="http://schemas.openxmlformats.org/officeDocument/2006/relationships/slide" Target="/ppt/slides/slide24.xml" Id="R2aa404a144434cf4" /><Relationship Type="http://schemas.openxmlformats.org/officeDocument/2006/relationships/slide" Target="/ppt/slides/slide25.xml" Id="Rcdcff886618547f3" /><Relationship Type="http://schemas.openxmlformats.org/officeDocument/2006/relationships/slide" Target="/ppt/slides/slide26.xml" Id="Re4eae62341704373" /><Relationship Type="http://schemas.openxmlformats.org/officeDocument/2006/relationships/slide" Target="/ppt/slides/slide27.xml" Id="Rb39c4b3ece99454f" /><Relationship Type="http://schemas.openxmlformats.org/officeDocument/2006/relationships/slide" Target="/ppt/slides/slide28.xml" Id="R4193c14cd805439d" /><Relationship Type="http://schemas.openxmlformats.org/officeDocument/2006/relationships/slide" Target="/ppt/slides/slide29.xml" Id="R95cf4a48399e4137" /><Relationship Type="http://schemas.openxmlformats.org/officeDocument/2006/relationships/slide" Target="/ppt/slides/slide30.xml" Id="Rb077fcb43dcd4944" /><Relationship Type="http://schemas.openxmlformats.org/officeDocument/2006/relationships/slide" Target="/ppt/slides/slide31.xml" Id="R7ec136e42ead4d16" /><Relationship Type="http://schemas.openxmlformats.org/officeDocument/2006/relationships/slide" Target="/ppt/slides/slide32.xml" Id="R3a645423cbeb48b1" /><Relationship Type="http://schemas.openxmlformats.org/officeDocument/2006/relationships/slide" Target="/ppt/slides/slide33.xml" Id="Rebaebe5ba7ea446b" /><Relationship Type="http://schemas.openxmlformats.org/officeDocument/2006/relationships/slide" Target="/ppt/slides/slide34.xml" Id="Rd15e7f7412ef4f5a" /><Relationship Type="http://schemas.openxmlformats.org/officeDocument/2006/relationships/slide" Target="/ppt/slides/slide35.xml" Id="Re8ad0640f6ac4c41" /><Relationship Type="http://schemas.openxmlformats.org/officeDocument/2006/relationships/slide" Target="/ppt/slides/slide36.xml" Id="R76f42d6ff9124220" /><Relationship Type="http://schemas.openxmlformats.org/officeDocument/2006/relationships/slide" Target="/ppt/slides/slide37.xml" Id="R6a7535c314394d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0c1f0711012451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27e710e51a40de" /><Relationship Type="http://schemas.openxmlformats.org/officeDocument/2006/relationships/notesMaster" Target="/ppt/notesMasters/notesMaster1.xml" Id="R5e6aecca7ecc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06231998114683" /><Relationship Type="http://schemas.openxmlformats.org/officeDocument/2006/relationships/notesMaster" Target="/ppt/notesMasters/notesMaster1.xml" Id="Rc374125a6db847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5b01a47e3614cc6" /><Relationship Type="http://schemas.openxmlformats.org/officeDocument/2006/relationships/notesMaster" Target="/ppt/notesMasters/notesMaster1.xml" Id="R1ecdbb452b274a1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198725f0074fad" /><Relationship Type="http://schemas.openxmlformats.org/officeDocument/2006/relationships/notesMaster" Target="/ppt/notesMasters/notesMaster1.xml" Id="R7e7efaa443cd4c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7a5788703b44e03" /><Relationship Type="http://schemas.openxmlformats.org/officeDocument/2006/relationships/notesMaster" Target="/ppt/notesMasters/notesMaster1.xml" Id="Ra40b358dfe4744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43c20c1e14e4b9e" /><Relationship Type="http://schemas.openxmlformats.org/officeDocument/2006/relationships/notesMaster" Target="/ppt/notesMasters/notesMaster1.xml" Id="R1b7f125bdc534fc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153a63d05c4545" /><Relationship Type="http://schemas.openxmlformats.org/officeDocument/2006/relationships/notesMaster" Target="/ppt/notesMasters/notesMaster1.xml" Id="Rc9818ab8053841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516878fbda84895" /><Relationship Type="http://schemas.openxmlformats.org/officeDocument/2006/relationships/notesMaster" Target="/ppt/notesMasters/notesMaster1.xml" Id="R5e44023821c54e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72ce80db504eaf" /><Relationship Type="http://schemas.openxmlformats.org/officeDocument/2006/relationships/notesMaster" Target="/ppt/notesMasters/notesMaster1.xml" Id="R9df621239f9a4d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564ae25ae64b6b" /><Relationship Type="http://schemas.openxmlformats.org/officeDocument/2006/relationships/notesMaster" Target="/ppt/notesMasters/notesMaster1.xml" Id="Re857bcfc1f494d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846df0f771f4951" /><Relationship Type="http://schemas.openxmlformats.org/officeDocument/2006/relationships/notesMaster" Target="/ppt/notesMasters/notesMaster1.xml" Id="R09d5ad4b99ee41f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5e1ae24cb24058" /><Relationship Type="http://schemas.openxmlformats.org/officeDocument/2006/relationships/notesMaster" Target="/ppt/notesMasters/notesMaster1.xml" Id="Rcdb28f52693048c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92449dd727466e" /><Relationship Type="http://schemas.openxmlformats.org/officeDocument/2006/relationships/notesMaster" Target="/ppt/notesMasters/notesMaster1.xml" Id="R1a5436ea59a6435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c19cf0414a84b1a" /><Relationship Type="http://schemas.openxmlformats.org/officeDocument/2006/relationships/notesMaster" Target="/ppt/notesMasters/notesMaster1.xml" Id="Rf27ff93322bf463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361f95882274081" /><Relationship Type="http://schemas.openxmlformats.org/officeDocument/2006/relationships/notesMaster" Target="/ppt/notesMasters/notesMaster1.xml" Id="R23c0fbbe9bcb44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d98218537404ab7" /><Relationship Type="http://schemas.openxmlformats.org/officeDocument/2006/relationships/notesMaster" Target="/ppt/notesMasters/notesMaster1.xml" Id="Rb24dc23438624fa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44f28d564a4fad" /><Relationship Type="http://schemas.openxmlformats.org/officeDocument/2006/relationships/notesMaster" Target="/ppt/notesMasters/notesMaster1.xml" Id="R27ee0b983735442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60c7e16eace49f1" /><Relationship Type="http://schemas.openxmlformats.org/officeDocument/2006/relationships/notesMaster" Target="/ppt/notesMasters/notesMaster1.xml" Id="R5d96a878ccc64cb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174b7c795144cd2" /><Relationship Type="http://schemas.openxmlformats.org/officeDocument/2006/relationships/notesMaster" Target="/ppt/notesMasters/notesMaster1.xml" Id="R7cf8964e7eec4fb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15d871a43d84a96" /><Relationship Type="http://schemas.openxmlformats.org/officeDocument/2006/relationships/notesMaster" Target="/ppt/notesMasters/notesMaster1.xml" Id="R21aa7dc5bddf430f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1da8ab9e3d146b6" /><Relationship Type="http://schemas.openxmlformats.org/officeDocument/2006/relationships/notesMaster" Target="/ppt/notesMasters/notesMaster1.xml" Id="Ra339e83035f54a3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f590d9142e64844" /><Relationship Type="http://schemas.openxmlformats.org/officeDocument/2006/relationships/notesMaster" Target="/ppt/notesMasters/notesMaster1.xml" Id="R784cdefefb49419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88b1cb7421b46af" /><Relationship Type="http://schemas.openxmlformats.org/officeDocument/2006/relationships/notesMaster" Target="/ppt/notesMasters/notesMaster1.xml" Id="Rf34b57e731e043b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ccd5b7907a54fa8" /><Relationship Type="http://schemas.openxmlformats.org/officeDocument/2006/relationships/notesMaster" Target="/ppt/notesMasters/notesMaster1.xml" Id="Ra2a83bc7fb8e4b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77186522747f485e" /><Relationship Type="http://schemas.openxmlformats.org/officeDocument/2006/relationships/notesMaster" Target="/ppt/notesMasters/notesMaster1.xml" Id="R24e8b2626733453a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3e7debfa2e94b0a" /><Relationship Type="http://schemas.openxmlformats.org/officeDocument/2006/relationships/notesMaster" Target="/ppt/notesMasters/notesMaster1.xml" Id="Re23a94424b454dc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7dac8c215394fdd" /><Relationship Type="http://schemas.openxmlformats.org/officeDocument/2006/relationships/notesMaster" Target="/ppt/notesMasters/notesMaster1.xml" Id="R9e4dfb2958bf49b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de41480cdf94d87" /><Relationship Type="http://schemas.openxmlformats.org/officeDocument/2006/relationships/notesMaster" Target="/ppt/notesMasters/notesMaster1.xml" Id="Rd7178231dfd340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1cd814cc9b84ef0" /><Relationship Type="http://schemas.openxmlformats.org/officeDocument/2006/relationships/notesMaster" Target="/ppt/notesMasters/notesMaster1.xml" Id="Rabf72ff1ee92427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5dba0bcc0bf4be0" /><Relationship Type="http://schemas.openxmlformats.org/officeDocument/2006/relationships/notesMaster" Target="/ppt/notesMasters/notesMaster1.xml" Id="R5f2bd01bf16c4cd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eeb55c764574ff7" /><Relationship Type="http://schemas.openxmlformats.org/officeDocument/2006/relationships/notesMaster" Target="/ppt/notesMasters/notesMaster1.xml" Id="Rf0d4b8005a41424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ff9316c7b104bf1" /><Relationship Type="http://schemas.openxmlformats.org/officeDocument/2006/relationships/notesMaster" Target="/ppt/notesMasters/notesMaster1.xml" Id="Rb0fb0ffd68124bd9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3bddfc72d6574f6c" /><Relationship Type="http://schemas.openxmlformats.org/officeDocument/2006/relationships/notesMaster" Target="/ppt/notesMasters/notesMaster1.xml" Id="R19d2dbbc9d6a49f3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971c5594006a4f0e" /><Relationship Type="http://schemas.openxmlformats.org/officeDocument/2006/relationships/notesMaster" Target="/ppt/notesMasters/notesMaster1.xml" Id="R45c0f72c0b534ac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67d61fef1fef4c9b" /><Relationship Type="http://schemas.openxmlformats.org/officeDocument/2006/relationships/notesMaster" Target="/ppt/notesMasters/notesMaster1.xml" Id="R54cc7ab7ca90401d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b3414728130144d0" /><Relationship Type="http://schemas.openxmlformats.org/officeDocument/2006/relationships/notesMaster" Target="/ppt/notesMasters/notesMaster1.xml" Id="R9ad5ed3beed7445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418faadc96ba44f9" /><Relationship Type="http://schemas.openxmlformats.org/officeDocument/2006/relationships/notesMaster" Target="/ppt/notesMasters/notesMaster1.xml" Id="R9da11be8700d465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assets/lessons/lectures/astronomy/doppler-effect-and-telescopes.pdf, page 37.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2d7db606814a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5f49e92d5146b6" /><Relationship Type="http://schemas.openxmlformats.org/officeDocument/2006/relationships/slideLayout" Target="/ppt/slideLayouts/slideLayout1.xml" Id="R38cbb4d32bc1493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8cbb4d32bc1493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2f77bc22d346de" /><Relationship Type="http://schemas.openxmlformats.org/officeDocument/2006/relationships/image" Target="/ppt/media/image.png" Id="R607f2461edc44fc7" /><Relationship Type="http://schemas.openxmlformats.org/officeDocument/2006/relationships/notesSlide" Target="/ppt/notesSlides/notesSlide1.xml" Id="R88c40595f0894e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72a86499f48e6" /><Relationship Type="http://schemas.openxmlformats.org/officeDocument/2006/relationships/image" Target="/ppt/media/image2.png" Id="Re7b1d7670f77423f" /><Relationship Type="http://schemas.openxmlformats.org/officeDocument/2006/relationships/notesSlide" Target="/ppt/notesSlides/notesSlide2.xml" Id="R9b476a6e398a49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ac7bc9a3914892" /><Relationship Type="http://schemas.openxmlformats.org/officeDocument/2006/relationships/image" Target="/ppt/media/image3.png" Id="R5cbd97a588b0448a" /><Relationship Type="http://schemas.openxmlformats.org/officeDocument/2006/relationships/notesSlide" Target="/ppt/notesSlides/notesSlide3.xml" Id="R22736e762f4b43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863222d444982" /><Relationship Type="http://schemas.openxmlformats.org/officeDocument/2006/relationships/image" Target="/ppt/media/image4.png" Id="Rfbd541a5effe439f" /><Relationship Type="http://schemas.openxmlformats.org/officeDocument/2006/relationships/notesSlide" Target="/ppt/notesSlides/notesSlide4.xml" Id="R2300c9b8dcf842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3593648d444782" /><Relationship Type="http://schemas.openxmlformats.org/officeDocument/2006/relationships/image" Target="/ppt/media/image5.png" Id="R388d064caf684474" /><Relationship Type="http://schemas.openxmlformats.org/officeDocument/2006/relationships/notesSlide" Target="/ppt/notesSlides/notesSlide5.xml" Id="Rab9a295ca8a74c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d53e9b6f7347c1" /><Relationship Type="http://schemas.openxmlformats.org/officeDocument/2006/relationships/image" Target="/ppt/media/image6.png" Id="R81096c2d103c482c" /><Relationship Type="http://schemas.openxmlformats.org/officeDocument/2006/relationships/notesSlide" Target="/ppt/notesSlides/notesSlide6.xml" Id="Ra879895e21fa44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7d35b95e704655" /><Relationship Type="http://schemas.openxmlformats.org/officeDocument/2006/relationships/image" Target="/ppt/media/image7.png" Id="Rda9d58243978428f" /><Relationship Type="http://schemas.openxmlformats.org/officeDocument/2006/relationships/notesSlide" Target="/ppt/notesSlides/notesSlide7.xml" Id="R7d689f30512c49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80a827c2e41f4" /><Relationship Type="http://schemas.openxmlformats.org/officeDocument/2006/relationships/image" Target="/ppt/media/image8.png" Id="Rf2f7b0063954443d" /><Relationship Type="http://schemas.openxmlformats.org/officeDocument/2006/relationships/notesSlide" Target="/ppt/notesSlides/notesSlide8.xml" Id="Rcddb2ab47e98427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d0b8a4fd114569" /><Relationship Type="http://schemas.openxmlformats.org/officeDocument/2006/relationships/image" Target="/ppt/media/image9.png" Id="Rafc43b342f574a45" /><Relationship Type="http://schemas.openxmlformats.org/officeDocument/2006/relationships/notesSlide" Target="/ppt/notesSlides/notesSlide9.xml" Id="R2018ae1bd3f546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71fb2b41de4358" /><Relationship Type="http://schemas.openxmlformats.org/officeDocument/2006/relationships/image" Target="/ppt/media/image10.png" Id="R9e310b68891a472d" /><Relationship Type="http://schemas.openxmlformats.org/officeDocument/2006/relationships/notesSlide" Target="/ppt/notesSlides/notesSlide10.xml" Id="Ra1c9eda2690e42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0d7925ff0e409e" /><Relationship Type="http://schemas.openxmlformats.org/officeDocument/2006/relationships/image" Target="/ppt/media/image11.png" Id="Ra90ce302c51545ea" /><Relationship Type="http://schemas.openxmlformats.org/officeDocument/2006/relationships/notesSlide" Target="/ppt/notesSlides/notesSlide11.xml" Id="R489fcf604a2846a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7fc3b856164a05" /><Relationship Type="http://schemas.openxmlformats.org/officeDocument/2006/relationships/image" Target="/ppt/media/image12.png" Id="R45d36f9038ea4c6a" /><Relationship Type="http://schemas.openxmlformats.org/officeDocument/2006/relationships/notesSlide" Target="/ppt/notesSlides/notesSlide12.xml" Id="Rb2aba066e0a54eb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9ccbbdfd4416c" /><Relationship Type="http://schemas.openxmlformats.org/officeDocument/2006/relationships/image" Target="/ppt/media/image13.png" Id="Rfc744356b66c44f3" /><Relationship Type="http://schemas.openxmlformats.org/officeDocument/2006/relationships/notesSlide" Target="/ppt/notesSlides/notesSlide13.xml" Id="R004b5bde13ad4c6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293b9f7154447" /><Relationship Type="http://schemas.openxmlformats.org/officeDocument/2006/relationships/image" Target="/ppt/media/image14.png" Id="Rae39369c6d52486d" /><Relationship Type="http://schemas.openxmlformats.org/officeDocument/2006/relationships/notesSlide" Target="/ppt/notesSlides/notesSlide14.xml" Id="R18cb042ba9ad4d9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a783703e2b4cb3" /><Relationship Type="http://schemas.openxmlformats.org/officeDocument/2006/relationships/image" Target="/ppt/media/image15.png" Id="Rfb59ea1d73e945b3" /><Relationship Type="http://schemas.openxmlformats.org/officeDocument/2006/relationships/notesSlide" Target="/ppt/notesSlides/notesSlide15.xml" Id="R1303085a9b6d4e1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69e2a3bee54155" /><Relationship Type="http://schemas.openxmlformats.org/officeDocument/2006/relationships/image" Target="/ppt/media/image16.png" Id="Re6aa9c97dbc846b3" /><Relationship Type="http://schemas.openxmlformats.org/officeDocument/2006/relationships/notesSlide" Target="/ppt/notesSlides/notesSlide16.xml" Id="R2340fe67496442a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6548333e641af" /><Relationship Type="http://schemas.openxmlformats.org/officeDocument/2006/relationships/image" Target="/ppt/media/image17.png" Id="R17e342f9ea964e2a" /><Relationship Type="http://schemas.openxmlformats.org/officeDocument/2006/relationships/notesSlide" Target="/ppt/notesSlides/notesSlide17.xml" Id="R6a95303b4ced46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59fd92d7b4b11" /><Relationship Type="http://schemas.openxmlformats.org/officeDocument/2006/relationships/image" Target="/ppt/media/image18.png" Id="R0980d9d3c27b44b4" /><Relationship Type="http://schemas.openxmlformats.org/officeDocument/2006/relationships/notesSlide" Target="/ppt/notesSlides/notesSlide18.xml" Id="R4c260172469743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5b80aadb5441e" /><Relationship Type="http://schemas.openxmlformats.org/officeDocument/2006/relationships/image" Target="/ppt/media/image19.png" Id="Rb034053958d0485f" /><Relationship Type="http://schemas.openxmlformats.org/officeDocument/2006/relationships/notesSlide" Target="/ppt/notesSlides/notesSlide19.xml" Id="Race82b62192c4dd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c49d3cfdf04458" /><Relationship Type="http://schemas.openxmlformats.org/officeDocument/2006/relationships/image" Target="/ppt/media/image20.png" Id="Rcf4a0b29c1c64c28" /><Relationship Type="http://schemas.openxmlformats.org/officeDocument/2006/relationships/notesSlide" Target="/ppt/notesSlides/notesSlide20.xml" Id="R2f650380e26047c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cce8d281c44e20" /><Relationship Type="http://schemas.openxmlformats.org/officeDocument/2006/relationships/image" Target="/ppt/media/image21.png" Id="R2df29821a3764bcd" /><Relationship Type="http://schemas.openxmlformats.org/officeDocument/2006/relationships/notesSlide" Target="/ppt/notesSlides/notesSlide21.xml" Id="Rc60a78ebf3a349b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5ec1bb498b4452" /><Relationship Type="http://schemas.openxmlformats.org/officeDocument/2006/relationships/image" Target="/ppt/media/image22.png" Id="Rc0f99b3e9d1143d5" /><Relationship Type="http://schemas.openxmlformats.org/officeDocument/2006/relationships/notesSlide" Target="/ppt/notesSlides/notesSlide22.xml" Id="R989a45eeac8444b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228ded55e845e3" /><Relationship Type="http://schemas.openxmlformats.org/officeDocument/2006/relationships/image" Target="/ppt/media/image23.png" Id="R00af3da10d92458c" /><Relationship Type="http://schemas.openxmlformats.org/officeDocument/2006/relationships/notesSlide" Target="/ppt/notesSlides/notesSlide23.xml" Id="R95b8c523d19647f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f0ce0ee199426b" /><Relationship Type="http://schemas.openxmlformats.org/officeDocument/2006/relationships/image" Target="/ppt/media/image24.png" Id="Rf2ee790cd8f94123" /><Relationship Type="http://schemas.openxmlformats.org/officeDocument/2006/relationships/notesSlide" Target="/ppt/notesSlides/notesSlide24.xml" Id="Re3c99e4c2b5a4f6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e18f07def34d86" /><Relationship Type="http://schemas.openxmlformats.org/officeDocument/2006/relationships/image" Target="/ppt/media/image25.png" Id="R30cce70836c14eef" /><Relationship Type="http://schemas.openxmlformats.org/officeDocument/2006/relationships/notesSlide" Target="/ppt/notesSlides/notesSlide25.xml" Id="Rbf858c8044834e66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37a3609db64bae" /><Relationship Type="http://schemas.openxmlformats.org/officeDocument/2006/relationships/image" Target="/ppt/media/image26.png" Id="Rf823a5809c8c4e15" /><Relationship Type="http://schemas.openxmlformats.org/officeDocument/2006/relationships/notesSlide" Target="/ppt/notesSlides/notesSlide26.xml" Id="Ra4a02043e0444f6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261a895cd4fc1" /><Relationship Type="http://schemas.openxmlformats.org/officeDocument/2006/relationships/image" Target="/ppt/media/image27.png" Id="R999d4463239243e7" /><Relationship Type="http://schemas.openxmlformats.org/officeDocument/2006/relationships/notesSlide" Target="/ppt/notesSlides/notesSlide27.xml" Id="R9b83928552ed46f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abd4fd2774c08" /><Relationship Type="http://schemas.openxmlformats.org/officeDocument/2006/relationships/image" Target="/ppt/media/image28.png" Id="Rd236b91d4e6a4ba7" /><Relationship Type="http://schemas.openxmlformats.org/officeDocument/2006/relationships/notesSlide" Target="/ppt/notesSlides/notesSlide28.xml" Id="R4f0d0c3c22eb4a2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491073fbd4c2e" /><Relationship Type="http://schemas.openxmlformats.org/officeDocument/2006/relationships/image" Target="/ppt/media/image29.png" Id="Rc101301fe5ab4259" /><Relationship Type="http://schemas.openxmlformats.org/officeDocument/2006/relationships/notesSlide" Target="/ppt/notesSlides/notesSlide29.xml" Id="Rb385a6a50dfb439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5790ca7d44d98" /><Relationship Type="http://schemas.openxmlformats.org/officeDocument/2006/relationships/image" Target="/ppt/media/image30.png" Id="R4570c2ce109946c5" /><Relationship Type="http://schemas.openxmlformats.org/officeDocument/2006/relationships/notesSlide" Target="/ppt/notesSlides/notesSlide30.xml" Id="Rb653a3f4153e4b5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d2e6e5a964986" /><Relationship Type="http://schemas.openxmlformats.org/officeDocument/2006/relationships/image" Target="/ppt/media/image31.png" Id="Re23553ad67fa42e2" /><Relationship Type="http://schemas.openxmlformats.org/officeDocument/2006/relationships/notesSlide" Target="/ppt/notesSlides/notesSlide31.xml" Id="R06643ab2dab8461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38a774a73443c" /><Relationship Type="http://schemas.openxmlformats.org/officeDocument/2006/relationships/image" Target="/ppt/media/image32.png" Id="R32f77d1cb13f49ca" /><Relationship Type="http://schemas.openxmlformats.org/officeDocument/2006/relationships/notesSlide" Target="/ppt/notesSlides/notesSlide32.xml" Id="Rbd0bdfa6f93f4ba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e4b6565a464555" /><Relationship Type="http://schemas.openxmlformats.org/officeDocument/2006/relationships/image" Target="/ppt/media/image33.png" Id="R691f201dcb3b4ba3" /><Relationship Type="http://schemas.openxmlformats.org/officeDocument/2006/relationships/notesSlide" Target="/ppt/notesSlides/notesSlide33.xml" Id="Rbb273cd4aa624316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f890775ed94510" /><Relationship Type="http://schemas.openxmlformats.org/officeDocument/2006/relationships/image" Target="/ppt/media/image34.png" Id="R756967f1042d4291" /><Relationship Type="http://schemas.openxmlformats.org/officeDocument/2006/relationships/notesSlide" Target="/ppt/notesSlides/notesSlide34.xml" Id="R61600157ebba4b21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01ed25bb8b4c74" /><Relationship Type="http://schemas.openxmlformats.org/officeDocument/2006/relationships/image" Target="/ppt/media/image35.png" Id="R6ebd2a0a8022475d" /><Relationship Type="http://schemas.openxmlformats.org/officeDocument/2006/relationships/notesSlide" Target="/ppt/notesSlides/notesSlide35.xml" Id="Ra33aa30839714d6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97775c4c4d48a3" /><Relationship Type="http://schemas.openxmlformats.org/officeDocument/2006/relationships/image" Target="/ppt/media/image36.png" Id="Rfdc4042db5344d96" /><Relationship Type="http://schemas.openxmlformats.org/officeDocument/2006/relationships/notesSlide" Target="/ppt/notesSlides/notesSlide36.xml" Id="Rd72e548a5f3e4e1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0abaa010eb40d4" /><Relationship Type="http://schemas.openxmlformats.org/officeDocument/2006/relationships/image" Target="/ppt/media/image37.png" Id="Ra897377b2cff41cb" /><Relationship Type="http://schemas.openxmlformats.org/officeDocument/2006/relationships/notesSlide" Target="/ppt/notesSlides/notesSlide37.xml" Id="R313e7321ee5c4ac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7f2461edc44fc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E1380-4731-4B4B-A5DF-EA2DB29AB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2985" y="2451883"/>
            <a:ext cx="3457164" cy="8665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266A85-0941-4324-88A3-B5AAB952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9186" y="3108866"/>
            <a:ext cx="2745536" cy="8510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1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1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0A7B25-40EE-435F-9E08-C52DEE4F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0780" y="3755444"/>
            <a:ext cx="130119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E7BDF8-DDDF-461E-A634-6718F70B1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8" y="4770106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C0D310-1A44-4C40-9554-B02EBCE8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0607" y="5368586"/>
            <a:ext cx="6423567" cy="5188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Associate Professor of Physics &amp; Astronomy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C222DB-F730-4CE8-908A-DAD2C418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4" y="5832649"/>
            <a:ext cx="178945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7, 2017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359C2B-5B9C-4E8C-AF02-BD4955688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A915E6-AA9F-44DB-B208-8909BB37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37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897808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b1d7670f77423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E9AE8-6A5F-4B98-B676-143B6F02D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25" y="774052"/>
            <a:ext cx="8214040" cy="9543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Electromagnetic Spectrum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860E89-568F-4249-B396-3F561232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7888" y="7049712"/>
            <a:ext cx="5927382" cy="37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22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22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Lower Frequency = Longer Wavelength = Low Energy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151A6A-A083-4E70-91C8-3E4C0AF97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0729" y="7370339"/>
            <a:ext cx="6162967" cy="372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1" b="1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1831" b="1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Higher Frequency = Shorter Wavelength = High Energy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6DE611-8739-41F6-ACC6-85904674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14B89A-053B-486F-A1A7-60C72FE56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029152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d97a588b0448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A8E29E-8F58-491A-8D58-66E9D2F38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0069" y="1124275"/>
            <a:ext cx="5424117" cy="9534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Sun’s Spectrum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0187A9-F049-482F-9EA1-40A2BBCF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9D4A00-DDA7-4959-8B79-44EABF12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37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899113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d541a5effe439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3A2F5F-8B77-41FE-A935-E9B6D29F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944" y="1968310"/>
            <a:ext cx="232064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All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5884E-3589-46CE-9B9D-01A8648A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7696" y="2679549"/>
            <a:ext cx="367871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produce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A0547-E5DB-47A8-A4AE-7DB4F274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9040" y="3395010"/>
            <a:ext cx="407582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line absorption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275864-6E95-4084-ABDA-3E942C47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357" y="4101924"/>
            <a:ext cx="215697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spectra: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501EAA-2E64-4E35-B9F5-5E058F040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4742" y="5537075"/>
            <a:ext cx="155995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Why?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6B059-1BD4-40CD-A139-2618F66C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9218C-F850-49DC-851C-21B4A583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37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811532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d064caf68447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5DE678-7E26-44F0-B2B0-7AAF7272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0282" y="1124507"/>
            <a:ext cx="4561290" cy="953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Kirchoff’s Law #3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C938DE-8F5B-41A3-9595-9507D6F9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5760" y="2330525"/>
            <a:ext cx="7420855" cy="608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light from a hot, dense object passes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8CA2BE-1A2E-458D-991C-05C60E88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174" y="2784408"/>
            <a:ext cx="8350822" cy="6066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through a cooler, low density gas, the result is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622ACC-986C-4F31-8773-01CA992F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937" y="3240288"/>
            <a:ext cx="3790416" cy="608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absorption spectrum.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93CF19-D62D-4DE8-9041-0A870FD2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1609" y="3240256"/>
            <a:ext cx="4637398" cy="608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absorption lines are at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F50DC8-AAF7-4722-AEDC-D82F0C3E2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484" y="3693577"/>
            <a:ext cx="8373554" cy="6083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same location as the emission lines would be.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5D84C-23C8-4A39-A377-A7923E47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3E29EE-8E6B-4FB0-8DF3-9773E89E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37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95910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096c2d103c482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7481D-7B85-4CA9-9277-5FE30EB6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D0F05-343A-4197-B558-5A7E609B2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783860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Definition:  The change in wavelength of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25F6FC-2359-4C62-8D4B-80EEF0B70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76762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due to the relative motion between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4179E0-8038-41FA-B2B6-A4217707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373128"/>
            <a:ext cx="822406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source and the observer along the line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7FAEB6-B05B-4884-85A4-3C7641569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889571"/>
            <a:ext cx="15507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sight.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C350E0-D7E7-4077-9B51-560A0DEF2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1E6CF7-A87D-4294-A8ED-C35FC0C8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37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371975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d58243978428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FCEB32-8467-4F7B-B6AE-48B7B7D3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F67E3-2D9A-421A-B1B0-2451CDDC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243"/>
            <a:ext cx="8375308" cy="607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is the same for light as it is for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3A239B-177A-4E66-B09E-77DB1FEC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82658"/>
            <a:ext cx="13884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sound.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A8C17-2E52-4688-9F11-03946529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7056144"/>
            <a:ext cx="245955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5045A9-807F-4E9B-A092-A3E05D6A6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794" y="7056144"/>
            <a:ext cx="2333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frequency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293438-2822-4BC1-9325-076A1854C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2FF777-9CDA-4D4C-92DA-B1186B079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37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49744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f7b0063954443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3FCF7-8C26-4D88-997D-D8D4CF21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0608" y="1124344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8C68B-F785-420F-BC24-3A552DABB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243"/>
            <a:ext cx="8375308" cy="607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is the same for light as it is for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E26036-C674-498C-A510-CC983215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82658"/>
            <a:ext cx="13884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sound.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BF5CC-23A7-4538-9175-02014E73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7056144"/>
            <a:ext cx="245955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frequency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306B40-FDAF-4192-B8FA-F78C3307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2794" y="7056144"/>
            <a:ext cx="23332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frequency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01D38-001D-4D94-8BF9-2E561E3D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3C82B2-9F09-455A-B082-CBCEEC8C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37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136518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c43b342f574a4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12E01-BD38-4AA9-AD2F-9F5D6C920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040" y="1156526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95D71C-960B-4CF8-AC65-36BEEF915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" y="212783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018CEB-AC54-43DD-8834-BFBF0AFD6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2" y="2127831"/>
            <a:ext cx="750270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When something which is giving off light moves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CF206-A629-4567-8C5E-72FB055D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504566"/>
            <a:ext cx="127034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3366FF"/>
                </a:solidFill>
                <a:latin typeface="Arial"/>
                <a:ea typeface="Arial"/>
                <a:cs typeface="Arial"/>
              </a:rPr>
              <a:t>towards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5F4EDC-8D77-4581-BEE9-72C3DA88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822" y="2504566"/>
            <a:ext cx="54666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or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6048CD-37A9-4CFF-A9FA-C6356E1FE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7688" y="2504566"/>
            <a:ext cx="85934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away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A94DC-65DC-4360-B385-B7CFF60BC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8936" y="2504566"/>
            <a:ext cx="514900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from you, the wavelength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E386F-58DC-499A-977F-15A1851C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885596"/>
            <a:ext cx="528415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emitted light is changed or shifted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03701-C792-489E-A6F1-04F1CCC5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447" y="4014242"/>
            <a:ext cx="422850" cy="351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F43146-0489-4E9D-822F-ECE6B783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2416" y="5751762"/>
            <a:ext cx="805171" cy="3804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redshift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F8671F-5B29-418F-9F26-4BDD3C497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1136" y="7205018"/>
            <a:ext cx="908171" cy="379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blueshift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380BB0-5CA1-4E0A-940B-45C8D46B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86AC7-CA9E-464C-B33F-6315F418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37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314302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310b68891a472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7913F9-0432-4614-B093-3E6833BD2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1040" y="587566"/>
            <a:ext cx="3800906" cy="9533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FC0DB6-ADC7-4D9A-8E6E-FECDC04F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" y="130556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E95A7E-E0E2-47EB-989F-737ACA28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1305566"/>
            <a:ext cx="1818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2AA467-FA35-4CEB-BC37-73126242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053" y="1305560"/>
            <a:ext cx="416666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Along the line of sight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36985A-62E1-4701-920E-221E8EC77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1591" y="1305560"/>
            <a:ext cx="24379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 means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4C25BA-9AA5-48F4-8F4C-C2BC8BD6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93" y="1775486"/>
            <a:ext cx="66381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Effect happens only if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60249A-2CB2-48CE-BCEB-B88C676F4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93" y="2241060"/>
            <a:ext cx="59462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 which is emitting light is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A8BC36-3C24-42D6-98B8-79ED4525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208" y="2241060"/>
            <a:ext cx="16943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3B2F08-EED8-4633-8129-90F0A3E08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581" y="2706789"/>
            <a:ext cx="18147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3366FF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3366FF"/>
                </a:solidFill>
                <a:latin typeface="Arial"/>
                <a:ea typeface="Arial"/>
                <a:cs typeface="Arial"/>
              </a:rPr>
              <a:t>towards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18317D-A905-4951-A8B7-4760B590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3184" y="2706789"/>
            <a:ext cx="14787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or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D23AA5-1505-450C-850D-86CF0750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3402" y="2706789"/>
            <a:ext cx="21751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FF3300"/>
                </a:solidFill>
                <a:latin typeface="Arial"/>
                <a:ea typeface="Arial"/>
                <a:cs typeface="Arial"/>
              </a:rPr>
              <a:t>away from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257641-7D60-488D-97FE-B3DD2B89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0466" y="2706789"/>
            <a:ext cx="92705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 you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3BE86-4A6F-4AAF-8630-3D72DCD4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209" y="2706789"/>
            <a:ext cx="1581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304529-311C-4E99-9857-EA7E4547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101" y="3269170"/>
            <a:ext cx="3485326" cy="607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An object moving 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4BC533-3BB8-4329-BC81-02E1D9B4E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3306" y="3267784"/>
            <a:ext cx="212355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side to side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AC761-D4C2-4C27-8B0A-BD18E6D5E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9256" y="3267784"/>
            <a:ext cx="7136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” or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046D0-402A-496E-8C7F-42A5F55A2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558" y="3678405"/>
            <a:ext cx="25460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perpendicular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90A808-A640-4445-A545-363FFCC1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9411" y="3678633"/>
            <a:ext cx="3961871" cy="609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relative to your line of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6E5ED2-828B-474B-807B-1BE7FA597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2558" y="4089062"/>
            <a:ext cx="168245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sight, will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B4C6F-12D3-4365-9EB9-6069CBDC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20" y="4089062"/>
            <a:ext cx="62811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EA8132-60DA-432A-9407-D6416E5E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5636" y="4090383"/>
            <a:ext cx="4921030" cy="607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experience a Doppler Effect.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16F6D7-4B3C-4821-8F5D-EE24A9AE4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E82604-483F-45B3-97D5-AF63024F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37</a:t>
            </a:r>
          </a:p>
        </p:txBody>
      </p:sp>
      <p:sp>
        <p:nvSpPr>
          <p:cNvPr id="2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8203878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0ce302c51545e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A72680-724A-45A4-97E3-36DBD780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247" y="1126579"/>
            <a:ext cx="5930395" cy="9496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7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Astronomy Application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1E7640-86E4-4403-AF4D-79A6AE1DE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2447" y="3038882"/>
            <a:ext cx="422850" cy="35189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DEE856-ACD1-42C4-8C98-1F1E4FC20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E406E4-8323-4AFB-8537-7DA05B33C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37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5614173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d36f9038ea4c6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28A76-B6B5-492C-ACD6-494CA2D0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3502" y="3825888"/>
            <a:ext cx="483747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Review Questions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00298E-0137-407B-9F9E-0FFF0B48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EE8AF0-ACDF-4B7B-B224-CBD5EF890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37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0180805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744356b66c44f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D878CA-4568-4383-B033-42A3D4E17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030" y="829257"/>
            <a:ext cx="7694886" cy="86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Doppler Effect causes light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A7811E-BAC9-48C0-92CB-0ECD7DFC3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6724" y="1480479"/>
            <a:ext cx="740847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a source moving away to: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03739-D658-41B9-A80F-A2F1206F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4" y="3059166"/>
            <a:ext cx="450277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B9844-6E1E-457E-B558-19424DC0C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063227"/>
            <a:ext cx="649640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shifted to shorter wavelengths.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6C044-2AF1-43D0-B634-305F63F9D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5680"/>
            <a:ext cx="450064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D10C67-2E5B-4238-97BE-163411A6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3689744"/>
            <a:ext cx="63526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shifted to longer wavelengths.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9D387-6E9E-490C-8235-6D77818B8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308044"/>
            <a:ext cx="475441" cy="6976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845341-7399-4B87-B070-34D3485FE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726" y="4312107"/>
            <a:ext cx="289480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33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3300"/>
                </a:solidFill>
                <a:latin typeface="Arial"/>
                <a:ea typeface="Arial"/>
                <a:cs typeface="Arial"/>
              </a:rPr>
              <a:t>be unchanged.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560315-AEF0-4C0B-AE0D-708EFCFFD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7FCDC3-DDD7-46D6-A640-2C0B30C6B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37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635435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39369c6d52486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18316-D20C-4F2E-BAFA-5F86E11C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869675"/>
            <a:ext cx="8117106" cy="51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 spectra.  The lab spectrum is not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D0F07-1FCF-4487-A4E5-93B84F00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259060"/>
            <a:ext cx="8678890" cy="520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moving, the remainder are from stars that are either moving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F4DAA-3ECD-4C52-B3C0-7310F0355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48397"/>
            <a:ext cx="5772174" cy="520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towards or away from us or are at rest.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1D270-8FFA-461C-BA6D-F589EAE4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916371"/>
            <a:ext cx="5721577" cy="5205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shows the greatest redshift?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E2460-2C03-4499-97CA-5AB657EC5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85879"/>
            <a:ext cx="3854016" cy="521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(E = they are all the same)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ED65F3-929D-4A85-95F4-D06F266F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776" y="2116270"/>
            <a:ext cx="396526" cy="296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6AD50-557C-49D9-AFE3-DC221CD3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908" y="2127231"/>
            <a:ext cx="344616" cy="278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5A43EE-D17C-49C9-B00B-B1A7E1A6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076" y="2464602"/>
            <a:ext cx="1106122" cy="27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 Spectrum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2A54D4-B9DC-4E0A-9E6D-ADBF7D8C0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98" y="2934000"/>
            <a:ext cx="517206" cy="28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36F8E9-8815-434D-BA12-F8D0F622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406780"/>
            <a:ext cx="516825" cy="282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03DB1-6C63-4B4A-AD31-A0ABF0CB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834692"/>
            <a:ext cx="516825" cy="277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23DB9D-C262-44C5-BD62-E61FBFEB1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189" y="4237543"/>
            <a:ext cx="527302" cy="283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E8447-CDF1-46E9-A022-DD1B874C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54FCEC-F51E-4463-BCFA-EF1A2792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37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438683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59ea1d73e945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D8535-0383-4E92-921A-2536A3FF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869675"/>
            <a:ext cx="8117106" cy="5199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Consider the following spectra.  The lab spectrum is not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E576B0-52B8-4B58-99CD-36CE70B7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259060"/>
            <a:ext cx="8678890" cy="520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moving, the remainder are from stars that are either moving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120532-4293-49EA-AB8E-E4D876B6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1648397"/>
            <a:ext cx="5772174" cy="520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towards or away from us or are at rest. 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F40C4C-5D02-4A91-83C2-5AE4D875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916344"/>
            <a:ext cx="5866953" cy="520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shows the greatest blueshift?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68F709-DDFF-4DD4-8823-360468F3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85879"/>
            <a:ext cx="3854016" cy="5211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(E = they are all the same)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A21D0D-38BC-4064-BB3B-EB449A13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7776" y="2116270"/>
            <a:ext cx="396526" cy="2966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1109B6-1B63-47C9-894E-7D4FC822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0908" y="2127231"/>
            <a:ext cx="344616" cy="278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F9C05E-64F0-4C99-983E-96CE5564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4076" y="2464602"/>
            <a:ext cx="1106122" cy="27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Lab Spectrum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1DCCBC-00FB-4EDD-BEA3-51D8E7C2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98" y="2934000"/>
            <a:ext cx="517206" cy="283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0E90C-E65C-4BB8-9093-739F097B3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406780"/>
            <a:ext cx="516825" cy="2829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C6B95-A952-42FF-B61E-342B137B1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329" y="3834692"/>
            <a:ext cx="516825" cy="277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85BA80-C4E0-4255-AC98-0C8359D6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189" y="4237543"/>
            <a:ext cx="527302" cy="2833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683637-F88D-40AD-938F-6EBBEE05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47FDD-3E2D-4046-B080-7F1A5BA1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37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9542036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aa9c97dbc846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3D6BD-A294-4F1E-A648-915CC2C5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52" y="1052220"/>
            <a:ext cx="8522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bright star  is moving toward Earth.  If you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EC5C44-7789-4460-8E1B-9A8580FFF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647" y="1573022"/>
            <a:ext cx="8831069" cy="6907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were to look at the spectrum of this star, what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3EBAD8-C415-469D-9436-C4BBABF1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977" y="2093650"/>
            <a:ext cx="34271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would it look like?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D36A1-4DD8-4235-80D4-64066C17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814" y="3467461"/>
            <a:ext cx="2944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06D181-D720-4784-95D2-6E5D89CE5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55" y="3467841"/>
            <a:ext cx="8311245" cy="4328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absorption spectrum that is redshifted relative to an unmoving star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237E77-1DA3-41BA-936F-B3CAD7FB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3856919"/>
            <a:ext cx="29429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F1846-B7AF-4B7E-80A7-EE06AE2F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3" y="3857251"/>
            <a:ext cx="8116848" cy="4329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emission spectrum that is redshifted relative to an unmoving star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EC358-E4EF-4CDC-B619-84CDC527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4246382"/>
            <a:ext cx="30949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8DBAA-DF51-4D32-ADAB-AF93DE9C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4246709"/>
            <a:ext cx="8328142" cy="4329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continuous spectrum that is blueshifted relative to an unmoving star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EFA5F-B941-4494-B5D6-2915ABF93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4635851"/>
            <a:ext cx="30949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CDCE34-4DC3-42DE-BCFA-804B64C1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4636193"/>
            <a:ext cx="8432943" cy="432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absorption spectrum that is blueshifted relative to an unmoving star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CC2217-F2EB-4F9A-ACA1-95DDDCD0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53" y="5025319"/>
            <a:ext cx="29429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0326D-6975-4435-8EFB-36EEE9743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062" y="5025684"/>
            <a:ext cx="8206436" cy="4328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continuous spectrum that is redshifted relative to an unmoving star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5C96CE-AA12-40A4-A32F-10D9C9BFE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1D5B53-195F-4C42-A251-67A49505D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37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9510586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e342f9ea964e2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191D0F-D10A-41DB-8620-B1314CF7A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7035" y="1123328"/>
            <a:ext cx="652880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But to look at this light....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5C946-34FB-4072-9C5C-679DF249C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1248" y="2979613"/>
            <a:ext cx="6657432" cy="859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need to use telescopes.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0502EA-B0B4-4BC7-9E1C-9088D16C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026" y="4843202"/>
            <a:ext cx="1414671" cy="8696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08CA9-56F7-4443-B493-4A0B831B0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639DA2-CB1A-4D2A-82B7-43A2DC0D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911164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80d9d3c27b44b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9C66C3-34C9-4513-8985-2D6A8A19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332" y="1303558"/>
            <a:ext cx="8609516" cy="8669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main functions of a telescope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60FD2-C9ED-47F4-8A25-3F9EE70E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2687320"/>
            <a:ext cx="34463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important!!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C4169-00CE-40E9-87E1-49FC6D379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3248340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083578-785F-44E2-90C9-D7197E0A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3248681"/>
            <a:ext cx="3303263" cy="6090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Gather More Light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57AD16-BFDE-410E-B3E2-10DF9907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625" y="3248558"/>
            <a:ext cx="3348053" cy="6092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– (bigger Is better)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5889D-E6FE-4DFD-94E1-310682F2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5402" y="3248340"/>
            <a:ext cx="13678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making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22EAA-4B8C-4CA3-82E8-98201FF6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3659126"/>
            <a:ext cx="3920711" cy="6093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appear brighter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761A30-EDE5-4179-A70F-416C89AF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4158444"/>
            <a:ext cx="193890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followed by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134D5D-0DE2-4F97-A945-25D816D8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4657975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A8C7A2-F679-430B-A486-7C93716B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4657975"/>
            <a:ext cx="280214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see fine detail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2DF43-735A-4B0D-8B29-66CF2DC3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169" y="5151174"/>
            <a:ext cx="260434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(called resolution)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41FB89-2A28-4D9F-BB67-BB56B826D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5585348"/>
            <a:ext cx="3369709" cy="609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least important,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AFEE2-423F-4B38-80B1-D3A07CF9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337" y="608460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533556-5FBB-4573-9026-B98AA21F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62" y="6084607"/>
            <a:ext cx="136787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magnify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4FC1CC-DBA5-4001-AC57-C0A7365C0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169" y="6597168"/>
            <a:ext cx="4752242" cy="3904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magnification = (objective lens focal length 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408D6B-9564-4545-B113-D5775725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987" y="6571316"/>
            <a:ext cx="11341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/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F297F8-A6A2-4E2C-95C4-A0BAA6714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1306" y="6596800"/>
            <a:ext cx="2987041" cy="3910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eyepiece lens focal length)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331A2B-95C8-45CF-8FED-36702C39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65DE6-0CE6-44D9-B365-E6E54F05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37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08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4053958d0485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60CF01-4DA7-4381-A22B-A7BEE684F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2557" y="4781387"/>
            <a:ext cx="1502852" cy="625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78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78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larger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C7CB7-E19A-4363-9D83-EBB79BFD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6777" y="5290025"/>
            <a:ext cx="2554622" cy="63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4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4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objective lens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71879A-D016-4BCD-B467-3D203FCFB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034" y="5816604"/>
            <a:ext cx="1947953" cy="6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9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9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provides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7AA8C1-633F-4BCC-A3A8-9E838A39B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412" y="6317478"/>
            <a:ext cx="1680449" cy="6617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5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5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brighter (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606E19-D2F2-45CE-B91F-27A233A0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2677" y="6311562"/>
            <a:ext cx="725568" cy="671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05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305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9AFB5-8767-4BA2-B038-1C756E090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997" y="6838724"/>
            <a:ext cx="1161429" cy="653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0" i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18" b="0" i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bigger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0120C-E0F8-43FD-8D54-CE6AD770C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8111" y="6853031"/>
            <a:ext cx="1338421" cy="6300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0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0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) image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F78FCC-3770-4AC5-8D2A-8EE68FD0B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10D2E3-0579-47B0-ADF1-CFD4C510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37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4031235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4a0b29c1c64c2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2B8A7-04FC-41B4-B709-F1546036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6798" y="837189"/>
            <a:ext cx="6450898" cy="943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4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4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Examples of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3F0186-DC84-4C77-AE3C-5C07B985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2587506"/>
            <a:ext cx="1191548" cy="3534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74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Gamma-ray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6B3DCE-B9DC-4AAE-BB16-FB453347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2887750"/>
            <a:ext cx="532975" cy="3399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7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X-ray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B98394-E9A7-4811-917E-2665262C9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696" y="2255535"/>
            <a:ext cx="709433" cy="339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7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7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Visible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D41C66-5C01-47AD-9AB7-698754630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0345" y="2749642"/>
            <a:ext cx="828621" cy="3729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3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3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Infrared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4037A-4087-431B-B83A-C18D2953F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5672602"/>
            <a:ext cx="1462096" cy="3596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IR/Microwave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C10D7-C2D9-46C2-898C-2F0ABA34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229" y="5401059"/>
            <a:ext cx="600123" cy="351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0415CA-B9A3-409D-B5C6-25225FB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143302-AB07-4235-839D-22EDE80DD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37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4844576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f29821a3764bc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3D538-3C95-4AC3-8444-CE92FA32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14" y="1123328"/>
            <a:ext cx="526839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go into space?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00DD02-05AE-4B9F-AF61-1C8285AB8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3884"/>
            <a:ext cx="7092675" cy="6872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get above the atmosphere.  Why?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ADBA38-8098-4D42-B9CC-D8B27EF2F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58058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E8C342-ED17-4C2D-AA91-ED9244C8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3580589"/>
            <a:ext cx="77406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atmosphere distorts some light that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11805-C010-42C3-AB5A-E9CDC56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097002"/>
            <a:ext cx="387783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reaches the ground.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7C943F-B58E-4050-88A9-ADEA61971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23519"/>
            <a:ext cx="3981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71A68C-D328-4E90-98D8-FAD61059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3" y="4723519"/>
            <a:ext cx="73547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light does not reach the ground.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5CFB29-387F-490C-BFB6-7EA370617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E7A9B9-5007-4570-8D33-F98C9487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37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638507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f99b3e9d1143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B2400-5412-431A-B45E-FC09FD158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170" y="1470127"/>
            <a:ext cx="23447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 above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4E8D3-1FA0-4B79-9A1D-F79F7A783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3121" y="1990827"/>
            <a:ext cx="14953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B2A26F-BBBE-420F-9320-5C0799D9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1865" y="2511556"/>
            <a:ext cx="255847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B2A835-91AB-4C57-B430-48C01619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381" y="3027995"/>
            <a:ext cx="224718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Hubble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FF4165-F228-430D-B30F-CADE26142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240" y="3548695"/>
            <a:ext cx="138316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Space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017037-4D55-44B9-934F-61980873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9325" y="4076176"/>
            <a:ext cx="2103189" cy="6796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4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4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0C9E2-3328-4AEB-B5D0-4F3B9C624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585" y="4585863"/>
            <a:ext cx="179085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provides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2D6D35-F520-449A-8FEB-0697A399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585" y="5106563"/>
            <a:ext cx="17915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stunning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78806E-2DD0-40FF-A28C-ABDA1588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7319" y="5627288"/>
            <a:ext cx="260717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details about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6EB829-D7BE-4496-8EA4-161E09806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5529" y="6143728"/>
            <a:ext cx="239092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universe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88AAD6-6BFE-4F7E-A0E9-41ADA017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1C13D-33D7-4DD7-940A-5B273F4F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37</a:t>
            </a:r>
          </a:p>
        </p:txBody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122798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af3da10d92458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B2939D-5CF5-466C-B9B3-826248D8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852" y="665467"/>
            <a:ext cx="79973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Earth’s atmosphere hinders astronomical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4AAB60-2DEA-4947-9761-1A36802A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0774" y="1186167"/>
            <a:ext cx="171805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E94AE6-ED1C-4EE3-B438-D5FA41430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1691914"/>
            <a:ext cx="2746225" cy="3560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Image of stars taken with a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F9120-0054-4874-8539-F90941227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1984567"/>
            <a:ext cx="2468159" cy="3550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4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4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 on the Earth’s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BD0054-12AB-4663-AEB7-3E5989D53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897" y="2275255"/>
            <a:ext cx="757999" cy="3574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surface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759996-86ED-4A53-94F3-FEBF898B5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689615"/>
            <a:ext cx="3263187" cy="3598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77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7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picture taken with Hubble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C3236A-B1B1-4504-8C6F-629D4599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1992508"/>
            <a:ext cx="3564852" cy="341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8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8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Space Telescope high above Earth’s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AD05C-8E11-40BB-975A-87351A20D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696" y="2269015"/>
            <a:ext cx="2070044" cy="3678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blurring atmosphere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CF8A33-C8ED-4073-A538-718B16E6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0570D8-EC25-4AD6-B6AD-4B5F75F6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37</a:t>
            </a:r>
          </a:p>
        </p:txBody>
      </p:sp>
      <p:sp>
        <p:nvSpPr>
          <p:cNvPr id="14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5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6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173410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ee790cd8f9412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028C58-36BF-460B-954C-3B7A6A68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054" y="645626"/>
            <a:ext cx="7481808" cy="6350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2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2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 all EM radiation can penetrate Earth’s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D8200E-2D72-4804-9526-8D5E02C7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4133" y="1155395"/>
            <a:ext cx="2270509" cy="6462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1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1D0019-F6C0-4E57-BF93-70E0B1E11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6F097C-6C98-48DA-948A-99692405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37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56340840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ce70836c14ee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74FE0-369C-4F15-9704-3E7E88C4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2EC41B-42B1-4FF8-8F8F-78DCD72F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136906"/>
            <a:ext cx="8409381" cy="6063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visible light telescopes:  good weather, stable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6A02E4-67E2-49DF-BA2E-6816F622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8875"/>
            <a:ext cx="7776749" cy="60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atmosphere (good “seeing”), away from lights.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AA2E-87F9-4101-A4BE-4A721FD6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5F0F7B-4B93-4B9D-82ED-A3F1F759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8469016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23a5809c8c4e1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DEAC53-9971-49E0-9C14-11BDDCC04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36D215-8D92-4789-AD90-C91770A26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137232"/>
            <a:ext cx="8358241" cy="6058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ultraviolet, x-ray, gamma-ray telescopes:  the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2DBDD4-92A2-426C-A205-8B94484D4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88875"/>
            <a:ext cx="7947268" cy="6080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doesn’t penetrate the atmosphere, so you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F0C07D-1BB1-46BD-A3C0-1E04D54F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046153"/>
            <a:ext cx="7418369" cy="6078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need to put your telescope on a balloon, an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777702-3DFD-45CA-8C77-8D153679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498965"/>
            <a:ext cx="5307105" cy="608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airplane, a rocket, or a satellite.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A4DEAB-404D-4577-9E22-831376C6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14DAB-5035-4431-940D-A302B2D9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37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7038322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9d4463239243e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E3248D-E4DF-4CFD-AD31-55AE77D2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1123671"/>
            <a:ext cx="7883853" cy="9544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Factors in locating telescopes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317909-DA16-48F2-95E0-1896C424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089377"/>
            <a:ext cx="7860590" cy="60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infrared telescopes: the light is blocked by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F0D6B0-DDF6-4340-8D90-9F18AA1C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500167"/>
            <a:ext cx="8152987" cy="60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water and oxygen, so dry locations.  Mountains,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B3DE9-3133-4E1E-BCCB-687BA4E6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06821"/>
            <a:ext cx="5890948" cy="6073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aircraft, satellites, the South Pole. 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EC395F-0A90-47F7-8B28-F2B35A7E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909782"/>
            <a:ext cx="8239446" cy="6078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microwave telescopes:  the same conditions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0A0D0D-AE97-46FE-A33A-CBC9C3CB7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318458"/>
            <a:ext cx="2921206" cy="6040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infrared apply.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4F782C-5DDA-4F3F-B3EA-1D3633819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5315146"/>
            <a:ext cx="8305252" cy="6080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radio telescopes:  away from cellphones and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CD052-9404-4772-9639-C7354DF50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25843"/>
            <a:ext cx="8323828" cy="6078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stations, microwave ovens, cars, airplanes,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57302-B714-4E46-9530-6C7F0FCBE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135464"/>
            <a:ext cx="227442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people, etc…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E0DC90-655E-4C37-8A36-A415D751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BBD5B5-F2A5-4315-AD5D-EC6D827B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37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73953792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36b91d4e6a4ba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524CA1-31CC-44AF-949A-083B4A6E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601" y="958405"/>
            <a:ext cx="45265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put a telescope in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731E30-1079-4C32-9F06-BB58CD04F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58" y="1479105"/>
            <a:ext cx="97631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WV?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83A452-3161-4C75-9846-E32D4EB0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229716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FB0ED7-8E57-4FDA-B8EB-E269C144A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2297168"/>
            <a:ext cx="422662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very few people.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3544A9-6AE6-4F38-A78A-1A7D760B7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2716228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5C47DB-50D9-4C1E-B519-5D61C081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2716228"/>
            <a:ext cx="422491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is a “National Radio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6BED13-9EBE-4653-B090-74777AA3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054931"/>
            <a:ext cx="189794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Quiet Zone”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8E5B5-4309-415E-B415-FF77B99A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3478252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3E0F2B-C696-4A7E-8024-F4AEA26E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478252"/>
            <a:ext cx="44429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Therefore, no cellphones or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7A7444-80C9-4844-AA6B-E9A85CF3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3816931"/>
            <a:ext cx="362063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 stations near the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F9302C-A393-4736-898A-D91C3447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4151407"/>
            <a:ext cx="181882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40C378-3864-411E-8C17-4A614A7ED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4574754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2C5F34-F24C-43DA-901A-57C0B7D9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445" y="4574754"/>
            <a:ext cx="439107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Also, no microwaves, Wii’s,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82192B-9F5A-4855-A2A9-D8B6B803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4913368"/>
            <a:ext cx="467608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wireless phones/networks, or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099E73-B4D7-4027-9BB9-314AF82F8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5247770"/>
            <a:ext cx="463705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cars with sparkplugs close to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7AC63-06BB-4943-ACAA-06F0D42B1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5586468"/>
            <a:ext cx="2407011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telescopes.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EAEE98-2BCB-4971-A969-64A6A04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1" y="6009789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385077-927A-47A7-A437-34A88E61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009789"/>
            <a:ext cx="481304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Minimizes light pollution in the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C356B1-3BCF-46A0-959A-07285DBB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348468"/>
            <a:ext cx="375590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 of radio frequency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125FEBD-333A-407B-9263-A9DA00079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16" y="6682939"/>
            <a:ext cx="28928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interference (RFI).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5BC42C-9449-4795-967B-B47EE008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6CE288C-F173-41AC-AAB2-A2E4E989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37</a:t>
            </a:r>
          </a:p>
        </p:txBody>
      </p:sp>
      <p:sp>
        <p:nvSpPr>
          <p:cNvPr id="2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5465037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01301fe5ab425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5321EB-01AD-4A54-BF32-B46758E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143" y="820065"/>
            <a:ext cx="8071414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you’re the head of a funding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82E01D-F44A-4928-879C-BF543E81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31" y="1404342"/>
            <a:ext cx="8657662" cy="778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agency that can afford to build only one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D8DCC8-00B2-4EC4-9E0C-B07D077BB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541" y="1988465"/>
            <a:ext cx="877459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telescope.  Which of the three proposed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DAB3B5-F4F7-4DB4-B74A-6CF4E05B2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327" y="2572665"/>
            <a:ext cx="947792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telescopes below would be best to support?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95931-E1D2-48A9-B947-B8766920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71" y="3574288"/>
            <a:ext cx="39943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424291-A282-4CB1-94F1-B17C16C9B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3577695"/>
            <a:ext cx="6172247" cy="6039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7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gamma ray telescope in Antarctica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F041A-1853-400D-A681-39D3F50EA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4120363"/>
            <a:ext cx="399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39D7A7-99D7-419F-B1B8-E577DED29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4122425"/>
            <a:ext cx="6975328" cy="606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radio telescope in orbit above the Earth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B09294-59CE-4353-AAFB-42A3E605B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4666463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89661-7E66-47A1-991C-59E147ADA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4668405"/>
            <a:ext cx="8326062" cy="606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visible telescope located high on a mountain in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1C566-1392-458D-AEC8-3174494F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566" y="5119456"/>
            <a:ext cx="84021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Peru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85A58C-A77F-41F1-A3A1-F536CB95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457" y="5665597"/>
            <a:ext cx="41955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2F571E-ED7E-427F-9ECA-8EFE7D77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80" y="5666329"/>
            <a:ext cx="7761420" cy="6083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An ultraviolet telescope located in the Mojave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DB9E28-FFC4-43BA-B02D-734E0D5C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566" y="6118521"/>
            <a:ext cx="109384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desert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3A9EAB-39AB-4DE8-BEAC-3ABF8B405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8AC6A5-6F74-471A-A1ED-CEEAC72A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37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8100146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70c2ce109946c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A40556-58BD-44D6-BD8C-A8471E5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004" y="1123328"/>
            <a:ext cx="142888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D8A739-7A5E-4360-BF0E-CBB592DF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50A01E-DD90-407A-8F03-DA70E998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69504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what do we know about stars by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C3265F-E214-4961-97BB-F55864484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323108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observing them?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1483E-2029-49AE-9479-DA07CD41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00402-D895-43D5-A95E-64E72C29C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37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7819473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3553ad67fa42e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039B1C-F68C-4BD8-AC1D-3A72570C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046" y="519593"/>
            <a:ext cx="4751780" cy="866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 of different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B4FB9-9F61-4C33-9989-96422992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899" y="1162823"/>
            <a:ext cx="1362151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92E9AC-C18B-4FB6-97C2-EE31BF72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814" y="1818794"/>
            <a:ext cx="431024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(at the same distance)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9DC85D-8451-4B3C-8E71-AD7862255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3783419"/>
            <a:ext cx="3662982" cy="6088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is hottest?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E7EBBE-C1C9-478D-A49F-A1280F633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4329393"/>
            <a:ext cx="3727364" cy="6090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star is coolest?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EA3F1B-BCAB-437F-BD10-C04DD13B9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97" y="4875745"/>
            <a:ext cx="4360195" cy="6086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 you see any patterns?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C7C46-66FD-4F36-A51D-D090C87EA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BD2F2-4AC4-4C14-990A-D3C7E968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37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6954867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f77d1cb13f49c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B9031-CB39-4E98-8277-ACDA7671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FF4F16-C383-45DE-8DF4-8A815347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947" y="1973404"/>
            <a:ext cx="8642024" cy="6079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These are the same spectra in the same order you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2B4615-E663-4159-AD9F-53E20C941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98" y="2426139"/>
            <a:ext cx="8140437" cy="6083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looked at them before (ordered by temperature).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47FEF4-2873-4A42-86D6-C22E289E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111B9B-ED76-4E45-A775-ACD10BB7E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2716024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1f201dcb3b4ba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16EEF-0C9C-48EE-B3C4-22EDC019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7527E-1EFA-4303-B49D-932AD5D9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660" y="2331006"/>
            <a:ext cx="8614689" cy="6074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Notice that different lines appear and disappear as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EC7EE-2E74-402E-9E0C-CC27474C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9773" y="2782733"/>
            <a:ext cx="4366383" cy="609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7C25F9-8DA6-4C59-9967-1126928F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8896AE-B225-41B7-985F-6A00A69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029922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6967f1042d429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5D6DC0-7CB3-4E50-97A9-0FD45D430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3989" y="1123568"/>
            <a:ext cx="5894880" cy="954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Spectral Classification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D783B0-0DCC-45D0-8807-714100C9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587" y="2330527"/>
            <a:ext cx="8414014" cy="608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measuring the relative depths of each line, we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E9EC0-D8FD-480B-8EB5-A40357EF7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029" y="2784550"/>
            <a:ext cx="6788322" cy="6064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determine the temperature of a star.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5444-4B11-45B2-B9D4-626C922C9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35409F-04B5-4F2C-916D-3EF902C4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37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0506042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d2a0a8022475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2A39E-C40B-446F-941C-925337EC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725" y="1123790"/>
            <a:ext cx="7880772" cy="954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Summary of Spectral Classes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DCB81-D354-4B43-8CBC-22A82BE2C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907353-91BD-42AE-BF9E-54DC6774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35 of 37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338500123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c4042db5344d9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02C7C5-E08B-4BCE-9220-F2A6925B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866" y="1004850"/>
            <a:ext cx="839579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classified by their spectra as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3D6BE9-A8BD-4D62-BC3D-643BD3E7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97266"/>
            <a:ext cx="8099044" cy="7722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O, B, A, F, G, K, and M spectral types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2D4EAB-1847-4738-AFFB-0F52644D6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2290384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86ECE2-D425-4454-9236-141AB606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2293336"/>
            <a:ext cx="2347631" cy="55726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4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 B A F G K 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9221A2-1632-47BE-B3E2-2C6CA164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2751845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408F7E-6C2E-4F09-8BA4-1A731031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2751845"/>
            <a:ext cx="2701343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hottest to coolest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E72F76-9783-40FE-AFA8-6D5A2015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217545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9F165F-CD36-4294-8985-1D165D002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217545"/>
            <a:ext cx="1055164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FF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FF"/>
                </a:solidFill>
                <a:latin typeface="Arial"/>
                <a:ea typeface="Arial"/>
                <a:cs typeface="Arial"/>
              </a:rPr>
              <a:t>bluish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B737C7-92B2-4947-8F30-C3D2B0F0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0354" y="3217545"/>
            <a:ext cx="429875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C96A1B-4151-425D-9E79-B2A0F135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2530" y="3217545"/>
            <a:ext cx="1191637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reddish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59779-BCF9-46D8-8359-9522A4FB6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83139"/>
            <a:ext cx="16107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58000C-A0D2-4715-9548-6DCC736E6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3683139"/>
            <a:ext cx="7591568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Each class is further divided from 0-9 (e.g. A0 is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BD298C-90A6-4D5E-801E-FF4DDE28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60542"/>
            <a:ext cx="5601815" cy="5612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hotter than A9, A9 is hotter than F0)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B06052-332A-403A-AE8B-FA9AF9B17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525641"/>
            <a:ext cx="161079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86C66D-1D86-4D8D-B68A-907F493F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71" y="4525641"/>
            <a:ext cx="5848842" cy="5621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important sequence to remember: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BB4B66-EE55-4339-ADE4-8837A2920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498484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4C4CC9-6A0B-4E1E-9939-BC37C3B2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984845"/>
            <a:ext cx="473674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Oh Be a Fine Guy (or Girl), Kiss Me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D09223-0A12-4D97-9985-2BFCF31B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374284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AFADC9-A087-408B-BB76-3820CA62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374284"/>
            <a:ext cx="685528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Overseas Broadcast - A Flash: Godzilla Kills Mothra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5EAE37-EB96-4DFC-810C-42E9415A4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576801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2F11F5-F42F-460F-B452-6D283C46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768694"/>
            <a:ext cx="3902714" cy="472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Oh, Boy, An F Grade Kills 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62F9E-0612-4CA7-999A-E4F2ACCE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04" y="6161713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8E1A43-60BD-409D-83EA-F626C254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6161713"/>
            <a:ext cx="639101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Bad Astronomers Forget Generally Known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DE6F67-8027-4C63-AFF0-088EB8C9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3" y="6483470"/>
            <a:ext cx="164258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Mnemonics.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41CA3E-9CAC-4BDC-8E31-1051788B5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DA7DB6-90E6-4F5D-B3C7-922D9116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36 of 37</a:t>
            </a:r>
          </a:p>
        </p:txBody>
      </p:sp>
      <p:sp>
        <p:nvSpPr>
          <p:cNvPr id="3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62043525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7377b2cff41c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1C345-3662-4868-B53F-67B7F885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651" y="803298"/>
            <a:ext cx="8116037" cy="954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thousands of nearby stars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1BE665-FE34-44CD-9065-430D6BAE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207" y="1514202"/>
            <a:ext cx="321678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find: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FF084-4953-4D2C-9C11-B18A1C11D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2576043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F8F5B-8B59-4BB3-8558-F7C510E93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2576043"/>
            <a:ext cx="452064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luminosity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6D7B82-3895-441D-9D62-4CE7F1C6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3354985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35C7D-6C17-41F0-A090-5B7BC9991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3354985"/>
            <a:ext cx="819341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temperature (color or spectral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107EB-B4BD-4967-8FCD-1E204035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006937"/>
            <a:ext cx="139222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type)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9D3675-2187-431B-BBB7-8823D4559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4785848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14B30-865F-4B35-BC9D-3D1091EE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4785848"/>
            <a:ext cx="388839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size (radius)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C67343-4DB6-4AEC-B292-E673B90C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013" y="5564790"/>
            <a:ext cx="227753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CE6087-BE19-4424-8B08-C0DD7F1A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38" y="5564790"/>
            <a:ext cx="2956380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distance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3D9026-F296-45FD-B1A9-646C0932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184" y="6481779"/>
            <a:ext cx="8244838" cy="653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18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18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WE FIND ANY RHYME, REASON, OR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6632C0-A75D-4A44-A89C-BC323094F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158" y="7084995"/>
            <a:ext cx="3417453" cy="6222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62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62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RELATIONSHIPS?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ABD2BB-ABE6-41D1-B8C3-CC30E67C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8A0FA-9900-4547-BEDA-352AA4A1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37 of 37</a:t>
            </a:r>
          </a:p>
        </p:txBody>
      </p:sp>
      <p:sp>
        <p:nvSpPr>
          <p:cNvPr id="1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286948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Doppler effect and telescopes</dc:title>
  <dcterms:created xsi:type="dcterms:W3CDTF">2026-09-26T20:03:10.9120000Z</dcterms:created>
  <dcterms:modified xsi:type="dcterms:W3CDTF">2026-09-26T20:03:10.9120000Z</dcterms:modified>
</coreProperties>
</file>