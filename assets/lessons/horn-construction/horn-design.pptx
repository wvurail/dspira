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cc786f9c6324c3b" /><Relationship Type="http://schemas.openxmlformats.org/officeDocument/2006/relationships/extended-properties" Target="/docProps/app.xml" Id="R45d0e356aa85403b" /><Relationship Type="http://schemas.openxmlformats.org/officeDocument/2006/relationships/officeDocument" Target="/ppt/presentation.xml" Id="Reeb3e0dcafe2498a" /></Relationships>
</file>

<file path=ppt/presentation.xml><?xml version="1.0" encoding="utf-8"?>
<p:presentation xmlns:p="http://schemas.openxmlformats.org/presentationml/2006/main">
  <p:sldMasterIdLst>
    <p:sldMasterId xmlns:ns0="http://schemas.openxmlformats.org/officeDocument/2006/relationships" id="2147483648" ns0:id="rIdWvuMaster"/>
  </p:sldMasterIdLst>
  <p:notesMasterIdLst>
    <p:notesMasterId xmlns:r="http://schemas.openxmlformats.org/officeDocument/2006/relationships" r:id="Rfe64ef28a87e4be8"/>
  </p:notesMasterIdLst>
  <p:sldIdLst>
    <p:sldId xmlns:r="http://schemas.openxmlformats.org/officeDocument/2006/relationships" id="256" r:id="R5e4e088c2c764fab"/>
    <p:sldId xmlns:r="http://schemas.openxmlformats.org/officeDocument/2006/relationships" id="257" r:id="R7c32aa7ec4f04cfe"/>
    <p:sldId xmlns:r="http://schemas.openxmlformats.org/officeDocument/2006/relationships" id="258" r:id="R23931114a40f412a"/>
    <p:sldId xmlns:r="http://schemas.openxmlformats.org/officeDocument/2006/relationships" id="259" r:id="Rac71a9c9611a4194"/>
    <p:sldId xmlns:r="http://schemas.openxmlformats.org/officeDocument/2006/relationships" id="260" r:id="Rb9f38a915b6e4d97"/>
    <p:sldId xmlns:r="http://schemas.openxmlformats.org/officeDocument/2006/relationships" id="261" r:id="R15eb83a31f414b1c"/>
    <p:sldId xmlns:r="http://schemas.openxmlformats.org/officeDocument/2006/relationships" id="262" r:id="Rc1acc8a0a0be4502"/>
    <p:sldId xmlns:r="http://schemas.openxmlformats.org/officeDocument/2006/relationships" id="263" r:id="R062d5e28d6264ca6"/>
    <p:sldId xmlns:r="http://schemas.openxmlformats.org/officeDocument/2006/relationships" id="264" r:id="R847a9152caf44d01"/>
    <p:sldId xmlns:r="http://schemas.openxmlformats.org/officeDocument/2006/relationships" id="265" r:id="Ra86ac40a7f4e45b0"/>
    <p:sldId xmlns:r="http://schemas.openxmlformats.org/officeDocument/2006/relationships" id="266" r:id="Rd8507d1334cc41f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a3e96224ef0a461c"/><Relationship Type="http://schemas.openxmlformats.org/officeDocument/2006/relationships/notesMaster" Target="/ppt/notesMasters/notesMaster1.xml" Id="Rfe64ef28a87e4be8"/><Relationship Type="http://schemas.openxmlformats.org/officeDocument/2006/relationships/presProps" Target="/ppt/presProps.xml" Id="Reeb3cd0e0e194352"/><Relationship Type="http://schemas.openxmlformats.org/officeDocument/2006/relationships/tableStyles" Target="/ppt/tableStyles.xml" Id="R3f617cd62c1a4477"/><Relationship Type="http://schemas.openxmlformats.org/officeDocument/2006/relationships/slide" Target="/ppt/slides/slide1.xml" Id="R5e4e088c2c764fab"/><Relationship Type="http://schemas.openxmlformats.org/officeDocument/2006/relationships/slide" Target="/ppt/slides/slide2.xml" Id="R7c32aa7ec4f04cfe"/><Relationship Type="http://schemas.openxmlformats.org/officeDocument/2006/relationships/slide" Target="/ppt/slides/slide3.xml" Id="R23931114a40f412a"/><Relationship Type="http://schemas.openxmlformats.org/officeDocument/2006/relationships/slide" Target="/ppt/slides/slide4.xml" Id="Rac71a9c9611a4194"/><Relationship Type="http://schemas.openxmlformats.org/officeDocument/2006/relationships/slide" Target="/ppt/slides/slide5.xml" Id="Rb9f38a915b6e4d97"/><Relationship Type="http://schemas.openxmlformats.org/officeDocument/2006/relationships/slide" Target="/ppt/slides/slide6.xml" Id="R15eb83a31f414b1c"/><Relationship Type="http://schemas.openxmlformats.org/officeDocument/2006/relationships/slide" Target="/ppt/slides/slide7.xml" Id="Rc1acc8a0a0be4502"/><Relationship Type="http://schemas.openxmlformats.org/officeDocument/2006/relationships/slide" Target="/ppt/slides/slide8.xml" Id="R062d5e28d6264ca6"/><Relationship Type="http://schemas.openxmlformats.org/officeDocument/2006/relationships/slide" Target="/ppt/slides/slide9.xml" Id="R847a9152caf44d01"/><Relationship Type="http://schemas.openxmlformats.org/officeDocument/2006/relationships/slide" Target="/ppt/slides/slide10.xml" Id="Ra86ac40a7f4e45b0"/><Relationship Type="http://schemas.openxmlformats.org/officeDocument/2006/relationships/slide" Target="/ppt/slides/slide11.xml" Id="Rd8507d1334cc41f7"/><Relationship Id="rIdWvuMaster" Type="http://schemas.openxmlformats.org/officeDocument/2006/relationships/slideMaster" Target="slideMasters/slideMaster1.xml"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e99cfef0451409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51ae47b0c244bbd" /><Relationship Type="http://schemas.openxmlformats.org/officeDocument/2006/relationships/notesMaster" Target="/ppt/notesMasters/notesMaster1.xml" Id="R0cbab918f3ff4dd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f7799b7e92740db" /><Relationship Type="http://schemas.openxmlformats.org/officeDocument/2006/relationships/notesMaster" Target="/ppt/notesMasters/notesMaster1.xml" Id="R3c7b3ef819bd462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d918c8442b0480b" /><Relationship Type="http://schemas.openxmlformats.org/officeDocument/2006/relationships/notesMaster" Target="/ppt/notesMasters/notesMaster1.xml" Id="Rcf1e7e5a2ce048e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a3c54e2302c4b69" /><Relationship Type="http://schemas.openxmlformats.org/officeDocument/2006/relationships/notesMaster" Target="/ppt/notesMasters/notesMaster1.xml" Id="R089eb83b4cc5430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103288ee167414b" /><Relationship Type="http://schemas.openxmlformats.org/officeDocument/2006/relationships/notesMaster" Target="/ppt/notesMasters/notesMaster1.xml" Id="R8113964ed18948d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bac2f4dda274a4c" /><Relationship Type="http://schemas.openxmlformats.org/officeDocument/2006/relationships/notesMaster" Target="/ppt/notesMasters/notesMaster1.xml" Id="R72763940da864d7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4fb24a7b1f34416" /><Relationship Type="http://schemas.openxmlformats.org/officeDocument/2006/relationships/notesMaster" Target="/ppt/notesMasters/notesMaster1.xml" Id="Ra39d7a2f1f66473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109e663b4eb4f8a" /><Relationship Type="http://schemas.openxmlformats.org/officeDocument/2006/relationships/notesMaster" Target="/ppt/notesMasters/notesMaster1.xml" Id="R0879f88011f74a7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475214140094a12" /><Relationship Type="http://schemas.openxmlformats.org/officeDocument/2006/relationships/notesMaster" Target="/ppt/notesMasters/notesMaster1.xml" Id="Rc601e9b3b21241e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c336f43e4f441da" /><Relationship Type="http://schemas.openxmlformats.org/officeDocument/2006/relationships/notesMaster" Target="/ppt/notesMasters/notesMaster1.xml" Id="R28397953c7f842f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37b5c8489e64893" /><Relationship Type="http://schemas.openxmlformats.org/officeDocument/2006/relationships/notesMaster" Target="/ppt/notesMasters/notesMaster1.xml" Id="R717a6433dc884aa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assets/lessons/horn-construction/horn-design.pdf, page 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assets/lessons/horn-construction/horn-design.pdf, page 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assets/lessons/horn-construction/horn-design.pdf, page 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assets/lessons/horn-construction/horn-design.pdf, page 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assets/lessons/horn-construction/horn-design.pdf, page 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assets/lessons/horn-construction/horn-design.pdf, page 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assets/lessons/horn-construction/horn-design.pdf, page 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assets/lessons/horn-construction/horn-design.pdf, page 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assets/lessons/horn-construction/horn-design.pdf, page 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assets/lessons/horn-construction/horn-design.pdf, page 10.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assets/lessons/horn-construction/horn-design.pdf, page 11.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ss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esson title title 0">
            <a:extLst>
              <a:ext uri="{FF2B5EF4-FFF2-40B4-BE49-F238E27FC236}">
                <a16:creationId xmlns:a16="http://schemas.microsoft.com/office/drawing/2014/main" id="{D0D053A8-BBDF-4114-AC0C-F41E42B0F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695450"/>
            <a:ext cx="109728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[Lesson title]</a:t>
            </a:r>
          </a:p>
        </p:txBody>
      </p:sp>
      <p:sp>
        <p:nvSpPr>
          <p:cNvPr id="2" name="Lesson title subtitle 1">
            <a:extLst>
              <a:ext uri="{FF2B5EF4-FFF2-40B4-BE49-F238E27FC236}">
                <a16:creationId xmlns:a16="http://schemas.microsoft.com/office/drawing/2014/main" id="{ACBDC2AF-F434-4371-8E2A-17CCF7344C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3219450"/>
            <a:ext cx="106680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[A short description of the investigation]</a:t>
            </a:r>
          </a:p>
        </p:txBody>
      </p:sp>
      <p:sp>
        <p:nvSpPr>
          <p:cNvPr id="3" name="Lesson title body 2">
            <a:extLst>
              <a:ext uri="{FF2B5EF4-FFF2-40B4-BE49-F238E27FC236}">
                <a16:creationId xmlns:a16="http://schemas.microsoft.com/office/drawing/2014/main" id="{D8956F49-2416-4C96-921B-614B43DC6BB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4591050"/>
            <a:ext cx="10572750" cy="1028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[Teacher or school]</a:t>
            </a:r>
          </a:p>
          <a:p>
            <a: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[Course / grade level]   [Date]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 and goa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Question and goals title 0">
            <a:extLst>
              <a:ext uri="{FF2B5EF4-FFF2-40B4-BE49-F238E27FC236}">
                <a16:creationId xmlns:a16="http://schemas.microsoft.com/office/drawing/2014/main" id="{D08231EE-6C7C-42AD-8215-BCBB995F2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Our investigation</a:t>
            </a:r>
          </a:p>
        </p:txBody>
      </p:sp>
      <p:sp>
        <p:nvSpPr>
          <p:cNvPr id="2" name="Question and goals body 1">
            <a:extLst>
              <a:ext uri="{FF2B5EF4-FFF2-40B4-BE49-F238E27FC236}">
                <a16:creationId xmlns:a16="http://schemas.microsoft.com/office/drawing/2014/main" id="{5A4E4205-F64E-4654-BD6B-D20017501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Essential question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will students investigate?]</a:t>
            </a:r>
          </a:p>
        </p:txBody>
      </p:sp>
      <p:sp>
        <p:nvSpPr>
          <p:cNvPr id="3" name="Question and goals body 2">
            <a:extLst>
              <a:ext uri="{FF2B5EF4-FFF2-40B4-BE49-F238E27FC236}">
                <a16:creationId xmlns:a16="http://schemas.microsoft.com/office/drawing/2014/main" id="{BF9EAF2D-1060-4815-9524-5F06F4856FB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1985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Learning goals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will students be able to explain or do?]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planation and 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xplanation and figure title 0">
            <a:extLst>
              <a:ext uri="{FF2B5EF4-FFF2-40B4-BE49-F238E27FC236}">
                <a16:creationId xmlns:a16="http://schemas.microsoft.com/office/drawing/2014/main" id="{C54DEB96-2C44-49CE-960C-EEA88B04E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[Key idea]</a:t>
            </a:r>
          </a:p>
        </p:txBody>
      </p:sp>
      <p:sp>
        <p:nvSpPr>
          <p:cNvPr id="2" name="Explanation and figure body 1">
            <a:extLst>
              <a:ext uri="{FF2B5EF4-FFF2-40B4-BE49-F238E27FC236}">
                <a16:creationId xmlns:a16="http://schemas.microsoft.com/office/drawing/2014/main" id="{74965947-62A8-4AED-A214-D22E1DB50E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05025"/>
            <a:ext cx="4524375" cy="3400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[Explain the main idea.]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[Define a new term or connect it to prior learning.]</a:t>
            </a:r>
          </a:p>
        </p:txBody>
      </p:sp>
      <p:sp>
        <p:nvSpPr>
          <p:cNvPr id="3" name="Explanation and figure content 2">
            <a:extLst>
              <a:ext uri="{FF2B5EF4-FFF2-40B4-BE49-F238E27FC236}">
                <a16:creationId xmlns:a16="http://schemas.microsoft.com/office/drawing/2014/main" id="{93F0CF8A-0D56-484D-8008-C069FB2AFB4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591175" y="2114550"/>
            <a:ext cx="5991225" cy="312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[Insert a figure or diagram]</a:t>
            </a:r>
          </a:p>
        </p:txBody>
      </p:sp>
      <p:sp>
        <p:nvSpPr>
          <p:cNvPr id="4" name="Explanation and figure body 3">
            <a:extLst>
              <a:ext uri="{FF2B5EF4-FFF2-40B4-BE49-F238E27FC236}">
                <a16:creationId xmlns:a16="http://schemas.microsoft.com/office/drawing/2014/main" id="{B76FA5E4-B6C8-43B1-871F-4C2029154E84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591175" y="5353050"/>
            <a:ext cx="5991225" cy="542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[Figure caption and source credit]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ty ste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ctivity steps title 0">
            <a:extLst>
              <a:ext uri="{FF2B5EF4-FFF2-40B4-BE49-F238E27FC236}">
                <a16:creationId xmlns:a16="http://schemas.microsoft.com/office/drawing/2014/main" id="{4A75A923-A588-498D-8C3D-05C7B27BD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[Activity title]</a:t>
            </a:r>
          </a:p>
        </p:txBody>
      </p:sp>
      <p:sp>
        <p:nvSpPr>
          <p:cNvPr id="2" name="Activity steps body 1">
            <a:extLst>
              <a:ext uri="{FF2B5EF4-FFF2-40B4-BE49-F238E27FC236}">
                <a16:creationId xmlns:a16="http://schemas.microsoft.com/office/drawing/2014/main" id="{F15A3904-D261-4581-891D-0D974E46F6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24075"/>
            <a:ext cx="10972800" cy="3333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[Describe the setup.]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[Describe the measurement and units.]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[Explain how to record the result.]</a:t>
            </a:r>
          </a:p>
        </p:txBody>
      </p:sp>
      <p:sp>
        <p:nvSpPr>
          <p:cNvPr id="3" name="Activity steps body 2">
            <a:extLst>
              <a:ext uri="{FF2B5EF4-FFF2-40B4-BE49-F238E27FC236}">
                <a16:creationId xmlns:a16="http://schemas.microsoft.com/office/drawing/2014/main" id="{332D626C-8C62-4762-8A19-77DFBBDD378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581650"/>
            <a:ext cx="109728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[Add relevant safety or supervision instructions.]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ta or vis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a or visual title 0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[Observation or result]</a:t>
            </a:r>
          </a:p>
        </p:txBody>
      </p:sp>
      <p:sp>
        <p:nvSpPr>
          <p:cNvPr id="2" name="Data or visual content 1">
            <a:extLst>
              <a:ext uri="{FF2B5EF4-FFF2-40B4-BE49-F238E27FC236}">
                <a16:creationId xmlns:a16="http://schemas.microsoft.com/office/drawing/2014/main" id="{3A617E8B-975F-4DBD-9A97-0A174C276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095500"/>
            <a:ext cx="10972800" cy="3219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[Insert a graph, table, or image]</a:t>
            </a:r>
          </a:p>
        </p:txBody>
      </p:sp>
      <p:sp>
        <p:nvSpPr>
          <p:cNvPr id="3" name="Data or visual body 2">
            <a:extLst>
              <a:ext uri="{FF2B5EF4-FFF2-40B4-BE49-F238E27FC236}">
                <a16:creationId xmlns:a16="http://schemas.microsoft.com/office/drawing/2014/main" id="{DFE3AC5B-7812-46A8-BB38-963FC170FFF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457825"/>
            <a:ext cx="109728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[Describe the evidence. Include units, a caption, and source credits.]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scussion and ref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iscussion and reflection title 0">
            <a:extLst>
              <a:ext uri="{FF2B5EF4-FFF2-40B4-BE49-F238E27FC236}">
                <a16:creationId xmlns:a16="http://schemas.microsoft.com/office/drawing/2014/main" id="{1A0C5B13-4DC7-4BB2-8032-5A841983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What did we learn?</a:t>
            </a:r>
          </a:p>
        </p:txBody>
      </p:sp>
      <p:sp>
        <p:nvSpPr>
          <p:cNvPr id="2" name="Discussion and reflection body 1">
            <a:extLst>
              <a:ext uri="{FF2B5EF4-FFF2-40B4-BE49-F238E27FC236}">
                <a16:creationId xmlns:a16="http://schemas.microsoft.com/office/drawing/2014/main" id="{73737ED5-7D24-4242-A1DB-9FC8EF99D3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24075"/>
            <a:ext cx="10972800" cy="3467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pattern do the results show?]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evidence supports your explanation?]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would you investigate next?]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WVU DSPIR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WVU navy banner">
            <a:extLst>
              <a:ext uri="{FF2B5EF4-FFF2-40B4-BE49-F238E27FC236}">
                <a16:creationId xmlns:a16="http://schemas.microsoft.com/office/drawing/2014/main" id="{6D4F5CCA-FF43-4F29-8399-ACE93C08BCE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5524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" name="WVU gold rule">
            <a:extLst>
              <a:ext uri="{FF2B5EF4-FFF2-40B4-BE49-F238E27FC236}">
                <a16:creationId xmlns:a16="http://schemas.microsoft.com/office/drawing/2014/main" id="{B7F9BFBD-7E36-451D-96E5-BC2ED296FC2E}"/>
              </a:ext>
            </a:extLst>
          </p:cNvPr>
          <p:cNvSpPr>
            <a:spLocks noGrp="1"/>
          </p:cNvSpPr>
          <p:nvPr/>
        </p:nvSpPr>
        <p:spPr>
          <a:xfrm>
            <a:off x="0" y="552450"/>
            <a:ext cx="12192000" cy="3810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" name="WVU DSPIRA brand">
            <a:extLst>
              <a:ext uri="{FF2B5EF4-FFF2-40B4-BE49-F238E27FC236}">
                <a16:creationId xmlns:a16="http://schemas.microsoft.com/office/drawing/2014/main" id="{81DC7FEE-6B94-4036-9AF5-8A342A05842A}"/>
              </a:ext>
            </a:extLst>
          </p:cNvPr>
          <p:cNvSpPr>
            <a:spLocks noGrp="1"/>
          </p:cNvSpPr>
          <p:nvPr/>
        </p:nvSpPr>
        <p:spPr>
          <a:xfrm>
            <a:off x="457200" y="76200"/>
            <a:ext cx="3810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University name">
            <a:extLst>
              <a:ext uri="{FF2B5EF4-FFF2-40B4-BE49-F238E27FC236}">
                <a16:creationId xmlns:a16="http://schemas.microsoft.com/office/drawing/2014/main" id="{86DE04A2-939A-456D-B0E1-0BD64EC5EF56}"/>
              </a:ext>
            </a:extLst>
          </p:cNvPr>
          <p:cNvSpPr>
            <a:spLocks noGrp="1"/>
          </p:cNvSpPr>
          <p:nvPr/>
        </p:nvSpPr>
        <p:spPr>
          <a:xfrm>
            <a:off x="7715250" y="161925"/>
            <a:ext cx="40195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r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  <p:sp>
        <p:nvSpPr>
          <p:cNvPr id="5" name="Website">
            <a:extLst>
              <a:ext uri="{FF2B5EF4-FFF2-40B4-BE49-F238E27FC236}">
                <a16:creationId xmlns:a16="http://schemas.microsoft.com/office/drawing/2014/main" id="{1895C86C-2B15-4605-AD65-E205FDC66179}"/>
              </a:ext>
            </a:extLst>
          </p:cNvPr>
          <p:cNvSpPr>
            <a:spLocks noGrp="1"/>
          </p:cNvSpPr>
          <p:nvPr/>
        </p:nvSpPr>
        <p:spPr>
          <a:xfrm>
            <a:off x="457200" y="6372225"/>
            <a:ext cx="4095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1200" b="0">
                <a:solidFill>
                  <a:srgbClr val="45454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Automatic slide number">
            <a:extLst>
              <a:ext uri="{FF2B5EF4-FFF2-40B4-BE49-F238E27FC236}">
                <a16:creationId xmlns:a16="http://schemas.microsoft.com/office/drawing/2014/main" id="{4AD0E30E-B026-44BD-ABE4-8BF1D7897EFE}"/>
              </a:ext>
            </a:extLst>
          </p:cNvPr>
          <p:cNvSpPr>
            <a:spLocks noGrp="1"/>
          </p:cNvSpPr>
          <p:nvPr/>
        </p:nvSpPr>
        <p:spPr>
          <a:xfrm>
            <a:off x="10953750" y="6372225"/>
            <a:ext cx="7810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r">
              <a:defRPr sz="1200" b="0">
                <a:solidFill>
                  <a:srgbClr val="454545"/>
                </a:solidFill>
                <a:latin typeface="Arial"/>
                <a:ea typeface="Arial"/>
                <a:cs typeface="Arial"/>
              </a:defRPr>
            </a:pPr>
            <a:fld id="{018D423B-F0A3-4876-8334-4B6CD5BE88A3}" type="slidenum">
              <a:rPr sz="12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>‹#›</a:t>
            </a:fld>
            <a:endParaRPr sz="1200" b="0">
              <a:solidFill>
                <a:srgbClr val="454545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fa98468cf199466e"/><Relationship Type="http://schemas.openxmlformats.org/officeDocument/2006/relationships/image" Target="/ppt/media/image.png" Id="Rbb4ffe0246e6479b"/><Relationship Type="http://schemas.openxmlformats.org/officeDocument/2006/relationships/notesSlide" Target="/ppt/notesSlides/notesSlide1.xml" Id="R3ecc7af898bd40ee"/></Relationships>
</file>

<file path=ppt/slides/_rels/slide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a9463675c1a14657"/><Relationship Type="http://schemas.openxmlformats.org/officeDocument/2006/relationships/image" Target="/ppt/media/image2.png" Id="R6eb76e9d8d4a4261"/><Relationship Type="http://schemas.openxmlformats.org/officeDocument/2006/relationships/notesSlide" Target="/ppt/notesSlides/notesSlide2.xml" Id="R3abe1d6dbffb4208"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f6b1c271941a4c04"/><Relationship Type="http://schemas.openxmlformats.org/officeDocument/2006/relationships/image" Target="/ppt/media/image3.png" Id="R1a5b9ee44fe84392"/><Relationship Type="http://schemas.openxmlformats.org/officeDocument/2006/relationships/notesSlide" Target="/ppt/notesSlides/notesSlide3.xml" Id="Ref1cb893f2cb476d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ac4376c55afc46bc"/><Relationship Type="http://schemas.openxmlformats.org/officeDocument/2006/relationships/image" Target="/ppt/media/image4.png" Id="Rdc6eb8f74d1d4df0"/><Relationship Type="http://schemas.openxmlformats.org/officeDocument/2006/relationships/notesSlide" Target="/ppt/notesSlides/notesSlide4.xml" Id="R7b7a93ab29ed43ab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225d86cd4f7e4c9e"/><Relationship Type="http://schemas.openxmlformats.org/officeDocument/2006/relationships/image" Target="/ppt/media/image5.png" Id="Rdfe6c5f5df3a42d4"/><Relationship Type="http://schemas.openxmlformats.org/officeDocument/2006/relationships/notesSlide" Target="/ppt/notesSlides/notesSlide5.xml" Id="Rdeda6b82e31d4d15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2d8f4fc0bc154b77"/><Relationship Type="http://schemas.openxmlformats.org/officeDocument/2006/relationships/image" Target="/ppt/media/image6.png" Id="R3c9c90e400584dca"/><Relationship Type="http://schemas.openxmlformats.org/officeDocument/2006/relationships/notesSlide" Target="/ppt/notesSlides/notesSlide6.xml" Id="Rae2881f14e674a6b"/></Relationships>
</file>

<file path=ppt/slides/_rels/slide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e7be827308ee4f83"/><Relationship Type="http://schemas.openxmlformats.org/officeDocument/2006/relationships/image" Target="/ppt/media/image7.png" Id="Rd370b590157e411a"/><Relationship Type="http://schemas.openxmlformats.org/officeDocument/2006/relationships/notesSlide" Target="/ppt/notesSlides/notesSlide7.xml" Id="Rb12ee43e2cb64306"/></Relationships>
</file>

<file path=ppt/slides/_rels/slide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55eec95fcc254855"/><Relationship Type="http://schemas.openxmlformats.org/officeDocument/2006/relationships/image" Target="/ppt/media/image8.png" Id="Rdbf7a3f6f3ed45f5"/><Relationship Type="http://schemas.openxmlformats.org/officeDocument/2006/relationships/notesSlide" Target="/ppt/notesSlides/notesSlide8.xml" Id="R09d0090b259e433d"/></Relationships>
</file>

<file path=ppt/slides/_rels/slide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50c6906c2eb649f0"/><Relationship Type="http://schemas.openxmlformats.org/officeDocument/2006/relationships/image" Target="/ppt/media/image9.png" Id="R0af7b969613a41f8"/><Relationship Type="http://schemas.openxmlformats.org/officeDocument/2006/relationships/notesSlide" Target="/ppt/notesSlides/notesSlide9.xml" Id="R80f2f4f562a541da"/></Relationships>
</file>

<file path=ppt/slides/_rels/slide1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e52441c1a9ad450b"/><Relationship Type="http://schemas.openxmlformats.org/officeDocument/2006/relationships/image" Target="/ppt/media/image10.png" Id="Rfa98131533ae46de"/><Relationship Type="http://schemas.openxmlformats.org/officeDocument/2006/relationships/notesSlide" Target="/ppt/notesSlides/notesSlide10.xml" Id="Raa21d21a2f794c93"/></Relationships>
</file>

<file path=ppt/slides/_rels/slide1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70e79d135fac44da"/><Relationship Type="http://schemas.openxmlformats.org/officeDocument/2006/relationships/image" Target="/ppt/media/image11.png" Id="Rf895b7493ba24ec2"/><Relationship Type="http://schemas.openxmlformats.org/officeDocument/2006/relationships/notesSlide" Target="/ppt/notesSlides/notesSlide11.xml" Id="R73eb60ee2e6f421f"/></Relationships>
</file>

<file path=ppt/slides/slide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4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Horn Telescope Design and 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93DA48-CB40-42D2-B3D1-AC5AB73E8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1195" y="2095500"/>
            <a:ext cx="630961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From a presentation by Daniel Bonnett at DSPIRA 2018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7229B0-FA4C-4714-AD61-07CA40495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4855" y="2401227"/>
            <a:ext cx="3625594" cy="404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Mathematics &amp; science Teacher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1DF9BA-6025-4929-B0E1-DFD1BE5BC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7255" y="2706815"/>
            <a:ext cx="5857241" cy="4035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Chandler Academy, Kanawha County, West Virginia</a:t>
            </a:r>
          </a:p>
        </p:txBody>
      </p:sp>
    </p:spTree>
    <p:extLst>
      <p:ext uri="{BB962C8B-B14F-4D97-AF65-F5344CB8AC3E}">
        <p14:creationId xmlns:p14="http://schemas.microsoft.com/office/powerpoint/2010/main" val="1943868566"/>
      </p:ext>
    </p:extLst>
  </p:cSld>
</p:sld>
</file>

<file path=ppt/slides/slide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TELESCOPE DESIGN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376A72-F374-415E-AB3E-46BF9F05B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9967" y="2095500"/>
            <a:ext cx="157640" cy="568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42FA89-79C9-46FB-8CD2-6522A3419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9617" y="2114372"/>
            <a:ext cx="6375844" cy="568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DSPIRA Horn is designed as an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6B5133-A4E9-4BA3-8BD5-D19A33646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9617" y="2539556"/>
            <a:ext cx="2749151" cy="568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“optimal” horn.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CA8F95-DCA3-4D51-A24F-FC50C3B2F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9268" y="2947865"/>
            <a:ext cx="126556" cy="4262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4E796C-58D9-42E0-B812-E1A891E9D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8918" y="2962297"/>
            <a:ext cx="6725313" cy="4262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(which means that the angles of the trapezoidal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9F9090-28F2-4BD0-98A5-D72A84F9E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8918" y="3282018"/>
            <a:ext cx="6726115" cy="4262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sides are set for the resolution of radio waves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460B52-732A-40CB-8E00-B68DAEF8A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8918" y="3601738"/>
            <a:ext cx="2482362" cy="4262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that are collected)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29151C-9CD0-4254-8C56-787F01384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9967" y="4226969"/>
            <a:ext cx="157640" cy="568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4E36E1-C6BC-4DCB-B860-2409764BB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9617" y="4244731"/>
            <a:ext cx="7552416" cy="568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DSPIRA Horn is designed as an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E0152A-AA47-43D5-BE70-80C989DF9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9617" y="4671025"/>
            <a:ext cx="3559465" cy="568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”inexpensive” horn.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5E661C-89AA-4D39-BC5C-9ABDC1A3E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9268" y="5079334"/>
            <a:ext cx="126556" cy="4262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ADAD43-7BB1-46A5-966F-62A6F6185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8918" y="5093766"/>
            <a:ext cx="6726913" cy="4262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(which means that any science classroom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B52515-33B7-43B6-A062-252C1AEAB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8918" y="5413486"/>
            <a:ext cx="6726115" cy="4262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teacher can construct this with their students as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3CB920-9AA5-4EAD-BC1F-D4917342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8918" y="5733206"/>
            <a:ext cx="3340277" cy="4262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classroom lab activity.)</a:t>
            </a:r>
          </a:p>
        </p:txBody>
      </p:sp>
    </p:spTree>
    <p:extLst>
      <p:ext uri="{BB962C8B-B14F-4D97-AF65-F5344CB8AC3E}">
        <p14:creationId xmlns:p14="http://schemas.microsoft.com/office/powerpoint/2010/main" val="2084158525"/>
      </p:ext>
    </p:extLst>
  </p:cSld>
</p:sld>
</file>

<file path=ppt/slides/slide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2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TELESCOPE SCHEMATIC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5b9ee44fe84392"/>
          <ns0:srcRect xmlns:ns0="http://schemas.openxmlformats.org/drawingml/2006/main" l="18594" r="21094" t="28981" b="37037"/>
          <a:stretch xmlns:a="http://schemas.openxmlformats.org/drawingml/2006/main"/>
        </p:blipFill>
        <p:spPr>
          <a:xfrm xmlns:a="http://schemas.openxmlformats.org/drawingml/2006/main">
            <a:off x="2419543" y="2095500"/>
            <a:ext cx="7352915" cy="2330328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A96F53-D7B8-4248-B4FE-27F9421AB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8861" y="3181602"/>
            <a:ext cx="324345" cy="223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LNA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85B2D4-7916-413A-A80F-672FF9DCC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7501" y="3682014"/>
            <a:ext cx="613525" cy="2065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16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16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computer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DAF2AF-418C-4827-880A-FBDBC4B4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3281" y="3146042"/>
            <a:ext cx="512102" cy="223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Airspy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14C4EB-2771-441D-B2E8-48D1625AC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6141" y="3300982"/>
            <a:ext cx="426605" cy="223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Radio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888E60-52A9-4C64-8865-90059558F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9601" y="2445510"/>
            <a:ext cx="375971" cy="243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horn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989CF9-0D1B-43FA-8D7A-71030DDB0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3281" y="2981450"/>
            <a:ext cx="428549" cy="243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cable</a:t>
            </a:r>
          </a:p>
        </p:txBody>
      </p:sp>
    </p:spTree>
    <p:extLst>
      <p:ext uri="{BB962C8B-B14F-4D97-AF65-F5344CB8AC3E}">
        <p14:creationId xmlns:p14="http://schemas.microsoft.com/office/powerpoint/2010/main" val="2078564583"/>
      </p:ext>
    </p:extLst>
  </p:cSld>
</p:sld>
</file>

<file path=ppt/slides/slide4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23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HORN CONSTRUCTION MATERIALS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E1DAF3-A802-4F61-8819-054667899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1333" y="2095500"/>
            <a:ext cx="127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C52775-9D9E-4762-9BF0-3F8350F6C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083" y="2109470"/>
            <a:ext cx="4858256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 gallon rectangular paint thinner can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BC7C5F-D7DB-453E-B658-2F6E55916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5733" y="2473960"/>
            <a:ext cx="127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EA3064-DF97-48FB-BCEE-E4B374A09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483" y="2487930"/>
            <a:ext cx="4032249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(F-style metal gallon container)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3D2DB4-2070-4EC8-BCD8-1A9706C23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1333" y="2887980"/>
            <a:ext cx="127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29C0E8-4509-4A91-96E3-2D8F6E78D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083" y="2901950"/>
            <a:ext cx="5311141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horn sides can be cut from a single 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879316-75E0-47D5-AFF2-610B47D97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0123" y="2975102"/>
            <a:ext cx="143180" cy="284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1BF9A3-8F1B-48C6-9EB2-4332DA204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533" y="2901950"/>
            <a:ext cx="1331978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8 ft sheet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BDF6BB-CA95-4A83-BC0A-DB0C55DB6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083" y="3208020"/>
            <a:ext cx="260096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½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B3E44E-3621-485F-B07F-CD9B6654E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9333" y="3208020"/>
            <a:ext cx="6641335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” to 1” thick aluminized home insulation Styrofoam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2DC1F5-ED17-4723-A2FB-C6786DAA8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083" y="3512820"/>
            <a:ext cx="771398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board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5626A7-EECD-4513-A32D-9FF1233E7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1333" y="3912870"/>
            <a:ext cx="127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503584-B72A-4931-A44D-11CE642C9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083" y="3926840"/>
            <a:ext cx="125222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duct tape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17CF9B-C52E-4600-BEC5-2A92803DB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1333" y="4326890"/>
            <a:ext cx="127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8D3EC4-1B44-416D-9E11-7CBBEBD1B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083" y="4342130"/>
            <a:ext cx="1966214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aluminum tape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1B1AC8-7AE5-44A5-A622-6EDF2D1E7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1333" y="4742180"/>
            <a:ext cx="127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77471E-98FC-450C-B86B-0DBEBF80A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083" y="4756150"/>
            <a:ext cx="1883918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2” x 4” boards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72F446-A6F7-4BE2-A7F3-731DB2D84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1333" y="5157470"/>
            <a:ext cx="127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91011D-A0A4-4BAE-8DD3-15229BB43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083" y="5171440"/>
            <a:ext cx="1883918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2” x 2” boards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B4237B-0C01-47DB-B662-CCB2F9A23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1333" y="5571490"/>
            <a:ext cx="127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B9CC77-C9A4-4510-BA89-F4798CA06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083" y="5585460"/>
            <a:ext cx="907542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screws</a:t>
            </a:r>
          </a:p>
        </p:txBody>
      </p:sp>
    </p:spTree>
    <p:extLst>
      <p:ext uri="{BB962C8B-B14F-4D97-AF65-F5344CB8AC3E}">
        <p14:creationId xmlns:p14="http://schemas.microsoft.com/office/powerpoint/2010/main" val="1947541222"/>
      </p:ext>
    </p:extLst>
  </p:cSld>
</p:sld>
</file>

<file path=ppt/slides/slide5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1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MEASUREMENTS OF THE SIDES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e6c5f5df3a42d4"/>
          <ns0:srcRect xmlns:ns0="http://schemas.openxmlformats.org/drawingml/2006/main" l="18854" r="18177" t="25370" b="19630"/>
          <a:stretch xmlns:a="http://schemas.openxmlformats.org/drawingml/2006/main"/>
        </p:blipFill>
        <p:spPr>
          <a:xfrm xmlns:a="http://schemas.openxmlformats.org/drawingml/2006/main">
            <a:off x="2698258" y="2095500"/>
            <a:ext cx="6795483" cy="3338724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335DEC-24F2-4FC6-9DDD-648C2DC44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4782" y="4222039"/>
            <a:ext cx="710138" cy="215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2’ 5 5/16”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94D0C2-E5D6-4443-94FF-4B6EA215A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486" y="5592899"/>
            <a:ext cx="1606246" cy="3237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Smaller side of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974B5E-F23F-4364-95D5-E5825F095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486" y="5835728"/>
            <a:ext cx="558439" cy="3237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horn.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8B91BE-00E1-4280-B8ED-688E4ABDA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3236" y="5579409"/>
            <a:ext cx="1488474" cy="3237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Larger side of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4DFBCB-E901-4A3A-A307-9BCAE9C71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3236" y="5822238"/>
            <a:ext cx="557427" cy="3237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horn.</a:t>
            </a:r>
          </a:p>
        </p:txBody>
      </p:sp>
    </p:spTree>
    <p:extLst>
      <p:ext uri="{BB962C8B-B14F-4D97-AF65-F5344CB8AC3E}">
        <p14:creationId xmlns:p14="http://schemas.microsoft.com/office/powerpoint/2010/main" val="1739615951"/>
      </p:ext>
    </p:extLst>
  </p:cSld>
</p:sld>
</file>

<file path=ppt/slides/slide6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Piecing the sides together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9c90e400584dca"/>
          <ns0:srcRect xmlns:ns0="http://schemas.openxmlformats.org/drawingml/2006/main" l="5885" r="6458" t="14630" b="14352"/>
          <a:stretch xmlns:a="http://schemas.openxmlformats.org/drawingml/2006/main"/>
        </p:blipFill>
        <p:spPr>
          <a:xfrm xmlns:a="http://schemas.openxmlformats.org/drawingml/2006/main">
            <a:off x="1637257" y="2095500"/>
            <a:ext cx="8917486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397196"/>
      </p:ext>
    </p:extLst>
  </p:cSld>
</p:sld>
</file>

<file path=ppt/slides/slide7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The Can Antenna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70b590157e411a"/>
          <ns0:srcRect xmlns:ns0="http://schemas.openxmlformats.org/drawingml/2006/main" l="2552" r="2812" t="29815" b="11389"/>
          <a:stretch xmlns:a="http://schemas.openxmlformats.org/drawingml/2006/main"/>
        </p:blipFill>
        <p:spPr>
          <a:xfrm xmlns:a="http://schemas.openxmlformats.org/drawingml/2006/main">
            <a:off x="609600" y="2095500"/>
            <a:ext cx="10972800" cy="383474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2243345"/>
      </p:ext>
    </p:extLst>
  </p:cSld>
</p:sld>
</file>

<file path=ppt/slides/slide8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Horn design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f7a3f6f3ed45f5"/>
          <ns0:srcRect xmlns:ns0="http://schemas.openxmlformats.org/drawingml/2006/main" l="22865" r="33646" t="25000" b="34352"/>
          <a:stretch xmlns:a="http://schemas.openxmlformats.org/drawingml/2006/main"/>
        </p:blipFill>
        <p:spPr>
          <a:xfrm xmlns:a="http://schemas.openxmlformats.org/drawingml/2006/main">
            <a:off x="3696501" y="3202702"/>
            <a:ext cx="5301972" cy="2787504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CACE2D-E686-47A3-8714-2A4E61D3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3527" y="2095500"/>
            <a:ext cx="5277384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LNA mounts directly to the can.</a:t>
            </a:r>
          </a:p>
        </p:txBody>
      </p:sp>
    </p:spTree>
    <p:extLst>
      <p:ext uri="{BB962C8B-B14F-4D97-AF65-F5344CB8AC3E}">
        <p14:creationId xmlns:p14="http://schemas.microsoft.com/office/powerpoint/2010/main" val="1946021560"/>
      </p:ext>
    </p:extLst>
  </p:cSld>
</p:sld>
</file>

<file path=ppt/slides/slide9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2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Horn design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C6F44C-D2CF-42EF-8814-1563E585E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8472" y="2095500"/>
            <a:ext cx="279505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HORN STANDS</a:t>
            </a:r>
          </a:p>
        </p:txBody>
      </p:sp>
    </p:spTree>
    <p:extLst>
      <p:ext uri="{BB962C8B-B14F-4D97-AF65-F5344CB8AC3E}">
        <p14:creationId xmlns:p14="http://schemas.microsoft.com/office/powerpoint/2010/main" val="422178657"/>
      </p:ext>
    </p:extLst>
  </p:cSld>
</p:sld>
</file>

<file path=ppt/slides/slide10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CONSTRUCTION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98131533ae46de"/>
          <ns0:srcRect xmlns:ns0="http://schemas.openxmlformats.org/drawingml/2006/main" l="5469" r="5625" t="19167" b="9815"/>
          <a:stretch xmlns:a="http://schemas.openxmlformats.org/drawingml/2006/main"/>
        </p:blipFill>
        <p:spPr>
          <a:xfrm xmlns:a="http://schemas.openxmlformats.org/drawingml/2006/main">
            <a:off x="1573674" y="2095500"/>
            <a:ext cx="9044652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576704"/>
      </p:ext>
    </p:extLst>
  </p:cSld>
</p:sld>
</file>

<file path=ppt/slides/slide1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Horn Base Mount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95b7493ba24ec2"/>
          <ns0:srcRect xmlns:ns0="http://schemas.openxmlformats.org/drawingml/2006/main" l="29479" r="31354" t="20093" b="6759"/>
          <a:stretch xmlns:a="http://schemas.openxmlformats.org/drawingml/2006/main"/>
        </p:blipFill>
        <p:spPr>
          <a:xfrm xmlns:a="http://schemas.openxmlformats.org/drawingml/2006/main">
            <a:off x="4161742" y="2095500"/>
            <a:ext cx="3868517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7931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des-ready.pptx" id="{6D5A5D80-B59F-47FE-A006-FBFC2926142F}" vid="{69CEE3E8-36C9-43B0-A0FB-27FA92D72A34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WVU DSPIRA</dc:creator>
  <lastModifiedBy>WVU DSPIRA</lastModifiedBy>
  <dc:title>Horn design</dc:title>
  <dcterms:created xsi:type="dcterms:W3CDTF">2026-09-26T20:03:02.9180000Z</dcterms:created>
  <dcterms:modified xsi:type="dcterms:W3CDTF">2026-09-26T20:03:02.9180000Z</dcterms:modified>
</coreProperties>
</file>