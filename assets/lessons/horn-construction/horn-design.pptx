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</p:sldMasterIdLst>
  <p:notesMasterIdLst>
    <p:notesMasterId r:id="rId13"/>
  </p:notesMasterIdLst>
  <p:sldIdLst>
    <p:sldId id="263" r:id="rId2"/>
    <p:sldId id="264" r:id="rId3"/>
    <p:sldId id="265" r:id="rId4"/>
    <p:sldId id="266" r:id="rId5"/>
    <p:sldId id="267" r:id="rId6"/>
    <p:sldId id="268" r:id="rId7"/>
    <p:sldId id="269" r:id="rId8"/>
    <p:sldId id="270" r:id="rId9"/>
    <p:sldId id="271" r:id="rId10"/>
    <p:sldId id="272" r:id="rId11"/>
    <p:sldId id="273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fr-FR"/>
              <a:t>Source: Daniel Bonnett, DSPIRA 2018 construction presentation. Current construction instructions: https://rail.wvu.edu/dspira/BuildingHornTelescope_Overview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fr-FR"/>
              <a:t>Source: Daniel Bonnett, DSPIRA 2018 construction presentation. Current construction instructions: https://rail.wvu.edu/dspira/BuildingHornTelescope_Overview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fr-FR"/>
              <a:t>Source: Daniel Bonnett, DSPIRA 2018 construction presentation. Current construction instructions: https://rail.wvu.edu/dspira/BuildingHornTelescope_Overview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fr-FR"/>
              <a:t>Source: Daniel Bonnett, DSPIRA 2018 construction presentation. Current construction instructions: https://rail.wvu.edu/dspira/BuildingHornTelescope_Overview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fr-FR"/>
              <a:t>Source: Daniel Bonnett, DSPIRA 2018 construction presentation. Current construction instructions: https://rail.wvu.edu/dspira/BuildingHornTelescope_Overview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fr-FR"/>
              <a:t>Source: Daniel Bonnett, DSPIRA 2018 construction presentation. Current construction instructions: https://rail.wvu.edu/dspira/BuildingHornTelescope_Overview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fr-FR"/>
              <a:t>Source: Daniel Bonnett, DSPIRA 2018 construction presentation. Current construction instructions: https://rail.wvu.edu/dspira/BuildingHornTelescope_Overview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fr-FR"/>
              <a:t>Source: Daniel Bonnett, DSPIRA 2018 construction presentation. Current construction instructions: https://rail.wvu.edu/dspira/BuildingHornTelescope_Overview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fr-FR"/>
              <a:t>Source: Daniel Bonnett, DSPIRA 2018 construction presentation. Current construction instructions: https://rail.wvu.edu/dspira/BuildingHornTelescope_Overview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fr-FR"/>
              <a:t>Source: Daniel Bonnett, DSPIRA 2018 construction presentation. Current construction instructions: https://rail.wvu.edu/dspira/BuildingHornTelescope_Overview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0" tIns="0" rIns="0" bIns="0">
            <a:noAutofit/>
          </a:bodyPr>
          <a:lstStyle/>
          <a:p>
            <a:r>
              <a:rPr lang="fr-FR"/>
              <a:t>Source: Daniel Bonnett, DSPIRA 2018 construction presentation. Current construction instructions: https://rail.wvu.edu/dspira/BuildingHornTelescope_Overview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ss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esson title title 0">
            <a:extLst>
              <a:ext uri="{FF2B5EF4-FFF2-40B4-BE49-F238E27FC236}">
                <a16:creationId xmlns:a16="http://schemas.microsoft.com/office/drawing/2014/main" id="{D0D053A8-BBDF-4114-AC0C-F41E42B0F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95450"/>
            <a:ext cx="109728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4350" b="1">
                <a:solidFill>
                  <a:srgbClr val="002855"/>
                </a:solidFill>
                <a:latin typeface="Arial"/>
                <a:cs typeface="Arial"/>
              </a:rPr>
              <a:t>Click to edit Master title style</a:t>
            </a:r>
            <a:endParaRPr sz="435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Lesson title subtitle 1">
            <a:extLst>
              <a:ext uri="{FF2B5EF4-FFF2-40B4-BE49-F238E27FC236}">
                <a16:creationId xmlns:a16="http://schemas.microsoft.com/office/drawing/2014/main" id="{ACBDC2AF-F434-4371-8E2A-17CCF7344C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3219450"/>
            <a:ext cx="106680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250" b="0">
                <a:solidFill>
                  <a:srgbClr val="222222"/>
                </a:solidFill>
                <a:latin typeface="Arial"/>
                <a:cs typeface="Arial"/>
              </a:rPr>
              <a:t>Click to edit Master subtitle style</a:t>
            </a:r>
            <a:endParaRPr sz="225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Lesson title body 2">
            <a:extLst>
              <a:ext uri="{FF2B5EF4-FFF2-40B4-BE49-F238E27FC236}">
                <a16:creationId xmlns:a16="http://schemas.microsoft.com/office/drawing/2014/main" id="{D8956F49-2416-4C96-921B-614B43DC6BB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4591050"/>
            <a:ext cx="10572750" cy="1028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  <a:p>
            <a:pPr lvl="1"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222222"/>
                </a:solidFill>
                <a:latin typeface="Arial"/>
                <a:cs typeface="Arial"/>
              </a:rPr>
              <a:t>Second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 and goa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Question and goals title 0">
            <a:extLst>
              <a:ext uri="{FF2B5EF4-FFF2-40B4-BE49-F238E27FC236}">
                <a16:creationId xmlns:a16="http://schemas.microsoft.com/office/drawing/2014/main" id="{D08231EE-6C7C-42AD-8215-BCBB995F2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cs typeface="Arial"/>
              </a:rPr>
              <a:t>Click to edit Master title style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Question and goals body 1">
            <a:extLst>
              <a:ext uri="{FF2B5EF4-FFF2-40B4-BE49-F238E27FC236}">
                <a16:creationId xmlns:a16="http://schemas.microsoft.com/office/drawing/2014/main" id="{5A4E4205-F64E-4654-BD6B-D20017501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  <a:p>
            <a:pPr lvl="1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Second level</a:t>
            </a:r>
          </a:p>
          <a:p>
            <a:pPr lvl="2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Third level</a:t>
            </a:r>
          </a:p>
        </p:txBody>
      </p:sp>
      <p:sp>
        <p:nvSpPr>
          <p:cNvPr id="3" name="Question and goals body 2">
            <a:extLst>
              <a:ext uri="{FF2B5EF4-FFF2-40B4-BE49-F238E27FC236}">
                <a16:creationId xmlns:a16="http://schemas.microsoft.com/office/drawing/2014/main" id="{BF9EAF2D-1060-4815-9524-5F06F4856FB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1985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  <a:p>
            <a:pPr lvl="1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Second level</a:t>
            </a:r>
          </a:p>
          <a:p>
            <a:pPr lvl="2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Third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planation and 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lanation and figure title 0">
            <a:extLst>
              <a:ext uri="{FF2B5EF4-FFF2-40B4-BE49-F238E27FC236}">
                <a16:creationId xmlns:a16="http://schemas.microsoft.com/office/drawing/2014/main" id="{C54DEB96-2C44-49CE-960C-EEA88B04E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cs typeface="Arial"/>
              </a:rPr>
              <a:t>Click to edit Master title style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Explanation and figure body 1">
            <a:extLst>
              <a:ext uri="{FF2B5EF4-FFF2-40B4-BE49-F238E27FC236}">
                <a16:creationId xmlns:a16="http://schemas.microsoft.com/office/drawing/2014/main" id="{74965947-62A8-4AED-A214-D22E1DB50E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05025"/>
            <a:ext cx="4524375" cy="3400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  <a:p>
            <a:pPr lvl="1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Second level</a:t>
            </a:r>
          </a:p>
          <a:p>
            <a:pPr lvl="2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Third level</a:t>
            </a:r>
          </a:p>
        </p:txBody>
      </p:sp>
      <p:sp>
        <p:nvSpPr>
          <p:cNvPr id="3" name="Explanation and figure content 2">
            <a:extLst>
              <a:ext uri="{FF2B5EF4-FFF2-40B4-BE49-F238E27FC236}">
                <a16:creationId xmlns:a16="http://schemas.microsoft.com/office/drawing/2014/main" id="{93F0CF8A-0D56-484D-8008-C069FB2AFB4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591175" y="2114550"/>
            <a:ext cx="5991225" cy="312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10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</p:txBody>
      </p:sp>
      <p:sp>
        <p:nvSpPr>
          <p:cNvPr id="4" name="Explanation and figure body 3">
            <a:extLst>
              <a:ext uri="{FF2B5EF4-FFF2-40B4-BE49-F238E27FC236}">
                <a16:creationId xmlns:a16="http://schemas.microsoft.com/office/drawing/2014/main" id="{B76FA5E4-B6C8-43B1-871F-4C2029154E84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591175" y="5353050"/>
            <a:ext cx="5991225" cy="542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50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 ste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ctivity steps title 0">
            <a:extLst>
              <a:ext uri="{FF2B5EF4-FFF2-40B4-BE49-F238E27FC236}">
                <a16:creationId xmlns:a16="http://schemas.microsoft.com/office/drawing/2014/main" id="{4A75A923-A588-498D-8C3D-05C7B27BD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cs typeface="Arial"/>
              </a:rPr>
              <a:t>Click to edit Master title style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Activity steps body 1">
            <a:extLst>
              <a:ext uri="{FF2B5EF4-FFF2-40B4-BE49-F238E27FC236}">
                <a16:creationId xmlns:a16="http://schemas.microsoft.com/office/drawing/2014/main" id="{F15A3904-D261-4581-891D-0D974E46F6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333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  <a:p>
            <a:pPr lvl="1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Second level</a:t>
            </a:r>
          </a:p>
          <a:p>
            <a:pPr lvl="2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Third level</a:t>
            </a:r>
          </a:p>
          <a:p>
            <a:pPr lvl="3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Fourth level</a:t>
            </a:r>
          </a:p>
          <a:p>
            <a:pPr lvl="4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Fifth level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Activity steps body 2">
            <a:extLst>
              <a:ext uri="{FF2B5EF4-FFF2-40B4-BE49-F238E27FC236}">
                <a16:creationId xmlns:a16="http://schemas.microsoft.com/office/drawing/2014/main" id="{332D626C-8C62-4762-8A19-77DFBBDD378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581650"/>
            <a:ext cx="109728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65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ta or vis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a or visual title 0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cs typeface="Arial"/>
              </a:rPr>
              <a:t>Click to edit Master title style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Data or visual content 1">
            <a:extLst>
              <a:ext uri="{FF2B5EF4-FFF2-40B4-BE49-F238E27FC236}">
                <a16:creationId xmlns:a16="http://schemas.microsoft.com/office/drawing/2014/main" id="{3A617E8B-975F-4DBD-9A97-0A174C276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095500"/>
            <a:ext cx="10972800" cy="3219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25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</p:txBody>
      </p:sp>
      <p:sp>
        <p:nvSpPr>
          <p:cNvPr id="3" name="Data or visual body 2">
            <a:extLst>
              <a:ext uri="{FF2B5EF4-FFF2-40B4-BE49-F238E27FC236}">
                <a16:creationId xmlns:a16="http://schemas.microsoft.com/office/drawing/2014/main" id="{DFE3AC5B-7812-46A8-BB38-963FC170FFF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457825"/>
            <a:ext cx="109728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65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scussion and ref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iscussion and reflection title 0">
            <a:extLst>
              <a:ext uri="{FF2B5EF4-FFF2-40B4-BE49-F238E27FC236}">
                <a16:creationId xmlns:a16="http://schemas.microsoft.com/office/drawing/2014/main" id="{1A0C5B13-4DC7-4BB2-8032-5A841983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cs typeface="Arial"/>
              </a:rPr>
              <a:t>Click to edit Master title style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Discussion and reflection body 1">
            <a:extLst>
              <a:ext uri="{FF2B5EF4-FFF2-40B4-BE49-F238E27FC236}">
                <a16:creationId xmlns:a16="http://schemas.microsoft.com/office/drawing/2014/main" id="{73737ED5-7D24-4242-A1DB-9FC8EF99D3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467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 lvl="0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Click to edit Master text styles</a:t>
            </a:r>
          </a:p>
          <a:p>
            <a:pPr lvl="1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Second level</a:t>
            </a:r>
          </a:p>
          <a:p>
            <a:pPr lvl="2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Third level</a:t>
            </a:r>
          </a:p>
          <a:p>
            <a:pPr lvl="3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Fourth level</a:t>
            </a:r>
          </a:p>
          <a:p>
            <a:pPr lvl="4"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cs typeface="Arial"/>
              </a:rPr>
              <a:t>Fifth level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WVU DSPIR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WVU navy banner">
            <a:extLst>
              <a:ext uri="{FF2B5EF4-FFF2-40B4-BE49-F238E27FC236}">
                <a16:creationId xmlns:a16="http://schemas.microsoft.com/office/drawing/2014/main" id="{6D4F5CCA-FF43-4F29-8399-ACE93C08BCE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5524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" name="WVU gold rule">
            <a:extLst>
              <a:ext uri="{FF2B5EF4-FFF2-40B4-BE49-F238E27FC236}">
                <a16:creationId xmlns:a16="http://schemas.microsoft.com/office/drawing/2014/main" id="{B7F9BFBD-7E36-451D-96E5-BC2ED296FC2E}"/>
              </a:ext>
            </a:extLst>
          </p:cNvPr>
          <p:cNvSpPr>
            <a:spLocks noGrp="1"/>
          </p:cNvSpPr>
          <p:nvPr/>
        </p:nvSpPr>
        <p:spPr>
          <a:xfrm>
            <a:off x="0" y="552450"/>
            <a:ext cx="12192000" cy="3810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" name="WVU DSPIRA brand">
            <a:extLst>
              <a:ext uri="{FF2B5EF4-FFF2-40B4-BE49-F238E27FC236}">
                <a16:creationId xmlns:a16="http://schemas.microsoft.com/office/drawing/2014/main" id="{81DC7FEE-6B94-4036-9AF5-8A342A05842A}"/>
              </a:ext>
            </a:extLst>
          </p:cNvPr>
          <p:cNvSpPr>
            <a:spLocks noGrp="1"/>
          </p:cNvSpPr>
          <p:nvPr/>
        </p:nvSpPr>
        <p:spPr>
          <a:xfrm>
            <a:off x="457200" y="76200"/>
            <a:ext cx="3810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University name">
            <a:extLst>
              <a:ext uri="{FF2B5EF4-FFF2-40B4-BE49-F238E27FC236}">
                <a16:creationId xmlns:a16="http://schemas.microsoft.com/office/drawing/2014/main" id="{86DE04A2-939A-456D-B0E1-0BD64EC5EF56}"/>
              </a:ext>
            </a:extLst>
          </p:cNvPr>
          <p:cNvSpPr>
            <a:spLocks noGrp="1"/>
          </p:cNvSpPr>
          <p:nvPr/>
        </p:nvSpPr>
        <p:spPr>
          <a:xfrm>
            <a:off x="7715250" y="161925"/>
            <a:ext cx="40195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r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  <p:sp>
        <p:nvSpPr>
          <p:cNvPr id="5" name="Website">
            <a:extLst>
              <a:ext uri="{FF2B5EF4-FFF2-40B4-BE49-F238E27FC236}">
                <a16:creationId xmlns:a16="http://schemas.microsoft.com/office/drawing/2014/main" id="{1895C86C-2B15-4605-AD65-E205FDC66179}"/>
              </a:ext>
            </a:extLst>
          </p:cNvPr>
          <p:cNvSpPr>
            <a:spLocks noGrp="1"/>
          </p:cNvSpPr>
          <p:nvPr/>
        </p:nvSpPr>
        <p:spPr>
          <a:xfrm>
            <a:off x="457200" y="6372225"/>
            <a:ext cx="4095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1200" b="0">
                <a:solidFill>
                  <a:srgbClr val="45454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>rail.wvu.edu/dspira</a:t>
            </a:r>
          </a:p>
        </p:txBody>
      </p:sp>
      <p:sp>
        <p:nvSpPr>
          <p:cNvPr id="6" name="Automatic slide number">
            <a:extLst>
              <a:ext uri="{FF2B5EF4-FFF2-40B4-BE49-F238E27FC236}">
                <a16:creationId xmlns:a16="http://schemas.microsoft.com/office/drawing/2014/main" id="{4AD0E30E-B026-44BD-ABE4-8BF1D7897EFE}"/>
              </a:ext>
            </a:extLst>
          </p:cNvPr>
          <p:cNvSpPr>
            <a:spLocks noGrp="1"/>
          </p:cNvSpPr>
          <p:nvPr/>
        </p:nvSpPr>
        <p:spPr>
          <a:xfrm>
            <a:off x="10953750" y="6372225"/>
            <a:ext cx="7810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r">
              <a:defRPr sz="1200" b="0">
                <a:solidFill>
                  <a:srgbClr val="454545"/>
                </a:solidFill>
                <a:latin typeface="Arial"/>
                <a:ea typeface="Arial"/>
                <a:cs typeface="Arial"/>
              </a:defRPr>
            </a:pPr>
            <a:fld id="{018D423B-F0A3-4876-8334-4B6CD5BE88A3}" type="slidenum">
              <a:rPr sz="12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>‹#›</a:t>
            </a:fld>
            <a:endParaRPr sz="1200" b="0">
              <a:solidFill>
                <a:srgbClr val="454545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rail.wvu.edu/dspira/assets/lessons/horn-construction/horn-and-can-assembly-2021.pdf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rail.wvu.edu/dspira/assets/lessons/horn-construction/mini-horn-construction.pdf" TargetMode="External"/><Relationship Id="rId5" Type="http://schemas.openxmlformats.org/officeDocument/2006/relationships/hyperlink" Target="https://rail.wvu.edu/dspira/assets/lessons/horn-construction/cradle-assembly-2021.pdf" TargetMode="External"/><Relationship Id="rId4" Type="http://schemas.openxmlformats.org/officeDocument/2006/relationships/hyperlink" Target="https://rail.wvu.edu/dspira/assets/lessons/horn-construction/stand-assembly-2021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esson title title 0">
            <a:extLst>
              <a:ext uri="{FF2B5EF4-FFF2-40B4-BE49-F238E27FC236}">
                <a16:creationId xmlns:a16="http://schemas.microsoft.com/office/drawing/2014/main" id="{D0D053A8-BBDF-4114-AC0C-F41E42B0F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95450"/>
            <a:ext cx="109728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435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Horn telescope design</a:t>
            </a:r>
            <a:br>
              <a:rPr lang="en-US" sz="4350" b="1">
                <a:solidFill>
                  <a:srgbClr val="002855"/>
                </a:solidFill>
                <a:latin typeface="Arial"/>
                <a:ea typeface="Arial"/>
                <a:cs typeface="Arial"/>
              </a:rPr>
            </a:br>
            <a:r>
              <a:rPr lang="en-US" sz="435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and construction</a:t>
            </a:r>
            <a:endParaRPr sz="435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Lesson title subtitle 1">
            <a:extLst>
              <a:ext uri="{FF2B5EF4-FFF2-40B4-BE49-F238E27FC236}">
                <a16:creationId xmlns:a16="http://schemas.microsoft.com/office/drawing/2014/main" id="{ACBDC2AF-F434-4371-8E2A-17CCF7344C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3219450"/>
            <a:ext cx="106680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2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A classroom radio telescope</a:t>
            </a:r>
            <a:endParaRPr sz="225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Lesson title body 2">
            <a:extLst>
              <a:ext uri="{FF2B5EF4-FFF2-40B4-BE49-F238E27FC236}">
                <a16:creationId xmlns:a16="http://schemas.microsoft.com/office/drawing/2014/main" id="{D8956F49-2416-4C96-921B-614B43DC6BB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4591050"/>
            <a:ext cx="10572750" cy="1028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Adapted from Daniel Bonnett, DSPIRA 2018</a:t>
            </a:r>
          </a:p>
          <a:p>
            <a:pPr marL="0" indent="0">
              <a:buNone/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Chandler Academy, Kanawha County, West Virginia</a:t>
            </a:r>
            <a:endParaRPr sz="18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166622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Question and goals title 0">
            <a:extLst>
              <a:ext uri="{FF2B5EF4-FFF2-40B4-BE49-F238E27FC236}">
                <a16:creationId xmlns:a16="http://schemas.microsoft.com/office/drawing/2014/main" id="{D08231EE-6C7C-42AD-8215-BCBB995F2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Telescope design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Question and goals body 1">
            <a:extLst>
              <a:ext uri="{FF2B5EF4-FFF2-40B4-BE49-F238E27FC236}">
                <a16:creationId xmlns:a16="http://schemas.microsoft.com/office/drawing/2014/main" id="{5A4E4205-F64E-4654-BD6B-D20017501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Radio astronomy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The flared horn collects radio waves.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Its shape controls the telescope's response across the sky.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Question and goals body 2">
            <a:extLst>
              <a:ext uri="{FF2B5EF4-FFF2-40B4-BE49-F238E27FC236}">
                <a16:creationId xmlns:a16="http://schemas.microsoft.com/office/drawing/2014/main" id="{BF9EAF2D-1060-4815-9524-5F06F4856FB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1985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Classroom construction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Insulation board and a metal can make the telescope's receiver.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A wooden stand supports the telescope.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382141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a or visual title 0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The receiver signal path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Data or visual content 1">
            <a:extLst>
              <a:ext uri="{FF2B5EF4-FFF2-40B4-BE49-F238E27FC236}">
                <a16:creationId xmlns:a16="http://schemas.microsoft.com/office/drawing/2014/main" id="{3A617E8B-975F-4DBD-9A97-0A174C276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095500"/>
            <a:ext cx="10972800" cy="3219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sz="225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Data or visual body 2">
            <a:extLst>
              <a:ext uri="{FF2B5EF4-FFF2-40B4-BE49-F238E27FC236}">
                <a16:creationId xmlns:a16="http://schemas.microsoft.com/office/drawing/2014/main" id="{DFE3AC5B-7812-46A8-BB38-963FC170FFF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457825"/>
            <a:ext cx="109728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6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The low-noise amplifier (LNA) boosts the signal before the radio sends it to the computer.</a:t>
            </a:r>
            <a:endParaRPr sz="165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6" name="Picture 5" descr="Horn and can receiver, low-noise amplifier, cable, Airspy radio, and computer.">
            <a:extLst>
              <a:ext uri="{FF2B5EF4-FFF2-40B4-BE49-F238E27FC236}">
                <a16:creationId xmlns:a16="http://schemas.microsoft.com/office/drawing/2014/main" id="{3351CFD9-A85F-831D-8AF0-AA4CC757E8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94" t="28981" r="21094" b="37037"/>
          <a:stretch>
            <a:fillRect/>
          </a:stretch>
        </p:blipFill>
        <p:spPr>
          <a:xfrm>
            <a:off x="1016813" y="2095500"/>
            <a:ext cx="10158374" cy="32194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4FC9D0F-A08B-20A0-99DA-58F02758FD54}"/>
              </a:ext>
            </a:extLst>
          </p:cNvPr>
          <p:cNvSpPr txBox="1"/>
          <p:nvPr/>
        </p:nvSpPr>
        <p:spPr>
          <a:xfrm>
            <a:off x="3157264" y="3595998"/>
            <a:ext cx="448097" cy="276999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sz="1520">
                <a:latin typeface="Arial" panose="020B0604020202020204" pitchFamily="34" charset="0"/>
              </a:rPr>
              <a:t>LNA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976AC0-5E38-F7F7-BEA7-921C91FF1D9D}"/>
              </a:ext>
            </a:extLst>
          </p:cNvPr>
          <p:cNvSpPr txBox="1"/>
          <p:nvPr/>
        </p:nvSpPr>
        <p:spPr>
          <a:xfrm>
            <a:off x="9178916" y="4287338"/>
            <a:ext cx="847612" cy="553998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sz="1404">
                <a:latin typeface="Arial" panose="020B0604020202020204" pitchFamily="34" charset="0"/>
              </a:rPr>
              <a:t>computer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7A33BD-11C0-30E2-5984-07049F20D337}"/>
              </a:ext>
            </a:extLst>
          </p:cNvPr>
          <p:cNvSpPr txBox="1"/>
          <p:nvPr/>
        </p:nvSpPr>
        <p:spPr>
          <a:xfrm>
            <a:off x="6396182" y="3546870"/>
            <a:ext cx="707491" cy="276999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sz="1520">
                <a:latin typeface="Arial" panose="020B0604020202020204" pitchFamily="34" charset="0"/>
              </a:rPr>
              <a:t>Airspy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0DCC21-7535-E275-020E-D624F3DA5ECC}"/>
              </a:ext>
            </a:extLst>
          </p:cNvPr>
          <p:cNvSpPr txBox="1"/>
          <p:nvPr/>
        </p:nvSpPr>
        <p:spPr>
          <a:xfrm>
            <a:off x="6427765" y="3760926"/>
            <a:ext cx="589373" cy="553998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sz="1520">
                <a:latin typeface="Arial" panose="020B0604020202020204" pitchFamily="34" charset="0"/>
              </a:rPr>
              <a:t>Radio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F3DDB4-3E8E-27EB-B45D-DD59F3A095C0}"/>
              </a:ext>
            </a:extLst>
          </p:cNvPr>
          <p:cNvSpPr txBox="1"/>
          <p:nvPr/>
        </p:nvSpPr>
        <p:spPr>
          <a:xfrm>
            <a:off x="2564222" y="2579054"/>
            <a:ext cx="519420" cy="276999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sz="1658">
                <a:latin typeface="Arial" panose="020B0604020202020204" pitchFamily="34" charset="0"/>
              </a:rPr>
              <a:t>horn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1C586C-B366-5FE6-2681-1D9F47D1ADC1}"/>
              </a:ext>
            </a:extLst>
          </p:cNvPr>
          <p:cNvSpPr txBox="1"/>
          <p:nvPr/>
        </p:nvSpPr>
        <p:spPr>
          <a:xfrm>
            <a:off x="4641622" y="3319479"/>
            <a:ext cx="592059" cy="276999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sz="1658">
                <a:latin typeface="Arial" panose="020B0604020202020204" pitchFamily="34" charset="0"/>
              </a:rPr>
              <a:t>cable</a:t>
            </a:r>
          </a:p>
        </p:txBody>
      </p:sp>
    </p:spTree>
    <p:extLst>
      <p:ext uri="{BB962C8B-B14F-4D97-AF65-F5344CB8AC3E}">
        <p14:creationId xmlns:p14="http://schemas.microsoft.com/office/powerpoint/2010/main" val="15512827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Question and goals title 0">
            <a:extLst>
              <a:ext uri="{FF2B5EF4-FFF2-40B4-BE49-F238E27FC236}">
                <a16:creationId xmlns:a16="http://schemas.microsoft.com/office/drawing/2014/main" id="{D08231EE-6C7C-42AD-8215-BCBB995F2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Construction materials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Question and goals body 1">
            <a:extLst>
              <a:ext uri="{FF2B5EF4-FFF2-40B4-BE49-F238E27FC236}">
                <a16:creationId xmlns:a16="http://schemas.microsoft.com/office/drawing/2014/main" id="{5A4E4205-F64E-4654-BD6B-D20017501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Horn and receiver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Foil-faced insulation board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New, empty F-style gallon can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Copper probe and SMA connector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Foil tape and duct tape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Question and goals body 2">
            <a:extLst>
              <a:ext uri="{FF2B5EF4-FFF2-40B4-BE49-F238E27FC236}">
                <a16:creationId xmlns:a16="http://schemas.microsoft.com/office/drawing/2014/main" id="{BF9EAF2D-1060-4815-9524-5F06F4856FB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1985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Stand and cradle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Lumber and construction screws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Bolts, washers, and wing nuts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Use the linked guides for quantities and dimensions.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613384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lanation and figure title 0">
            <a:extLst>
              <a:ext uri="{FF2B5EF4-FFF2-40B4-BE49-F238E27FC236}">
                <a16:creationId xmlns:a16="http://schemas.microsoft.com/office/drawing/2014/main" id="{C54DEB96-2C44-49CE-960C-EEA88B04E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Horn panel cutting plan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Explanation and figure body 1">
            <a:extLst>
              <a:ext uri="{FF2B5EF4-FFF2-40B4-BE49-F238E27FC236}">
                <a16:creationId xmlns:a16="http://schemas.microsoft.com/office/drawing/2014/main" id="{74965947-62A8-4AED-A214-D22E1DB50E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05025"/>
            <a:ext cx="4524375" cy="3400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Cut two large panels and two small panels.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Use the 2021 cutting guide for measurements.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One 4 × 8-foot sheet makes one horn.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Explanation and figure content 2">
            <a:extLst>
              <a:ext uri="{FF2B5EF4-FFF2-40B4-BE49-F238E27FC236}">
                <a16:creationId xmlns:a16="http://schemas.microsoft.com/office/drawing/2014/main" id="{93F0CF8A-0D56-484D-8008-C069FB2AFB4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591175" y="2114550"/>
            <a:ext cx="5991225" cy="312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sz="21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Explanation and figure body 3">
            <a:extLst>
              <a:ext uri="{FF2B5EF4-FFF2-40B4-BE49-F238E27FC236}">
                <a16:creationId xmlns:a16="http://schemas.microsoft.com/office/drawing/2014/main" id="{B76FA5E4-B6C8-43B1-871F-4C2029154E84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591175" y="5353050"/>
            <a:ext cx="5991225" cy="542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5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2021 cutting plan. Open the full-size guide before cutting.</a:t>
            </a:r>
            <a:endParaRPr sz="15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7" name="Picture 6" descr="2021 panel dimensions and layout for a 4 by 8-foot insulation sheet.">
            <a:extLst>
              <a:ext uri="{FF2B5EF4-FFF2-40B4-BE49-F238E27FC236}">
                <a16:creationId xmlns:a16="http://schemas.microsoft.com/office/drawing/2014/main" id="{DB3F77F9-411E-495E-76B2-4136FC1136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6138" y="2114550"/>
            <a:ext cx="2841300" cy="312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26015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lanation and figure title 0">
            <a:extLst>
              <a:ext uri="{FF2B5EF4-FFF2-40B4-BE49-F238E27FC236}">
                <a16:creationId xmlns:a16="http://schemas.microsoft.com/office/drawing/2014/main" id="{C54DEB96-2C44-49CE-960C-EEA88B04E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Joining the horn panels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Explanation and figure body 1">
            <a:extLst>
              <a:ext uri="{FF2B5EF4-FFF2-40B4-BE49-F238E27FC236}">
                <a16:creationId xmlns:a16="http://schemas.microsoft.com/office/drawing/2014/main" id="{74965947-62A8-4AED-A214-D22E1DB50E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05025"/>
            <a:ext cx="4524375" cy="3400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Alternate large and small panels with the foil faces up.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Tape the adjoining edges, then fold the horn.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Seal the interior seams with foil tape.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Explanation and figure content 2">
            <a:extLst>
              <a:ext uri="{FF2B5EF4-FFF2-40B4-BE49-F238E27FC236}">
                <a16:creationId xmlns:a16="http://schemas.microsoft.com/office/drawing/2014/main" id="{93F0CF8A-0D56-484D-8008-C069FB2AFB4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591175" y="2114550"/>
            <a:ext cx="5991225" cy="312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sz="21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Explanation and figure body 3">
            <a:extLst>
              <a:ext uri="{FF2B5EF4-FFF2-40B4-BE49-F238E27FC236}">
                <a16:creationId xmlns:a16="http://schemas.microsoft.com/office/drawing/2014/main" id="{B76FA5E4-B6C8-43B1-871F-4C2029154E84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591175" y="5353050"/>
            <a:ext cx="5991225" cy="542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5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Panels before folding. Photo: DSPIRA 2018.</a:t>
            </a:r>
            <a:endParaRPr sz="15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7" name="Picture 6" descr="Horn panels laid flat and joined along their edges.">
            <a:extLst>
              <a:ext uri="{FF2B5EF4-FFF2-40B4-BE49-F238E27FC236}">
                <a16:creationId xmlns:a16="http://schemas.microsoft.com/office/drawing/2014/main" id="{5DF0D14C-1473-73D4-6068-39BA6430B8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5" t="14630" r="6458" b="14352"/>
          <a:stretch>
            <a:fillRect/>
          </a:stretch>
        </p:blipFill>
        <p:spPr>
          <a:xfrm>
            <a:off x="5591175" y="2311448"/>
            <a:ext cx="5991225" cy="2730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3107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a or visual title 0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The can receiver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Data or visual content 1">
            <a:extLst>
              <a:ext uri="{FF2B5EF4-FFF2-40B4-BE49-F238E27FC236}">
                <a16:creationId xmlns:a16="http://schemas.microsoft.com/office/drawing/2014/main" id="{3A617E8B-975F-4DBD-9A97-0A174C276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095500"/>
            <a:ext cx="10972800" cy="3219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sz="225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Data or visual body 2">
            <a:extLst>
              <a:ext uri="{FF2B5EF4-FFF2-40B4-BE49-F238E27FC236}">
                <a16:creationId xmlns:a16="http://schemas.microsoft.com/office/drawing/2014/main" id="{DFE3AC5B-7812-46A8-BB38-963FC170FFF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457825"/>
            <a:ext cx="109728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6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Use a new, empty can. The probe extends inside; the SMA connector stays outside. Photos: DSPIRA 2018.</a:t>
            </a:r>
            <a:endParaRPr sz="165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6" name="Picture 5" descr="Three views show the metal can, antenna probe, and external connector.">
            <a:extLst>
              <a:ext uri="{FF2B5EF4-FFF2-40B4-BE49-F238E27FC236}">
                <a16:creationId xmlns:a16="http://schemas.microsoft.com/office/drawing/2014/main" id="{03267F3B-B621-E94F-13FF-5FA3BF9237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" t="29815" r="2812" b="11389"/>
          <a:stretch>
            <a:fillRect/>
          </a:stretch>
        </p:blipFill>
        <p:spPr>
          <a:xfrm>
            <a:off x="1489905" y="2095500"/>
            <a:ext cx="9212190" cy="3219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7636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lanation and figure title 0">
            <a:extLst>
              <a:ext uri="{FF2B5EF4-FFF2-40B4-BE49-F238E27FC236}">
                <a16:creationId xmlns:a16="http://schemas.microsoft.com/office/drawing/2014/main" id="{C54DEB96-2C44-49CE-960C-EEA88B04E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The low-noise amplifier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Explanation and figure body 1">
            <a:extLst>
              <a:ext uri="{FF2B5EF4-FFF2-40B4-BE49-F238E27FC236}">
                <a16:creationId xmlns:a16="http://schemas.microsoft.com/office/drawing/2014/main" id="{74965947-62A8-4AED-A214-D22E1DB50E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05025"/>
            <a:ext cx="4524375" cy="3400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The LNA mounts directly on the can's SMA connector.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The cable connects the LNA to the radio.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Follow the receiver guide for power and connection settings.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Explanation and figure content 2">
            <a:extLst>
              <a:ext uri="{FF2B5EF4-FFF2-40B4-BE49-F238E27FC236}">
                <a16:creationId xmlns:a16="http://schemas.microsoft.com/office/drawing/2014/main" id="{93F0CF8A-0D56-484D-8008-C069FB2AFB4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591175" y="2114550"/>
            <a:ext cx="5991225" cy="312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sz="21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Explanation and figure body 3">
            <a:extLst>
              <a:ext uri="{FF2B5EF4-FFF2-40B4-BE49-F238E27FC236}">
                <a16:creationId xmlns:a16="http://schemas.microsoft.com/office/drawing/2014/main" id="{B76FA5E4-B6C8-43B1-871F-4C2029154E84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591175" y="5353050"/>
            <a:ext cx="5991225" cy="542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5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LNA at the receiver. Photo: DSPIRA 2018.</a:t>
            </a:r>
            <a:endParaRPr sz="15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7" name="Picture 6" descr="Low-noise amplifier mounted directly on the can receiver.">
            <a:extLst>
              <a:ext uri="{FF2B5EF4-FFF2-40B4-BE49-F238E27FC236}">
                <a16:creationId xmlns:a16="http://schemas.microsoft.com/office/drawing/2014/main" id="{58F5358E-3092-11FE-5DF4-3355604339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65" t="25000" r="33646" b="34352"/>
          <a:stretch>
            <a:fillRect/>
          </a:stretch>
        </p:blipFill>
        <p:spPr>
          <a:xfrm>
            <a:off x="5615595" y="2114550"/>
            <a:ext cx="5942385" cy="312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08639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a or visual title 0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The telescope stand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Data or visual content 1">
            <a:extLst>
              <a:ext uri="{FF2B5EF4-FFF2-40B4-BE49-F238E27FC236}">
                <a16:creationId xmlns:a16="http://schemas.microsoft.com/office/drawing/2014/main" id="{3A617E8B-975F-4DBD-9A97-0A174C276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095500"/>
            <a:ext cx="10972800" cy="3219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sz="225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Data or visual body 2">
            <a:extLst>
              <a:ext uri="{FF2B5EF4-FFF2-40B4-BE49-F238E27FC236}">
                <a16:creationId xmlns:a16="http://schemas.microsoft.com/office/drawing/2014/main" id="{DFE3AC5B-7812-46A8-BB38-963FC170FFF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457825"/>
            <a:ext cx="109728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6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Matching base notches and diagonal braces support the stand. Photos: DSPIRA 2018.</a:t>
            </a:r>
            <a:endParaRPr sz="165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6" name="Picture 5" descr="Notched base boards, the braced wooden stand, and the assembled horn telescope.">
            <a:extLst>
              <a:ext uri="{FF2B5EF4-FFF2-40B4-BE49-F238E27FC236}">
                <a16:creationId xmlns:a16="http://schemas.microsoft.com/office/drawing/2014/main" id="{FA9F9DEA-9076-4035-3E66-046F079AE3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69" t="19167" r="5625" b="9815"/>
          <a:stretch>
            <a:fillRect/>
          </a:stretch>
        </p:blipFill>
        <p:spPr>
          <a:xfrm>
            <a:off x="2513470" y="2095500"/>
            <a:ext cx="7165060" cy="3219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7374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lanation and figure title 0">
            <a:extLst>
              <a:ext uri="{FF2B5EF4-FFF2-40B4-BE49-F238E27FC236}">
                <a16:creationId xmlns:a16="http://schemas.microsoft.com/office/drawing/2014/main" id="{C54DEB96-2C44-49CE-960C-EEA88B04E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The horn cradle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Explanation and figure body 1">
            <a:extLst>
              <a:ext uri="{FF2B5EF4-FFF2-40B4-BE49-F238E27FC236}">
                <a16:creationId xmlns:a16="http://schemas.microsoft.com/office/drawing/2014/main" id="{74965947-62A8-4AED-A214-D22E1DB50E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05025"/>
            <a:ext cx="4524375" cy="3400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The cradle holds the horn and adjusts its elevation.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Bolts, washers, and wing nuts connect it to the stand.</a:t>
            </a: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Check stability whenever you change the angle.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Explanation and figure content 2">
            <a:extLst>
              <a:ext uri="{FF2B5EF4-FFF2-40B4-BE49-F238E27FC236}">
                <a16:creationId xmlns:a16="http://schemas.microsoft.com/office/drawing/2014/main" id="{93F0CF8A-0D56-484D-8008-C069FB2AFB4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591175" y="2114550"/>
            <a:ext cx="5991225" cy="312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sz="21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Explanation and figure body 3">
            <a:extLst>
              <a:ext uri="{FF2B5EF4-FFF2-40B4-BE49-F238E27FC236}">
                <a16:creationId xmlns:a16="http://schemas.microsoft.com/office/drawing/2014/main" id="{B76FA5E4-B6C8-43B1-871F-4C2029154E84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591175" y="5353050"/>
            <a:ext cx="5991225" cy="542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15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Cradle and stand. Photo: DSPIRA 2018.</a:t>
            </a:r>
            <a:endParaRPr sz="15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7" name="Picture 6" descr="Horn cradle attached to the wooden stand.">
            <a:extLst>
              <a:ext uri="{FF2B5EF4-FFF2-40B4-BE49-F238E27FC236}">
                <a16:creationId xmlns:a16="http://schemas.microsoft.com/office/drawing/2014/main" id="{2CD4C5F1-C674-C9BD-FEED-252B87DA2E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479" t="20093" r="31354" b="6759"/>
          <a:stretch>
            <a:fillRect/>
          </a:stretch>
        </p:blipFill>
        <p:spPr>
          <a:xfrm>
            <a:off x="7099826" y="2114550"/>
            <a:ext cx="2973922" cy="312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05986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iscussion and reflection title 0">
            <a:extLst>
              <a:ext uri="{FF2B5EF4-FFF2-40B4-BE49-F238E27FC236}">
                <a16:creationId xmlns:a16="http://schemas.microsoft.com/office/drawing/2014/main" id="{1A0C5B13-4DC7-4BB2-8032-5A841983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lang="en-US"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Construction guides</a:t>
            </a:r>
            <a:endParaRPr sz="3300" b="1">
              <a:solidFill>
                <a:srgbClr val="00285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Discussion and reflection body 1">
            <a:extLst>
              <a:ext uri="{FF2B5EF4-FFF2-40B4-BE49-F238E27FC236}">
                <a16:creationId xmlns:a16="http://schemas.microsoft.com/office/drawing/2014/main" id="{73737ED5-7D24-4242-A1DB-9FC8EF99D3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467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  <a:hlinkClick r:id="rId3"/>
              </a:rPr>
              <a:t>Horn and can assembly</a:t>
            </a: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  <a:hlinkClick r:id="rId4"/>
              </a:rPr>
              <a:t>Stand assembly</a:t>
            </a: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  <a:hlinkClick r:id="rId5"/>
              </a:rPr>
              <a:t>Cradle assembly</a:t>
            </a: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endParaRPr lang="en-US"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 marL="0" indent="0">
              <a:buNone/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222222"/>
                </a:solidFill>
                <a:latin typeface="Arial"/>
                <a:ea typeface="Arial"/>
                <a:cs typeface="Arial"/>
                <a:hlinkClick r:id="rId6"/>
              </a:rPr>
              <a:t>Mini horn construction</a:t>
            </a:r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9014914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des-ready.pptx" id="{6D5A5D80-B59F-47FE-A006-FBFC2926142F}" vid="{69CEE3E8-36C9-43B0-A0FB-27FA92D72A34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wvu-dspira-presentation-template</Template>
  <TotalTime>0</TotalTime>
  <Words>641</Words>
  <Application>Microsoft Office PowerPoint</Application>
  <DocSecurity>0</DocSecurity>
  <PresentationFormat>Widescreen</PresentationFormat>
  <Paragraphs>87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3" baseType="lpstr">
      <vt:lpstr>Arial</vt:lpstr>
      <vt:lpstr>ChatGPT</vt:lpstr>
      <vt:lpstr>Horn telescope design and construction</vt:lpstr>
      <vt:lpstr>Telescope design</vt:lpstr>
      <vt:lpstr>The receiver signal path</vt:lpstr>
      <vt:lpstr>Construction materials</vt:lpstr>
      <vt:lpstr>Horn panel cutting plan</vt:lpstr>
      <vt:lpstr>Joining the horn panels</vt:lpstr>
      <vt:lpstr>The can receiver</vt:lpstr>
      <vt:lpstr>The low-noise amplifier</vt:lpstr>
      <vt:lpstr>The telescope stand</vt:lpstr>
      <vt:lpstr>The horn cradle</vt:lpstr>
      <vt:lpstr>Construction guides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Dylan Gormley</dc:creator>
  <cp:lastModifiedBy>Dylan Gormley</cp:lastModifiedBy>
  <cp:revision>1</cp:revision>
  <dcterms:created xsi:type="dcterms:W3CDTF">2026-09-27T01:57:32Z</dcterms:created>
  <dcterms:modified xsi:type="dcterms:W3CDTF">2026-09-27T01:57:34Z</dcterms:modified>
</cp:coreProperties>
</file>